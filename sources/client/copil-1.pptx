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2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4"/>
    <p:sldMasterId id="2147483842" r:id="rId5"/>
  </p:sldMasterIdLst>
  <p:notesMasterIdLst>
    <p:notesMasterId r:id="rId27"/>
  </p:notesMasterIdLst>
  <p:handoutMasterIdLst>
    <p:handoutMasterId r:id="rId28"/>
  </p:handoutMasterIdLst>
  <p:sldIdLst>
    <p:sldId id="2147479611" r:id="rId6"/>
    <p:sldId id="2147482770" r:id="rId7"/>
    <p:sldId id="2147482811" r:id="rId8"/>
    <p:sldId id="2147482775" r:id="rId9"/>
    <p:sldId id="2147482806" r:id="rId10"/>
    <p:sldId id="2147482786" r:id="rId11"/>
    <p:sldId id="2147482803" r:id="rId12"/>
    <p:sldId id="2147482807" r:id="rId13"/>
    <p:sldId id="2147482805" r:id="rId14"/>
    <p:sldId id="2147482813" r:id="rId15"/>
    <p:sldId id="2147482798" r:id="rId16"/>
    <p:sldId id="2147482809" r:id="rId17"/>
    <p:sldId id="2147482128" r:id="rId18"/>
    <p:sldId id="2147482808" r:id="rId19"/>
    <p:sldId id="2147482810" r:id="rId20"/>
    <p:sldId id="2147482764" r:id="rId21"/>
    <p:sldId id="2147482759" r:id="rId22"/>
    <p:sldId id="2147482765" r:id="rId23"/>
    <p:sldId id="2147482766" r:id="rId24"/>
    <p:sldId id="2147482767" r:id="rId25"/>
    <p:sldId id="2147482768" r:id="rId26"/>
  </p:sldIdLst>
  <p:sldSz cx="12192000" cy="6858000"/>
  <p:notesSz cx="6810375" cy="9942513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ADAFB8-FE96-45C0-9C72-2BB21CCD091B}">
          <p14:sldIdLst>
            <p14:sldId id="2147479611"/>
            <p14:sldId id="2147482770"/>
          </p14:sldIdLst>
        </p14:section>
        <p14:section name="ETAPE 1 : l'étude de l'existant" id="{C2640E3E-562D-4574-A54B-6353579CB219}">
          <p14:sldIdLst>
            <p14:sldId id="2147482811"/>
            <p14:sldId id="2147482775"/>
            <p14:sldId id="2147482806"/>
            <p14:sldId id="2147482786"/>
            <p14:sldId id="2147482803"/>
            <p14:sldId id="2147482807"/>
            <p14:sldId id="2147482805"/>
          </p14:sldIdLst>
        </p14:section>
        <p14:section name="ETAPE 2 : définition besoins cibles" id="{D2C77FEA-5D99-49D8-8678-987739FFDACE}">
          <p14:sldIdLst>
            <p14:sldId id="2147482813"/>
            <p14:sldId id="2147482798"/>
            <p14:sldId id="2147482809"/>
            <p14:sldId id="2147482128"/>
            <p14:sldId id="2147482808"/>
          </p14:sldIdLst>
        </p14:section>
        <p14:section name="ANNEXES" id="{04AD2FD7-9C2B-4C4F-A384-AF511546289F}">
          <p14:sldIdLst>
            <p14:sldId id="2147482810"/>
            <p14:sldId id="2147482764"/>
            <p14:sldId id="2147482759"/>
            <p14:sldId id="2147482765"/>
            <p14:sldId id="2147482766"/>
            <p14:sldId id="2147482767"/>
            <p14:sldId id="21474827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78" userDrawn="1">
          <p15:clr>
            <a:srgbClr val="A4A3A4"/>
          </p15:clr>
        </p15:guide>
        <p15:guide id="2" pos="67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099A00-3D5C-7C4B-2329-745801878CCF}" name="Jerome Chonez 1241" initials="JC" userId="S::jchonez@cache-cache.fr::8c9fce24-6026-4965-b193-b654e391e19b" providerId="AD"/>
  <p188:author id="{3A7DAC24-122A-338A-05A8-40E680E08625}" name="Barthélemy DULAUROY" initials="BD" userId="S::bdulauroy@synvance.com::97003c72-3e71-41b7-91d9-2ba56b078cd1" providerId="AD"/>
  <p188:author id="{0FC8724E-B07F-A3A0-F87B-E80D6328CB8C}" name="Damien CHAPELET" initials="DC" userId="S::dchapelet@synvance.com::4a31c921-710a-4960-8c09-91662a8659ea" providerId="AD"/>
  <p188:author id="{9672774F-2A0D-F1EF-B7BE-75A1D7E78E08}" name="Amal BARRIT" initials="AB" userId="S::abarrit@synvance.com::fc017c0c-6781-4a42-9116-2b22f9d03001" providerId="AD"/>
  <p188:author id="{A5255E94-0A83-0162-61C1-532F35D5F04B}" name="Ilyes TAZARKI" initials="" userId="S::ilyes.tazarki@synvance.com::6d7d44ed-85c0-4e6c-8e7f-dd64e9d2b858" providerId="AD"/>
  <p188:author id="{99E33F97-14BB-AE81-76D0-D462507DE0A4}" name="Pascal-Pierre COULON" initials="PPC" userId="Pascal-Pierre COULON" providerId="None"/>
  <p188:author id="{D5CB8BA1-E5F0-B9AE-EEE1-90CDBE336300}" name="Emilie REMBLIN" initials="ER" userId="S::eremblin@synvance.com::d039e63b-252a-467f-af85-c285ac2ba24f" providerId="AD"/>
  <p188:author id="{0AEC95A5-6315-A484-F616-C2AB996C23E5}" name="Alexandra Bardiot" initials="AB" userId="S::alexandra.bardiot@viseo.com::ce9fba8b-807e-4c1a-a2a3-c3431df64e3d" providerId="AD"/>
  <p188:author id="{86618ACF-613E-0B51-BAEF-3B9E262CC239}" name="Lilia MRAD" initials="LM" userId="S::lmrad@synvance.com::60793225-3a8c-4dcc-97d1-e4451d4cd8db" providerId="AD"/>
  <p188:author id="{1EB536D5-B59C-3E19-B018-CCF387AD8A1A}" name="Elise MARCHAND" initials="EM" userId="S::emarchand@synvance.com::a76ac0ed-5caa-4c57-bbbb-6765776c7c27" providerId="AD"/>
  <p188:author id="{7B5222DF-BC49-CC4A-F41E-227AAF890417}" name="François BOSSARD" initials="FB" userId="S::fbossard@synvance.com::6a85d292-1e20-4ddb-b216-ec694300e7d0" providerId="AD"/>
  <p188:author id="{1DBE04FD-43B2-B15A-4E41-53717DD1BCED}" name="Jimmy DOWSE" initials="JD" userId="S::jdowse@synvance.com::f054f132-4d05-4a6d-9e19-00dbab8411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B12"/>
    <a:srgbClr val="6E8DFF"/>
    <a:srgbClr val="FBFBFB"/>
    <a:srgbClr val="FFFFFF"/>
    <a:srgbClr val="A8BBFF"/>
    <a:srgbClr val="A6A6A6"/>
    <a:srgbClr val="1345FF"/>
    <a:srgbClr val="BFBFBF"/>
    <a:srgbClr val="C5D1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26377-886D-41B0-B164-BBEEC6848BFD}" v="8" dt="2025-04-01T13:12:58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857" autoAdjust="0"/>
  </p:normalViewPr>
  <p:slideViewPr>
    <p:cSldViewPr snapToGrid="0">
      <p:cViewPr varScale="1">
        <p:scale>
          <a:sx n="107" d="100"/>
          <a:sy n="107" d="100"/>
        </p:scale>
        <p:origin x="840" y="102"/>
      </p:cViewPr>
      <p:guideLst>
        <p:guide orient="horz" pos="4178"/>
        <p:guide pos="6788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OWSE" userId="f054f132-4d05-4a6d-9e19-00dbab841131" providerId="ADAL" clId="{3AB26377-886D-41B0-B164-BBEEC6848BFD}"/>
    <pc:docChg chg="undo custSel modSld">
      <pc:chgData name="James DOWSE" userId="f054f132-4d05-4a6d-9e19-00dbab841131" providerId="ADAL" clId="{3AB26377-886D-41B0-B164-BBEEC6848BFD}" dt="2025-04-01T13:57:36.750" v="277" actId="20577"/>
      <pc:docMkLst>
        <pc:docMk/>
      </pc:docMkLst>
      <pc:sldChg chg="delSp mod">
        <pc:chgData name="James DOWSE" userId="f054f132-4d05-4a6d-9e19-00dbab841131" providerId="ADAL" clId="{3AB26377-886D-41B0-B164-BBEEC6848BFD}" dt="2025-04-01T11:46:48.627" v="0" actId="478"/>
        <pc:sldMkLst>
          <pc:docMk/>
          <pc:sldMk cId="2342264078" sldId="2147479611"/>
        </pc:sldMkLst>
        <pc:spChg chg="del">
          <ac:chgData name="James DOWSE" userId="f054f132-4d05-4a6d-9e19-00dbab841131" providerId="ADAL" clId="{3AB26377-886D-41B0-B164-BBEEC6848BFD}" dt="2025-04-01T11:46:48.627" v="0" actId="478"/>
          <ac:spMkLst>
            <pc:docMk/>
            <pc:sldMk cId="2342264078" sldId="2147479611"/>
            <ac:spMk id="2" creationId="{9EE02F1E-17DC-3157-0EEC-3F43D51B00A6}"/>
          </ac:spMkLst>
        </pc:spChg>
      </pc:sldChg>
      <pc:sldChg chg="addSp delSp modSp mod">
        <pc:chgData name="James DOWSE" userId="f054f132-4d05-4a6d-9e19-00dbab841131" providerId="ADAL" clId="{3AB26377-886D-41B0-B164-BBEEC6848BFD}" dt="2025-04-01T13:28:41.283" v="241" actId="1036"/>
        <pc:sldMkLst>
          <pc:docMk/>
          <pc:sldMk cId="3730771829" sldId="2147482786"/>
        </pc:sldMkLst>
        <pc:spChg chg="add del mod">
          <ac:chgData name="James DOWSE" userId="f054f132-4d05-4a6d-9e19-00dbab841131" providerId="ADAL" clId="{3AB26377-886D-41B0-B164-BBEEC6848BFD}" dt="2025-04-01T13:12:27.920" v="212" actId="478"/>
          <ac:spMkLst>
            <pc:docMk/>
            <pc:sldMk cId="3730771829" sldId="2147482786"/>
            <ac:spMk id="2" creationId="{B4F3B93D-7E3E-23BC-F3CD-317643500B22}"/>
          </ac:spMkLst>
        </pc:spChg>
        <pc:spChg chg="add del mod">
          <ac:chgData name="James DOWSE" userId="f054f132-4d05-4a6d-9e19-00dbab841131" providerId="ADAL" clId="{3AB26377-886D-41B0-B164-BBEEC6848BFD}" dt="2025-04-01T13:12:57.929" v="213" actId="478"/>
          <ac:spMkLst>
            <pc:docMk/>
            <pc:sldMk cId="3730771829" sldId="2147482786"/>
            <ac:spMk id="3" creationId="{53928B94-3CBA-31F3-C593-93F454DDE54F}"/>
          </ac:spMkLst>
        </pc:spChg>
        <pc:spChg chg="add mod">
          <ac:chgData name="James DOWSE" userId="f054f132-4d05-4a6d-9e19-00dbab841131" providerId="ADAL" clId="{3AB26377-886D-41B0-B164-BBEEC6848BFD}" dt="2025-04-01T13:12:58.156" v="214"/>
          <ac:spMkLst>
            <pc:docMk/>
            <pc:sldMk cId="3730771829" sldId="2147482786"/>
            <ac:spMk id="6" creationId="{E1AEB8EC-2E95-EE03-48AE-35BFFCDC45C5}"/>
          </ac:spMkLst>
        </pc:spChg>
        <pc:spChg chg="add mod">
          <ac:chgData name="James DOWSE" userId="f054f132-4d05-4a6d-9e19-00dbab841131" providerId="ADAL" clId="{3AB26377-886D-41B0-B164-BBEEC6848BFD}" dt="2025-04-01T13:12:58.156" v="214"/>
          <ac:spMkLst>
            <pc:docMk/>
            <pc:sldMk cId="3730771829" sldId="2147482786"/>
            <ac:spMk id="7" creationId="{37A1D77C-64C0-CDF8-9820-AF0C32D12205}"/>
          </ac:spMkLst>
        </pc:spChg>
        <pc:spChg chg="mod">
          <ac:chgData name="James DOWSE" userId="f054f132-4d05-4a6d-9e19-00dbab841131" providerId="ADAL" clId="{3AB26377-886D-41B0-B164-BBEEC6848BFD}" dt="2025-04-01T13:11:43.553" v="149" actId="555"/>
          <ac:spMkLst>
            <pc:docMk/>
            <pc:sldMk cId="3730771829" sldId="2147482786"/>
            <ac:spMk id="111" creationId="{AEE52816-2D3F-9C3F-E7F8-6DA8AB364D75}"/>
          </ac:spMkLst>
        </pc:spChg>
        <pc:spChg chg="mod">
          <ac:chgData name="James DOWSE" userId="f054f132-4d05-4a6d-9e19-00dbab841131" providerId="ADAL" clId="{3AB26377-886D-41B0-B164-BBEEC6848BFD}" dt="2025-04-01T13:12:11.578" v="207" actId="1036"/>
          <ac:spMkLst>
            <pc:docMk/>
            <pc:sldMk cId="3730771829" sldId="2147482786"/>
            <ac:spMk id="149" creationId="{52C49BCA-9291-1ACC-0863-CF3F3CA18803}"/>
          </ac:spMkLst>
        </pc:spChg>
        <pc:spChg chg="mod">
          <ac:chgData name="James DOWSE" userId="f054f132-4d05-4a6d-9e19-00dbab841131" providerId="ADAL" clId="{3AB26377-886D-41B0-B164-BBEEC6848BFD}" dt="2025-04-01T13:05:59.117" v="148" actId="1035"/>
          <ac:spMkLst>
            <pc:docMk/>
            <pc:sldMk cId="3730771829" sldId="2147482786"/>
            <ac:spMk id="150" creationId="{077045BF-1000-ED09-AF42-C49A5D3D14F7}"/>
          </ac:spMkLst>
        </pc:spChg>
        <pc:spChg chg="mod">
          <ac:chgData name="James DOWSE" userId="f054f132-4d05-4a6d-9e19-00dbab841131" providerId="ADAL" clId="{3AB26377-886D-41B0-B164-BBEEC6848BFD}" dt="2025-04-01T13:05:59.117" v="148" actId="1035"/>
          <ac:spMkLst>
            <pc:docMk/>
            <pc:sldMk cId="3730771829" sldId="2147482786"/>
            <ac:spMk id="151" creationId="{D0250017-60A2-06DB-15FF-511F745A49E9}"/>
          </ac:spMkLst>
        </pc:spChg>
        <pc:spChg chg="mod">
          <ac:chgData name="James DOWSE" userId="f054f132-4d05-4a6d-9e19-00dbab841131" providerId="ADAL" clId="{3AB26377-886D-41B0-B164-BBEEC6848BFD}" dt="2025-04-01T13:11:43.553" v="149" actId="555"/>
          <ac:spMkLst>
            <pc:docMk/>
            <pc:sldMk cId="3730771829" sldId="2147482786"/>
            <ac:spMk id="153" creationId="{3BEBFD86-28BE-3853-01B9-81974BE47B39}"/>
          </ac:spMkLst>
        </pc:spChg>
        <pc:spChg chg="mod">
          <ac:chgData name="James DOWSE" userId="f054f132-4d05-4a6d-9e19-00dbab841131" providerId="ADAL" clId="{3AB26377-886D-41B0-B164-BBEEC6848BFD}" dt="2025-04-01T13:11:48.938" v="162" actId="1036"/>
          <ac:spMkLst>
            <pc:docMk/>
            <pc:sldMk cId="3730771829" sldId="2147482786"/>
            <ac:spMk id="154" creationId="{98CE0EED-1C19-2B4A-7C70-42638C093FDF}"/>
          </ac:spMkLst>
        </pc:spChg>
        <pc:spChg chg="mod">
          <ac:chgData name="James DOWSE" userId="f054f132-4d05-4a6d-9e19-00dbab841131" providerId="ADAL" clId="{3AB26377-886D-41B0-B164-BBEEC6848BFD}" dt="2025-04-01T13:14:07.972" v="240" actId="1035"/>
          <ac:spMkLst>
            <pc:docMk/>
            <pc:sldMk cId="3730771829" sldId="2147482786"/>
            <ac:spMk id="165" creationId="{15BDABEF-5339-F49C-585A-6C25AE478531}"/>
          </ac:spMkLst>
        </pc:spChg>
        <pc:spChg chg="mod">
          <ac:chgData name="James DOWSE" userId="f054f132-4d05-4a6d-9e19-00dbab841131" providerId="ADAL" clId="{3AB26377-886D-41B0-B164-BBEEC6848BFD}" dt="2025-04-01T13:13:55.419" v="222" actId="1035"/>
          <ac:spMkLst>
            <pc:docMk/>
            <pc:sldMk cId="3730771829" sldId="2147482786"/>
            <ac:spMk id="180" creationId="{1F1E4163-6022-C5B7-9CE6-C8BFA5D7C430}"/>
          </ac:spMkLst>
        </pc:spChg>
        <pc:spChg chg="mod">
          <ac:chgData name="James DOWSE" userId="f054f132-4d05-4a6d-9e19-00dbab841131" providerId="ADAL" clId="{3AB26377-886D-41B0-B164-BBEEC6848BFD}" dt="2025-04-01T13:12:11.578" v="207" actId="1036"/>
          <ac:spMkLst>
            <pc:docMk/>
            <pc:sldMk cId="3730771829" sldId="2147482786"/>
            <ac:spMk id="186" creationId="{38649F6D-C7A6-1B8C-FB90-81816ABDB71B}"/>
          </ac:spMkLst>
        </pc:spChg>
        <pc:spChg chg="mod">
          <ac:chgData name="James DOWSE" userId="f054f132-4d05-4a6d-9e19-00dbab841131" providerId="ADAL" clId="{3AB26377-886D-41B0-B164-BBEEC6848BFD}" dt="2025-04-01T13:28:41.283" v="241" actId="1036"/>
          <ac:spMkLst>
            <pc:docMk/>
            <pc:sldMk cId="3730771829" sldId="2147482786"/>
            <ac:spMk id="188" creationId="{C113A56E-5187-FEDB-9356-5B875BA5AC61}"/>
          </ac:spMkLst>
        </pc:spChg>
      </pc:sldChg>
      <pc:sldChg chg="modSp mod">
        <pc:chgData name="James DOWSE" userId="f054f132-4d05-4a6d-9e19-00dbab841131" providerId="ADAL" clId="{3AB26377-886D-41B0-B164-BBEEC6848BFD}" dt="2025-04-01T13:31:10.504" v="257" actId="14100"/>
        <pc:sldMkLst>
          <pc:docMk/>
          <pc:sldMk cId="1594588608" sldId="2147482803"/>
        </pc:sldMkLst>
        <pc:spChg chg="mod">
          <ac:chgData name="James DOWSE" userId="f054f132-4d05-4a6d-9e19-00dbab841131" providerId="ADAL" clId="{3AB26377-886D-41B0-B164-BBEEC6848BFD}" dt="2025-04-01T13:31:10.504" v="257" actId="14100"/>
          <ac:spMkLst>
            <pc:docMk/>
            <pc:sldMk cId="1594588608" sldId="2147482803"/>
            <ac:spMk id="23" creationId="{6AFBBC5F-E769-72EA-4138-2DB6B79F63F5}"/>
          </ac:spMkLst>
        </pc:spChg>
        <pc:spChg chg="mod">
          <ac:chgData name="James DOWSE" userId="f054f132-4d05-4a6d-9e19-00dbab841131" providerId="ADAL" clId="{3AB26377-886D-41B0-B164-BBEEC6848BFD}" dt="2025-04-01T13:31:10.504" v="257" actId="14100"/>
          <ac:spMkLst>
            <pc:docMk/>
            <pc:sldMk cId="1594588608" sldId="2147482803"/>
            <ac:spMk id="24" creationId="{28AB543E-4099-140E-FAFD-75BAEC039D30}"/>
          </ac:spMkLst>
        </pc:spChg>
      </pc:sldChg>
      <pc:sldChg chg="modSp mod">
        <pc:chgData name="James DOWSE" userId="f054f132-4d05-4a6d-9e19-00dbab841131" providerId="ADAL" clId="{3AB26377-886D-41B0-B164-BBEEC6848BFD}" dt="2025-04-01T12:54:39.710" v="138" actId="1035"/>
        <pc:sldMkLst>
          <pc:docMk/>
          <pc:sldMk cId="2684965133" sldId="2147482806"/>
        </pc:sldMkLst>
        <pc:spChg chg="mod">
          <ac:chgData name="James DOWSE" userId="f054f132-4d05-4a6d-9e19-00dbab841131" providerId="ADAL" clId="{3AB26377-886D-41B0-B164-BBEEC6848BFD}" dt="2025-04-01T12:09:27.091" v="123" actId="555"/>
          <ac:spMkLst>
            <pc:docMk/>
            <pc:sldMk cId="2684965133" sldId="2147482806"/>
            <ac:spMk id="6" creationId="{CD0C0F51-260B-154D-E660-B12144045BB7}"/>
          </ac:spMkLst>
        </pc:spChg>
        <pc:spChg chg="mod">
          <ac:chgData name="James DOWSE" userId="f054f132-4d05-4a6d-9e19-00dbab841131" providerId="ADAL" clId="{3AB26377-886D-41B0-B164-BBEEC6848BFD}" dt="2025-04-01T12:09:27.091" v="123" actId="555"/>
          <ac:spMkLst>
            <pc:docMk/>
            <pc:sldMk cId="2684965133" sldId="2147482806"/>
            <ac:spMk id="7" creationId="{62D2C3A0-557B-980D-9085-22DEFF552B67}"/>
          </ac:spMkLst>
        </pc:spChg>
        <pc:spChg chg="mod">
          <ac:chgData name="James DOWSE" userId="f054f132-4d05-4a6d-9e19-00dbab841131" providerId="ADAL" clId="{3AB26377-886D-41B0-B164-BBEEC6848BFD}" dt="2025-04-01T12:54:28.197" v="136" actId="1036"/>
          <ac:spMkLst>
            <pc:docMk/>
            <pc:sldMk cId="2684965133" sldId="2147482806"/>
            <ac:spMk id="10" creationId="{E17D41BD-028B-EF2E-04FD-BEF78CB4B431}"/>
          </ac:spMkLst>
        </pc:spChg>
        <pc:spChg chg="mod">
          <ac:chgData name="James DOWSE" userId="f054f132-4d05-4a6d-9e19-00dbab841131" providerId="ADAL" clId="{3AB26377-886D-41B0-B164-BBEEC6848BFD}" dt="2025-04-01T12:54:39.710" v="138" actId="1035"/>
          <ac:spMkLst>
            <pc:docMk/>
            <pc:sldMk cId="2684965133" sldId="2147482806"/>
            <ac:spMk id="11" creationId="{AD12C851-5EDC-9433-BEA3-A583268A28C0}"/>
          </ac:spMkLst>
        </pc:spChg>
        <pc:spChg chg="mod">
          <ac:chgData name="James DOWSE" userId="f054f132-4d05-4a6d-9e19-00dbab841131" providerId="ADAL" clId="{3AB26377-886D-41B0-B164-BBEEC6848BFD}" dt="2025-04-01T12:08:52.740" v="115" actId="12788"/>
          <ac:spMkLst>
            <pc:docMk/>
            <pc:sldMk cId="2684965133" sldId="2147482806"/>
            <ac:spMk id="12" creationId="{E04AE83F-C0C1-CCA9-4E8A-6F96BAE2ADFD}"/>
          </ac:spMkLst>
        </pc:spChg>
        <pc:spChg chg="mod">
          <ac:chgData name="James DOWSE" userId="f054f132-4d05-4a6d-9e19-00dbab841131" providerId="ADAL" clId="{3AB26377-886D-41B0-B164-BBEEC6848BFD}" dt="2025-04-01T12:54:20.938" v="132" actId="1035"/>
          <ac:spMkLst>
            <pc:docMk/>
            <pc:sldMk cId="2684965133" sldId="2147482806"/>
            <ac:spMk id="13" creationId="{EE3EEF89-107C-01EF-72F8-1BDE0EF078E8}"/>
          </ac:spMkLst>
        </pc:spChg>
        <pc:spChg chg="mod">
          <ac:chgData name="James DOWSE" userId="f054f132-4d05-4a6d-9e19-00dbab841131" providerId="ADAL" clId="{3AB26377-886D-41B0-B164-BBEEC6848BFD}" dt="2025-04-01T12:54:20.938" v="132" actId="1035"/>
          <ac:spMkLst>
            <pc:docMk/>
            <pc:sldMk cId="2684965133" sldId="2147482806"/>
            <ac:spMk id="14" creationId="{70A76D96-538C-84F8-5265-302DD95F04A7}"/>
          </ac:spMkLst>
        </pc:spChg>
        <pc:spChg chg="mod">
          <ac:chgData name="James DOWSE" userId="f054f132-4d05-4a6d-9e19-00dbab841131" providerId="ADAL" clId="{3AB26377-886D-41B0-B164-BBEEC6848BFD}" dt="2025-04-01T12:52:28.426" v="127" actId="20577"/>
          <ac:spMkLst>
            <pc:docMk/>
            <pc:sldMk cId="2684965133" sldId="2147482806"/>
            <ac:spMk id="19" creationId="{EEB605AE-58FE-BBA1-39C7-171002BBFAF6}"/>
          </ac:spMkLst>
        </pc:spChg>
        <pc:spChg chg="mod">
          <ac:chgData name="James DOWSE" userId="f054f132-4d05-4a6d-9e19-00dbab841131" providerId="ADAL" clId="{3AB26377-886D-41B0-B164-BBEEC6848BFD}" dt="2025-04-01T12:08:52.740" v="115" actId="12788"/>
          <ac:spMkLst>
            <pc:docMk/>
            <pc:sldMk cId="2684965133" sldId="2147482806"/>
            <ac:spMk id="20" creationId="{83FC17EC-7CCB-9EC1-30EE-39C7BE29860F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30" creationId="{EF711324-71C2-6235-1772-A49B05AFEC7C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31" creationId="{08E69EDD-73AE-6AC3-81ED-AD54E3518CE3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33" creationId="{6B3051A4-71B6-A58E-9BA2-7BCE57029AF1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35" creationId="{047BF516-63AE-5FF4-9FDF-AE2E47F35E9C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36" creationId="{EBB444F1-CFCB-E8E2-87F2-8F240F6F644F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42" creationId="{C2C9A1E1-0C8A-2011-BD5E-2996182F0559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44" creationId="{951A641F-AE95-845A-D1B1-D4EB23307FC8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47" creationId="{A618192E-9715-8D68-9B07-BEB27D1BBC23}"/>
          </ac:spMkLst>
        </pc:spChg>
        <pc:spChg chg="mod">
          <ac:chgData name="James DOWSE" userId="f054f132-4d05-4a6d-9e19-00dbab841131" providerId="ADAL" clId="{3AB26377-886D-41B0-B164-BBEEC6848BFD}" dt="2025-04-01T12:09:24.265" v="122" actId="555"/>
          <ac:spMkLst>
            <pc:docMk/>
            <pc:sldMk cId="2684965133" sldId="2147482806"/>
            <ac:spMk id="49" creationId="{1E434FB2-DA3C-4F1A-B129-B78E74AB9EA1}"/>
          </ac:spMkLst>
        </pc:spChg>
        <pc:spChg chg="mod">
          <ac:chgData name="James DOWSE" userId="f054f132-4d05-4a6d-9e19-00dbab841131" providerId="ADAL" clId="{3AB26377-886D-41B0-B164-BBEEC6848BFD}" dt="2025-04-01T12:09:16.541" v="121" actId="12788"/>
          <ac:spMkLst>
            <pc:docMk/>
            <pc:sldMk cId="2684965133" sldId="2147482806"/>
            <ac:spMk id="51" creationId="{31C448B5-6FF3-3D45-D3CE-174B974A6D71}"/>
          </ac:spMkLst>
        </pc:spChg>
        <pc:spChg chg="mod">
          <ac:chgData name="James DOWSE" userId="f054f132-4d05-4a6d-9e19-00dbab841131" providerId="ADAL" clId="{3AB26377-886D-41B0-B164-BBEEC6848BFD}" dt="2025-04-01T12:09:16.541" v="121" actId="12788"/>
          <ac:spMkLst>
            <pc:docMk/>
            <pc:sldMk cId="2684965133" sldId="2147482806"/>
            <ac:spMk id="52" creationId="{DA0784BC-85AB-8111-F196-C723590D5145}"/>
          </ac:spMkLst>
        </pc:spChg>
        <pc:grpChg chg="mod">
          <ac:chgData name="James DOWSE" userId="f054f132-4d05-4a6d-9e19-00dbab841131" providerId="ADAL" clId="{3AB26377-886D-41B0-B164-BBEEC6848BFD}" dt="2025-04-01T12:08:52.740" v="115" actId="12788"/>
          <ac:grpSpMkLst>
            <pc:docMk/>
            <pc:sldMk cId="2684965133" sldId="2147482806"/>
            <ac:grpSpMk id="8" creationId="{461CA11C-A9BF-AC0E-7830-47C9CF9ED460}"/>
          </ac:grpSpMkLst>
        </pc:grpChg>
      </pc:sldChg>
      <pc:sldChg chg="modSp mod">
        <pc:chgData name="James DOWSE" userId="f054f132-4d05-4a6d-9e19-00dbab841131" providerId="ADAL" clId="{3AB26377-886D-41B0-B164-BBEEC6848BFD}" dt="2025-04-01T13:57:36.750" v="277" actId="20577"/>
        <pc:sldMkLst>
          <pc:docMk/>
          <pc:sldMk cId="1925199115" sldId="2147482809"/>
        </pc:sldMkLst>
        <pc:graphicFrameChg chg="modGraphic">
          <ac:chgData name="James DOWSE" userId="f054f132-4d05-4a6d-9e19-00dbab841131" providerId="ADAL" clId="{3AB26377-886D-41B0-B164-BBEEC6848BFD}" dt="2025-04-01T13:57:36.750" v="277" actId="20577"/>
          <ac:graphicFrameMkLst>
            <pc:docMk/>
            <pc:sldMk cId="1925199115" sldId="2147482809"/>
            <ac:graphicFrameMk id="4" creationId="{FD8C23BC-14D2-2905-5147-74D8AFF8CD8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9C4400F-F943-A399-5B80-C16F75B7B9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3CCCF9-E66B-0415-207D-2F781213E8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7636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FAA1E2C1-C4FB-7A4A-B024-1D058918BFD7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7B80AB-7C1E-DDFA-302C-A5AA2551B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19A2B7-366F-228B-A0FF-A837E2DF9C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7636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CAB47D5B-9F4E-ED49-9E63-20A33D9C1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9450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3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5130E4D-4536-0347-A037-F27A7B0AE2F2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2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CB0CB572-A526-994D-9F24-8144F6FD4F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26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893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78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78494-BE4F-7F96-6A9C-93D98FDE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D1522EF-7B89-4669-594F-8F9A5AD4F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B55AF1-B5B5-7324-23F4-D6744D85B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128048-8390-4741-F68C-934F136C7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48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D11E-5EEA-F6F6-17C7-CC333EA8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F12413-B5ED-11D0-0AFF-70181D1E5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2C55BE-0D4A-0E5A-D292-08410CBE0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8A2685-7F2B-8658-705C-9673FB66E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8838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3D0C-D196-97B4-1AD4-6BC376F9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7AC6692-E5CC-BFDE-6A4A-9C078AE02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C0529E-AE0B-0A77-F699-9DD2A4DEA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C6E4BE-36F7-D906-26D2-6D6D10D32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7918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6310-FB13-93AE-689A-0FDF7B152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1AFACE6-68B7-88F6-B6AD-FDD6C55A9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870609-B26F-9423-CAC3-B8BE63235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82703E-3AFC-921B-7C0C-D3813D256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9262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F24A-2CCC-E66B-C0C5-75B74BEB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A74F571-20F1-54CE-6FAF-64BA5F461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605210-3FE3-AB3C-7661-B090DA726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FEF7D0-6BF6-0E24-EAC1-D1673F969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5024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51FE-9343-478E-6486-6826106D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82F422-08F2-B3C7-635B-F83B20525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659B7-0351-CE4E-4214-E07976FD8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73D591-61F5-4706-D3DB-862003DC2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308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B918-ABB2-B3ED-EDDE-71F1F48B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8FF2485-D0CB-BA25-4977-F4EECA257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A59592-E2A7-764D-2BCD-264809CBF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9ED62C-EEA1-1FAF-A0AB-E5E23D827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CB572-A526-994D-9F24-8144F6FD4F44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0774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26" Type="http://schemas.openxmlformats.org/officeDocument/2006/relationships/image" Target="../media/image34.svg"/><Relationship Id="rId21" Type="http://schemas.openxmlformats.org/officeDocument/2006/relationships/image" Target="../media/image29.svg"/><Relationship Id="rId34" Type="http://schemas.openxmlformats.org/officeDocument/2006/relationships/image" Target="../media/image42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38" Type="http://schemas.openxmlformats.org/officeDocument/2006/relationships/image" Target="../media/image8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emf"/><Relationship Id="rId11" Type="http://schemas.openxmlformats.org/officeDocument/2006/relationships/image" Target="../media/image19.png"/><Relationship Id="rId24" Type="http://schemas.openxmlformats.org/officeDocument/2006/relationships/image" Target="../media/image32.svg"/><Relationship Id="rId32" Type="http://schemas.openxmlformats.org/officeDocument/2006/relationships/image" Target="../media/image40.svg"/><Relationship Id="rId37" Type="http://schemas.openxmlformats.org/officeDocument/2006/relationships/image" Target="../media/image7.png"/><Relationship Id="rId5" Type="http://schemas.openxmlformats.org/officeDocument/2006/relationships/image" Target="../media/image13.png"/><Relationship Id="rId15" Type="http://schemas.openxmlformats.org/officeDocument/2006/relationships/image" Target="../media/image23.svg"/><Relationship Id="rId23" Type="http://schemas.openxmlformats.org/officeDocument/2006/relationships/image" Target="../media/image31.png"/><Relationship Id="rId28" Type="http://schemas.openxmlformats.org/officeDocument/2006/relationships/image" Target="../media/image36.svg"/><Relationship Id="rId36" Type="http://schemas.openxmlformats.org/officeDocument/2006/relationships/image" Target="../media/image44.svg"/><Relationship Id="rId10" Type="http://schemas.openxmlformats.org/officeDocument/2006/relationships/image" Target="../media/image18.jpeg"/><Relationship Id="rId19" Type="http://schemas.openxmlformats.org/officeDocument/2006/relationships/image" Target="../media/image27.sv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svg"/><Relationship Id="rId35" Type="http://schemas.openxmlformats.org/officeDocument/2006/relationships/image" Target="../media/image43.png"/><Relationship Id="rId8" Type="http://schemas.openxmlformats.org/officeDocument/2006/relationships/image" Target="../media/image16.svg"/><Relationship Id="rId3" Type="http://schemas.openxmlformats.org/officeDocument/2006/relationships/image" Target="../media/image11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8.jpe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uverture (old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AFEA285-3E13-6A69-7915-EC5B33FE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96" y="4363655"/>
            <a:ext cx="4460798" cy="3214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8CA02F23-4FF3-BB0B-BFC9-B8CF29080A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596" y="4017444"/>
            <a:ext cx="4460798" cy="32146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F94D5557-3C17-3ABE-8227-635D0E262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105" y="3059577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23" name="Espace réservé pour une image  13">
            <a:extLst>
              <a:ext uri="{FF2B5EF4-FFF2-40B4-BE49-F238E27FC236}">
                <a16:creationId xmlns:a16="http://schemas.microsoft.com/office/drawing/2014/main" id="{E5A67A79-BACF-C48A-8FB5-67DA8895C5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Illustration</a:t>
            </a:r>
          </a:p>
        </p:txBody>
      </p:sp>
      <p:pic>
        <p:nvPicPr>
          <p:cNvPr id="2" name="Graphique 18">
            <a:extLst>
              <a:ext uri="{FF2B5EF4-FFF2-40B4-BE49-F238E27FC236}">
                <a16:creationId xmlns:a16="http://schemas.microsoft.com/office/drawing/2014/main" id="{20B6F76C-2746-9C69-AC22-8CDF7C632B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66B2E2F-E895-5887-C725-40CF74A8E8A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72596" y="1687089"/>
            <a:ext cx="5330825" cy="134143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600" b="1" i="0">
                <a:solidFill>
                  <a:schemeClr val="accent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06422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(old logo) sans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pic>
        <p:nvPicPr>
          <p:cNvPr id="2" name="Graphique 18">
            <a:extLst>
              <a:ext uri="{FF2B5EF4-FFF2-40B4-BE49-F238E27FC236}">
                <a16:creationId xmlns:a16="http://schemas.microsoft.com/office/drawing/2014/main" id="{D8774CAF-CEB4-19AC-46A5-8A3A049244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7187" y="5985626"/>
            <a:ext cx="1446611" cy="321469"/>
          </a:xfrm>
          <a:prstGeom prst="rect">
            <a:avLst/>
          </a:prstGeom>
        </p:spPr>
      </p:pic>
      <p:sp>
        <p:nvSpPr>
          <p:cNvPr id="3" name="Espace réservé du texte 10">
            <a:extLst>
              <a:ext uri="{FF2B5EF4-FFF2-40B4-BE49-F238E27FC236}">
                <a16:creationId xmlns:a16="http://schemas.microsoft.com/office/drawing/2014/main" id="{AECFF1F7-B916-C16A-44B8-25BD4E192E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596" y="4363655"/>
            <a:ext cx="4460798" cy="3214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6EEF997C-8C83-0CD0-ADAB-E337E82FB2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596" y="4017444"/>
            <a:ext cx="4460798" cy="32146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1D399635-64DC-0D8E-D059-5E1E8CFE94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105" y="3059577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8977B396-8D69-0B95-F48E-EF44DB0E3A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596" y="1816100"/>
            <a:ext cx="5331304" cy="1219200"/>
          </a:xfrm>
        </p:spPr>
        <p:txBody>
          <a:bodyPr anchor="b" anchorCtr="0"/>
          <a:lstStyle>
            <a:lvl1pPr marL="0" indent="0">
              <a:buNone/>
              <a:defRPr b="1" i="0">
                <a:latin typeface="Plus Jakarta Sans" pitchFamily="2" charset="77"/>
                <a:cs typeface="Plus Jakarta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>
                <a:ln>
                  <a:noFill/>
                </a:ln>
                <a:solidFill>
                  <a:srgbClr val="6E8DFF"/>
                </a:solidFill>
                <a:effectLst/>
                <a:uLnTx/>
                <a:uFillTx/>
                <a:latin typeface="Plus Jakarta Sans ExtraBold" pitchFamily="2" charset="77"/>
                <a:ea typeface="Noto Sans" panose="020B0502040504020204" pitchFamily="34" charset="0"/>
                <a:cs typeface="Plus Jakarta Sans ExtraBold" pitchFamily="2" charset="77"/>
              </a:rPr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110248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Bleu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08085D-A091-AAF0-15AB-7F150712F8E5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bleus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925EBB3-03A8-FA25-9906-7AAF19933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0286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2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grpSp>
        <p:nvGrpSpPr>
          <p:cNvPr id="4" name="Graphique 3">
            <a:extLst>
              <a:ext uri="{FF2B5EF4-FFF2-40B4-BE49-F238E27FC236}">
                <a16:creationId xmlns:a16="http://schemas.microsoft.com/office/drawing/2014/main" id="{A8057DFD-79F4-3274-6C5B-46F90D296C5F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2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84413371-60DA-E714-0221-D55E6D0FB0E4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687FD5A5-D0B6-1DE9-67B2-A1F68C96197C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64131AB6-0BB8-2848-A3E3-46E85CCCD7B2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103413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Ver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E555E-C0E8-CE17-7DC3-AB0395393FE7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verts</a:t>
            </a:r>
          </a:p>
        </p:txBody>
      </p:sp>
      <p:grpSp>
        <p:nvGrpSpPr>
          <p:cNvPr id="2" name="Graphique 3">
            <a:extLst>
              <a:ext uri="{FF2B5EF4-FFF2-40B4-BE49-F238E27FC236}">
                <a16:creationId xmlns:a16="http://schemas.microsoft.com/office/drawing/2014/main" id="{4FC4A916-2E09-1849-C721-62B87DC430FC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6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E9B8E1BC-7089-2ED0-79E4-39F4A09BA8ED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1A7B245-776E-8039-3754-0C298FF41FFD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8B6826-A06C-DEC8-018E-12A0CA30CF47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C1E81CD5-827E-939B-673D-ACF7F21DA4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1760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C40B2A5C-FEB3-EB99-9204-C382D3A971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6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749029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Roug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8E555E-C0E8-CE17-7DC3-AB0395393FE7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pour une image  16">
            <a:extLst>
              <a:ext uri="{FF2B5EF4-FFF2-40B4-BE49-F238E27FC236}">
                <a16:creationId xmlns:a16="http://schemas.microsoft.com/office/drawing/2014/main" id="{970B1F16-6576-CFC1-1DEE-1F3A3188CCE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9" y="0"/>
            <a:ext cx="6094473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fr-FR"/>
              <a:t>Insérer une image dans les tons rouges</a:t>
            </a:r>
          </a:p>
        </p:txBody>
      </p:sp>
      <p:grpSp>
        <p:nvGrpSpPr>
          <p:cNvPr id="2" name="Graphique 3">
            <a:extLst>
              <a:ext uri="{FF2B5EF4-FFF2-40B4-BE49-F238E27FC236}">
                <a16:creationId xmlns:a16="http://schemas.microsoft.com/office/drawing/2014/main" id="{4FC4A916-2E09-1849-C721-62B87DC430FC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4"/>
          </a:solidFill>
        </p:grpSpPr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E9B8E1BC-7089-2ED0-79E4-39F4A09BA8ED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A1A7B245-776E-8039-3754-0C298FF41FFD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8B6826-A06C-DEC8-018E-12A0CA30CF47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8CFB0C61-5752-3657-C119-062DDA01A9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92" y="4051760"/>
            <a:ext cx="5127401" cy="5937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Partie 0 :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48AD976B-BA4D-C1F7-8AE5-CEB2BD764E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455743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4"/>
                </a:solidFill>
                <a:latin typeface="Plus Jakarta Sans SemiBold" pitchFamily="2" charset="77"/>
                <a:cs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38958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Bleu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11022"/>
            <a:ext cx="6096000" cy="68690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58000"/>
          </a:xfrm>
          <a:prstGeom prst="rect">
            <a:avLst/>
          </a:prstGeom>
          <a:solidFill>
            <a:srgbClr val="1B09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rgbClr val="6F8DFF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E58C2475-B253-93F3-2F9F-C82DF81EA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506" y="3155563"/>
            <a:ext cx="730570" cy="487047"/>
          </a:xfrm>
          <a:prstGeom prst="rect">
            <a:avLst/>
          </a:prstGeom>
        </p:spPr>
      </p:pic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rgbClr val="1B09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texte 11">
            <a:extLst>
              <a:ext uri="{FF2B5EF4-FFF2-40B4-BE49-F238E27FC236}">
                <a16:creationId xmlns:a16="http://schemas.microsoft.com/office/drawing/2014/main" id="{6A7937CE-902F-FEC9-1C45-691ED1B55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DFED1392-64ED-6531-5449-B33589D867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0" name="Espace réservé du texte 11">
            <a:extLst>
              <a:ext uri="{FF2B5EF4-FFF2-40B4-BE49-F238E27FC236}">
                <a16:creationId xmlns:a16="http://schemas.microsoft.com/office/drawing/2014/main" id="{65316F1D-0C52-86BC-D346-114C1AB870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ADB5336A-9386-CACC-11EC-E73BFE0BA0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32" name="Espace réservé du texte 11">
            <a:extLst>
              <a:ext uri="{FF2B5EF4-FFF2-40B4-BE49-F238E27FC236}">
                <a16:creationId xmlns:a16="http://schemas.microsoft.com/office/drawing/2014/main" id="{4E4FC6BC-0A3D-1A08-F97E-AA2C96EF1A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34" name="Espace réservé du texte 11">
            <a:extLst>
              <a:ext uri="{FF2B5EF4-FFF2-40B4-BE49-F238E27FC236}">
                <a16:creationId xmlns:a16="http://schemas.microsoft.com/office/drawing/2014/main" id="{182EF8E4-AF31-3ADB-D846-ECD694B952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rgbClr val="1B084E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‹N°›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93542760-8052-81CF-27FF-641B06288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7E0BBA2F-DADC-43EA-0D7B-8DDDBD0345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ED751EFE-1C89-FFE3-3327-50C442E8CA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7DA8FA47-1905-3B23-9B81-DC9C06DA37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CE0B523C-5A73-1221-0B7B-7ACD00E0CB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3" name="Espace réservé du texte 13">
            <a:extLst>
              <a:ext uri="{FF2B5EF4-FFF2-40B4-BE49-F238E27FC236}">
                <a16:creationId xmlns:a16="http://schemas.microsoft.com/office/drawing/2014/main" id="{72E624F7-D608-9E70-6634-67331CB061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181109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Vert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0"/>
            <a:ext cx="6096000" cy="68690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5">
                    <a:lumMod val="20000"/>
                    <a:lumOff val="80000"/>
                  </a:schemeClr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‹N°›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raphique 18">
            <a:extLst>
              <a:ext uri="{FF2B5EF4-FFF2-40B4-BE49-F238E27FC236}">
                <a16:creationId xmlns:a16="http://schemas.microsoft.com/office/drawing/2014/main" id="{058A79FE-4054-7674-01BE-2AB79A96CB85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91AA00B-E3BC-13AA-70D4-832C859A7B71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5E49B2B-EAF5-66E6-F2D8-4F9596219DE5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1F56059-9621-13E3-D209-2C06236075DD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E4D3C9A-B046-CFC5-B4B5-408B7C185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5DCB78D4-1003-49F9-ACE3-294F388454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09F8D23B-437B-B9CD-4C46-E21C43B3B5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7C7DC363-0408-B184-2CE8-538FDCB072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68FBBC33-8A2A-7815-A86E-020CBD6E8C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7DC5A428-8ED5-D3B4-6C4E-C088B03447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D80A8CA0-2ED4-B0E9-7AC6-FDBE13419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63F46625-9D0F-742D-0006-AC809F8ED4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F2559124-D4A5-23E1-41B4-DAF93355B6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07D521EC-F1F8-AE59-12AC-6B851BC1ECA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E8FAE4EC-0D1F-CEA4-43B8-D73979F208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7404A6EB-ABC3-A637-7440-EE7DA9EE00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6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12060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 Rouge -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EAACD5-43D3-ADB9-78D3-54F17D687643}"/>
              </a:ext>
            </a:extLst>
          </p:cNvPr>
          <p:cNvSpPr/>
          <p:nvPr/>
        </p:nvSpPr>
        <p:spPr>
          <a:xfrm>
            <a:off x="6096000" y="0"/>
            <a:ext cx="6096000" cy="68690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EDA3C-BD0C-79E6-D7E8-2814E14D5E34}"/>
              </a:ext>
            </a:extLst>
          </p:cNvPr>
          <p:cNvSpPr/>
          <p:nvPr/>
        </p:nvSpPr>
        <p:spPr>
          <a:xfrm>
            <a:off x="0" y="11022"/>
            <a:ext cx="6096000" cy="684697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09AF101-78C2-51C1-ECBA-8DB9F6BFE1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5330" y="3923129"/>
            <a:ext cx="5146063" cy="8636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solidFill>
                  <a:schemeClr val="accent3">
                    <a:lumMod val="20000"/>
                    <a:lumOff val="80000"/>
                  </a:schemeClr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Partie 0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D4E6F9F-6E80-830D-331F-2945CD29C9EB}"/>
              </a:ext>
            </a:extLst>
          </p:cNvPr>
          <p:cNvCxnSpPr>
            <a:cxnSpLocks/>
          </p:cNvCxnSpPr>
          <p:nvPr/>
        </p:nvCxnSpPr>
        <p:spPr>
          <a:xfrm>
            <a:off x="6335486" y="6479692"/>
            <a:ext cx="52604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F299FA3-24B0-D169-FBD8-72EF933951EE}"/>
              </a:ext>
            </a:extLst>
          </p:cNvPr>
          <p:cNvSpPr txBox="1"/>
          <p:nvPr/>
        </p:nvSpPr>
        <p:spPr>
          <a:xfrm>
            <a:off x="11283301" y="6507574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>
                <a:solidFill>
                  <a:schemeClr val="bg2">
                    <a:lumMod val="50000"/>
                  </a:schemeClr>
                </a:solidFill>
              </a:rPr>
              <a:pPr lvl="0" algn="r"/>
              <a:t>‹N°›</a:t>
            </a:fld>
            <a:endParaRPr lang="fr-FR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Graphique 18">
            <a:extLst>
              <a:ext uri="{FF2B5EF4-FFF2-40B4-BE49-F238E27FC236}">
                <a16:creationId xmlns:a16="http://schemas.microsoft.com/office/drawing/2014/main" id="{058A79FE-4054-7674-01BE-2AB79A96CB85}"/>
              </a:ext>
            </a:extLst>
          </p:cNvPr>
          <p:cNvGrpSpPr/>
          <p:nvPr/>
        </p:nvGrpSpPr>
        <p:grpSpPr>
          <a:xfrm>
            <a:off x="612225" y="3155563"/>
            <a:ext cx="739702" cy="475141"/>
            <a:chOff x="612225" y="3155563"/>
            <a:chExt cx="739702" cy="475141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091AA00B-E3BC-13AA-70D4-832C859A7B71}"/>
                </a:ext>
              </a:extLst>
            </p:cNvPr>
            <p:cNvSpPr/>
            <p:nvPr/>
          </p:nvSpPr>
          <p:spPr>
            <a:xfrm>
              <a:off x="818751" y="3155563"/>
              <a:ext cx="306839" cy="474600"/>
            </a:xfrm>
            <a:custGeom>
              <a:avLst/>
              <a:gdLst>
                <a:gd name="connsiteX0" fmla="*/ 171403 w 306839"/>
                <a:gd name="connsiteY0" fmla="*/ 56281 h 474600"/>
                <a:gd name="connsiteX1" fmla="*/ 123635 w 306839"/>
                <a:gd name="connsiteY1" fmla="*/ 166678 h 474600"/>
                <a:gd name="connsiteX2" fmla="*/ 101718 w 306839"/>
                <a:gd name="connsiteY2" fmla="*/ 321992 h 474600"/>
                <a:gd name="connsiteX3" fmla="*/ 0 w 306839"/>
                <a:gd name="connsiteY3" fmla="*/ 474600 h 474600"/>
                <a:gd name="connsiteX4" fmla="*/ 13487 w 306839"/>
                <a:gd name="connsiteY4" fmla="*/ 474600 h 474600"/>
                <a:gd name="connsiteX5" fmla="*/ 135436 w 306839"/>
                <a:gd name="connsiteY5" fmla="*/ 418319 h 474600"/>
                <a:gd name="connsiteX6" fmla="*/ 183204 w 306839"/>
                <a:gd name="connsiteY6" fmla="*/ 307922 h 474600"/>
                <a:gd name="connsiteX7" fmla="*/ 205122 w 306839"/>
                <a:gd name="connsiteY7" fmla="*/ 152608 h 474600"/>
                <a:gd name="connsiteX8" fmla="*/ 306839 w 306839"/>
                <a:gd name="connsiteY8" fmla="*/ 0 h 474600"/>
                <a:gd name="connsiteX9" fmla="*/ 293352 w 306839"/>
                <a:gd name="connsiteY9" fmla="*/ 0 h 474600"/>
                <a:gd name="connsiteX10" fmla="*/ 171403 w 306839"/>
                <a:gd name="connsiteY10" fmla="*/ 56281 h 47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839" h="474600">
                  <a:moveTo>
                    <a:pt x="171403" y="56281"/>
                  </a:moveTo>
                  <a:cubicBezTo>
                    <a:pt x="146114" y="84421"/>
                    <a:pt x="130379" y="121762"/>
                    <a:pt x="123635" y="166678"/>
                  </a:cubicBezTo>
                  <a:lnTo>
                    <a:pt x="101718" y="321992"/>
                  </a:lnTo>
                  <a:cubicBezTo>
                    <a:pt x="93288" y="382603"/>
                    <a:pt x="55074" y="439425"/>
                    <a:pt x="0" y="474600"/>
                  </a:cubicBezTo>
                  <a:cubicBezTo>
                    <a:pt x="4496" y="474600"/>
                    <a:pt x="8992" y="474600"/>
                    <a:pt x="13487" y="474600"/>
                  </a:cubicBezTo>
                  <a:cubicBezTo>
                    <a:pt x="58446" y="474600"/>
                    <a:pt x="102842" y="454577"/>
                    <a:pt x="135436" y="418319"/>
                  </a:cubicBezTo>
                  <a:cubicBezTo>
                    <a:pt x="160725" y="390179"/>
                    <a:pt x="176461" y="352839"/>
                    <a:pt x="183204" y="307922"/>
                  </a:cubicBezTo>
                  <a:lnTo>
                    <a:pt x="205122" y="152608"/>
                  </a:lnTo>
                  <a:cubicBezTo>
                    <a:pt x="213551" y="91998"/>
                    <a:pt x="251766" y="35176"/>
                    <a:pt x="306839" y="0"/>
                  </a:cubicBezTo>
                  <a:cubicBezTo>
                    <a:pt x="302344" y="0"/>
                    <a:pt x="297848" y="0"/>
                    <a:pt x="293352" y="0"/>
                  </a:cubicBezTo>
                  <a:cubicBezTo>
                    <a:pt x="248394" y="0"/>
                    <a:pt x="203998" y="20023"/>
                    <a:pt x="171403" y="5628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65E49B2B-EAF5-66E6-F2D8-4F9596219DE5}"/>
                </a:ext>
              </a:extLst>
            </p:cNvPr>
            <p:cNvSpPr/>
            <p:nvPr/>
          </p:nvSpPr>
          <p:spPr>
            <a:xfrm>
              <a:off x="612225" y="3160974"/>
              <a:ext cx="222823" cy="456200"/>
            </a:xfrm>
            <a:custGeom>
              <a:avLst/>
              <a:gdLst>
                <a:gd name="connsiteX0" fmla="*/ 138527 w 222823"/>
                <a:gd name="connsiteY0" fmla="*/ 104986 h 456200"/>
                <a:gd name="connsiteX1" fmla="*/ 195849 w 222823"/>
                <a:gd name="connsiteY1" fmla="*/ 76304 h 456200"/>
                <a:gd name="connsiteX2" fmla="*/ 195849 w 222823"/>
                <a:gd name="connsiteY2" fmla="*/ 0 h 456200"/>
                <a:gd name="connsiteX3" fmla="*/ 160444 w 222823"/>
                <a:gd name="connsiteY3" fmla="*/ 9200 h 456200"/>
                <a:gd name="connsiteX4" fmla="*/ 64908 w 222823"/>
                <a:gd name="connsiteY4" fmla="*/ 70351 h 456200"/>
                <a:gd name="connsiteX5" fmla="*/ 64908 w 222823"/>
                <a:gd name="connsiteY5" fmla="*/ 70351 h 456200"/>
                <a:gd name="connsiteX6" fmla="*/ 64908 w 222823"/>
                <a:gd name="connsiteY6" fmla="*/ 70351 h 456200"/>
                <a:gd name="connsiteX7" fmla="*/ 64908 w 222823"/>
                <a:gd name="connsiteY7" fmla="*/ 393967 h 456200"/>
                <a:gd name="connsiteX8" fmla="*/ 64908 w 222823"/>
                <a:gd name="connsiteY8" fmla="*/ 393967 h 456200"/>
                <a:gd name="connsiteX9" fmla="*/ 163254 w 222823"/>
                <a:gd name="connsiteY9" fmla="*/ 456201 h 456200"/>
                <a:gd name="connsiteX10" fmla="*/ 222824 w 222823"/>
                <a:gd name="connsiteY10" fmla="*/ 393426 h 456200"/>
                <a:gd name="connsiteX11" fmla="*/ 81206 w 222823"/>
                <a:gd name="connsiteY11" fmla="*/ 276534 h 456200"/>
                <a:gd name="connsiteX12" fmla="*/ 137965 w 222823"/>
                <a:gd name="connsiteY12" fmla="*/ 104986 h 45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2823" h="456200">
                  <a:moveTo>
                    <a:pt x="138527" y="104986"/>
                  </a:moveTo>
                  <a:cubicBezTo>
                    <a:pt x="155387" y="91998"/>
                    <a:pt x="175056" y="82257"/>
                    <a:pt x="195849" y="76304"/>
                  </a:cubicBezTo>
                  <a:lnTo>
                    <a:pt x="195849" y="0"/>
                  </a:lnTo>
                  <a:cubicBezTo>
                    <a:pt x="183485" y="2165"/>
                    <a:pt x="171684" y="5412"/>
                    <a:pt x="160444" y="9200"/>
                  </a:cubicBezTo>
                  <a:cubicBezTo>
                    <a:pt x="123354" y="21647"/>
                    <a:pt x="90759" y="43293"/>
                    <a:pt x="64908" y="70351"/>
                  </a:cubicBezTo>
                  <a:cubicBezTo>
                    <a:pt x="64908" y="70351"/>
                    <a:pt x="64908" y="70351"/>
                    <a:pt x="64908" y="70351"/>
                  </a:cubicBezTo>
                  <a:lnTo>
                    <a:pt x="64908" y="70351"/>
                  </a:lnTo>
                  <a:cubicBezTo>
                    <a:pt x="-21636" y="160184"/>
                    <a:pt x="-21636" y="304134"/>
                    <a:pt x="64908" y="393967"/>
                  </a:cubicBezTo>
                  <a:lnTo>
                    <a:pt x="64908" y="393967"/>
                  </a:lnTo>
                  <a:cubicBezTo>
                    <a:pt x="91883" y="422107"/>
                    <a:pt x="126164" y="443754"/>
                    <a:pt x="163254" y="456201"/>
                  </a:cubicBezTo>
                  <a:cubicBezTo>
                    <a:pt x="187419" y="439425"/>
                    <a:pt x="207650" y="417778"/>
                    <a:pt x="222824" y="393426"/>
                  </a:cubicBezTo>
                  <a:cubicBezTo>
                    <a:pt x="156511" y="386391"/>
                    <a:pt x="99189" y="339309"/>
                    <a:pt x="81206" y="276534"/>
                  </a:cubicBezTo>
                  <a:cubicBezTo>
                    <a:pt x="63222" y="213760"/>
                    <a:pt x="86263" y="145032"/>
                    <a:pt x="137965" y="10498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  <p:sp>
          <p:nvSpPr>
            <p:cNvPr id="11" name="Forme libre 10">
              <a:extLst>
                <a:ext uri="{FF2B5EF4-FFF2-40B4-BE49-F238E27FC236}">
                  <a16:creationId xmlns:a16="http://schemas.microsoft.com/office/drawing/2014/main" id="{A1F56059-9621-13E3-D209-2C06236075DD}"/>
                </a:ext>
              </a:extLst>
            </p:cNvPr>
            <p:cNvSpPr/>
            <p:nvPr/>
          </p:nvSpPr>
          <p:spPr>
            <a:xfrm>
              <a:off x="1116037" y="3166927"/>
              <a:ext cx="235889" cy="463776"/>
            </a:xfrm>
            <a:custGeom>
              <a:avLst/>
              <a:gdLst>
                <a:gd name="connsiteX0" fmla="*/ 60694 w 235889"/>
                <a:gd name="connsiteY0" fmla="*/ 0 h 463776"/>
                <a:gd name="connsiteX1" fmla="*/ 0 w 235889"/>
                <a:gd name="connsiteY1" fmla="*/ 63316 h 463776"/>
                <a:gd name="connsiteX2" fmla="*/ 152296 w 235889"/>
                <a:gd name="connsiteY2" fmla="*/ 182913 h 463776"/>
                <a:gd name="connsiteX3" fmla="*/ 94412 w 235889"/>
                <a:gd name="connsiteY3" fmla="*/ 356085 h 463776"/>
                <a:gd name="connsiteX4" fmla="*/ 23603 w 235889"/>
                <a:gd name="connsiteY4" fmla="*/ 387473 h 463776"/>
                <a:gd name="connsiteX5" fmla="*/ 23603 w 235889"/>
                <a:gd name="connsiteY5" fmla="*/ 463777 h 463776"/>
                <a:gd name="connsiteX6" fmla="*/ 71933 w 235889"/>
                <a:gd name="connsiteY6" fmla="*/ 452413 h 463776"/>
                <a:gd name="connsiteX7" fmla="*/ 169717 w 235889"/>
                <a:gd name="connsiteY7" fmla="*/ 390720 h 463776"/>
                <a:gd name="connsiteX8" fmla="*/ 169717 w 235889"/>
                <a:gd name="connsiteY8" fmla="*/ 390720 h 463776"/>
                <a:gd name="connsiteX9" fmla="*/ 169717 w 235889"/>
                <a:gd name="connsiteY9" fmla="*/ 390720 h 463776"/>
                <a:gd name="connsiteX10" fmla="*/ 169717 w 235889"/>
                <a:gd name="connsiteY10" fmla="*/ 64398 h 463776"/>
                <a:gd name="connsiteX11" fmla="*/ 169717 w 235889"/>
                <a:gd name="connsiteY11" fmla="*/ 64398 h 463776"/>
                <a:gd name="connsiteX12" fmla="*/ 61255 w 235889"/>
                <a:gd name="connsiteY12" fmla="*/ 541 h 463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5889" h="463776">
                  <a:moveTo>
                    <a:pt x="60694" y="0"/>
                  </a:moveTo>
                  <a:cubicBezTo>
                    <a:pt x="35967" y="17317"/>
                    <a:pt x="15173" y="38964"/>
                    <a:pt x="0" y="63316"/>
                  </a:cubicBezTo>
                  <a:cubicBezTo>
                    <a:pt x="67437" y="70351"/>
                    <a:pt x="133751" y="119597"/>
                    <a:pt x="152296" y="182913"/>
                  </a:cubicBezTo>
                  <a:cubicBezTo>
                    <a:pt x="170841" y="246229"/>
                    <a:pt x="147238" y="315498"/>
                    <a:pt x="94412" y="356085"/>
                  </a:cubicBezTo>
                  <a:cubicBezTo>
                    <a:pt x="73619" y="371779"/>
                    <a:pt x="49454" y="382603"/>
                    <a:pt x="23603" y="387473"/>
                  </a:cubicBezTo>
                  <a:lnTo>
                    <a:pt x="23603" y="463777"/>
                  </a:lnTo>
                  <a:cubicBezTo>
                    <a:pt x="40462" y="461612"/>
                    <a:pt x="56760" y="457824"/>
                    <a:pt x="71933" y="452413"/>
                  </a:cubicBezTo>
                  <a:cubicBezTo>
                    <a:pt x="109585" y="439425"/>
                    <a:pt x="142742" y="418319"/>
                    <a:pt x="169717" y="390720"/>
                  </a:cubicBezTo>
                  <a:cubicBezTo>
                    <a:pt x="169717" y="390720"/>
                    <a:pt x="169717" y="390720"/>
                    <a:pt x="169717" y="390720"/>
                  </a:cubicBezTo>
                  <a:lnTo>
                    <a:pt x="169717" y="390720"/>
                  </a:lnTo>
                  <a:cubicBezTo>
                    <a:pt x="257947" y="299805"/>
                    <a:pt x="257947" y="154773"/>
                    <a:pt x="169717" y="64398"/>
                  </a:cubicBezTo>
                  <a:lnTo>
                    <a:pt x="169717" y="64398"/>
                  </a:lnTo>
                  <a:cubicBezTo>
                    <a:pt x="142180" y="35717"/>
                    <a:pt x="99470" y="12988"/>
                    <a:pt x="61255" y="5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>
                <a:solidFill>
                  <a:schemeClr val="accent5"/>
                </a:solidFill>
              </a:endParaRPr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888CD31-D8F8-79CB-32BC-396B417A55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18238" y="3122001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3E5E9E2-004B-2EBE-18FC-FFDA2E49A7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8238" y="3661720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CB13172A-C87D-5D96-DEB2-BE15942163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8238" y="4201439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15" name="Espace réservé du texte 11">
            <a:extLst>
              <a:ext uri="{FF2B5EF4-FFF2-40B4-BE49-F238E27FC236}">
                <a16:creationId xmlns:a16="http://schemas.microsoft.com/office/drawing/2014/main" id="{8B5CAA73-A0BC-BBD1-48C9-138DC53435C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8238" y="4742127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0CC7159F-33D6-E496-759E-6330FCEA3A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8238" y="5282816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A03ADBDF-EE13-554A-E45D-02DA02E30F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8238" y="5823505"/>
            <a:ext cx="615950" cy="484277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  <a:lvl2pPr>
              <a:defRPr b="1" i="0">
                <a:latin typeface="Galano Grotesque" pitchFamily="2" charset="77"/>
              </a:defRPr>
            </a:lvl2pPr>
            <a:lvl3pPr>
              <a:defRPr b="1" i="0">
                <a:latin typeface="Galano Grotesque" pitchFamily="2" charset="77"/>
              </a:defRPr>
            </a:lvl3pPr>
            <a:lvl4pPr>
              <a:defRPr b="1" i="0">
                <a:latin typeface="Galano Grotesque" pitchFamily="2" charset="77"/>
              </a:defRPr>
            </a:lvl4pPr>
            <a:lvl5pPr>
              <a:defRPr b="1" i="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1F650689-D9E8-1929-7BD7-0D2ADDE60B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11430" y="312200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E33DB651-F829-BDD1-7EB1-E5114BEA58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11430" y="366618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72C12F95-4518-C449-2BF6-9AABFF59C8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11430" y="421036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C4D5DDB2-8477-C611-71B5-B926BB27D0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1430" y="4754542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EF323779-AA12-E626-4A55-818CC6AE7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11430" y="528241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A1524D47-BCC5-66F3-C663-38D79F4C200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1430" y="5826597"/>
            <a:ext cx="4622800" cy="484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None/>
              <a:defRPr sz="1600" b="0" i="0">
                <a:solidFill>
                  <a:schemeClr val="accent4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>
                <a:latin typeface="Plus Jakarta Sans" pitchFamily="2" charset="77"/>
                <a:cs typeface="Plus Jakarta Sans" pitchFamily="2" charset="77"/>
              </a:rPr>
              <a:t>Nom de la partie</a:t>
            </a:r>
          </a:p>
        </p:txBody>
      </p:sp>
    </p:spTree>
    <p:extLst>
      <p:ext uri="{BB962C8B-B14F-4D97-AF65-F5344CB8AC3E}">
        <p14:creationId xmlns:p14="http://schemas.microsoft.com/office/powerpoint/2010/main" val="372232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C5046F2-8F16-1A3B-C892-69BF75F950B6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A4547F6-8DFD-B143-5BED-3627BFA5833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 dirty="0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AAF74D6D-692D-A976-75BC-C6A54058DB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2A2E83D9-C63E-83F9-2B5B-DE7023041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813E617-9C02-D680-A4A5-3DCC6C483F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D1447300-8277-F266-5442-178681D8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657775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ement +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C5046F2-8F16-1A3B-C892-69BF75F950B6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A4547F6-8DFD-B143-5BED-3627BFA5833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AAF74D6D-692D-A976-75BC-C6A54058DB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2A2E83D9-C63E-83F9-2B5B-DE7023041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813E617-9C02-D680-A4A5-3DCC6C483F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D1447300-8277-F266-5442-178681D8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4209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900" y="1764253"/>
            <a:ext cx="10998200" cy="4552409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Ajouter du texte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108D5AD-F7A3-3DAA-999E-A809992326C3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E178D58-7437-56CD-07E1-0B72ACCBDFE7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9A20A858-7D11-D557-18E3-9EF7098D84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4" name="Image 3">
            <a:extLst>
              <a:ext uri="{FF2B5EF4-FFF2-40B4-BE49-F238E27FC236}">
                <a16:creationId xmlns:a16="http://schemas.microsoft.com/office/drawing/2014/main" id="{2870B9BA-3143-7AED-45D7-DEE04E2707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2975F53E-B68D-3C78-1259-D2CBE00F7C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341F737B-E02F-44DF-CE14-C3DE7D78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307788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re + 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7E64F8A-908E-5A24-6C99-FE4435A0EC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869398E2-12C5-863E-834E-0CCA9BF8DA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2538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0C348B5-787C-DCCE-8867-191697024A82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D896EFF5-795A-0838-FA4F-561A2BDF257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E1D1BA10-296B-FB8E-7CDC-52F77B2A048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6D504448-4EFB-90AA-EC2F-B818B282E0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2DF8545C-0A46-1B55-B28F-E541664116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803149AA-E9B7-6918-3439-8E4BBD3F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5022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1 titre +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25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7E64F8A-908E-5A24-6C99-FE4435A0EC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2538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pour une image  15">
            <a:extLst>
              <a:ext uri="{FF2B5EF4-FFF2-40B4-BE49-F238E27FC236}">
                <a16:creationId xmlns:a16="http://schemas.microsoft.com/office/drawing/2014/main" id="{2C3CC083-8521-8256-0FA1-067D612663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57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BD96FA5-431A-770C-8BC7-106C3BCC8AD5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6A691F9-FBCF-49E8-BFDF-908E68EB486D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5" name="Espace réservé du pied de page 9">
            <a:extLst>
              <a:ext uri="{FF2B5EF4-FFF2-40B4-BE49-F238E27FC236}">
                <a16:creationId xmlns:a16="http://schemas.microsoft.com/office/drawing/2014/main" id="{E8725499-01BC-6785-97DD-B1E70771163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FD6C28E0-0550-9454-30D5-8B9C0130BA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70682556-1B05-472E-3105-CDA17F037E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974F51D9-B4FB-FA81-066F-D6007CC0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85991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869398E2-12C5-863E-834E-0CCA9BF8DA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2538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94E57A7-EE0C-1C84-2C93-F2B18B49DF2E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051505E-BBB7-01C4-B6F8-945FBEB955E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7D950580-4926-6EB6-4F84-B2B747955D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4" name="Image 3">
            <a:extLst>
              <a:ext uri="{FF2B5EF4-FFF2-40B4-BE49-F238E27FC236}">
                <a16:creationId xmlns:a16="http://schemas.microsoft.com/office/drawing/2014/main" id="{F4E08F75-B95E-14EB-AD2B-417DDCE47C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283D38F0-4589-E23D-64B7-957A62B7B0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32AD415B-1129-5F21-427A-D67460C6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187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+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2538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Espace réservé pour une image  15">
            <a:extLst>
              <a:ext uri="{FF2B5EF4-FFF2-40B4-BE49-F238E27FC236}">
                <a16:creationId xmlns:a16="http://schemas.microsoft.com/office/drawing/2014/main" id="{5CAC0CC1-804B-F094-F94E-C6E3B2FD763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56" y="1775866"/>
            <a:ext cx="5262562" cy="4540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A525F95-00DD-8B20-1D5D-C4521445DC8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F9B7A656-E4C0-03C1-F577-A056E4CD072E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4" name="Espace réservé du pied de page 9">
            <a:extLst>
              <a:ext uri="{FF2B5EF4-FFF2-40B4-BE49-F238E27FC236}">
                <a16:creationId xmlns:a16="http://schemas.microsoft.com/office/drawing/2014/main" id="{35F50AFE-5226-FD74-6165-DCE70A561E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E6FC1E7F-A0E1-1AEB-D3C8-5A47990D48A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FC84EA64-76A5-2CAE-7E39-E833A25154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56726840-999C-DA95-46A0-C993EA61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441719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3357615"/>
            <a:ext cx="5263205" cy="295904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85282-1A22-9C1A-882B-84A8773A840D}"/>
              </a:ext>
            </a:extLst>
          </p:cNvPr>
          <p:cNvSpPr/>
          <p:nvPr/>
        </p:nvSpPr>
        <p:spPr>
          <a:xfrm>
            <a:off x="593558" y="1764172"/>
            <a:ext cx="5265821" cy="1372060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A9C0F2E-DB3B-0161-93F4-E864122546DE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5829204-43A7-09F7-6BFA-817C91493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716" y="3357615"/>
            <a:ext cx="5263205" cy="295904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F8295FD-07BC-3EC2-AC74-6F94F4B769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8697" y="2760440"/>
            <a:ext cx="4235544" cy="3077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AEFEE505-D301-CBC3-3989-1C62611A30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848083" y="1923779"/>
            <a:ext cx="756771" cy="765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72D130-7062-E76E-C876-BE32719C5BE5}"/>
              </a:ext>
            </a:extLst>
          </p:cNvPr>
          <p:cNvSpPr/>
          <p:nvPr/>
        </p:nvSpPr>
        <p:spPr>
          <a:xfrm>
            <a:off x="6337865" y="1764172"/>
            <a:ext cx="5265821" cy="1372060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space réservé du texte 18">
            <a:extLst>
              <a:ext uri="{FF2B5EF4-FFF2-40B4-BE49-F238E27FC236}">
                <a16:creationId xmlns:a16="http://schemas.microsoft.com/office/drawing/2014/main" id="{C6ED7034-E65B-C01B-356A-F97F377DC1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3004" y="2760440"/>
            <a:ext cx="4235544" cy="30777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0" name="Espace réservé du contenu 25">
            <a:extLst>
              <a:ext uri="{FF2B5EF4-FFF2-40B4-BE49-F238E27FC236}">
                <a16:creationId xmlns:a16="http://schemas.microsoft.com/office/drawing/2014/main" id="{755AD89F-1B66-E429-0FC1-EBFB7D4AD10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592390" y="1923779"/>
            <a:ext cx="756771" cy="7650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938CDB-2008-87B4-2B9B-EF516571A50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92C6CFD-01B8-FE8C-2FAD-FCAD86DCB745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6" name="Espace réservé du pied de page 9">
            <a:extLst>
              <a:ext uri="{FF2B5EF4-FFF2-40B4-BE49-F238E27FC236}">
                <a16:creationId xmlns:a16="http://schemas.microsoft.com/office/drawing/2014/main" id="{89C42785-BBF7-9A1A-8E3D-DB57C4E0C44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059B6D07-32A3-90D8-4019-B660E0BF91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CF899B9F-5E73-BBEC-9718-9A28A2C084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68BC9CFE-9DBD-7E52-87C1-9217BBBA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4185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A9C0F2E-DB3B-0161-93F4-E864122546DE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4003062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65829204-43A7-09F7-6BFA-817C914930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716" y="4835488"/>
            <a:ext cx="5263205" cy="148117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AEFEE505-D301-CBC3-3989-1C62611A30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8694" y="1434079"/>
            <a:ext cx="5258029" cy="3170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F938CDB-2008-87B4-2B9B-EF516571A50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92C6CFD-01B8-FE8C-2FAD-FCAD86DCB745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6" name="Espace réservé du pied de page 9">
            <a:extLst>
              <a:ext uri="{FF2B5EF4-FFF2-40B4-BE49-F238E27FC236}">
                <a16:creationId xmlns:a16="http://schemas.microsoft.com/office/drawing/2014/main" id="{89C42785-BBF7-9A1A-8E3D-DB57C4E0C44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059B6D07-32A3-90D8-4019-B660E0BF91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CF899B9F-5E73-BBEC-9718-9A28A2C084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68BC9CFE-9DBD-7E52-87C1-9217BBBA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contenu 25">
            <a:extLst>
              <a:ext uri="{FF2B5EF4-FFF2-40B4-BE49-F238E27FC236}">
                <a16:creationId xmlns:a16="http://schemas.microsoft.com/office/drawing/2014/main" id="{3EF87B23-09EE-46ED-EB0C-D659D6809D7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37864" y="1447730"/>
            <a:ext cx="5258029" cy="31705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6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Insérez un logo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5BDD7845-4C9E-B7D1-4BBF-32E1D3C480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0932" y="4825452"/>
            <a:ext cx="5263205" cy="148117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854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res + 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13">
            <a:extLst>
              <a:ext uri="{FF2B5EF4-FFF2-40B4-BE49-F238E27FC236}">
                <a16:creationId xmlns:a16="http://schemas.microsoft.com/office/drawing/2014/main" id="{1BD4CAC6-7ECD-9188-0AB5-67D344A3AC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3A0164D9-8E5A-F9AB-EF85-98844CA44F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507" y="1775866"/>
            <a:ext cx="5263204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3D3CDDF1-EBC8-7401-1782-B8628EE704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25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B272A987-8628-9470-EAB5-56681A85CA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2138" y="3144621"/>
            <a:ext cx="5263205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8A5379F-EDA8-00C2-CFEA-96454C73901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C92F72C-F01B-BAAD-7467-2B5B1AE97390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7" name="Espace réservé du pied de page 9">
            <a:extLst>
              <a:ext uri="{FF2B5EF4-FFF2-40B4-BE49-F238E27FC236}">
                <a16:creationId xmlns:a16="http://schemas.microsoft.com/office/drawing/2014/main" id="{6056C20B-3ACE-D90A-231D-5A96EC36211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4E6E521B-A15F-1ED0-EB38-1321AE3E99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9" name="Image 3">
            <a:extLst>
              <a:ext uri="{FF2B5EF4-FFF2-40B4-BE49-F238E27FC236}">
                <a16:creationId xmlns:a16="http://schemas.microsoft.com/office/drawing/2014/main" id="{FC5E108E-8420-0277-1ED9-04AE1335D9C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8A0E1A0D-398D-AC6C-AB10-903F1ABA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430161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107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BC48111D-7D4B-68F3-DF0B-FB727426CC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2538" y="1770849"/>
            <a:ext cx="5263205" cy="454581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72D0A29-2A81-1222-243B-358506C0803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6250A2D-767D-3878-8C12-529E1FBC275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5" name="Espace réservé du pied de page 9">
            <a:extLst>
              <a:ext uri="{FF2B5EF4-FFF2-40B4-BE49-F238E27FC236}">
                <a16:creationId xmlns:a16="http://schemas.microsoft.com/office/drawing/2014/main" id="{42B30E9B-D413-F895-BC80-DBEE0696C3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8703ABED-D973-D6FE-6E1F-336188E4CF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7" name="Image 3">
            <a:extLst>
              <a:ext uri="{FF2B5EF4-FFF2-40B4-BE49-F238E27FC236}">
                <a16:creationId xmlns:a16="http://schemas.microsoft.com/office/drawing/2014/main" id="{7522E65A-1D6C-11F0-C7CE-27D6DDEAC3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8" name="Titre 17">
            <a:extLst>
              <a:ext uri="{FF2B5EF4-FFF2-40B4-BE49-F238E27FC236}">
                <a16:creationId xmlns:a16="http://schemas.microsoft.com/office/drawing/2014/main" id="{20C84E48-15AC-4990-59FE-774165A4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73458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6096000" y="1777251"/>
            <a:ext cx="0" cy="388800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4D019D9-6800-A2C7-9EDF-3C01542FD0A4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A4894DD9-5B94-55D5-E2DC-8266B901604C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62343BC5-2F9F-57C1-C9F2-1BC4272E192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3EA91823-2F57-C619-DC7A-BD4C8857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5" name="Image 3">
            <a:extLst>
              <a:ext uri="{FF2B5EF4-FFF2-40B4-BE49-F238E27FC236}">
                <a16:creationId xmlns:a16="http://schemas.microsoft.com/office/drawing/2014/main" id="{C0929161-7E83-FAE6-59FD-4E17151C79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49136422-14EB-B7E7-6605-691C32C7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594806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itres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10CDACC7-FD41-1D12-DF55-E0CCFB995C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1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EA07F4D7-57AF-92D3-8F4E-6338170C95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21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6AC08038-AF60-292E-E610-1F724C4CFA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15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2059A5FF-136C-3DC2-FF63-E41B2A1C8D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75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CDAD8012-BBE3-BBEC-E71C-D568BA5418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54207" y="1775866"/>
            <a:ext cx="3340668" cy="95410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tx1"/>
                </a:solidFill>
                <a:latin typeface="Plus Jakarta Sans" pitchFamily="2" charset="77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0D0F3236-3064-3CCB-317B-DF894DBA9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0238" y="3144621"/>
            <a:ext cx="3340669" cy="317204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A4A261-37AB-DA90-F142-886AC0E5A31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44D4B1B-ED46-B953-FD93-5F6C53A316C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4642A7FB-06A0-1C32-92CD-DFFE2F60B97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A81B0036-0F57-AB91-0860-6C34F96BEE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22" name="Image 3">
            <a:extLst>
              <a:ext uri="{FF2B5EF4-FFF2-40B4-BE49-F238E27FC236}">
                <a16:creationId xmlns:a16="http://schemas.microsoft.com/office/drawing/2014/main" id="{CBA5260A-A35C-B009-39CC-1313FD9D43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3" name="Titre 22">
            <a:extLst>
              <a:ext uri="{FF2B5EF4-FFF2-40B4-BE49-F238E27FC236}">
                <a16:creationId xmlns:a16="http://schemas.microsoft.com/office/drawing/2014/main" id="{75BF813A-811B-C7E6-88F8-F2C88080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48241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+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453941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4539410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EA07F4D7-57AF-92D3-8F4E-6338170C95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21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2059A5FF-136C-3DC2-FF63-E41B2A1C8D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75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0D0F3236-3064-3CCB-317B-DF894DBA9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0238" y="4311168"/>
            <a:ext cx="3340669" cy="2005494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A4A261-37AB-DA90-F142-886AC0E5A319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44D4B1B-ED46-B953-FD93-5F6C53A316C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4642A7FB-06A0-1C32-92CD-DFFE2F60B97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A81B0036-0F57-AB91-0860-6C34F96BEE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22" name="Image 3">
            <a:extLst>
              <a:ext uri="{FF2B5EF4-FFF2-40B4-BE49-F238E27FC236}">
                <a16:creationId xmlns:a16="http://schemas.microsoft.com/office/drawing/2014/main" id="{CBA5260A-A35C-B009-39CC-1313FD9D43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3" name="Titre 22">
            <a:extLst>
              <a:ext uri="{FF2B5EF4-FFF2-40B4-BE49-F238E27FC236}">
                <a16:creationId xmlns:a16="http://schemas.microsoft.com/office/drawing/2014/main" id="{75BF813A-811B-C7E6-88F8-F2C88080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FE73CC8-61DF-7741-2AF4-379414529F8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427538" y="1776413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20" name="Espace réservé pour une image  8">
            <a:extLst>
              <a:ext uri="{FF2B5EF4-FFF2-40B4-BE49-F238E27FC236}">
                <a16:creationId xmlns:a16="http://schemas.microsoft.com/office/drawing/2014/main" id="{13E0C86F-62FC-F17A-1AA1-B46F3BB6CD3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48424" y="1776413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24" name="Espace réservé pour une image  8">
            <a:extLst>
              <a:ext uri="{FF2B5EF4-FFF2-40B4-BE49-F238E27FC236}">
                <a16:creationId xmlns:a16="http://schemas.microsoft.com/office/drawing/2014/main" id="{47CD1336-F383-07B7-AF44-8FC07128808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9755" y="1756328"/>
            <a:ext cx="3340100" cy="23717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308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DF1BF75-72D3-9F2F-653F-90CD22CEB8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552" y="1765829"/>
            <a:ext cx="3353922" cy="4550806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181AFECA-AA25-73EC-AD5D-CFC52C53F5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19039" y="1765819"/>
            <a:ext cx="3353922" cy="455083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76E35219-9A49-5BAA-BF72-2360BAAA2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9193" y="1765819"/>
            <a:ext cx="3353922" cy="4550831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E2D4E07-4E51-417C-E5FB-1AEBE822BCC4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8D96A097-906B-C6EF-36BE-FEBF08766A8E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7" name="Espace réservé du pied de page 9">
            <a:extLst>
              <a:ext uri="{FF2B5EF4-FFF2-40B4-BE49-F238E27FC236}">
                <a16:creationId xmlns:a16="http://schemas.microsoft.com/office/drawing/2014/main" id="{BC90BDC5-6AE4-369F-CA2F-500666692B2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4AA04FD6-B356-AECB-12E3-4568FDF9B2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9" name="Image 3">
            <a:extLst>
              <a:ext uri="{FF2B5EF4-FFF2-40B4-BE49-F238E27FC236}">
                <a16:creationId xmlns:a16="http://schemas.microsoft.com/office/drawing/2014/main" id="{5FF173E9-3BD4-CAC5-1E71-BB9E4E3D3D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0F1483C0-1D33-DC9E-BF91-9713BA13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85109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EA62686-1755-637A-4FDF-EF61284EBCA5}"/>
              </a:ext>
            </a:extLst>
          </p:cNvPr>
          <p:cNvCxnSpPr>
            <a:cxnSpLocks/>
          </p:cNvCxnSpPr>
          <p:nvPr/>
        </p:nvCxnSpPr>
        <p:spPr>
          <a:xfrm flipV="1">
            <a:off x="80156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2B4AFAC-A110-2735-276D-AFDEC5FBC8A8}"/>
              </a:ext>
            </a:extLst>
          </p:cNvPr>
          <p:cNvCxnSpPr>
            <a:cxnSpLocks/>
          </p:cNvCxnSpPr>
          <p:nvPr/>
        </p:nvCxnSpPr>
        <p:spPr>
          <a:xfrm flipV="1">
            <a:off x="4180211" y="1777252"/>
            <a:ext cx="0" cy="2942561"/>
          </a:xfrm>
          <a:prstGeom prst="line">
            <a:avLst/>
          </a:prstGeom>
          <a:ln w="12700">
            <a:solidFill>
              <a:srgbClr val="DBD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D208F8B-0F7A-225D-A872-7D19654EA7D2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8EDC7974-B935-79FF-3D74-9689E4784091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1" name="Espace réservé du pied de page 9">
            <a:extLst>
              <a:ext uri="{FF2B5EF4-FFF2-40B4-BE49-F238E27FC236}">
                <a16:creationId xmlns:a16="http://schemas.microsoft.com/office/drawing/2014/main" id="{4E17154A-080C-75DC-759F-925545500F8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6A6447A5-1FBD-B7AC-1F25-61708ADC1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59630943-6655-7219-6930-6F7FE0367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82626659-2047-9772-7DDB-1C55C4BB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27900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s +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3DB7E0-3460-575F-C752-E124B92DB6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552" y="3365227"/>
            <a:ext cx="3353922" cy="2951407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62632C4D-13B9-BEEA-986C-6EBEB7D33D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19039" y="3365227"/>
            <a:ext cx="3353922" cy="295142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47395A5B-F130-E642-5A9F-64AC28B02A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9193" y="3365227"/>
            <a:ext cx="3353922" cy="295142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</a:lstStyle>
          <a:p>
            <a:pPr lvl="0"/>
            <a:r>
              <a:rPr lang="fr-FR"/>
              <a:t>Ajoutez du texte</a:t>
            </a:r>
          </a:p>
          <a:p>
            <a:pPr marL="171450" indent="-171450">
              <a:lnSpc>
                <a:spcPct val="150000"/>
              </a:lnSpc>
              <a:buBlip>
                <a:blip r:embed="rId3"/>
              </a:buBlip>
            </a:pPr>
            <a:endParaRPr lang="en-US" sz="1200">
              <a:solidFill>
                <a:srgbClr val="59595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" name="Espace réservé du contenu 25">
            <a:extLst>
              <a:ext uri="{FF2B5EF4-FFF2-40B4-BE49-F238E27FC236}">
                <a16:creationId xmlns:a16="http://schemas.microsoft.com/office/drawing/2014/main" id="{0504A56B-AE8A-BF31-C214-49FCB86A04B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884464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1D7EA426-A86C-0278-15F5-F8341F9BAD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3362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1" name="Espace réservé du contenu 25">
            <a:extLst>
              <a:ext uri="{FF2B5EF4-FFF2-40B4-BE49-F238E27FC236}">
                <a16:creationId xmlns:a16="http://schemas.microsoft.com/office/drawing/2014/main" id="{4C10C506-7890-A9F0-F9C2-1F5BB61F01D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719952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32" name="Espace réservé du texte 28">
            <a:extLst>
              <a:ext uri="{FF2B5EF4-FFF2-40B4-BE49-F238E27FC236}">
                <a16:creationId xmlns:a16="http://schemas.microsoft.com/office/drawing/2014/main" id="{DA84ED17-7BE1-8384-1A4D-988007F6A7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68850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4" name="Espace réservé du contenu 25">
            <a:extLst>
              <a:ext uri="{FF2B5EF4-FFF2-40B4-BE49-F238E27FC236}">
                <a16:creationId xmlns:a16="http://schemas.microsoft.com/office/drawing/2014/main" id="{1188EF79-413C-AF9C-BBA1-D654CBC1E430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555106" y="1918652"/>
            <a:ext cx="752096" cy="75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algn="ctr">
              <a:defRPr sz="1600">
                <a:latin typeface="Galano Grotesque" pitchFamily="2" charset="77"/>
              </a:defRPr>
            </a:lvl2pPr>
            <a:lvl3pPr algn="ctr">
              <a:defRPr sz="1400">
                <a:latin typeface="Galano Grotesque" pitchFamily="2" charset="77"/>
              </a:defRPr>
            </a:lvl3pPr>
            <a:lvl4pPr algn="ctr">
              <a:defRPr sz="1200">
                <a:latin typeface="Galano Grotesque" pitchFamily="2" charset="77"/>
              </a:defRPr>
            </a:lvl4pPr>
            <a:lvl5pPr algn="ctr">
              <a:defRPr sz="120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Insérez une icône</a:t>
            </a:r>
          </a:p>
        </p:txBody>
      </p:sp>
      <p:sp>
        <p:nvSpPr>
          <p:cNvPr id="35" name="Espace réservé du texte 28">
            <a:extLst>
              <a:ext uri="{FF2B5EF4-FFF2-40B4-BE49-F238E27FC236}">
                <a16:creationId xmlns:a16="http://schemas.microsoft.com/office/drawing/2014/main" id="{2AA2318D-E1BA-8A57-5408-5420750115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4004" y="2762250"/>
            <a:ext cx="2654300" cy="3063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Plus Jakarta Sans SemiBold" pitchFamily="2" charset="77"/>
              </a:defRPr>
            </a:lvl1pPr>
            <a:lvl2pPr>
              <a:defRPr sz="1200">
                <a:latin typeface="Galano Grotesque" pitchFamily="2" charset="77"/>
              </a:defRPr>
            </a:lvl2pPr>
            <a:lvl3pPr>
              <a:defRPr sz="1100">
                <a:latin typeface="Galano Grotesque" pitchFamily="2" charset="77"/>
              </a:defRPr>
            </a:lvl3pPr>
            <a:lvl4pPr>
              <a:defRPr sz="1050">
                <a:latin typeface="Galano Grotesque" pitchFamily="2" charset="77"/>
              </a:defRPr>
            </a:lvl4pPr>
            <a:lvl5pPr>
              <a:defRPr sz="1050">
                <a:latin typeface="Galano Grotesque" pitchFamily="2" charset="77"/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A82CF64-4BD0-2FD7-D313-2434FB791BEB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1ABFBBD-A4E2-A859-A8A2-1B055AF948E1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4" name="Espace réservé du pied de page 9">
            <a:extLst>
              <a:ext uri="{FF2B5EF4-FFF2-40B4-BE49-F238E27FC236}">
                <a16:creationId xmlns:a16="http://schemas.microsoft.com/office/drawing/2014/main" id="{1C6B30C8-A7BD-36EC-5E87-AD2C08DF004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0ABF63AB-C871-4C41-D251-80BEE98A32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265EAAE0-9135-091B-56F6-E29A507CF7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7" name="Titre 16">
            <a:extLst>
              <a:ext uri="{FF2B5EF4-FFF2-40B4-BE49-F238E27FC236}">
                <a16:creationId xmlns:a16="http://schemas.microsoft.com/office/drawing/2014/main" id="{8022A0C8-C1E6-BDFC-4492-3078B80A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094652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1" name="Espace réservé du contenu 19">
            <a:extLst>
              <a:ext uri="{FF2B5EF4-FFF2-40B4-BE49-F238E27FC236}">
                <a16:creationId xmlns:a16="http://schemas.microsoft.com/office/drawing/2014/main" id="{10C45F0B-0698-34F1-9C6F-67420E3FEC4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4885" y="198794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3" name="Espace réservé du contenu 19">
            <a:extLst>
              <a:ext uri="{FF2B5EF4-FFF2-40B4-BE49-F238E27FC236}">
                <a16:creationId xmlns:a16="http://schemas.microsoft.com/office/drawing/2014/main" id="{478D6787-7E01-D2AF-3290-B6AC79DA096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4885" y="358140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5" name="Espace réservé du contenu 19">
            <a:extLst>
              <a:ext uri="{FF2B5EF4-FFF2-40B4-BE49-F238E27FC236}">
                <a16:creationId xmlns:a16="http://schemas.microsoft.com/office/drawing/2014/main" id="{3EF04D55-99B6-6260-6E5C-E6F5550961C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4885" y="5171992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9" name="Espace réservé du contenu 19">
            <a:extLst>
              <a:ext uri="{FF2B5EF4-FFF2-40B4-BE49-F238E27FC236}">
                <a16:creationId xmlns:a16="http://schemas.microsoft.com/office/drawing/2014/main" id="{7E9BDC09-5094-2B94-7253-07F8D4ECBF1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07985" y="198794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0" name="Espace réservé du contenu 19">
            <a:extLst>
              <a:ext uri="{FF2B5EF4-FFF2-40B4-BE49-F238E27FC236}">
                <a16:creationId xmlns:a16="http://schemas.microsoft.com/office/drawing/2014/main" id="{D2275F22-67A5-44D4-0D14-979374F8C60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07985" y="358140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1" name="Espace réservé du contenu 19">
            <a:extLst>
              <a:ext uri="{FF2B5EF4-FFF2-40B4-BE49-F238E27FC236}">
                <a16:creationId xmlns:a16="http://schemas.microsoft.com/office/drawing/2014/main" id="{B5718FAD-5541-CCA0-FDC3-90D60B289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7985" y="5171992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7EE8819D-9707-593E-B882-D21D36A354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22361" y="1983579"/>
            <a:ext cx="3831771" cy="92313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4" name="Espace réservé du texte 32">
            <a:extLst>
              <a:ext uri="{FF2B5EF4-FFF2-40B4-BE49-F238E27FC236}">
                <a16:creationId xmlns:a16="http://schemas.microsoft.com/office/drawing/2014/main" id="{08B8CC02-EE99-95FA-BBC9-C1124DCC1C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22361" y="3594835"/>
            <a:ext cx="3831771" cy="88409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5" name="Espace réservé du texte 32">
            <a:extLst>
              <a:ext uri="{FF2B5EF4-FFF2-40B4-BE49-F238E27FC236}">
                <a16:creationId xmlns:a16="http://schemas.microsoft.com/office/drawing/2014/main" id="{86E3972E-B52F-1AB3-35DD-C021DE4B83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22361" y="5160088"/>
            <a:ext cx="3831771" cy="9370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6" name="Espace réservé du texte 32">
            <a:extLst>
              <a:ext uri="{FF2B5EF4-FFF2-40B4-BE49-F238E27FC236}">
                <a16:creationId xmlns:a16="http://schemas.microsoft.com/office/drawing/2014/main" id="{3FE9A64A-4CCF-DEDC-752E-78ED91D0A1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73788" y="1983579"/>
            <a:ext cx="3831771" cy="923134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7" name="Espace réservé du texte 32">
            <a:extLst>
              <a:ext uri="{FF2B5EF4-FFF2-40B4-BE49-F238E27FC236}">
                <a16:creationId xmlns:a16="http://schemas.microsoft.com/office/drawing/2014/main" id="{7FF1668E-7B8D-67AF-0951-530E60B39C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3788" y="3581405"/>
            <a:ext cx="3831771" cy="9109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8" name="Espace réservé du texte 32">
            <a:extLst>
              <a:ext uri="{FF2B5EF4-FFF2-40B4-BE49-F238E27FC236}">
                <a16:creationId xmlns:a16="http://schemas.microsoft.com/office/drawing/2014/main" id="{A18371FB-E00A-B7F2-CF77-3A36BB49AC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3788" y="5167038"/>
            <a:ext cx="3831771" cy="92315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C483E41-4218-4714-A11B-77B5EB42515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AF655B6-52D0-1962-1870-FEBF23478F43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2" name="Espace réservé du pied de page 9">
            <a:extLst>
              <a:ext uri="{FF2B5EF4-FFF2-40B4-BE49-F238E27FC236}">
                <a16:creationId xmlns:a16="http://schemas.microsoft.com/office/drawing/2014/main" id="{F5F4C28A-2B39-3166-7029-B4D163ADB83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E33809B8-1304-390E-5B30-8A85CB2A95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376E5E1F-DD41-1FC5-5145-1140DBFFA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5" name="Titre 14">
            <a:extLst>
              <a:ext uri="{FF2B5EF4-FFF2-40B4-BE49-F238E27FC236}">
                <a16:creationId xmlns:a16="http://schemas.microsoft.com/office/drawing/2014/main" id="{F228E636-4E00-E524-26CD-D2D7A0C2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02253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8B27E2F-1ACB-60D8-0F28-55360E3BB4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16332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1D70E975-CD65-D489-CBB3-919E02BAC6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6332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5BD3B682-F1D5-A6FB-B07C-B0C958C40F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59517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7FF2E9D3-89E1-AB93-6527-DFAB6A7F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3739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CC7A9A66-4639-6E5F-ABF3-C19CD09513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02703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6501984C-6526-1650-C964-E3B0D68FA1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2703" y="3568989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C3BE79D3-957B-5BA5-889C-97B856A8B2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5889" y="3151456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9999C88C-B9A8-81E2-C8B4-5352ABAD0D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5889" y="3568990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ACCEA465-5500-345D-2811-9A10EE6DB5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16332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7" name="Espace réservé du texte 10">
            <a:extLst>
              <a:ext uri="{FF2B5EF4-FFF2-40B4-BE49-F238E27FC236}">
                <a16:creationId xmlns:a16="http://schemas.microsoft.com/office/drawing/2014/main" id="{46021353-6E4E-7EE9-B1C0-334586504A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6332" y="5992875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38" name="Espace réservé du texte 10">
            <a:extLst>
              <a:ext uri="{FF2B5EF4-FFF2-40B4-BE49-F238E27FC236}">
                <a16:creationId xmlns:a16="http://schemas.microsoft.com/office/drawing/2014/main" id="{821DBFAB-ACFB-35C3-FC85-EE12D3066D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9517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39" name="Espace réservé du texte 10">
            <a:extLst>
              <a:ext uri="{FF2B5EF4-FFF2-40B4-BE49-F238E27FC236}">
                <a16:creationId xmlns:a16="http://schemas.microsoft.com/office/drawing/2014/main" id="{DFAD602D-0CF2-3F8B-7649-13EF004B04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63739" y="5992874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0" name="Espace réservé du texte 10">
            <a:extLst>
              <a:ext uri="{FF2B5EF4-FFF2-40B4-BE49-F238E27FC236}">
                <a16:creationId xmlns:a16="http://schemas.microsoft.com/office/drawing/2014/main" id="{7E999209-7481-95C6-FC06-D9F5EF73B7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2703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1" name="Espace réservé du texte 10">
            <a:extLst>
              <a:ext uri="{FF2B5EF4-FFF2-40B4-BE49-F238E27FC236}">
                <a16:creationId xmlns:a16="http://schemas.microsoft.com/office/drawing/2014/main" id="{DE252284-FCCD-1E4C-462B-9864B384A7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02703" y="5992874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2" name="Espace réservé du texte 10">
            <a:extLst>
              <a:ext uri="{FF2B5EF4-FFF2-40B4-BE49-F238E27FC236}">
                <a16:creationId xmlns:a16="http://schemas.microsoft.com/office/drawing/2014/main" id="{5C4E80B6-C3EF-69AD-FD4F-C31AE6DB0C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45889" y="5575341"/>
            <a:ext cx="1915712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</p:txBody>
      </p:sp>
      <p:sp>
        <p:nvSpPr>
          <p:cNvPr id="43" name="Espace réservé du texte 10">
            <a:extLst>
              <a:ext uri="{FF2B5EF4-FFF2-40B4-BE49-F238E27FC236}">
                <a16:creationId xmlns:a16="http://schemas.microsoft.com/office/drawing/2014/main" id="{0FBF36B6-61B8-3B2D-FF5D-8728901DCE6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45889" y="5992875"/>
            <a:ext cx="1915712" cy="3174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Rôle</a:t>
            </a:r>
          </a:p>
        </p:txBody>
      </p:sp>
      <p:sp>
        <p:nvSpPr>
          <p:cNvPr id="45" name="Espace réservé pour une image  44">
            <a:extLst>
              <a:ext uri="{FF2B5EF4-FFF2-40B4-BE49-F238E27FC236}">
                <a16:creationId xmlns:a16="http://schemas.microsoft.com/office/drawing/2014/main" id="{C5B8CF65-4727-21ED-4178-5DF4D80F03E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664588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6" name="Espace réservé pour une image  44">
            <a:extLst>
              <a:ext uri="{FF2B5EF4-FFF2-40B4-BE49-F238E27FC236}">
                <a16:creationId xmlns:a16="http://schemas.microsoft.com/office/drawing/2014/main" id="{B9478C6C-B663-5083-F076-BB0C82B69CC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21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7" name="Espace réservé pour une image  44">
            <a:extLst>
              <a:ext uri="{FF2B5EF4-FFF2-40B4-BE49-F238E27FC236}">
                <a16:creationId xmlns:a16="http://schemas.microsoft.com/office/drawing/2014/main" id="{74396AAD-2217-4245-5769-3CD5D43224F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75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8" name="Espace réservé pour une image  44">
            <a:extLst>
              <a:ext uri="{FF2B5EF4-FFF2-40B4-BE49-F238E27FC236}">
                <a16:creationId xmlns:a16="http://schemas.microsoft.com/office/drawing/2014/main" id="{45FF0A3C-46BD-260A-AFDF-C143183764D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93824" y="4215201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49" name="Espace réservé pour une image  44">
            <a:extLst>
              <a:ext uri="{FF2B5EF4-FFF2-40B4-BE49-F238E27FC236}">
                <a16:creationId xmlns:a16="http://schemas.microsoft.com/office/drawing/2014/main" id="{D3F10F35-0C2F-36F6-8D01-5C90A08379A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664588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0" name="Espace réservé pour une image  44">
            <a:extLst>
              <a:ext uri="{FF2B5EF4-FFF2-40B4-BE49-F238E27FC236}">
                <a16:creationId xmlns:a16="http://schemas.microsoft.com/office/drawing/2014/main" id="{2673D2B1-6E06-D01C-C88C-A2D773A3DF6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21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1" name="Espace réservé pour une image  44">
            <a:extLst>
              <a:ext uri="{FF2B5EF4-FFF2-40B4-BE49-F238E27FC236}">
                <a16:creationId xmlns:a16="http://schemas.microsoft.com/office/drawing/2014/main" id="{ADB24ED6-F9BA-AF04-0E2F-7774BD4F3CD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75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sp>
        <p:nvSpPr>
          <p:cNvPr id="52" name="Espace réservé pour une image  44">
            <a:extLst>
              <a:ext uri="{FF2B5EF4-FFF2-40B4-BE49-F238E27FC236}">
                <a16:creationId xmlns:a16="http://schemas.microsoft.com/office/drawing/2014/main" id="{5555D964-3E94-94D0-E08F-7307473118C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93824" y="1776556"/>
            <a:ext cx="1219200" cy="1219200"/>
          </a:xfrm>
          <a:prstGeom prst="ellipse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/>
              <a:t>Insérez une image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6A123EC-5297-FA91-E86A-DBCE9617E4A1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D1A0D689-BA0B-8FDB-8996-3DAF642B38CB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13" name="Espace réservé du pied de page 9">
            <a:extLst>
              <a:ext uri="{FF2B5EF4-FFF2-40B4-BE49-F238E27FC236}">
                <a16:creationId xmlns:a16="http://schemas.microsoft.com/office/drawing/2014/main" id="{0F30FA4F-9EF6-FEEF-8617-43BE435F001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17" name="Image 3">
            <a:extLst>
              <a:ext uri="{FF2B5EF4-FFF2-40B4-BE49-F238E27FC236}">
                <a16:creationId xmlns:a16="http://schemas.microsoft.com/office/drawing/2014/main" id="{5A9463E3-D888-6823-5F74-146141F459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18" name="Image 3">
            <a:extLst>
              <a:ext uri="{FF2B5EF4-FFF2-40B4-BE49-F238E27FC236}">
                <a16:creationId xmlns:a16="http://schemas.microsoft.com/office/drawing/2014/main" id="{092BCE15-4767-4572-4297-254A4849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21" name="Titre 20">
            <a:extLst>
              <a:ext uri="{FF2B5EF4-FFF2-40B4-BE49-F238E27FC236}">
                <a16:creationId xmlns:a16="http://schemas.microsoft.com/office/drawing/2014/main" id="{3874C391-18E4-8497-D595-E2BE66FB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78901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e VIS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ZoneTexte 52">
            <a:extLst>
              <a:ext uri="{FF2B5EF4-FFF2-40B4-BE49-F238E27FC236}">
                <a16:creationId xmlns:a16="http://schemas.microsoft.com/office/drawing/2014/main" id="{D474D3CF-AA1D-B975-CC4D-777D37F67294}"/>
              </a:ext>
            </a:extLst>
          </p:cNvPr>
          <p:cNvSpPr txBox="1"/>
          <p:nvPr/>
        </p:nvSpPr>
        <p:spPr>
          <a:xfrm>
            <a:off x="8261990" y="4662932"/>
            <a:ext cx="11677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IMAGINE</a:t>
            </a:r>
          </a:p>
          <a:p>
            <a:pPr algn="ctr" defTabSz="544213">
              <a:lnSpc>
                <a:spcPct val="150000"/>
              </a:lnSpc>
            </a:pPr>
            <a:endParaRPr lang="en-US" sz="1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Advisory
Ideation
Architecture 
</a:t>
            </a:r>
            <a:endParaRPr lang="en-US" sz="11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E49F29F2-62D4-D5B0-224D-BC30E05F6B17}"/>
              </a:ext>
            </a:extLst>
          </p:cNvPr>
          <p:cNvSpPr txBox="1"/>
          <p:nvPr/>
        </p:nvSpPr>
        <p:spPr>
          <a:xfrm>
            <a:off x="9298209" y="4662932"/>
            <a:ext cx="123713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BUILD</a:t>
            </a:r>
          </a:p>
          <a:p>
            <a:pPr algn="ctr" defTabSz="544213">
              <a:lnSpc>
                <a:spcPct val="150000"/>
              </a:lnSpc>
            </a:pPr>
            <a:endParaRPr lang="en-US" sz="1200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Design 
Development
Implementation</a:t>
            </a: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Integration
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F276EEA-251A-D409-CD46-BB2384272578}"/>
              </a:ext>
            </a:extLst>
          </p:cNvPr>
          <p:cNvSpPr txBox="1"/>
          <p:nvPr/>
        </p:nvSpPr>
        <p:spPr>
          <a:xfrm>
            <a:off x="10416905" y="4662932"/>
            <a:ext cx="116289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PERFORM</a:t>
            </a:r>
          </a:p>
          <a:p>
            <a:pPr algn="ctr" defTabSz="544213">
              <a:lnSpc>
                <a:spcPct val="150000"/>
              </a:lnSpc>
            </a:pPr>
            <a:endParaRPr lang="en-US" sz="1100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10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Deployment  
Change management
Maintenance &amp; monitoring
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C0D9AB4-C134-941A-B367-5C6BB0A83062}"/>
              </a:ext>
            </a:extLst>
          </p:cNvPr>
          <p:cNvSpPr/>
          <p:nvPr/>
        </p:nvSpPr>
        <p:spPr>
          <a:xfrm>
            <a:off x="8633237" y="499403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717289-732D-08E5-F11C-C3F70F3AE433}"/>
              </a:ext>
            </a:extLst>
          </p:cNvPr>
          <p:cNvSpPr/>
          <p:nvPr/>
        </p:nvSpPr>
        <p:spPr>
          <a:xfrm>
            <a:off x="9704155" y="5001398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B88B8D2-D387-3810-F6E7-2865963898F8}"/>
              </a:ext>
            </a:extLst>
          </p:cNvPr>
          <p:cNvSpPr/>
          <p:nvPr/>
        </p:nvSpPr>
        <p:spPr>
          <a:xfrm>
            <a:off x="10784407" y="4991565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9CA750F4-25B7-69E5-43E6-E8BC39723FFF}"/>
              </a:ext>
            </a:extLst>
          </p:cNvPr>
          <p:cNvSpPr txBox="1"/>
          <p:nvPr/>
        </p:nvSpPr>
        <p:spPr>
          <a:xfrm>
            <a:off x="2508858" y="4697765"/>
            <a:ext cx="1445344" cy="171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DIGITAL </a:t>
            </a:r>
          </a:p>
          <a:p>
            <a:pPr algn="ctr" defTabSz="544213">
              <a:lnSpc>
                <a:spcPct val="150000"/>
              </a:lnSpc>
            </a:pPr>
            <a:r>
              <a:rPr lang="en-US" sz="9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TRANSFORMATION</a:t>
            </a:r>
          </a:p>
          <a:p>
            <a:pPr marL="0" lvl="1" algn="ctr" defTabSz="544213">
              <a:lnSpc>
                <a:spcPct val="150000"/>
              </a:lnSpc>
              <a:spcBef>
                <a:spcPct val="20000"/>
              </a:spcBef>
            </a:pPr>
            <a:endParaRPr lang="en-US" sz="9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lvl="1" algn="ctr" defTabSz="544213"/>
            <a:r>
              <a:rPr lang="en-US" sz="9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Reinvent your customer experience, distribution, offer or business model to meet new customer expectations 
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5DA34CD-DB3C-6E1E-5261-2DFC9603A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9246" y="3142785"/>
            <a:ext cx="646664" cy="14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4823CC3B-EBB8-4386-286D-9C913512CA64}"/>
              </a:ext>
            </a:extLst>
          </p:cNvPr>
          <p:cNvSpPr/>
          <p:nvPr/>
        </p:nvSpPr>
        <p:spPr>
          <a:xfrm rot="20725521">
            <a:off x="4550324" y="4198210"/>
            <a:ext cx="3004226" cy="12867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endParaRPr lang="en-US" sz="14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4A4A26-77B5-87D3-699F-B77A4CAFBC9D}"/>
              </a:ext>
            </a:extLst>
          </p:cNvPr>
          <p:cNvSpPr txBox="1"/>
          <p:nvPr/>
        </p:nvSpPr>
        <p:spPr>
          <a:xfrm>
            <a:off x="605525" y="2592934"/>
            <a:ext cx="1410252" cy="719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/>
            <a:r>
              <a:rPr lang="en-US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300 M€</a:t>
            </a:r>
          </a:p>
          <a:p>
            <a:pPr algn="ctr" defTabSz="544213">
              <a:lnSpc>
                <a:spcPct val="150000"/>
              </a:lnSpc>
            </a:pPr>
            <a:endParaRPr lang="en-US" sz="1050" b="1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2022 REVENUE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15DA12-52A7-D445-B154-F16241B6FF6D}"/>
              </a:ext>
            </a:extLst>
          </p:cNvPr>
          <p:cNvSpPr txBox="1"/>
          <p:nvPr/>
        </p:nvSpPr>
        <p:spPr>
          <a:xfrm>
            <a:off x="2520667" y="2592934"/>
            <a:ext cx="142172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/>
            <a:r>
              <a:rPr lang="en-US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2 700</a:t>
            </a:r>
          </a:p>
          <a:p>
            <a:pPr algn="ctr" defTabSz="544213"/>
            <a:endParaRPr lang="en-US" baseline="30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 defTabSz="544213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HEADCOUNT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B8AF2-F733-A347-14A3-90B473C05E7C}"/>
              </a:ext>
            </a:extLst>
          </p:cNvPr>
          <p:cNvSpPr/>
          <p:nvPr/>
        </p:nvSpPr>
        <p:spPr>
          <a:xfrm>
            <a:off x="1098032" y="2949101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B4259D3-6062-B4C6-F790-E0DBDC8119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2658" y="2568420"/>
            <a:ext cx="599841" cy="314917"/>
          </a:xfrm>
          <a:prstGeom prst="rect">
            <a:avLst/>
          </a:prstGeom>
        </p:spPr>
      </p:pic>
      <p:pic>
        <p:nvPicPr>
          <p:cNvPr id="12" name="Picture 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25E0E77-8336-B8E2-26E1-71B0298BFC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525" y="1917253"/>
            <a:ext cx="704499" cy="468812"/>
          </a:xfrm>
          <a:prstGeom prst="rect">
            <a:avLst/>
          </a:prstGeom>
        </p:spPr>
      </p:pic>
      <p:pic>
        <p:nvPicPr>
          <p:cNvPr id="14" name="Picture 2" descr="Image result for microsoft azure">
            <a:extLst>
              <a:ext uri="{FF2B5EF4-FFF2-40B4-BE49-F238E27FC236}">
                <a16:creationId xmlns:a16="http://schemas.microsoft.com/office/drawing/2014/main" id="{78220938-8488-4334-ACFC-F1A7709C0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9458" y="2572219"/>
            <a:ext cx="614633" cy="30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58B6C7-8161-42B0-8CEF-53E83AF5B2FF}"/>
              </a:ext>
            </a:extLst>
          </p:cNvPr>
          <p:cNvSpPr/>
          <p:nvPr/>
        </p:nvSpPr>
        <p:spPr>
          <a:xfrm>
            <a:off x="3018911" y="2948754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1F07EBD-5F56-936D-39B2-4DAB784E6939}"/>
              </a:ext>
            </a:extLst>
          </p:cNvPr>
          <p:cNvSpPr txBox="1"/>
          <p:nvPr/>
        </p:nvSpPr>
        <p:spPr>
          <a:xfrm>
            <a:off x="605525" y="4699887"/>
            <a:ext cx="141025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44213">
              <a:lnSpc>
                <a:spcPct val="150000"/>
              </a:lnSpc>
            </a:pPr>
            <a:r>
              <a:rPr lang="en-US" sz="900" b="1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DIGITAL </a:t>
            </a:r>
          </a:p>
          <a:p>
            <a:pPr algn="ctr" defTabSz="544213">
              <a:lnSpc>
                <a:spcPct val="150000"/>
              </a:lnSpc>
            </a:pPr>
            <a:r>
              <a:rPr lang="en-US" sz="900" b="1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OPTIMIZATION</a:t>
            </a:r>
          </a:p>
          <a:p>
            <a:pPr algn="ctr" defTabSz="544213">
              <a:lnSpc>
                <a:spcPct val="150000"/>
              </a:lnSpc>
            </a:pPr>
            <a:endParaRPr lang="en-US" sz="900" dirty="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lvl="1" algn="ctr" defTabSz="544213"/>
            <a:r>
              <a:rPr lang="en-US" sz="9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Make your business more resilient, more efficient and able to win digital competition
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C8FA2F-30C3-4911-B996-1337EAA613DB}"/>
              </a:ext>
            </a:extLst>
          </p:cNvPr>
          <p:cNvSpPr/>
          <p:nvPr/>
        </p:nvSpPr>
        <p:spPr>
          <a:xfrm>
            <a:off x="1098032" y="518608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8EE963-F232-9B7F-9FE8-F97B079A981B}"/>
              </a:ext>
            </a:extLst>
          </p:cNvPr>
          <p:cNvSpPr/>
          <p:nvPr/>
        </p:nvSpPr>
        <p:spPr>
          <a:xfrm>
            <a:off x="3018911" y="5186080"/>
            <a:ext cx="425239" cy="43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en-US" sz="12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3AB7B71-519F-2B7D-50A0-D4B7BB21AE8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2480" y="1952251"/>
            <a:ext cx="2747040" cy="1386525"/>
          </a:xfrm>
          <a:prstGeom prst="rect">
            <a:avLst/>
          </a:prstGeom>
        </p:spPr>
      </p:pic>
      <p:pic>
        <p:nvPicPr>
          <p:cNvPr id="20" name="Graphique 19" descr="Repère">
            <a:extLst>
              <a:ext uri="{FF2B5EF4-FFF2-40B4-BE49-F238E27FC236}">
                <a16:creationId xmlns:a16="http://schemas.microsoft.com/office/drawing/2014/main" id="{FE7CC943-DD9C-6845-9D01-EBFA50FDEE5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5491" y="2411405"/>
            <a:ext cx="98888" cy="93094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AEADC8BE-DFC0-F1A5-E908-B6F06F0781ED}"/>
              </a:ext>
            </a:extLst>
          </p:cNvPr>
          <p:cNvGrpSpPr/>
          <p:nvPr/>
        </p:nvGrpSpPr>
        <p:grpSpPr>
          <a:xfrm>
            <a:off x="5528571" y="1931667"/>
            <a:ext cx="682696" cy="642692"/>
            <a:chOff x="-3696571" y="1356702"/>
            <a:chExt cx="2768600" cy="27686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273246B8-E619-26B5-36AE-F013D7E206A7}"/>
                </a:ext>
              </a:extLst>
            </p:cNvPr>
            <p:cNvSpPr/>
            <p:nvPr/>
          </p:nvSpPr>
          <p:spPr>
            <a:xfrm>
              <a:off x="-3696571" y="1356702"/>
              <a:ext cx="2768600" cy="2768600"/>
            </a:xfrm>
            <a:prstGeom prst="ellipse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5E537737-3C2E-CBFC-BB79-ACAC3E1A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4766" t="30878" r="48771" b="57067"/>
            <a:stretch>
              <a:fillRect/>
            </a:stretch>
          </p:blipFill>
          <p:spPr>
            <a:xfrm>
              <a:off x="-3696571" y="1356702"/>
              <a:ext cx="2768600" cy="2768600"/>
            </a:xfrm>
            <a:custGeom>
              <a:avLst/>
              <a:gdLst>
                <a:gd name="connsiteX0" fmla="*/ 360000 w 720000"/>
                <a:gd name="connsiteY0" fmla="*/ 0 h 720000"/>
                <a:gd name="connsiteX1" fmla="*/ 720000 w 720000"/>
                <a:gd name="connsiteY1" fmla="*/ 360000 h 720000"/>
                <a:gd name="connsiteX2" fmla="*/ 360000 w 720000"/>
                <a:gd name="connsiteY2" fmla="*/ 720000 h 720000"/>
                <a:gd name="connsiteX3" fmla="*/ 0 w 720000"/>
                <a:gd name="connsiteY3" fmla="*/ 360000 h 720000"/>
                <a:gd name="connsiteX4" fmla="*/ 360000 w 72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000" h="720000">
                  <a:moveTo>
                    <a:pt x="360000" y="0"/>
                  </a:moveTo>
                  <a:cubicBezTo>
                    <a:pt x="558823" y="0"/>
                    <a:pt x="720000" y="161177"/>
                    <a:pt x="720000" y="360000"/>
                  </a:cubicBezTo>
                  <a:cubicBezTo>
                    <a:pt x="720000" y="558823"/>
                    <a:pt x="558823" y="720000"/>
                    <a:pt x="360000" y="720000"/>
                  </a:cubicBezTo>
                  <a:cubicBezTo>
                    <a:pt x="161177" y="720000"/>
                    <a:pt x="0" y="558823"/>
                    <a:pt x="0" y="360000"/>
                  </a:cubicBezTo>
                  <a:cubicBezTo>
                    <a:pt x="0" y="161177"/>
                    <a:pt x="161177" y="0"/>
                    <a:pt x="360000" y="0"/>
                  </a:cubicBezTo>
                  <a:close/>
                </a:path>
              </a:pathLst>
            </a:custGeom>
            <a:noFill/>
            <a:ln>
              <a:noFill/>
            </a:ln>
            <a:effectLst/>
          </p:spPr>
        </p:pic>
      </p:grpSp>
      <p:pic>
        <p:nvPicPr>
          <p:cNvPr id="24" name="Graphique 23" descr="Repère">
            <a:extLst>
              <a:ext uri="{FF2B5EF4-FFF2-40B4-BE49-F238E27FC236}">
                <a16:creationId xmlns:a16="http://schemas.microsoft.com/office/drawing/2014/main" id="{13B38997-DA1C-C7DD-0F65-7D702C5EAC3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7147" y="1989598"/>
            <a:ext cx="104654" cy="98522"/>
          </a:xfrm>
          <a:prstGeom prst="rect">
            <a:avLst/>
          </a:prstGeom>
        </p:spPr>
      </p:pic>
      <p:pic>
        <p:nvPicPr>
          <p:cNvPr id="25" name="Graphique 24" descr="Repère">
            <a:extLst>
              <a:ext uri="{FF2B5EF4-FFF2-40B4-BE49-F238E27FC236}">
                <a16:creationId xmlns:a16="http://schemas.microsoft.com/office/drawing/2014/main" id="{129D43B0-FBB8-BF9B-F682-09BD3E4E63A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9934" y="2000831"/>
            <a:ext cx="104654" cy="98522"/>
          </a:xfrm>
          <a:prstGeom prst="rect">
            <a:avLst/>
          </a:prstGeom>
        </p:spPr>
      </p:pic>
      <p:pic>
        <p:nvPicPr>
          <p:cNvPr id="26" name="Graphique 25" descr="Repère">
            <a:extLst>
              <a:ext uri="{FF2B5EF4-FFF2-40B4-BE49-F238E27FC236}">
                <a16:creationId xmlns:a16="http://schemas.microsoft.com/office/drawing/2014/main" id="{F3F6D81D-7515-00B9-0472-ED2023D236B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0204" y="2194697"/>
            <a:ext cx="104654" cy="98522"/>
          </a:xfrm>
          <a:prstGeom prst="rect">
            <a:avLst/>
          </a:prstGeom>
        </p:spPr>
      </p:pic>
      <p:pic>
        <p:nvPicPr>
          <p:cNvPr id="27" name="Graphique 26" descr="Repère">
            <a:extLst>
              <a:ext uri="{FF2B5EF4-FFF2-40B4-BE49-F238E27FC236}">
                <a16:creationId xmlns:a16="http://schemas.microsoft.com/office/drawing/2014/main" id="{3048EF52-488F-D9B1-0CE1-33F984491FA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8617" y="2106735"/>
            <a:ext cx="104654" cy="98522"/>
          </a:xfrm>
          <a:prstGeom prst="rect">
            <a:avLst/>
          </a:prstGeom>
        </p:spPr>
      </p:pic>
      <p:pic>
        <p:nvPicPr>
          <p:cNvPr id="28" name="Graphique 27" descr="Repère">
            <a:extLst>
              <a:ext uri="{FF2B5EF4-FFF2-40B4-BE49-F238E27FC236}">
                <a16:creationId xmlns:a16="http://schemas.microsoft.com/office/drawing/2014/main" id="{5A0000A1-90EE-7433-D8D8-C6484418688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0853" y="2124005"/>
            <a:ext cx="104654" cy="98522"/>
          </a:xfrm>
          <a:prstGeom prst="rect">
            <a:avLst/>
          </a:prstGeom>
        </p:spPr>
      </p:pic>
      <p:pic>
        <p:nvPicPr>
          <p:cNvPr id="29" name="Graphique 28" descr="Repère">
            <a:extLst>
              <a:ext uri="{FF2B5EF4-FFF2-40B4-BE49-F238E27FC236}">
                <a16:creationId xmlns:a16="http://schemas.microsoft.com/office/drawing/2014/main" id="{1A689664-F567-E3E8-A44D-D9E5CE7B67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53934" y="2187551"/>
            <a:ext cx="104654" cy="98522"/>
          </a:xfrm>
          <a:prstGeom prst="rect">
            <a:avLst/>
          </a:prstGeom>
        </p:spPr>
      </p:pic>
      <p:pic>
        <p:nvPicPr>
          <p:cNvPr id="30" name="Graphique 29" descr="Repère">
            <a:extLst>
              <a:ext uri="{FF2B5EF4-FFF2-40B4-BE49-F238E27FC236}">
                <a16:creationId xmlns:a16="http://schemas.microsoft.com/office/drawing/2014/main" id="{9DBDB8A9-300E-9DAD-3BB9-6E307495665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7784" y="2264279"/>
            <a:ext cx="104654" cy="98522"/>
          </a:xfrm>
          <a:prstGeom prst="rect">
            <a:avLst/>
          </a:prstGeom>
        </p:spPr>
      </p:pic>
      <p:pic>
        <p:nvPicPr>
          <p:cNvPr id="31" name="Graphique 30" descr="Repère">
            <a:extLst>
              <a:ext uri="{FF2B5EF4-FFF2-40B4-BE49-F238E27FC236}">
                <a16:creationId xmlns:a16="http://schemas.microsoft.com/office/drawing/2014/main" id="{560DC012-7035-3C0E-645B-A78FA3E732E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6984" y="2309716"/>
            <a:ext cx="104654" cy="98522"/>
          </a:xfrm>
          <a:prstGeom prst="rect">
            <a:avLst/>
          </a:prstGeom>
        </p:spPr>
      </p:pic>
      <p:pic>
        <p:nvPicPr>
          <p:cNvPr id="32" name="Graphique 31" descr="Repère">
            <a:extLst>
              <a:ext uri="{FF2B5EF4-FFF2-40B4-BE49-F238E27FC236}">
                <a16:creationId xmlns:a16="http://schemas.microsoft.com/office/drawing/2014/main" id="{F81B6233-0A39-C785-E6C5-2DDE4FB648F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32415" y="2522333"/>
            <a:ext cx="98888" cy="93094"/>
          </a:xfrm>
          <a:prstGeom prst="rect">
            <a:avLst/>
          </a:prstGeom>
        </p:spPr>
      </p:pic>
      <p:pic>
        <p:nvPicPr>
          <p:cNvPr id="33" name="Graphique 32" descr="Repère">
            <a:extLst>
              <a:ext uri="{FF2B5EF4-FFF2-40B4-BE49-F238E27FC236}">
                <a16:creationId xmlns:a16="http://schemas.microsoft.com/office/drawing/2014/main" id="{2E8D4DDC-6B4D-CA45-C8D5-D2249F98D6C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1073" y="2737784"/>
            <a:ext cx="98888" cy="93094"/>
          </a:xfrm>
          <a:prstGeom prst="rect">
            <a:avLst/>
          </a:prstGeom>
        </p:spPr>
      </p:pic>
      <p:pic>
        <p:nvPicPr>
          <p:cNvPr id="34" name="Graphique 33" descr="Repère">
            <a:extLst>
              <a:ext uri="{FF2B5EF4-FFF2-40B4-BE49-F238E27FC236}">
                <a16:creationId xmlns:a16="http://schemas.microsoft.com/office/drawing/2014/main" id="{7E3085B1-DCB0-B764-DBF8-18B01085F4E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7651" y="2668538"/>
            <a:ext cx="98888" cy="93094"/>
          </a:xfrm>
          <a:prstGeom prst="rect">
            <a:avLst/>
          </a:prstGeom>
        </p:spPr>
      </p:pic>
      <p:pic>
        <p:nvPicPr>
          <p:cNvPr id="35" name="Graphique 34" descr="Repère">
            <a:extLst>
              <a:ext uri="{FF2B5EF4-FFF2-40B4-BE49-F238E27FC236}">
                <a16:creationId xmlns:a16="http://schemas.microsoft.com/office/drawing/2014/main" id="{75E79F64-5568-64C5-83C4-E2F3D4F881F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65850" y="2568880"/>
            <a:ext cx="98888" cy="93094"/>
          </a:xfrm>
          <a:prstGeom prst="rect">
            <a:avLst/>
          </a:prstGeom>
        </p:spPr>
      </p:pic>
      <p:pic>
        <p:nvPicPr>
          <p:cNvPr id="36" name="Graphique 35" descr="Repère">
            <a:extLst>
              <a:ext uri="{FF2B5EF4-FFF2-40B4-BE49-F238E27FC236}">
                <a16:creationId xmlns:a16="http://schemas.microsoft.com/office/drawing/2014/main" id="{770EF5E4-132F-55D4-906D-1553C469E0A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1092" y="3016150"/>
            <a:ext cx="98888" cy="93094"/>
          </a:xfrm>
          <a:prstGeom prst="rect">
            <a:avLst/>
          </a:prstGeom>
        </p:spPr>
      </p:pic>
      <p:pic>
        <p:nvPicPr>
          <p:cNvPr id="37" name="Graphique 36" descr="Repère">
            <a:extLst>
              <a:ext uri="{FF2B5EF4-FFF2-40B4-BE49-F238E27FC236}">
                <a16:creationId xmlns:a16="http://schemas.microsoft.com/office/drawing/2014/main" id="{FF64F579-861D-DD0B-251A-34969CE48CB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5368" y="2805354"/>
            <a:ext cx="98888" cy="93094"/>
          </a:xfrm>
          <a:prstGeom prst="rect">
            <a:avLst/>
          </a:prstGeom>
        </p:spPr>
      </p:pic>
      <p:pic>
        <p:nvPicPr>
          <p:cNvPr id="38" name="Graphique 37" descr="Repère">
            <a:extLst>
              <a:ext uri="{FF2B5EF4-FFF2-40B4-BE49-F238E27FC236}">
                <a16:creationId xmlns:a16="http://schemas.microsoft.com/office/drawing/2014/main" id="{35006E11-0111-DC61-4598-A9F0B9BE21A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1315" y="2605730"/>
            <a:ext cx="98888" cy="93094"/>
          </a:xfrm>
          <a:prstGeom prst="rect">
            <a:avLst/>
          </a:prstGeom>
        </p:spPr>
      </p:pic>
      <p:pic>
        <p:nvPicPr>
          <p:cNvPr id="39" name="Graphique 38" descr="Repère">
            <a:extLst>
              <a:ext uri="{FF2B5EF4-FFF2-40B4-BE49-F238E27FC236}">
                <a16:creationId xmlns:a16="http://schemas.microsoft.com/office/drawing/2014/main" id="{F039D916-30C5-E203-C6D6-307DD0A1FFB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3378" y="2680174"/>
            <a:ext cx="98888" cy="93094"/>
          </a:xfrm>
          <a:prstGeom prst="rect">
            <a:avLst/>
          </a:prstGeom>
        </p:spPr>
      </p:pic>
      <p:pic>
        <p:nvPicPr>
          <p:cNvPr id="40" name="Graphique 39" descr="Repère">
            <a:extLst>
              <a:ext uri="{FF2B5EF4-FFF2-40B4-BE49-F238E27FC236}">
                <a16:creationId xmlns:a16="http://schemas.microsoft.com/office/drawing/2014/main" id="{EE147828-6506-8648-B2D3-05CBE63057B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2948" y="2660221"/>
            <a:ext cx="98888" cy="93094"/>
          </a:xfrm>
          <a:prstGeom prst="rect">
            <a:avLst/>
          </a:prstGeom>
        </p:spPr>
      </p:pic>
      <p:pic>
        <p:nvPicPr>
          <p:cNvPr id="41" name="Graphique 40" descr="Repère">
            <a:extLst>
              <a:ext uri="{FF2B5EF4-FFF2-40B4-BE49-F238E27FC236}">
                <a16:creationId xmlns:a16="http://schemas.microsoft.com/office/drawing/2014/main" id="{39BD0718-588F-07C4-12D5-BEC48982BEE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0783" y="2050359"/>
            <a:ext cx="104655" cy="98522"/>
          </a:xfrm>
          <a:prstGeom prst="rect">
            <a:avLst/>
          </a:prstGeom>
        </p:spPr>
      </p:pic>
      <p:pic>
        <p:nvPicPr>
          <p:cNvPr id="42" name="Graphique 41" descr="Repère">
            <a:extLst>
              <a:ext uri="{FF2B5EF4-FFF2-40B4-BE49-F238E27FC236}">
                <a16:creationId xmlns:a16="http://schemas.microsoft.com/office/drawing/2014/main" id="{1C511C84-24F0-863C-B9DC-30EDC58C3B1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94416" y="3057987"/>
            <a:ext cx="98889" cy="93094"/>
          </a:xfrm>
          <a:prstGeom prst="rect">
            <a:avLst/>
          </a:prstGeom>
        </p:spPr>
      </p:pic>
      <p:pic>
        <p:nvPicPr>
          <p:cNvPr id="43" name="Graphique 42" descr="Repère">
            <a:extLst>
              <a:ext uri="{FF2B5EF4-FFF2-40B4-BE49-F238E27FC236}">
                <a16:creationId xmlns:a16="http://schemas.microsoft.com/office/drawing/2014/main" id="{E101F249-D83F-964A-4B5E-4A7F44FBC64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4888" y="2408238"/>
            <a:ext cx="104654" cy="9852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736556A-A3E6-A3E6-D5ED-0A03B2E611AB}"/>
              </a:ext>
            </a:extLst>
          </p:cNvPr>
          <p:cNvSpPr/>
          <p:nvPr/>
        </p:nvSpPr>
        <p:spPr>
          <a:xfrm>
            <a:off x="5149582" y="1508987"/>
            <a:ext cx="188770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global footprint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0D92E55-1355-94E1-F355-5A90661670B3}"/>
              </a:ext>
            </a:extLst>
          </p:cNvPr>
          <p:cNvSpPr/>
          <p:nvPr/>
        </p:nvSpPr>
        <p:spPr>
          <a:xfrm>
            <a:off x="8248376" y="1349476"/>
            <a:ext cx="333679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Partnerships with leading vendors in the digital transformation of companies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42E2D7-759F-F923-B6F6-E87FECE0988D}"/>
              </a:ext>
            </a:extLst>
          </p:cNvPr>
          <p:cNvSpPr/>
          <p:nvPr/>
        </p:nvSpPr>
        <p:spPr>
          <a:xfrm>
            <a:off x="6270275" y="5157762"/>
            <a:ext cx="1534025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DESIGN &amp; DEVELOPMENT</a:t>
            </a:r>
          </a:p>
          <a:p>
            <a:pPr algn="r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Initiating and scaling innovation through digital 
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4E3014-C386-27DF-1CF5-BF1E3A026D2E}"/>
              </a:ext>
            </a:extLst>
          </p:cNvPr>
          <p:cNvSpPr/>
          <p:nvPr/>
        </p:nvSpPr>
        <p:spPr>
          <a:xfrm>
            <a:off x="4651441" y="5762254"/>
            <a:ext cx="28180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&amp; ANALYTICS</a:t>
            </a:r>
          </a:p>
          <a:p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Implement smart business and data-driven strategies  
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C5DF2E-5BBB-D4E8-EAA8-1E249D4BFD46}"/>
              </a:ext>
            </a:extLst>
          </p:cNvPr>
          <p:cNvSpPr/>
          <p:nvPr/>
        </p:nvSpPr>
        <p:spPr>
          <a:xfrm>
            <a:off x="4952822" y="4667446"/>
            <a:ext cx="1705269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BUSINESS APPLICATIONS</a:t>
            </a:r>
          </a:p>
          <a:p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Accompanying the digitalization of your lines of business 
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59B2AC-051F-75D4-2150-9E4B21C4B4B1}"/>
              </a:ext>
            </a:extLst>
          </p:cNvPr>
          <p:cNvSpPr/>
          <p:nvPr/>
        </p:nvSpPr>
        <p:spPr>
          <a:xfrm>
            <a:off x="4513915" y="3885311"/>
            <a:ext cx="2053688" cy="7232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INTELLIGENT ERP </a:t>
            </a:r>
          </a:p>
          <a:p>
            <a:pPr algn="r"/>
            <a:r>
              <a:rPr lang="en-US" sz="1000" b="1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CORE PLATFORMS</a:t>
            </a:r>
          </a:p>
          <a:p>
            <a:pPr algn="r"/>
            <a:r>
              <a:rPr lang="en-US" sz="7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Deploying next-gen ERPs and enterprise platforms 
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D1283C-04B7-81CE-CD69-BF5882637CFF}"/>
              </a:ext>
            </a:extLst>
          </p:cNvPr>
          <p:cNvSpPr/>
          <p:nvPr/>
        </p:nvSpPr>
        <p:spPr>
          <a:xfrm>
            <a:off x="690735" y="1509503"/>
            <a:ext cx="316538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 independent and solid company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4880C0-3C92-46E8-0DAB-2592733B6D75}"/>
              </a:ext>
            </a:extLst>
          </p:cNvPr>
          <p:cNvSpPr/>
          <p:nvPr/>
        </p:nvSpPr>
        <p:spPr>
          <a:xfrm>
            <a:off x="797998" y="3361169"/>
            <a:ext cx="2933032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 the heart of digital strategies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5CBF2D-66BC-30B3-E3B8-8410B6CB00F1}"/>
              </a:ext>
            </a:extLst>
          </p:cNvPr>
          <p:cNvSpPr/>
          <p:nvPr/>
        </p:nvSpPr>
        <p:spPr>
          <a:xfrm>
            <a:off x="4490037" y="3361169"/>
            <a:ext cx="321212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Global expertise on application services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8A7A00-A840-8EAC-3603-4B8FF90BD226}"/>
              </a:ext>
            </a:extLst>
          </p:cNvPr>
          <p:cNvSpPr/>
          <p:nvPr/>
        </p:nvSpPr>
        <p:spPr>
          <a:xfrm>
            <a:off x="8310711" y="3361169"/>
            <a:ext cx="3212127" cy="41549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endParaRPr lang="en-US" sz="1050" b="1" u="sng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1050" b="1" u="sng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End to end support</a:t>
            </a:r>
          </a:p>
        </p:txBody>
      </p:sp>
      <p:pic>
        <p:nvPicPr>
          <p:cNvPr id="60" name="Graphique 59" descr="Repère">
            <a:extLst>
              <a:ext uri="{FF2B5EF4-FFF2-40B4-BE49-F238E27FC236}">
                <a16:creationId xmlns:a16="http://schemas.microsoft.com/office/drawing/2014/main" id="{73401013-8F64-ACB4-E704-9276DD63425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0933" y="2957968"/>
            <a:ext cx="98889" cy="93094"/>
          </a:xfrm>
          <a:prstGeom prst="rect">
            <a:avLst/>
          </a:prstGeom>
        </p:spPr>
      </p:pic>
      <p:pic>
        <p:nvPicPr>
          <p:cNvPr id="61" name="Image 60" descr="Une image contenant texte&#10;&#10;Description générée automatiquement">
            <a:extLst>
              <a:ext uri="{FF2B5EF4-FFF2-40B4-BE49-F238E27FC236}">
                <a16:creationId xmlns:a16="http://schemas.microsoft.com/office/drawing/2014/main" id="{51FBB58F-77F6-AA4F-0A04-E5B7D1FCEE8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6021" y="1918262"/>
            <a:ext cx="442010" cy="466795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EE6C23D5-9277-CF55-ECD9-A4748EA29F3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62548" y="1981403"/>
            <a:ext cx="580060" cy="340513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609F07BF-96DE-20F0-0E8D-24E7ABEAF0C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7548" y="3158864"/>
            <a:ext cx="758956" cy="110565"/>
          </a:xfrm>
          <a:prstGeom prst="rect">
            <a:avLst/>
          </a:prstGeom>
        </p:spPr>
      </p:pic>
      <p:pic>
        <p:nvPicPr>
          <p:cNvPr id="64" name="Graphique 63">
            <a:extLst>
              <a:ext uri="{FF2B5EF4-FFF2-40B4-BE49-F238E27FC236}">
                <a16:creationId xmlns:a16="http://schemas.microsoft.com/office/drawing/2014/main" id="{0CBACA7C-68D1-6871-86CC-6B6EFA06BF80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55486" y="3165155"/>
            <a:ext cx="522576" cy="9798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5C502D2-960B-D3A2-F388-0376BB7B86B1}"/>
              </a:ext>
            </a:extLst>
          </p:cNvPr>
          <p:cNvSpPr/>
          <p:nvPr/>
        </p:nvSpPr>
        <p:spPr>
          <a:xfrm>
            <a:off x="4185488" y="2392857"/>
            <a:ext cx="4355" cy="2652077"/>
          </a:xfrm>
          <a:prstGeom prst="rect">
            <a:avLst/>
          </a:prstGeom>
          <a:solidFill>
            <a:srgbClr val="DBDCED"/>
          </a:solidFill>
          <a:ln>
            <a:solidFill>
              <a:srgbClr val="DBDC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fr-FR">
              <a:ln>
                <a:solidFill>
                  <a:srgbClr val="DBDCED"/>
                </a:solidFill>
              </a:ln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921F54F-15A2-2FD1-3B8F-6462DE73D101}"/>
              </a:ext>
            </a:extLst>
          </p:cNvPr>
          <p:cNvSpPr/>
          <p:nvPr/>
        </p:nvSpPr>
        <p:spPr>
          <a:xfrm>
            <a:off x="8015039" y="2392857"/>
            <a:ext cx="4355" cy="2652077"/>
          </a:xfrm>
          <a:prstGeom prst="rect">
            <a:avLst/>
          </a:prstGeom>
          <a:solidFill>
            <a:srgbClr val="DBDCED"/>
          </a:solidFill>
          <a:ln>
            <a:solidFill>
              <a:srgbClr val="DBDC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13"/>
            <a:endParaRPr lang="fr-FR">
              <a:ln>
                <a:solidFill>
                  <a:srgbClr val="DBDCED"/>
                </a:solidFill>
              </a:ln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67" name="Graphique 66" descr="Pièces contour">
            <a:extLst>
              <a:ext uri="{FF2B5EF4-FFF2-40B4-BE49-F238E27FC236}">
                <a16:creationId xmlns:a16="http://schemas.microsoft.com/office/drawing/2014/main" id="{0A43F353-8BA6-2F7D-CE50-5FFA71B738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7365" y="1899678"/>
            <a:ext cx="626572" cy="626572"/>
          </a:xfrm>
          <a:prstGeom prst="rect">
            <a:avLst/>
          </a:prstGeom>
        </p:spPr>
      </p:pic>
      <p:pic>
        <p:nvPicPr>
          <p:cNvPr id="68" name="Graphique 67" descr="Badge d'employé contour">
            <a:extLst>
              <a:ext uri="{FF2B5EF4-FFF2-40B4-BE49-F238E27FC236}">
                <a16:creationId xmlns:a16="http://schemas.microsoft.com/office/drawing/2014/main" id="{AB4D9BD9-8410-44E4-14B2-2EDC3201F1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918244" y="1899678"/>
            <a:ext cx="626572" cy="626572"/>
          </a:xfrm>
          <a:prstGeom prst="rect">
            <a:avLst/>
          </a:prstGeom>
        </p:spPr>
      </p:pic>
      <p:pic>
        <p:nvPicPr>
          <p:cNvPr id="69" name="Graphique 68" descr="Jauge contour">
            <a:extLst>
              <a:ext uri="{FF2B5EF4-FFF2-40B4-BE49-F238E27FC236}">
                <a16:creationId xmlns:a16="http://schemas.microsoft.com/office/drawing/2014/main" id="{ECBC8C69-ADC1-2C6A-4757-181974B5F6E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97365" y="4010429"/>
            <a:ext cx="626572" cy="626572"/>
          </a:xfrm>
          <a:prstGeom prst="rect">
            <a:avLst/>
          </a:prstGeom>
        </p:spPr>
      </p:pic>
      <p:pic>
        <p:nvPicPr>
          <p:cNvPr id="70" name="Graphique 69" descr="Cercles avec flèches contour">
            <a:extLst>
              <a:ext uri="{FF2B5EF4-FFF2-40B4-BE49-F238E27FC236}">
                <a16:creationId xmlns:a16="http://schemas.microsoft.com/office/drawing/2014/main" id="{A606417B-7E39-2CF2-5AF3-D29D5CBE192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2918244" y="4028704"/>
            <a:ext cx="626572" cy="626572"/>
          </a:xfrm>
          <a:prstGeom prst="rect">
            <a:avLst/>
          </a:prstGeom>
        </p:spPr>
      </p:pic>
      <p:pic>
        <p:nvPicPr>
          <p:cNvPr id="71" name="Picture 2" descr="Google Cloud Logo et symbole, sens, histoire, PNG, marque">
            <a:extLst>
              <a:ext uri="{FF2B5EF4-FFF2-40B4-BE49-F238E27FC236}">
                <a16:creationId xmlns:a16="http://schemas.microsoft.com/office/drawing/2014/main" id="{B7509D95-F493-8DC9-AA1A-582C6F277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45017" y="2644685"/>
            <a:ext cx="904018" cy="16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Ellipse 71">
            <a:extLst>
              <a:ext uri="{FF2B5EF4-FFF2-40B4-BE49-F238E27FC236}">
                <a16:creationId xmlns:a16="http://schemas.microsoft.com/office/drawing/2014/main" id="{E53995E5-E66F-E518-AE17-080EEA988275}"/>
              </a:ext>
            </a:extLst>
          </p:cNvPr>
          <p:cNvSpPr/>
          <p:nvPr/>
        </p:nvSpPr>
        <p:spPr>
          <a:xfrm>
            <a:off x="7152299" y="4601744"/>
            <a:ext cx="454181" cy="45418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786AAF1-DF2E-2E55-95CB-E9CA33A07538}"/>
              </a:ext>
            </a:extLst>
          </p:cNvPr>
          <p:cNvSpPr/>
          <p:nvPr/>
        </p:nvSpPr>
        <p:spPr>
          <a:xfrm>
            <a:off x="6494721" y="3890990"/>
            <a:ext cx="454181" cy="45418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D1F6A1D-C4DF-0656-653A-65B820A1FFA0}"/>
              </a:ext>
            </a:extLst>
          </p:cNvPr>
          <p:cNvSpPr/>
          <p:nvPr/>
        </p:nvSpPr>
        <p:spPr>
          <a:xfrm>
            <a:off x="5337288" y="5320364"/>
            <a:ext cx="454181" cy="45418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1A917709-1B4D-7F54-407F-0A9714E0CB2A}"/>
              </a:ext>
            </a:extLst>
          </p:cNvPr>
          <p:cNvSpPr/>
          <p:nvPr/>
        </p:nvSpPr>
        <p:spPr>
          <a:xfrm>
            <a:off x="4433008" y="4662141"/>
            <a:ext cx="454181" cy="4541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63500" dist="35287" dir="2700000" sx="94000" sy="94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76" name="Graphique 75" descr="Flèche en cercle contour">
            <a:extLst>
              <a:ext uri="{FF2B5EF4-FFF2-40B4-BE49-F238E27FC236}">
                <a16:creationId xmlns:a16="http://schemas.microsoft.com/office/drawing/2014/main" id="{C13C5EB7-EA1C-A1CE-ACF4-E8D5BED6EFA3}"/>
              </a:ext>
            </a:extLst>
          </p:cNvPr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43799" y="4606043"/>
            <a:ext cx="454181" cy="454181"/>
          </a:xfrm>
          <a:prstGeom prst="rect">
            <a:avLst/>
          </a:prstGeom>
        </p:spPr>
      </p:pic>
      <p:pic>
        <p:nvPicPr>
          <p:cNvPr id="77" name="Graphique 76" descr="Recherche contour">
            <a:extLst>
              <a:ext uri="{FF2B5EF4-FFF2-40B4-BE49-F238E27FC236}">
                <a16:creationId xmlns:a16="http://schemas.microsoft.com/office/drawing/2014/main" id="{5726E53C-730D-F838-F3FF-8B712DF926E0}"/>
              </a:ext>
            </a:extLst>
          </p:cNvPr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387344" y="5376751"/>
            <a:ext cx="341405" cy="341405"/>
          </a:xfrm>
          <a:prstGeom prst="rect">
            <a:avLst/>
          </a:prstGeom>
        </p:spPr>
      </p:pic>
      <p:pic>
        <p:nvPicPr>
          <p:cNvPr id="78" name="Graphique 77" descr="Croissance de l'activité contour">
            <a:extLst>
              <a:ext uri="{FF2B5EF4-FFF2-40B4-BE49-F238E27FC236}">
                <a16:creationId xmlns:a16="http://schemas.microsoft.com/office/drawing/2014/main" id="{E4A85766-641C-50A9-EBEE-163D82825925}"/>
              </a:ext>
            </a:extLst>
          </p:cNvPr>
          <p:cNvPicPr>
            <a:picLocks noChangeAspect="1"/>
          </p:cNvPicPr>
          <p:nvPr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93782" y="4733047"/>
            <a:ext cx="347938" cy="347938"/>
          </a:xfrm>
          <a:prstGeom prst="rect">
            <a:avLst/>
          </a:prstGeom>
        </p:spPr>
      </p:pic>
      <p:pic>
        <p:nvPicPr>
          <p:cNvPr id="79" name="Graphique 78" descr="Cerveau droit et gauche contour">
            <a:extLst>
              <a:ext uri="{FF2B5EF4-FFF2-40B4-BE49-F238E27FC236}">
                <a16:creationId xmlns:a16="http://schemas.microsoft.com/office/drawing/2014/main" id="{0620A2CD-0520-5649-343C-9C8FFABF8065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17933" y="3913404"/>
            <a:ext cx="407756" cy="407756"/>
          </a:xfrm>
          <a:prstGeom prst="rect">
            <a:avLst/>
          </a:prstGeom>
        </p:spPr>
      </p:pic>
      <p:pic>
        <p:nvPicPr>
          <p:cNvPr id="80" name="Graphique 79" descr="Ampoule et crayon contour">
            <a:extLst>
              <a:ext uri="{FF2B5EF4-FFF2-40B4-BE49-F238E27FC236}">
                <a16:creationId xmlns:a16="http://schemas.microsoft.com/office/drawing/2014/main" id="{E03B6286-9CE5-7ECC-D548-5D1371EA7B7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8539292" y="4038530"/>
            <a:ext cx="626572" cy="626572"/>
          </a:xfrm>
          <a:prstGeom prst="rect">
            <a:avLst/>
          </a:prstGeom>
        </p:spPr>
      </p:pic>
      <p:pic>
        <p:nvPicPr>
          <p:cNvPr id="81" name="Graphique 80" descr="Cigogne contour">
            <a:extLst>
              <a:ext uri="{FF2B5EF4-FFF2-40B4-BE49-F238E27FC236}">
                <a16:creationId xmlns:a16="http://schemas.microsoft.com/office/drawing/2014/main" id="{61E4741E-E666-46B8-3404-07CA88D02E6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9603488" y="4028704"/>
            <a:ext cx="626572" cy="626572"/>
          </a:xfrm>
          <a:prstGeom prst="rect">
            <a:avLst/>
          </a:prstGeom>
        </p:spPr>
      </p:pic>
      <p:pic>
        <p:nvPicPr>
          <p:cNvPr id="82" name="Graphique 81" descr="Fusée contour">
            <a:extLst>
              <a:ext uri="{FF2B5EF4-FFF2-40B4-BE49-F238E27FC236}">
                <a16:creationId xmlns:a16="http://schemas.microsoft.com/office/drawing/2014/main" id="{9CCCC3BB-BD88-B185-5B5C-B2E532B83CD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0676282" y="4028704"/>
            <a:ext cx="626572" cy="626572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1B719335-5030-5886-87F0-1EA38488EFFD}"/>
              </a:ext>
            </a:extLst>
          </p:cNvPr>
          <p:cNvCxnSpPr>
            <a:cxnSpLocks/>
          </p:cNvCxnSpPr>
          <p:nvPr userDrawn="1"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F99C8465-B289-3C4B-B92A-8A07823887BB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sp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89" name="Espace réservé du pied de page 9">
            <a:extLst>
              <a:ext uri="{FF2B5EF4-FFF2-40B4-BE49-F238E27FC236}">
                <a16:creationId xmlns:a16="http://schemas.microsoft.com/office/drawing/2014/main" id="{D999CB2C-0BA3-128C-23A1-43AA473DCF9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 anchor="ctr" anchorCtr="0">
            <a:spAutoFit/>
          </a:bodyPr>
          <a:lstStyle/>
          <a:p>
            <a:r>
              <a:rPr lang="fr-FR"/>
              <a:t>Confidentiel</a:t>
            </a:r>
          </a:p>
        </p:txBody>
      </p:sp>
      <p:pic>
        <p:nvPicPr>
          <p:cNvPr id="90" name="Image 3">
            <a:extLst>
              <a:ext uri="{FF2B5EF4-FFF2-40B4-BE49-F238E27FC236}">
                <a16:creationId xmlns:a16="http://schemas.microsoft.com/office/drawing/2014/main" id="{A0A3F8DC-A29E-DA76-C8F2-696F850E91E6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pic>
        <p:nvPicPr>
          <p:cNvPr id="91" name="Image 3">
            <a:extLst>
              <a:ext uri="{FF2B5EF4-FFF2-40B4-BE49-F238E27FC236}">
                <a16:creationId xmlns:a16="http://schemas.microsoft.com/office/drawing/2014/main" id="{3990919B-84DF-AA59-2DEE-228F1661A6DA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92" name="Titre 91">
            <a:extLst>
              <a:ext uri="{FF2B5EF4-FFF2-40B4-BE49-F238E27FC236}">
                <a16:creationId xmlns:a16="http://schemas.microsoft.com/office/drawing/2014/main" id="{A5B1AF85-B619-C93B-D855-2ED8E0B9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882688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A51DA44-23BC-DFF7-1FB5-72F5E6B6898E}"/>
              </a:ext>
            </a:extLst>
          </p:cNvPr>
          <p:cNvSpPr txBox="1"/>
          <p:nvPr/>
        </p:nvSpPr>
        <p:spPr>
          <a:xfrm>
            <a:off x="513480" y="2163634"/>
            <a:ext cx="16980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>
                <a:solidFill>
                  <a:schemeClr val="accent1"/>
                </a:solidFill>
                <a:latin typeface="Plus Jakarta Sans" pitchFamily="2" charset="77"/>
                <a:ea typeface="Geist Medium" pitchFamily="2" charset="77"/>
                <a:cs typeface="Plus Jakarta Sans" pitchFamily="2" charset="77"/>
              </a:rPr>
              <a:t>Contacts :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385B8FFB-DEC2-0DC6-21E9-869B0CBB9A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2469932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2C99CA61-88B9-E2C2-0B5D-94D4B351D3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245" y="3377608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55EB462D-C822-DC72-DA56-F818AC8A5D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245" y="4285285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2" name="Espace réservé du texte 13">
            <a:extLst>
              <a:ext uri="{FF2B5EF4-FFF2-40B4-BE49-F238E27FC236}">
                <a16:creationId xmlns:a16="http://schemas.microsoft.com/office/drawing/2014/main" id="{8F3BC47A-675E-38C5-8CE1-588232B08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3927" y="2469932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125B4CBA-0B56-9B25-F629-019D11F649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3927" y="3375001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9EB17E02-A3F2-8ED4-8F57-034A3D709A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3927" y="4285285"/>
            <a:ext cx="2329492" cy="6463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Prénom Nom</a:t>
            </a:r>
          </a:p>
          <a:p>
            <a:pPr lvl="0"/>
            <a:r>
              <a:rPr lang="fr-FR" err="1"/>
              <a:t>adresse@mail.com</a:t>
            </a:r>
            <a:endParaRPr lang="fr-FR"/>
          </a:p>
          <a:p>
            <a:pPr lvl="0"/>
            <a:r>
              <a:rPr lang="fr-FR"/>
              <a:t>06 12 34 56 78</a:t>
            </a:r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A4960EB4-08B3-BB66-FB20-D37EAAA1CA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BF8A71-33DE-5D19-1C44-F9BEE14E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88423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7408A41C-D594-6F2F-7E89-CDC508301B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245" y="730049"/>
            <a:ext cx="11177364" cy="3128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contenu 19">
            <a:extLst>
              <a:ext uri="{FF2B5EF4-FFF2-40B4-BE49-F238E27FC236}">
                <a16:creationId xmlns:a16="http://schemas.microsoft.com/office/drawing/2014/main" id="{4CAA9C9E-A5D3-6987-3F83-6586A31344D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96107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8" name="Espace réservé du contenu 19">
            <a:extLst>
              <a:ext uri="{FF2B5EF4-FFF2-40B4-BE49-F238E27FC236}">
                <a16:creationId xmlns:a16="http://schemas.microsoft.com/office/drawing/2014/main" id="{229DB150-5E69-9256-C261-000F66FF0F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044965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9" name="Espace réservé du contenu 19">
            <a:extLst>
              <a:ext uri="{FF2B5EF4-FFF2-40B4-BE49-F238E27FC236}">
                <a16:creationId xmlns:a16="http://schemas.microsoft.com/office/drawing/2014/main" id="{4B63A64F-A48C-F8BF-5DE9-02751D61C69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93823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1" name="Espace réservé du contenu 19">
            <a:extLst>
              <a:ext uri="{FF2B5EF4-FFF2-40B4-BE49-F238E27FC236}">
                <a16:creationId xmlns:a16="http://schemas.microsoft.com/office/drawing/2014/main" id="{1FA04820-2D82-73AF-A72B-7CFC14F902E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42681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2" name="Espace réservé du contenu 19">
            <a:extLst>
              <a:ext uri="{FF2B5EF4-FFF2-40B4-BE49-F238E27FC236}">
                <a16:creationId xmlns:a16="http://schemas.microsoft.com/office/drawing/2014/main" id="{35BEFBD6-FF1C-5848-52C2-C5A06A16C61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341125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4" name="Espace réservé du contenu 19">
            <a:extLst>
              <a:ext uri="{FF2B5EF4-FFF2-40B4-BE49-F238E27FC236}">
                <a16:creationId xmlns:a16="http://schemas.microsoft.com/office/drawing/2014/main" id="{540E672E-C6A7-6505-E295-66C57832F6C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789983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5" name="Espace réservé du contenu 19">
            <a:extLst>
              <a:ext uri="{FF2B5EF4-FFF2-40B4-BE49-F238E27FC236}">
                <a16:creationId xmlns:a16="http://schemas.microsoft.com/office/drawing/2014/main" id="{9905A2A8-89C6-E6B7-1FC4-4E53A91FAB4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38841" y="1776397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6" name="Espace réservé du contenu 19">
            <a:extLst>
              <a:ext uri="{FF2B5EF4-FFF2-40B4-BE49-F238E27FC236}">
                <a16:creationId xmlns:a16="http://schemas.microsoft.com/office/drawing/2014/main" id="{24A5716C-8D01-5061-F201-E782A94A4B4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0687699" y="177639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7" name="Espace réservé du contenu 19">
            <a:extLst>
              <a:ext uri="{FF2B5EF4-FFF2-40B4-BE49-F238E27FC236}">
                <a16:creationId xmlns:a16="http://schemas.microsoft.com/office/drawing/2014/main" id="{BDBA3240-47A2-02EF-B9ED-29AF175555C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96107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8" name="Espace réservé du contenu 19">
            <a:extLst>
              <a:ext uri="{FF2B5EF4-FFF2-40B4-BE49-F238E27FC236}">
                <a16:creationId xmlns:a16="http://schemas.microsoft.com/office/drawing/2014/main" id="{108110DF-D6A9-D110-9E2C-9729055C200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044965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19" name="Espace réservé du contenu 19">
            <a:extLst>
              <a:ext uri="{FF2B5EF4-FFF2-40B4-BE49-F238E27FC236}">
                <a16:creationId xmlns:a16="http://schemas.microsoft.com/office/drawing/2014/main" id="{334057C1-DF4A-690A-EF00-2929A4DA732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493823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01ED87E3-3CB4-95C0-5959-F53E16717858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942681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1" name="Espace réservé du contenu 19">
            <a:extLst>
              <a:ext uri="{FF2B5EF4-FFF2-40B4-BE49-F238E27FC236}">
                <a16:creationId xmlns:a16="http://schemas.microsoft.com/office/drawing/2014/main" id="{D4A1D210-B96D-398B-D6C1-1C020B51DD1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41125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2" name="Espace réservé du contenu 19">
            <a:extLst>
              <a:ext uri="{FF2B5EF4-FFF2-40B4-BE49-F238E27FC236}">
                <a16:creationId xmlns:a16="http://schemas.microsoft.com/office/drawing/2014/main" id="{6D38B7A8-1ACF-6D9A-536D-8976632314B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89983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3" name="Espace réservé du contenu 19">
            <a:extLst>
              <a:ext uri="{FF2B5EF4-FFF2-40B4-BE49-F238E27FC236}">
                <a16:creationId xmlns:a16="http://schemas.microsoft.com/office/drawing/2014/main" id="{7A2D6C5E-3ECA-7A77-CA7C-7ABB9CFE416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238841" y="2981016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4" name="Espace réservé du contenu 19">
            <a:extLst>
              <a:ext uri="{FF2B5EF4-FFF2-40B4-BE49-F238E27FC236}">
                <a16:creationId xmlns:a16="http://schemas.microsoft.com/office/drawing/2014/main" id="{B58D8633-CE9D-2356-2654-B6405D99F88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0687699" y="2981015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5" name="Espace réservé du contenu 19">
            <a:extLst>
              <a:ext uri="{FF2B5EF4-FFF2-40B4-BE49-F238E27FC236}">
                <a16:creationId xmlns:a16="http://schemas.microsoft.com/office/drawing/2014/main" id="{B2A034D9-7A2B-C805-B621-7D155B2EFAB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96107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6" name="Espace réservé du contenu 19">
            <a:extLst>
              <a:ext uri="{FF2B5EF4-FFF2-40B4-BE49-F238E27FC236}">
                <a16:creationId xmlns:a16="http://schemas.microsoft.com/office/drawing/2014/main" id="{8F7A06E7-28EB-83C1-6DDB-D1C9D8BC78D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044965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7" name="Espace réservé du contenu 19">
            <a:extLst>
              <a:ext uri="{FF2B5EF4-FFF2-40B4-BE49-F238E27FC236}">
                <a16:creationId xmlns:a16="http://schemas.microsoft.com/office/drawing/2014/main" id="{92064CDC-667B-DD84-181A-229F5B9EB84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93823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8" name="Espace réservé du contenu 19">
            <a:extLst>
              <a:ext uri="{FF2B5EF4-FFF2-40B4-BE49-F238E27FC236}">
                <a16:creationId xmlns:a16="http://schemas.microsoft.com/office/drawing/2014/main" id="{87B359BD-15A9-CC4D-1635-305E628C84E4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942681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29" name="Espace réservé du contenu 19">
            <a:extLst>
              <a:ext uri="{FF2B5EF4-FFF2-40B4-BE49-F238E27FC236}">
                <a16:creationId xmlns:a16="http://schemas.microsoft.com/office/drawing/2014/main" id="{6A972D19-1BA4-B33A-813C-332F4823FDF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41125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0" name="Espace réservé du contenu 19">
            <a:extLst>
              <a:ext uri="{FF2B5EF4-FFF2-40B4-BE49-F238E27FC236}">
                <a16:creationId xmlns:a16="http://schemas.microsoft.com/office/drawing/2014/main" id="{163AAAE4-6949-67C3-696B-FBFB8BA5051A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789983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1" name="Espace réservé du contenu 19">
            <a:extLst>
              <a:ext uri="{FF2B5EF4-FFF2-40B4-BE49-F238E27FC236}">
                <a16:creationId xmlns:a16="http://schemas.microsoft.com/office/drawing/2014/main" id="{B4D41CF8-4593-621A-F24E-4467285A92D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238841" y="4185634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2" name="Espace réservé du contenu 19">
            <a:extLst>
              <a:ext uri="{FF2B5EF4-FFF2-40B4-BE49-F238E27FC236}">
                <a16:creationId xmlns:a16="http://schemas.microsoft.com/office/drawing/2014/main" id="{FAD070B2-D39D-13E4-FC48-B25C9FE37E3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687699" y="4185633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3" name="Espace réservé du contenu 19">
            <a:extLst>
              <a:ext uri="{FF2B5EF4-FFF2-40B4-BE49-F238E27FC236}">
                <a16:creationId xmlns:a16="http://schemas.microsoft.com/office/drawing/2014/main" id="{668DB583-6117-A18E-6EDD-89324DBAE84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596107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4" name="Espace réservé du contenu 19">
            <a:extLst>
              <a:ext uri="{FF2B5EF4-FFF2-40B4-BE49-F238E27FC236}">
                <a16:creationId xmlns:a16="http://schemas.microsoft.com/office/drawing/2014/main" id="{5C879017-7F44-45C4-8FC5-B235F2C5561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044965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5" name="Espace réservé du contenu 19">
            <a:extLst>
              <a:ext uri="{FF2B5EF4-FFF2-40B4-BE49-F238E27FC236}">
                <a16:creationId xmlns:a16="http://schemas.microsoft.com/office/drawing/2014/main" id="{978FB932-4FC1-919C-4B1E-5BFF8FA0D47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3493823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6" name="Espace réservé du contenu 19">
            <a:extLst>
              <a:ext uri="{FF2B5EF4-FFF2-40B4-BE49-F238E27FC236}">
                <a16:creationId xmlns:a16="http://schemas.microsoft.com/office/drawing/2014/main" id="{FCE2ED05-9114-A609-BE9F-622AE3C3B72E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942681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7" name="Espace réservé du contenu 19">
            <a:extLst>
              <a:ext uri="{FF2B5EF4-FFF2-40B4-BE49-F238E27FC236}">
                <a16:creationId xmlns:a16="http://schemas.microsoft.com/office/drawing/2014/main" id="{8F4129B2-970D-9208-49A5-EA3307E3EE50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6341125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8" name="Espace réservé du contenu 19">
            <a:extLst>
              <a:ext uri="{FF2B5EF4-FFF2-40B4-BE49-F238E27FC236}">
                <a16:creationId xmlns:a16="http://schemas.microsoft.com/office/drawing/2014/main" id="{701257A4-4686-2B47-FC25-B37B07A1D5D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7789983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39" name="Espace réservé du contenu 19">
            <a:extLst>
              <a:ext uri="{FF2B5EF4-FFF2-40B4-BE49-F238E27FC236}">
                <a16:creationId xmlns:a16="http://schemas.microsoft.com/office/drawing/2014/main" id="{E38E7CA3-3969-2D2E-87B1-6474FBD51887}"/>
              </a:ext>
            </a:extLst>
          </p:cNvPr>
          <p:cNvSpPr>
            <a:spLocks noGrp="1"/>
          </p:cNvSpPr>
          <p:nvPr>
            <p:ph sz="quarter" idx="43" hasCustomPrompt="1"/>
          </p:nvPr>
        </p:nvSpPr>
        <p:spPr>
          <a:xfrm>
            <a:off x="9238841" y="5390250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sp>
        <p:nvSpPr>
          <p:cNvPr id="40" name="Espace réservé du contenu 19">
            <a:extLst>
              <a:ext uri="{FF2B5EF4-FFF2-40B4-BE49-F238E27FC236}">
                <a16:creationId xmlns:a16="http://schemas.microsoft.com/office/drawing/2014/main" id="{2D40E718-9AE0-A47E-EDDB-E982E8D1BC19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10687699" y="5390249"/>
            <a:ext cx="914400" cy="9187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lvl="0"/>
            <a:r>
              <a:rPr lang="fr-FR"/>
              <a:t>Insérez un </a:t>
            </a:r>
            <a:r>
              <a:rPr lang="fr-FR" err="1"/>
              <a:t>picto</a:t>
            </a:r>
            <a:endParaRPr lang="fr-FR"/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A831E8E5-0CC4-907E-80E9-120F6C2A639B}"/>
              </a:ext>
            </a:extLst>
          </p:cNvPr>
          <p:cNvCxnSpPr>
            <a:cxnSpLocks/>
          </p:cNvCxnSpPr>
          <p:nvPr/>
        </p:nvCxnSpPr>
        <p:spPr>
          <a:xfrm>
            <a:off x="596107" y="6479692"/>
            <a:ext cx="1099978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93E79E31-23AF-D576-24DD-1FF752850491}"/>
              </a:ext>
            </a:extLst>
          </p:cNvPr>
          <p:cNvSpPr txBox="1"/>
          <p:nvPr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sp>
        <p:nvSpPr>
          <p:cNvPr id="5" name="Espace réservé du pied de page 9">
            <a:extLst>
              <a:ext uri="{FF2B5EF4-FFF2-40B4-BE49-F238E27FC236}">
                <a16:creationId xmlns:a16="http://schemas.microsoft.com/office/drawing/2014/main" id="{194A28FC-6597-E76C-F88B-ED569D2FBF2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>
          <a:xfrm>
            <a:off x="4038600" y="6559960"/>
            <a:ext cx="4114800" cy="225655"/>
          </a:xfrm>
        </p:spPr>
        <p:txBody>
          <a:bodyPr anchor="t"/>
          <a:lstStyle/>
          <a:p>
            <a:r>
              <a:rPr lang="fr-FR"/>
              <a:t>Confidentiel</a:t>
            </a:r>
          </a:p>
        </p:txBody>
      </p:sp>
      <p:pic>
        <p:nvPicPr>
          <p:cNvPr id="6" name="Image 3">
            <a:extLst>
              <a:ext uri="{FF2B5EF4-FFF2-40B4-BE49-F238E27FC236}">
                <a16:creationId xmlns:a16="http://schemas.microsoft.com/office/drawing/2014/main" id="{CFE4583F-3AE6-354C-2466-EFEC46CF7D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C5CE677-C01D-1BE3-955A-E2EAF1B0F2DF}"/>
              </a:ext>
            </a:extLst>
          </p:cNvPr>
          <p:cNvSpPr txBox="1"/>
          <p:nvPr userDrawn="1"/>
        </p:nvSpPr>
        <p:spPr>
          <a:xfrm>
            <a:off x="11283301" y="6552610"/>
            <a:ext cx="412292" cy="230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lvl="0" indent="0" algn="ctr" defTabSz="9144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>
                <a:solidFill>
                  <a:schemeClr val="bg2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r"/>
            <a:fld id="{5B8C3449-BBE4-C64F-8326-7CB18BB63F90}" type="slidenum">
              <a:rPr lang="fr-FR" smtClean="0"/>
              <a:pPr lvl="0" algn="r"/>
              <a:t>‹N°›</a:t>
            </a:fld>
            <a:endParaRPr lang="fr-FR"/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0AA16F35-4C81-86F2-3CB6-E13FDC6C4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3368" y="6591650"/>
            <a:ext cx="626406" cy="199311"/>
          </a:xfrm>
          <a:prstGeom prst="rect">
            <a:avLst/>
          </a:prstGeom>
        </p:spPr>
      </p:pic>
      <p:sp>
        <p:nvSpPr>
          <p:cNvPr id="13" name="Titre 12">
            <a:extLst>
              <a:ext uri="{FF2B5EF4-FFF2-40B4-BE49-F238E27FC236}">
                <a16:creationId xmlns:a16="http://schemas.microsoft.com/office/drawing/2014/main" id="{44416686-482F-9867-3F21-FAC9DD41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169481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fin">
    <p:bg>
      <p:bgPr>
        <a:solidFill>
          <a:srgbClr val="1B0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53C49729-F7C2-64AE-792A-AA81E248A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098800"/>
            <a:ext cx="2971800" cy="660400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17B9542E-6D22-4B28-DA74-AA26B30C76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098800"/>
            <a:ext cx="2971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55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8">
            <a:extLst>
              <a:ext uri="{FF2B5EF4-FFF2-40B4-BE49-F238E27FC236}">
                <a16:creationId xmlns:a16="http://schemas.microsoft.com/office/drawing/2014/main" id="{2B140582-2FD4-E64E-BA3E-C4B74FEBB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575" y="5955450"/>
            <a:ext cx="2260600" cy="351648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EAFEA285-3E13-6A69-7915-EC5B33FE04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698" y="4468758"/>
            <a:ext cx="4460798" cy="32146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Date (JJ.MM.AAAA)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8CA02F23-4FF3-BB0B-BFC9-B8CF29080A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698" y="4122547"/>
            <a:ext cx="4460798" cy="32146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Client - Auteur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25111AB-F5AF-9FEB-4238-A73D9A9C9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146" y="2082538"/>
            <a:ext cx="5329554" cy="120464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 b="1" i="0">
                <a:solidFill>
                  <a:schemeClr val="accent1"/>
                </a:solidFill>
                <a:latin typeface="Plus Jakarta Sans ExtraBold" pitchFamily="2" charset="77"/>
                <a:cs typeface="Plus Jakarta Sans ExtraBold" pitchFamily="2" charset="77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F94D5557-3C17-3ABE-8227-635D0E262D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698" y="3375892"/>
            <a:ext cx="4460798" cy="32146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pPr lvl="0"/>
            <a:r>
              <a:rPr lang="fr-FR" noProof="0"/>
              <a:t>Sous titre de la présentation</a:t>
            </a:r>
          </a:p>
        </p:txBody>
      </p:sp>
      <p:sp>
        <p:nvSpPr>
          <p:cNvPr id="23" name="Espace réservé pour une image  13">
            <a:extLst>
              <a:ext uri="{FF2B5EF4-FFF2-40B4-BE49-F238E27FC236}">
                <a16:creationId xmlns:a16="http://schemas.microsoft.com/office/drawing/2014/main" id="{E5A67A79-BACF-C48A-8FB5-67DA8895C5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Illustration</a:t>
            </a:r>
          </a:p>
        </p:txBody>
      </p:sp>
    </p:spTree>
    <p:extLst>
      <p:ext uri="{BB962C8B-B14F-4D97-AF65-F5344CB8AC3E}">
        <p14:creationId xmlns:p14="http://schemas.microsoft.com/office/powerpoint/2010/main" val="36599235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#2 - TITRE - SECTION -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A3E18104-64BE-4D18-973A-2929B10C3D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3200" y="337820"/>
            <a:ext cx="9245600" cy="304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Section</a:t>
            </a:r>
            <a:endParaRPr lang="en-GB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F7EE538C-C044-4F7E-8AC3-BE0DC6FEB7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200" y="12700"/>
            <a:ext cx="9245600" cy="48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</a:t>
            </a:r>
            <a:endParaRPr lang="en-GB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7DE3AF05-0AB0-49E0-9D71-7AFA0D7A0E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700" y="1130300"/>
            <a:ext cx="11658600" cy="5207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100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s seul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E87190B-47B2-490B-BD21-171D0E041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15" y="97303"/>
            <a:ext cx="10935584" cy="418376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algn="l" defTabSz="29029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800" b="1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F8D0965-4A62-444C-AC16-99860F832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15" y="515679"/>
            <a:ext cx="10935584" cy="434883"/>
          </a:xfrm>
          <a:prstGeom prst="rect">
            <a:avLst/>
          </a:prstGeom>
        </p:spPr>
        <p:txBody>
          <a:bodyPr tIns="72000" anchor="t" anchorCtr="0">
            <a:noAutofit/>
          </a:bodyPr>
          <a:lstStyle>
            <a:lvl1pPr marL="0" indent="0">
              <a:buNone/>
              <a:defRPr lang="fr-FR" sz="1400">
                <a:solidFill>
                  <a:srgbClr val="0099FF"/>
                </a:solidFill>
                <a:ea typeface="Montserrat" charset="0"/>
                <a:cs typeface="Montserrat" charset="0"/>
              </a:defRPr>
            </a:lvl1pPr>
          </a:lstStyle>
          <a:p>
            <a:pPr marL="217717" lvl="0" indent="-217717">
              <a:lnSpc>
                <a:spcPct val="100000"/>
              </a:lnSpc>
              <a:spcBef>
                <a:spcPts val="0"/>
              </a:spcBef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90FC5E46-93AC-4EA0-AA4F-3E7BBD85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5901" y="6544340"/>
            <a:ext cx="745612" cy="198458"/>
          </a:xfrm>
          <a:prstGeom prst="rect">
            <a:avLst/>
          </a:prstGeom>
        </p:spPr>
        <p:txBody>
          <a:bodyPr/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AFCA8D8-8241-BE4B-9165-0EE2A5D02B3D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CB47DF1-00C0-4BF7-AE3A-CF49EB00A9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94" y="6544341"/>
            <a:ext cx="708016" cy="19845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49" y="-479"/>
            <a:ext cx="671999" cy="1022607"/>
          </a:xfrm>
          <a:prstGeom prst="rect">
            <a:avLst/>
          </a:prstGeom>
        </p:spPr>
      </p:pic>
      <p:pic>
        <p:nvPicPr>
          <p:cNvPr id="2" name="Picture 2" descr="confidential stamp. confidential square grunge sign. confidential  Illustration , #Ad, #square, #stamp, #confidential, #Illustration, #sign">
            <a:extLst>
              <a:ext uri="{FF2B5EF4-FFF2-40B4-BE49-F238E27FC236}">
                <a16:creationId xmlns:a16="http://schemas.microsoft.com/office/drawing/2014/main" id="{71C9D751-73FC-1480-B9CE-3B382D3430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1120">
            <a:off x="10348145" y="317614"/>
            <a:ext cx="1074982" cy="5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96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haîne&#10;&#10;Description générée automatiquement">
            <a:extLst>
              <a:ext uri="{FF2B5EF4-FFF2-40B4-BE49-F238E27FC236}">
                <a16:creationId xmlns:a16="http://schemas.microsoft.com/office/drawing/2014/main" id="{CA0F44A9-23AE-4CB5-AAF8-840F33D77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" y="0"/>
            <a:ext cx="705916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DFF961-5AFF-F440-AA39-F73CF9D6A16A}"/>
              </a:ext>
            </a:extLst>
          </p:cNvPr>
          <p:cNvSpPr/>
          <p:nvPr userDrawn="1"/>
        </p:nvSpPr>
        <p:spPr>
          <a:xfrm>
            <a:off x="7060497" y="-10690"/>
            <a:ext cx="5194852" cy="686869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9E20BBC-BC5F-664C-89DC-A122B8B14E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8715" y="5965012"/>
            <a:ext cx="4483429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600" b="0" i="0" baseline="0">
                <a:solidFill>
                  <a:schemeClr val="bg1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Date 00.00.00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FB27EB9-EA76-4AB5-BB76-10F06CFC1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8716" y="4856580"/>
            <a:ext cx="4483429" cy="923329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Titre présentation</a:t>
            </a:r>
            <a:br>
              <a:rPr lang="fr-FR"/>
            </a:br>
            <a:endParaRPr lang="fr-FR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8B288821-CED7-4C6E-958E-0AF6FA3983D4}"/>
              </a:ext>
            </a:extLst>
          </p:cNvPr>
          <p:cNvSpPr txBox="1"/>
          <p:nvPr userDrawn="1"/>
        </p:nvSpPr>
        <p:spPr>
          <a:xfrm>
            <a:off x="332478" y="1118687"/>
            <a:ext cx="58766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000" b="0" i="0" noProof="1">
                <a:solidFill>
                  <a:schemeClr val="bg1"/>
                </a:solidFill>
                <a:latin typeface="+mj-lt"/>
              </a:rPr>
              <a:t>Enhance Your Present,</a:t>
            </a:r>
          </a:p>
          <a:p>
            <a:pPr lvl="0"/>
            <a:r>
              <a:rPr lang="fr-FR" sz="2000" b="0" i="0" noProof="1">
                <a:solidFill>
                  <a:srgbClr val="DEFCBD"/>
                </a:solidFill>
                <a:latin typeface="+mj-lt"/>
              </a:rPr>
              <a:t>Inspire Your Future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D81FA7-00AB-4505-A4FA-0A95AA9FF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9" b="24294"/>
          <a:stretch/>
        </p:blipFill>
        <p:spPr>
          <a:xfrm>
            <a:off x="197579" y="301841"/>
            <a:ext cx="2629638" cy="72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54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A352D1-00DA-5540-949E-A72B4B902C40}"/>
              </a:ext>
            </a:extLst>
          </p:cNvPr>
          <p:cNvSpPr/>
          <p:nvPr userDrawn="1"/>
        </p:nvSpPr>
        <p:spPr>
          <a:xfrm>
            <a:off x="0" y="0"/>
            <a:ext cx="6022224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F0867B5-94D7-0141-A647-A9A5A78664D1}"/>
              </a:ext>
            </a:extLst>
          </p:cNvPr>
          <p:cNvCxnSpPr>
            <a:cxnSpLocks/>
          </p:cNvCxnSpPr>
          <p:nvPr userDrawn="1"/>
        </p:nvCxnSpPr>
        <p:spPr>
          <a:xfrm>
            <a:off x="597446" y="5339720"/>
            <a:ext cx="945515" cy="0"/>
          </a:xfrm>
          <a:prstGeom prst="line">
            <a:avLst/>
          </a:prstGeom>
          <a:ln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D968193-892D-4A46-8E16-212D645D0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36" y="4292870"/>
            <a:ext cx="1238161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Clr>
                <a:schemeClr val="tx1"/>
              </a:buClr>
              <a:buNone/>
              <a:defRPr sz="8000" b="0" i="0" baseline="0">
                <a:solidFill>
                  <a:schemeClr val="accent3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429C225A-0ECC-1E46-A522-1BC7373F4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2018" y="4295954"/>
            <a:ext cx="3788392" cy="98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3500" b="0" i="0" baseline="0">
                <a:solidFill>
                  <a:schemeClr val="accent3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</a:t>
            </a:r>
            <a:br>
              <a:rPr lang="fr-FR"/>
            </a:br>
            <a:r>
              <a:rPr lang="fr-FR"/>
              <a:t>Partie</a:t>
            </a:r>
          </a:p>
        </p:txBody>
      </p:sp>
      <p:pic>
        <p:nvPicPr>
          <p:cNvPr id="10" name="Image 9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77CB9BD3-168E-4BBA-9B83-2D24652904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0"/>
            <a:ext cx="628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6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D24BE4BE-8476-48A5-9C82-43A6F56F5E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0"/>
            <a:ext cx="628497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AC9F52-73BA-4CE9-92C0-4878021B63B3}"/>
              </a:ext>
            </a:extLst>
          </p:cNvPr>
          <p:cNvSpPr/>
          <p:nvPr userDrawn="1"/>
        </p:nvSpPr>
        <p:spPr>
          <a:xfrm>
            <a:off x="0" y="0"/>
            <a:ext cx="590702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0D968193-892D-4A46-8E16-212D645D0F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136" y="4292870"/>
            <a:ext cx="1238161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Clr>
                <a:schemeClr val="tx1"/>
              </a:buClr>
              <a:buNone/>
              <a:defRPr sz="8000" b="0" i="0" baseline="0">
                <a:solidFill>
                  <a:schemeClr val="accent3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14" name="Espace réservé du texte 7">
            <a:extLst>
              <a:ext uri="{FF2B5EF4-FFF2-40B4-BE49-F238E27FC236}">
                <a16:creationId xmlns:a16="http://schemas.microsoft.com/office/drawing/2014/main" id="{429C225A-0ECC-1E46-A522-1BC7373F4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2018" y="4295954"/>
            <a:ext cx="3788392" cy="982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3500" b="0" i="0" baseline="0">
                <a:solidFill>
                  <a:schemeClr val="accent3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</a:t>
            </a:r>
            <a:br>
              <a:rPr lang="fr-FR"/>
            </a:br>
            <a:r>
              <a:rPr lang="fr-FR"/>
              <a:t>Partie</a:t>
            </a:r>
          </a:p>
        </p:txBody>
      </p:sp>
    </p:spTree>
    <p:extLst>
      <p:ext uri="{BB962C8B-B14F-4D97-AF65-F5344CB8AC3E}">
        <p14:creationId xmlns:p14="http://schemas.microsoft.com/office/powerpoint/2010/main" val="35525514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arbre, plante, fermer, brocoli&#10;&#10;Description générée automatiquement">
            <a:extLst>
              <a:ext uri="{FF2B5EF4-FFF2-40B4-BE49-F238E27FC236}">
                <a16:creationId xmlns:a16="http://schemas.microsoft.com/office/drawing/2014/main" id="{C199DBBE-8D06-4717-9C9C-4872DAB62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0" y="0"/>
            <a:ext cx="6998208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FDC169-8B61-1B41-BD0F-3C0D0D94CC1D}"/>
              </a:ext>
            </a:extLst>
          </p:cNvPr>
          <p:cNvSpPr/>
          <p:nvPr userDrawn="1"/>
        </p:nvSpPr>
        <p:spPr>
          <a:xfrm>
            <a:off x="6997148" y="0"/>
            <a:ext cx="5194852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086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ature, outil, canyon, balai&#10;&#10;Description générée automatiquement">
            <a:extLst>
              <a:ext uri="{FF2B5EF4-FFF2-40B4-BE49-F238E27FC236}">
                <a16:creationId xmlns:a16="http://schemas.microsoft.com/office/drawing/2014/main" id="{77B22B11-2CE9-444C-AEEC-0095F8919A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8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64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3884F4-1562-4764-9171-67B9C946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C61908B7-4E0F-48ED-A615-319914B02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604493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D3B74-2550-4470-981D-95AB454B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49C3AA63-39F2-415D-B7E5-2336927EF8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85566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70527-FFEB-4359-8284-A2338FED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2" y="193429"/>
            <a:ext cx="10297357" cy="492626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07090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550644D9-C3AF-7E40-82DA-EE8EC77727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67725" y="1023150"/>
            <a:ext cx="3724275" cy="36896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Insérez une image ou bloc couleur</a:t>
            </a:r>
          </a:p>
          <a:p>
            <a:endParaRPr lang="fr-FR"/>
          </a:p>
        </p:txBody>
      </p:sp>
      <p:sp>
        <p:nvSpPr>
          <p:cNvPr id="18" name="Espace réservé pour une image  2">
            <a:extLst>
              <a:ext uri="{FF2B5EF4-FFF2-40B4-BE49-F238E27FC236}">
                <a16:creationId xmlns:a16="http://schemas.microsoft.com/office/drawing/2014/main" id="{CA2AD629-1296-2044-9851-9D694F84AE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33570" y="1023150"/>
            <a:ext cx="3724275" cy="368964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/>
              <a:t>Insérez une image ou bloc couleur</a:t>
            </a:r>
          </a:p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DFA81E-E1F0-4E1A-BD2C-E2DF7E8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E1CF3AF-126A-4615-81E0-7B32E25BAC8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D3FE12-5BDF-4439-B7B9-232D0B04D9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7675" y="1344613"/>
            <a:ext cx="3838575" cy="52816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334931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93CAD2-92F9-2146-AD04-972AEBC7E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8529" y="1469572"/>
            <a:ext cx="2745750" cy="3918857"/>
          </a:xfrm>
          <a:prstGeom prst="rect">
            <a:avLst/>
          </a:prstGeom>
        </p:spPr>
      </p:pic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466584"/>
            <a:ext cx="2880000" cy="287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AE29D890-7EA6-1E4C-893D-C0CE3B8612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58321" y="1466584"/>
            <a:ext cx="2880000" cy="2871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50CD2-EC2A-488C-81FE-F087BB5F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57D727-14D7-4D5D-AE6D-92ABF959988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15E6BC-649C-4E51-9277-817A7C873E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675" y="2035175"/>
            <a:ext cx="2879725" cy="40528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texte 10">
            <a:extLst>
              <a:ext uri="{FF2B5EF4-FFF2-40B4-BE49-F238E27FC236}">
                <a16:creationId xmlns:a16="http://schemas.microsoft.com/office/drawing/2014/main" id="{E0F3895C-02BA-4B1C-BB95-DDB4F266756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58321" y="2035175"/>
            <a:ext cx="2879725" cy="40528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205815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F80D6559-90A2-0F4E-93D3-D156EA2B9E1C}"/>
              </a:ext>
            </a:extLst>
          </p:cNvPr>
          <p:cNvCxnSpPr>
            <a:cxnSpLocks/>
          </p:cNvCxnSpPr>
          <p:nvPr userDrawn="1"/>
        </p:nvCxnSpPr>
        <p:spPr>
          <a:xfrm>
            <a:off x="447084" y="1468174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DBBFCEF-48CA-7A40-AB3D-7DE751CD1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2A8DFEA4-E3A1-6F4A-AEA7-BB0BDEAA7F2C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7EAAA77C-E7FF-4619-9906-AB4807929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D898014-DB29-480F-A864-C19579FF85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F6EFF690-52D9-41AC-8B63-062D279E52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443708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570AF3F0-7E62-4D22-91DF-0E90762C91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675" y="1651449"/>
            <a:ext cx="6616513" cy="443661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56424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DD0971-C8A7-B44B-BDCC-3E8A05C0453B}"/>
              </a:ext>
            </a:extLst>
          </p:cNvPr>
          <p:cNvSpPr/>
          <p:nvPr userDrawn="1"/>
        </p:nvSpPr>
        <p:spPr>
          <a:xfrm>
            <a:off x="9327598" y="0"/>
            <a:ext cx="2880000" cy="6858000"/>
          </a:xfrm>
          <a:prstGeom prst="rect">
            <a:avLst/>
          </a:prstGeom>
          <a:solidFill>
            <a:srgbClr val="96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031BCE4-A106-C746-BCE3-8BD4373DF0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9579" y="2549742"/>
            <a:ext cx="2276039" cy="175851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8B369A5-6CF3-46BF-AE80-46E4597A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815420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216937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52C4BE-EAEF-5549-AE49-3418049A09E4}"/>
              </a:ext>
            </a:extLst>
          </p:cNvPr>
          <p:cNvSpPr/>
          <p:nvPr userDrawn="1"/>
        </p:nvSpPr>
        <p:spPr>
          <a:xfrm>
            <a:off x="7469559" y="0"/>
            <a:ext cx="47236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EF02179F-5EBF-774D-AE21-10415057AF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569355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F2A976EE-5A7B-754E-BFA2-6192A42FD1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84" y="2138159"/>
            <a:ext cx="661710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4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2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F80D6559-90A2-0F4E-93D3-D156EA2B9E1C}"/>
              </a:ext>
            </a:extLst>
          </p:cNvPr>
          <p:cNvCxnSpPr>
            <a:cxnSpLocks/>
          </p:cNvCxnSpPr>
          <p:nvPr userDrawn="1"/>
        </p:nvCxnSpPr>
        <p:spPr>
          <a:xfrm>
            <a:off x="447084" y="1946376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FDBBFCEF-48CA-7A40-AB3D-7DE751CD1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rgbClr val="DEFCBD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2A8DFEA4-E3A1-6F4A-AEA7-BB0BDEAA7F2C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1"/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texte 7">
            <a:extLst>
              <a:ext uri="{FF2B5EF4-FFF2-40B4-BE49-F238E27FC236}">
                <a16:creationId xmlns:a16="http://schemas.microsoft.com/office/drawing/2014/main" id="{4276CC62-3150-B140-86AD-FD878A5B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7084" y="984786"/>
            <a:ext cx="6617104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100" b="0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Nom porteur de l’offre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66075C-5B39-421A-8329-56B62117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631051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CD8F3E-4599-43A4-8918-7F2E3999D6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3F1CD7DD-D181-49CC-AB23-044798C256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443708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5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7D1D7BFA-E030-42C2-BA65-D77EBDBBED1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675" y="2422269"/>
            <a:ext cx="6616513" cy="366579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691501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E9DDA93C-1418-B04A-81F3-105CC3DCE5F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24400" y="0"/>
            <a:ext cx="7467600" cy="4140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1BFC47-769E-BC49-AD97-190E89AD13B7}"/>
              </a:ext>
            </a:extLst>
          </p:cNvPr>
          <p:cNvSpPr/>
          <p:nvPr userDrawn="1"/>
        </p:nvSpPr>
        <p:spPr>
          <a:xfrm>
            <a:off x="7472844" y="4140200"/>
            <a:ext cx="4719155" cy="27178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E77B4-5F63-4B46-9B56-BD4C29DD90F6}"/>
              </a:ext>
            </a:extLst>
          </p:cNvPr>
          <p:cNvSpPr/>
          <p:nvPr userDrawn="1"/>
        </p:nvSpPr>
        <p:spPr>
          <a:xfrm>
            <a:off x="4723691" y="4140200"/>
            <a:ext cx="2749154" cy="271780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F8FFA51-F643-6A41-B9D4-2C9AE20322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081" y="4788913"/>
            <a:ext cx="1420374" cy="1420374"/>
          </a:xfrm>
          <a:prstGeom prst="rect">
            <a:avLst/>
          </a:prstGeom>
        </p:spPr>
      </p:pic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75BB8309-E14D-DC4E-96FC-D3742210CB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207891"/>
            <a:ext cx="4051099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62FB8F45-1942-4541-AE15-2132F3280B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084" y="1776695"/>
            <a:ext cx="405109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4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2</a:t>
            </a:r>
          </a:p>
        </p:txBody>
      </p: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A11694EB-EA2A-B844-9CF5-9DAFAD1CC128}"/>
              </a:ext>
            </a:extLst>
          </p:cNvPr>
          <p:cNvCxnSpPr>
            <a:cxnSpLocks/>
          </p:cNvCxnSpPr>
          <p:nvPr userDrawn="1"/>
        </p:nvCxnSpPr>
        <p:spPr>
          <a:xfrm>
            <a:off x="447084" y="1584912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81886FDF-1E12-4442-B593-C70319D883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3616" y="4909428"/>
            <a:ext cx="3812747" cy="37010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600" b="1" i="0" baseline="0">
                <a:solidFill>
                  <a:schemeClr val="bg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Phrase clé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BE3B5E-CE60-408B-9394-08AF7CA070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E2E58B78-2A38-4B0E-ADEC-683FE04E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356660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88CC628-AA0E-46CE-8193-3A8D301547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7084" y="2069087"/>
            <a:ext cx="4051100" cy="4018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967559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06DD300C-737C-9E4C-A050-BA0E513072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0488" y="1018048"/>
            <a:ext cx="3519913" cy="26399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87FFFE-7450-974F-886B-67302EAC68E8}"/>
              </a:ext>
            </a:extLst>
          </p:cNvPr>
          <p:cNvSpPr/>
          <p:nvPr userDrawn="1"/>
        </p:nvSpPr>
        <p:spPr>
          <a:xfrm>
            <a:off x="0" y="1018047"/>
            <a:ext cx="6100488" cy="2639936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DEFCBD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35B34-3AD4-5B47-86AD-FA6BD9A128ED}"/>
              </a:ext>
            </a:extLst>
          </p:cNvPr>
          <p:cNvSpPr/>
          <p:nvPr userDrawn="1"/>
        </p:nvSpPr>
        <p:spPr>
          <a:xfrm>
            <a:off x="9207601" y="1018048"/>
            <a:ext cx="2984399" cy="2639935"/>
          </a:xfrm>
          <a:prstGeom prst="rect">
            <a:avLst/>
          </a:prstGeom>
          <a:solidFill>
            <a:srgbClr val="5EC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5EC48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2595C3-9637-194D-8E12-7BC57FB848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2266" y="1591192"/>
            <a:ext cx="2215068" cy="1493647"/>
          </a:xfrm>
          <a:prstGeom prst="rect">
            <a:avLst/>
          </a:prstGeom>
        </p:spPr>
      </p:pic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C2E77850-DAAD-5D48-B044-B502ADC56371}"/>
              </a:ext>
            </a:extLst>
          </p:cNvPr>
          <p:cNvCxnSpPr>
            <a:cxnSpLocks/>
          </p:cNvCxnSpPr>
          <p:nvPr userDrawn="1"/>
        </p:nvCxnSpPr>
        <p:spPr>
          <a:xfrm>
            <a:off x="447038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1">
            <a:extLst>
              <a:ext uri="{FF2B5EF4-FFF2-40B4-BE49-F238E27FC236}">
                <a16:creationId xmlns:a16="http://schemas.microsoft.com/office/drawing/2014/main" id="{9B330407-CD74-244B-A533-16B89A20E6E7}"/>
              </a:ext>
            </a:extLst>
          </p:cNvPr>
          <p:cNvCxnSpPr>
            <a:cxnSpLocks/>
          </p:cNvCxnSpPr>
          <p:nvPr userDrawn="1"/>
        </p:nvCxnSpPr>
        <p:spPr>
          <a:xfrm>
            <a:off x="9267545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1">
            <a:extLst>
              <a:ext uri="{FF2B5EF4-FFF2-40B4-BE49-F238E27FC236}">
                <a16:creationId xmlns:a16="http://schemas.microsoft.com/office/drawing/2014/main" id="{51801828-BA18-F641-B0C1-A0877BAD9A0B}"/>
              </a:ext>
            </a:extLst>
          </p:cNvPr>
          <p:cNvCxnSpPr>
            <a:cxnSpLocks/>
          </p:cNvCxnSpPr>
          <p:nvPr userDrawn="1"/>
        </p:nvCxnSpPr>
        <p:spPr>
          <a:xfrm>
            <a:off x="6320971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5F1D6481-6A68-4242-A3D7-DE173271D2DC}"/>
              </a:ext>
            </a:extLst>
          </p:cNvPr>
          <p:cNvCxnSpPr>
            <a:cxnSpLocks/>
          </p:cNvCxnSpPr>
          <p:nvPr userDrawn="1"/>
        </p:nvCxnSpPr>
        <p:spPr>
          <a:xfrm>
            <a:off x="3381567" y="4277903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8C619DA1-4643-4F43-A307-BEE330F5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B03278-D8D0-4B08-98E8-4BBF29EBE87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4190BDC-F4BD-4529-A9C1-B02967E61A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038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1EDBC576-090C-411C-A8DF-3D2A093AA01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93612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93873087-569A-405D-8FC9-5B7635EC183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20971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F83228CB-B107-4D91-AA2F-1488885DAA8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67545" y="4462463"/>
            <a:ext cx="2592000" cy="199231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1DACC32F-CC2A-4907-A606-A73154BE41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7038" y="3847641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1A1C30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Conseil &amp; AMOA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8FDF18CD-F3CB-418D-9BD2-D170927F9D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3612" y="3842542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96ADE3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CFO solutions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87965A3B-8E7F-4D7F-B2AE-9E7E89DD65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0186" y="3842542"/>
            <a:ext cx="2572785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01ABBD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Digital transformation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649A259A-5A5E-468E-8DAC-C6FED8A888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67545" y="3842542"/>
            <a:ext cx="2592000" cy="28469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fr-FR" sz="2000" b="0" i="0" baseline="0" dirty="0" smtClean="0">
                <a:solidFill>
                  <a:srgbClr val="5EC480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fr-FR"/>
              <a:t>Smart ERP</a:t>
            </a:r>
          </a:p>
        </p:txBody>
      </p:sp>
    </p:spTree>
    <p:extLst>
      <p:ext uri="{BB962C8B-B14F-4D97-AF65-F5344CB8AC3E}">
        <p14:creationId xmlns:p14="http://schemas.microsoft.com/office/powerpoint/2010/main" val="16482815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184832E-6E5A-8845-8C7A-E2FAF4643F5F}"/>
              </a:ext>
            </a:extLst>
          </p:cNvPr>
          <p:cNvSpPr/>
          <p:nvPr userDrawn="1"/>
        </p:nvSpPr>
        <p:spPr>
          <a:xfrm>
            <a:off x="7468310" y="3811469"/>
            <a:ext cx="4723690" cy="30465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1ABB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956DF-9DFB-CE4F-9784-4695E7615FF1}"/>
              </a:ext>
            </a:extLst>
          </p:cNvPr>
          <p:cNvSpPr/>
          <p:nvPr userDrawn="1"/>
        </p:nvSpPr>
        <p:spPr>
          <a:xfrm>
            <a:off x="7468310" y="769470"/>
            <a:ext cx="4723690" cy="3041999"/>
          </a:xfrm>
          <a:prstGeom prst="rect">
            <a:avLst/>
          </a:prstGeom>
          <a:solidFill>
            <a:srgbClr val="DEFC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1ABBD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668571-B0FD-6341-BB6D-70EE11DE39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5933" y="4001142"/>
            <a:ext cx="828444" cy="1084509"/>
          </a:xfrm>
          <a:prstGeom prst="rect">
            <a:avLst/>
          </a:prstGeom>
        </p:spPr>
      </p:pic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CDE4975-D157-AD45-9E48-D62A6B101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6617104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1CE3AD9B-B34A-9E4F-975F-F6E522A58868}"/>
              </a:ext>
            </a:extLst>
          </p:cNvPr>
          <p:cNvCxnSpPr>
            <a:cxnSpLocks/>
          </p:cNvCxnSpPr>
          <p:nvPr userDrawn="1"/>
        </p:nvCxnSpPr>
        <p:spPr>
          <a:xfrm>
            <a:off x="447084" y="1468174"/>
            <a:ext cx="411775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AAEAB3C7-4C9D-7243-8699-06482352E1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82205" y="1091153"/>
            <a:ext cx="4065955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4628ECAA-4998-C944-9CC4-289FE183D47F}"/>
              </a:ext>
            </a:extLst>
          </p:cNvPr>
          <p:cNvCxnSpPr>
            <a:cxnSpLocks/>
          </p:cNvCxnSpPr>
          <p:nvPr userDrawn="1"/>
        </p:nvCxnSpPr>
        <p:spPr>
          <a:xfrm>
            <a:off x="7882205" y="1468174"/>
            <a:ext cx="410399" cy="0"/>
          </a:xfrm>
          <a:prstGeom prst="straightConnector1">
            <a:avLst/>
          </a:prstGeom>
          <a:ln w="12700" cap="rnd">
            <a:solidFill>
              <a:schemeClr val="bg2">
                <a:lumMod val="90000"/>
              </a:schemeClr>
            </a:solidFill>
            <a:prstDash val="solid"/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B7D4737F-E801-F044-9541-FF73289C27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3616" y="5337000"/>
            <a:ext cx="3812747" cy="37010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600" b="1" i="0" baseline="0">
                <a:solidFill>
                  <a:schemeClr val="bg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Phrase clé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E3A677-A8EE-4121-B02D-5F95B6AB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6375DC3-FC76-4A9C-AF13-0858147AD42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D5F08F8C-6298-434A-8877-82D05BA115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82205" y="1651448"/>
            <a:ext cx="4065955" cy="209834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buClrTx/>
              <a:defRPr sz="1200">
                <a:solidFill>
                  <a:schemeClr val="tx1"/>
                </a:solidFill>
              </a:defRPr>
            </a:lvl2pPr>
            <a:lvl3pPr>
              <a:buClrTx/>
              <a:defRPr sz="1100">
                <a:solidFill>
                  <a:schemeClr val="tx1"/>
                </a:solidFill>
              </a:defRPr>
            </a:lvl3pPr>
            <a:lvl4pPr>
              <a:buClrTx/>
              <a:defRPr sz="1050">
                <a:solidFill>
                  <a:schemeClr val="tx1"/>
                </a:solidFill>
              </a:defRPr>
            </a:lvl4pPr>
            <a:lvl5pPr>
              <a:buClrTx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8088F9B9-F1A5-48D3-80A2-D332F8B313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7675" y="1697529"/>
            <a:ext cx="6616513" cy="439053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036729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B1BD326-7117-7043-8428-9777637733A9}"/>
              </a:ext>
            </a:extLst>
          </p:cNvPr>
          <p:cNvSpPr/>
          <p:nvPr userDrawn="1"/>
        </p:nvSpPr>
        <p:spPr>
          <a:xfrm>
            <a:off x="5908280" y="-10691"/>
            <a:ext cx="6283720" cy="3446221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320D5-0F2C-FD4C-934A-2DB91617EC33}"/>
              </a:ext>
            </a:extLst>
          </p:cNvPr>
          <p:cNvSpPr/>
          <p:nvPr userDrawn="1"/>
        </p:nvSpPr>
        <p:spPr>
          <a:xfrm>
            <a:off x="5908280" y="3418309"/>
            <a:ext cx="6283720" cy="3446221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CDE4975-D157-AD45-9E48-D62A6B101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84" y="1091153"/>
            <a:ext cx="5102709" cy="28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Clr>
                <a:schemeClr val="tx1"/>
              </a:buClr>
              <a:buNone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Titre niveau 1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9FA0F18-F71D-6049-82B1-6C61669B3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866" y="495188"/>
            <a:ext cx="2266548" cy="24298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6D492CA-CA1A-4C08-BF82-39D44385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3" y="231959"/>
            <a:ext cx="4750484" cy="709074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B8BE813-54EB-40BC-907A-8271D9EB5F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E485A6BC-6470-4D2F-9E2C-4B292A0392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7676" y="1697529"/>
            <a:ext cx="5102118" cy="439053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347048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E3AF64-8D33-2444-B35B-BBF3EDE4BE09}"/>
              </a:ext>
            </a:extLst>
          </p:cNvPr>
          <p:cNvSpPr/>
          <p:nvPr userDrawn="1"/>
        </p:nvSpPr>
        <p:spPr>
          <a:xfrm>
            <a:off x="-1488" y="1003176"/>
            <a:ext cx="2880000" cy="5854823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71928-2725-0145-A721-1A00AB1C5C5A}"/>
              </a:ext>
            </a:extLst>
          </p:cNvPr>
          <p:cNvSpPr/>
          <p:nvPr userDrawn="1"/>
        </p:nvSpPr>
        <p:spPr>
          <a:xfrm>
            <a:off x="9327598" y="1003176"/>
            <a:ext cx="2880000" cy="58548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B18F7F-A819-47FA-B648-C21DD52B8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Consultant 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1D4397C-16F9-4A84-BDB8-04C72C821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234239"/>
            <a:ext cx="736846" cy="36512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buClr>
                <a:schemeClr val="tx1"/>
              </a:buClr>
              <a:buSzPct val="70000"/>
              <a:buFont typeface="Arial" panose="020B0604020202020204" pitchFamily="34" charset="0"/>
              <a:buNone/>
            </a:pPr>
            <a:fld id="{3CFD10E6-B2D1-4815-BBFF-C0877C925E24}" type="slidenum">
              <a:rPr lang="fr-FR" smtClean="0"/>
              <a:pPr algn="r">
                <a:lnSpc>
                  <a:spcPct val="90000"/>
                </a:lnSpc>
                <a:buClr>
                  <a:schemeClr val="tx1"/>
                </a:buClr>
                <a:buSzPct val="70000"/>
                <a:buFont typeface="Arial" panose="020B0604020202020204" pitchFamily="34" charset="0"/>
                <a:buNone/>
              </a:pPr>
              <a:t>‹N°›</a:t>
            </a:fld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3F90FC-E2E6-4970-811B-0A01B631DC96}"/>
              </a:ext>
            </a:extLst>
          </p:cNvPr>
          <p:cNvSpPr txBox="1"/>
          <p:nvPr userDrawn="1"/>
        </p:nvSpPr>
        <p:spPr>
          <a:xfrm>
            <a:off x="9528436" y="2218162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Compétences métier</a:t>
            </a:r>
          </a:p>
        </p:txBody>
      </p:sp>
      <p:sp>
        <p:nvSpPr>
          <p:cNvPr id="12" name="ZoneTexte 15">
            <a:extLst>
              <a:ext uri="{FF2B5EF4-FFF2-40B4-BE49-F238E27FC236}">
                <a16:creationId xmlns:a16="http://schemas.microsoft.com/office/drawing/2014/main" id="{869B7699-069D-4FD0-94FE-2D69E9EA06D5}"/>
              </a:ext>
            </a:extLst>
          </p:cNvPr>
          <p:cNvSpPr txBox="1"/>
          <p:nvPr userDrawn="1"/>
        </p:nvSpPr>
        <p:spPr>
          <a:xfrm>
            <a:off x="3239673" y="952982"/>
            <a:ext cx="394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600" b="1">
                <a:solidFill>
                  <a:srgbClr val="01ABB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Expérience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5EE811E-6C44-4A01-8DB3-BA4C3A2D7A2D}"/>
              </a:ext>
            </a:extLst>
          </p:cNvPr>
          <p:cNvSpPr txBox="1"/>
          <p:nvPr userDrawn="1"/>
        </p:nvSpPr>
        <p:spPr>
          <a:xfrm>
            <a:off x="142242" y="4547787"/>
            <a:ext cx="270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C4E453"/>
                </a:solidFill>
                <a:latin typeface="+mj-lt"/>
              </a:rPr>
              <a:t>Certifications et formations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C9BEDF-DB44-4915-BF63-3693CC267DB8}"/>
              </a:ext>
            </a:extLst>
          </p:cNvPr>
          <p:cNvSpPr txBox="1"/>
          <p:nvPr userDrawn="1"/>
        </p:nvSpPr>
        <p:spPr>
          <a:xfrm>
            <a:off x="128359" y="3056451"/>
            <a:ext cx="2404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accent1"/>
                </a:solidFill>
              </a:defRPr>
            </a:lvl1pPr>
          </a:lstStyle>
          <a:p>
            <a:pPr algn="l"/>
            <a:r>
              <a:rPr lang="fr-FR">
                <a:solidFill>
                  <a:srgbClr val="C4E453"/>
                </a:solidFill>
                <a:latin typeface="+mj-lt"/>
              </a:rPr>
              <a:t>Expertises/outils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6C7016E-898D-4BCF-9ACA-24ABF7B9947A}"/>
              </a:ext>
            </a:extLst>
          </p:cNvPr>
          <p:cNvSpPr txBox="1"/>
          <p:nvPr userDrawn="1"/>
        </p:nvSpPr>
        <p:spPr>
          <a:xfrm>
            <a:off x="9519224" y="964511"/>
            <a:ext cx="2592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1600" b="1">
                <a:solidFill>
                  <a:srgbClr val="01ABB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Secteurs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3C6E1714-767C-4564-91C1-8151B95C6159}"/>
              </a:ext>
            </a:extLst>
          </p:cNvPr>
          <p:cNvSpPr txBox="1"/>
          <p:nvPr userDrawn="1"/>
        </p:nvSpPr>
        <p:spPr>
          <a:xfrm>
            <a:off x="9535363" y="3673332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Compétences outils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FC2B900A-4C5F-441E-AA7A-A3329646BB21}"/>
              </a:ext>
            </a:extLst>
          </p:cNvPr>
          <p:cNvSpPr txBox="1"/>
          <p:nvPr userDrawn="1"/>
        </p:nvSpPr>
        <p:spPr>
          <a:xfrm>
            <a:off x="9535363" y="5402639"/>
            <a:ext cx="2419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solidFill>
                  <a:srgbClr val="01ABBD"/>
                </a:solidFill>
                <a:latin typeface="+mj-lt"/>
                <a:cs typeface="Calibri" panose="020F0502020204030204" pitchFamily="34" charset="0"/>
              </a:rPr>
              <a:t>Langues</a:t>
            </a:r>
          </a:p>
        </p:txBody>
      </p:sp>
    </p:spTree>
    <p:extLst>
      <p:ext uri="{BB962C8B-B14F-4D97-AF65-F5344CB8AC3E}">
        <p14:creationId xmlns:p14="http://schemas.microsoft.com/office/powerpoint/2010/main" val="40406169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1E151C-CE04-134F-909C-E48D2DD4A92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1A1C3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B1DA13-281E-47F0-86B6-C285D2990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79" y="245279"/>
            <a:ext cx="675001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281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5C5830C-1250-2E4D-B5E4-0FE1735E3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9971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8DFF961-5AFF-F440-AA39-F73CF9D6A16A}"/>
              </a:ext>
            </a:extLst>
          </p:cNvPr>
          <p:cNvSpPr/>
          <p:nvPr userDrawn="1"/>
        </p:nvSpPr>
        <p:spPr>
          <a:xfrm>
            <a:off x="6997148" y="-10690"/>
            <a:ext cx="5194852" cy="3441600"/>
          </a:xfrm>
          <a:prstGeom prst="rect">
            <a:avLst/>
          </a:prstGeom>
          <a:solidFill>
            <a:srgbClr val="01AB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B2E346-7830-A746-AF02-5EA5D6AD681A}"/>
              </a:ext>
            </a:extLst>
          </p:cNvPr>
          <p:cNvSpPr/>
          <p:nvPr userDrawn="1"/>
        </p:nvSpPr>
        <p:spPr>
          <a:xfrm>
            <a:off x="6997148" y="3418310"/>
            <a:ext cx="5194852" cy="344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C31B91A9-E8C2-4083-BA02-9A04A5857051}"/>
              </a:ext>
            </a:extLst>
          </p:cNvPr>
          <p:cNvSpPr txBox="1"/>
          <p:nvPr userDrawn="1"/>
        </p:nvSpPr>
        <p:spPr>
          <a:xfrm>
            <a:off x="332478" y="1118687"/>
            <a:ext cx="587667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000" b="0" i="0" noProof="1">
                <a:solidFill>
                  <a:schemeClr val="bg1"/>
                </a:solidFill>
                <a:latin typeface="+mj-lt"/>
              </a:rPr>
              <a:t>Enhance Your Present,</a:t>
            </a:r>
          </a:p>
          <a:p>
            <a:pPr lvl="0"/>
            <a:r>
              <a:rPr lang="fr-FR" sz="2000" b="0" i="0" noProof="1">
                <a:solidFill>
                  <a:srgbClr val="DEFCBD"/>
                </a:solidFill>
                <a:latin typeface="+mj-lt"/>
              </a:rPr>
              <a:t>Inspire Your Future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22EC9D2-4CBB-4667-875F-67CC1D3F4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9" b="24294"/>
          <a:stretch/>
        </p:blipFill>
        <p:spPr>
          <a:xfrm>
            <a:off x="197579" y="301841"/>
            <a:ext cx="2629638" cy="72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91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90C2C3-29AF-2D9A-7EF4-C22C2E012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066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E87190B-47B2-490B-BD21-171D0E041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15" y="97303"/>
            <a:ext cx="10935584" cy="418376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algn="l" defTabSz="29029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800" b="1" kern="1200" cap="all" baseline="0" dirty="0">
                <a:solidFill>
                  <a:schemeClr val="tx1">
                    <a:lumMod val="50000"/>
                  </a:schemeClr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541902" y="-18333"/>
            <a:ext cx="671999" cy="1032597"/>
          </a:xfrm>
          <a:prstGeom prst="rect">
            <a:avLst/>
          </a:prstGeom>
        </p:spPr>
      </p:pic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205901" y="6544340"/>
            <a:ext cx="745612" cy="198458"/>
          </a:xfrm>
          <a:prstGeom prst="rect">
            <a:avLst/>
          </a:prstGeom>
        </p:spPr>
        <p:txBody>
          <a:bodyPr/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AFCA8D8-8241-BE4B-9165-0EE2A5D02B3D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F8D0965-4A62-444C-AC16-99860F8324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15" y="515679"/>
            <a:ext cx="10935584" cy="434883"/>
          </a:xfrm>
          <a:prstGeom prst="rect">
            <a:avLst/>
          </a:prstGeom>
        </p:spPr>
        <p:txBody>
          <a:bodyPr tIns="72000" anchor="t" anchorCtr="0">
            <a:noAutofit/>
          </a:bodyPr>
          <a:lstStyle>
            <a:lvl1pPr marL="0" indent="0">
              <a:buNone/>
              <a:defRPr lang="fr-FR" sz="1400" dirty="0">
                <a:solidFill>
                  <a:srgbClr val="00A9E0"/>
                </a:solidFill>
                <a:ea typeface="Montserrat" charset="0"/>
                <a:cs typeface="Montserrat" charset="0"/>
              </a:defRPr>
            </a:lvl1pPr>
          </a:lstStyle>
          <a:p>
            <a:pPr marL="217717" lvl="0" indent="-217717">
              <a:lnSpc>
                <a:spcPct val="100000"/>
              </a:lnSpc>
              <a:spcBef>
                <a:spcPts val="0"/>
              </a:spcBef>
            </a:pPr>
            <a:r>
              <a:rPr lang="fr-FR"/>
              <a:t>Modifier les styles du texte du masque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9B11AB-E766-448B-AB3D-6111471C5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4415" y="1014265"/>
            <a:ext cx="11233297" cy="5278586"/>
          </a:xfrm>
          <a:prstGeom prst="rect">
            <a:avLst/>
          </a:prstGeom>
        </p:spPr>
        <p:txBody>
          <a:bodyPr/>
          <a:lstStyle>
            <a:lvl1pPr marL="217717" indent="-217717">
              <a:spcAft>
                <a:spcPts val="600"/>
              </a:spcAft>
              <a:buFontTx/>
              <a:buBlip>
                <a:blip r:embed="rId3"/>
              </a:buBlip>
              <a:defRPr lang="fr-FR" sz="16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1pPr>
            <a:lvl2pPr marL="471722" indent="-181431">
              <a:spcAft>
                <a:spcPts val="600"/>
              </a:spcAft>
              <a:buFont typeface="Arial" panose="020B0604020202020204" pitchFamily="34" charset="0"/>
              <a:buChar char="•"/>
              <a:defRPr lang="fr-FR" sz="14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2pPr>
            <a:lvl3pPr marL="725726" indent="-145144">
              <a:spcAft>
                <a:spcPts val="600"/>
              </a:spcAft>
              <a:buFont typeface="Wingdings" panose="05000000000000000000" pitchFamily="2" charset="2"/>
              <a:buChar char="ü"/>
              <a:defRPr lang="fr-FR" sz="12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3pPr>
            <a:lvl4pPr>
              <a:spcAft>
                <a:spcPts val="600"/>
              </a:spcAft>
              <a:defRPr lang="fr-FR" sz="110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4pPr>
            <a:lvl5pPr>
              <a:spcAft>
                <a:spcPts val="600"/>
              </a:spcAft>
              <a:defRPr lang="fr-FR" sz="1050" kern="1200" dirty="0" smtClean="0">
                <a:solidFill>
                  <a:schemeClr val="tx1">
                    <a:lumMod val="75000"/>
                  </a:schemeClr>
                </a:solidFill>
                <a:latin typeface="+mn-lt"/>
                <a:ea typeface="Montserrat Light" charset="0"/>
                <a:cs typeface="Montserrat Light" charset="0"/>
              </a:defRPr>
            </a:lvl5pPr>
            <a:lvl6pPr>
              <a:spcAft>
                <a:spcPts val="600"/>
              </a:spcAft>
              <a:defRPr sz="1000">
                <a:solidFill>
                  <a:schemeClr val="tx1">
                    <a:lumMod val="75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  <a:p>
            <a:pPr lvl="5"/>
            <a:r>
              <a:rPr lang="fr-FR">
                <a:latin typeface="Montserrat Light"/>
              </a:rPr>
              <a:t>Sixième niveau </a:t>
            </a:r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E8557CB-1C44-421F-9C4B-2844C4501B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894" y="6544341"/>
            <a:ext cx="708016" cy="19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440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 de ga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7BD1033-77AD-9642-9C24-EF13B3DBBC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" b="4469"/>
          <a:stretch/>
        </p:blipFill>
        <p:spPr>
          <a:xfrm>
            <a:off x="0" y="-10690"/>
            <a:ext cx="10190386" cy="68686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59DA06F-9D04-8A4E-B78D-1D8B3A64FA3B}"/>
              </a:ext>
            </a:extLst>
          </p:cNvPr>
          <p:cNvSpPr/>
          <p:nvPr userDrawn="1"/>
        </p:nvSpPr>
        <p:spPr>
          <a:xfrm>
            <a:off x="8125425" y="-10690"/>
            <a:ext cx="4129923" cy="6868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C39589-FE30-0E4E-B28C-3928581E0F93}"/>
              </a:ext>
            </a:extLst>
          </p:cNvPr>
          <p:cNvSpPr/>
          <p:nvPr userDrawn="1"/>
        </p:nvSpPr>
        <p:spPr>
          <a:xfrm>
            <a:off x="0" y="-10690"/>
            <a:ext cx="8125425" cy="686869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A908F3-385E-9443-A6C5-48445A508C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0446" y="646767"/>
            <a:ext cx="2697807" cy="1411161"/>
          </a:xfrm>
          <a:prstGeom prst="rect">
            <a:avLst/>
          </a:prstGeom>
        </p:spPr>
      </p:pic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F9E20BBC-BC5F-664C-89DC-A122B8B14E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6556" y="5965012"/>
            <a:ext cx="3515588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  <a:defRPr sz="1600" b="0" i="0" baseline="0">
                <a:solidFill>
                  <a:schemeClr val="tx1"/>
                </a:solidFill>
                <a:latin typeface="+mn-lt"/>
              </a:defRPr>
            </a:lvl1pPr>
            <a:lvl2pPr marL="6286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2pPr>
            <a:lvl3pPr marL="1085850" indent="-171450">
              <a:buClr>
                <a:schemeClr val="tx1"/>
              </a:buClr>
              <a:buFont typeface="Arial" panose="020B0604020202020204" pitchFamily="34" charset="0"/>
              <a:buChar char="•"/>
              <a:defRPr sz="1100" b="0" i="0">
                <a:latin typeface="Cera Pro" pitchFamily="2" charset="0"/>
              </a:defRPr>
            </a:lvl3pPr>
            <a:lvl4pPr>
              <a:defRPr sz="1200">
                <a:latin typeface="Montserrat" panose="00000500000000000000" pitchFamily="2" charset="0"/>
              </a:defRPr>
            </a:lvl4pPr>
            <a:lvl5pPr>
              <a:defRPr sz="1200"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/>
              <a:t>Date 00.00.00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FB27EB9-EA76-4AB5-BB76-10F06CFC1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6557" y="4856580"/>
            <a:ext cx="3515588" cy="923329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Titre présentation</a:t>
            </a:r>
            <a:br>
              <a:rPr lang="fr-FR"/>
            </a:br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1B4587-8085-9A4F-8B97-75DF14EEEB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174" y="-149289"/>
            <a:ext cx="2610402" cy="13654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DE3676-B90F-D84F-A877-1CA71121DBCD}"/>
              </a:ext>
            </a:extLst>
          </p:cNvPr>
          <p:cNvSpPr txBox="1"/>
          <p:nvPr userDrawn="1"/>
        </p:nvSpPr>
        <p:spPr>
          <a:xfrm>
            <a:off x="289379" y="928209"/>
            <a:ext cx="3591141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fr-FR" sz="2200" b="0" i="0" err="1">
                <a:solidFill>
                  <a:schemeClr val="bg1"/>
                </a:solidFill>
                <a:latin typeface="+mj-lt"/>
              </a:rPr>
              <a:t>Enhance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200" b="0" i="0" err="1">
                <a:solidFill>
                  <a:schemeClr val="bg1"/>
                </a:solidFill>
                <a:latin typeface="+mj-lt"/>
              </a:rPr>
              <a:t>your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2200" b="0" i="0" err="1">
                <a:solidFill>
                  <a:schemeClr val="bg1"/>
                </a:solidFill>
                <a:latin typeface="+mj-lt"/>
              </a:rPr>
              <a:t>Present</a:t>
            </a:r>
            <a:r>
              <a:rPr lang="fr-FR" sz="2200" b="0" i="0">
                <a:solidFill>
                  <a:schemeClr val="bg1"/>
                </a:solidFill>
                <a:latin typeface="+mj-lt"/>
              </a:rPr>
              <a:t>,</a:t>
            </a:r>
          </a:p>
          <a:p>
            <a:pPr lvl="0"/>
            <a:r>
              <a:rPr lang="fr-FR" sz="2200" b="0" i="0">
                <a:solidFill>
                  <a:srgbClr val="DEFCBD"/>
                </a:solidFill>
                <a:latin typeface="+mj-lt"/>
              </a:rPr>
              <a:t>Inspire </a:t>
            </a:r>
            <a:r>
              <a:rPr lang="fr-FR" sz="2200" b="0" i="0" err="1">
                <a:solidFill>
                  <a:srgbClr val="DEFCBD"/>
                </a:solidFill>
                <a:latin typeface="+mj-lt"/>
              </a:rPr>
              <a:t>Your</a:t>
            </a:r>
            <a:r>
              <a:rPr lang="fr-FR" sz="2200" b="0" i="0">
                <a:solidFill>
                  <a:srgbClr val="DEFCBD"/>
                </a:solidFill>
                <a:latin typeface="+mj-lt"/>
              </a:rPr>
              <a:t> Future</a:t>
            </a:r>
          </a:p>
        </p:txBody>
      </p:sp>
    </p:spTree>
    <p:extLst>
      <p:ext uri="{BB962C8B-B14F-4D97-AF65-F5344CB8AC3E}">
        <p14:creationId xmlns:p14="http://schemas.microsoft.com/office/powerpoint/2010/main" val="6178010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Disposition personnalisé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B6A8D-3CDE-D8A1-050F-80F2A0F4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390C2C3-29AF-2D9A-7EF4-C22C2E012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50A35DE-8013-C8F8-B517-13302BD0C52E}"/>
              </a:ext>
            </a:extLst>
          </p:cNvPr>
          <p:cNvSpPr txBox="1"/>
          <p:nvPr userDrawn="1"/>
        </p:nvSpPr>
        <p:spPr>
          <a:xfrm>
            <a:off x="5872422" y="6458427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Synvance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06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image" Target="../media/image50.emf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oleObject" Target="../embeddings/oleObject2.bin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image" Target="../media/image49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6AABE-890E-C3DC-BDDB-604E9EB9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6420543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7" imgW="473" imgH="473" progId="TCLayout.ActiveDocument.1">
                  <p:embed/>
                </p:oleObj>
              </mc:Choice>
              <mc:Fallback>
                <p:oleObj name="Diapositive think-cell" r:id="rId3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6AABE-890E-C3DC-BDDB-604E9EB9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0EEB7A-8ADD-9BCC-F6F4-966F14B2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3712798C-C2F9-F846-3C72-56B85DD1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427028"/>
            <a:ext cx="10846555" cy="3485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58BC0E-F202-A7D0-A59D-1BB4144B6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0894"/>
            <a:ext cx="4114800" cy="251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2"/>
                </a:solidFill>
                <a:latin typeface="Plus Jakarta Sans" pitchFamily="2" charset="77"/>
                <a:cs typeface="Plus Jakarta Sans" pitchFamily="2" charset="77"/>
              </a:defRPr>
            </a:lvl1pPr>
          </a:lstStyle>
          <a:p>
            <a:r>
              <a:rPr lang="fr-FR"/>
              <a:t>Confidentiel</a:t>
            </a:r>
          </a:p>
        </p:txBody>
      </p:sp>
    </p:spTree>
    <p:extLst>
      <p:ext uri="{BB962C8B-B14F-4D97-AF65-F5344CB8AC3E}">
        <p14:creationId xmlns:p14="http://schemas.microsoft.com/office/powerpoint/2010/main" val="142820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836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58" r:id="rId17"/>
    <p:sldLayoutId id="2147483742" r:id="rId18"/>
    <p:sldLayoutId id="2147483743" r:id="rId19"/>
    <p:sldLayoutId id="2147483744" r:id="rId20"/>
    <p:sldLayoutId id="2147483745" r:id="rId21"/>
    <p:sldLayoutId id="2147483757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5" r:id="rId30"/>
    <p:sldLayoutId id="2147483756" r:id="rId31"/>
    <p:sldLayoutId id="2147483763" r:id="rId32"/>
    <p:sldLayoutId id="2147483839" r:id="rId33"/>
    <p:sldLayoutId id="2147483841" r:id="rId3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i="0" kern="1200" cap="all" baseline="0">
          <a:solidFill>
            <a:schemeClr val="accent1"/>
          </a:solidFill>
          <a:latin typeface="Plus Jakarta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39"/>
        </a:buBlip>
        <a:defRPr sz="12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1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5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000" kern="1200">
          <a:solidFill>
            <a:schemeClr val="tx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iseaux&#10;&#10;Description générée automatiquement">
            <a:extLst>
              <a:ext uri="{FF2B5EF4-FFF2-40B4-BE49-F238E27FC236}">
                <a16:creationId xmlns:a16="http://schemas.microsoft.com/office/drawing/2014/main" id="{CF8C1638-72A9-44C8-93CF-DF32F1AED0B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11" y="213612"/>
            <a:ext cx="676656" cy="466344"/>
          </a:xfrm>
          <a:prstGeom prst="rect">
            <a:avLst/>
          </a:prstGeom>
        </p:spPr>
      </p:pic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79D176D6-F617-49B9-A130-70E1F0B3F7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290763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28" imgW="416" imgH="416" progId="TCLayout.ActiveDocument.1">
                  <p:embed/>
                </p:oleObj>
              </mc:Choice>
              <mc:Fallback>
                <p:oleObj name="Diapositive think-cell" r:id="rId28" imgW="416" imgH="416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79D176D6-F617-49B9-A130-70E1F0B3F7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00C0AD2-69F2-4C27-BF31-F68A3DA4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42" y="231959"/>
            <a:ext cx="10297357" cy="709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Titre de la diapositive</a:t>
            </a:r>
            <a:br>
              <a:rPr lang="fr-FR"/>
            </a:br>
            <a:br>
              <a:rPr lang="fr-FR"/>
            </a:b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40B33C-B459-457F-9FD0-FE132DED8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5219"/>
            <a:ext cx="10515600" cy="5031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14BAB-7084-0D3C-2CA6-EEB7CE9118C4}"/>
              </a:ext>
            </a:extLst>
          </p:cNvPr>
          <p:cNvSpPr/>
          <p:nvPr userDrawn="1"/>
        </p:nvSpPr>
        <p:spPr>
          <a:xfrm>
            <a:off x="3907857" y="6472890"/>
            <a:ext cx="4398745" cy="2714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>
                <a:solidFill>
                  <a:schemeClr val="tx1">
                    <a:lumMod val="50000"/>
                    <a:lumOff val="50000"/>
                  </a:schemeClr>
                </a:solidFill>
              </a:rPr>
              <a:t>CONFIDENTIAL : DO NOT SHARE OR PRINT</a:t>
            </a:r>
            <a:endParaRPr lang="en-GB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92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  <p:sldLayoutId id="2147483860" r:id="rId18"/>
    <p:sldLayoutId id="2147483861" r:id="rId19"/>
    <p:sldLayoutId id="2147483862" r:id="rId20"/>
    <p:sldLayoutId id="2147483864" r:id="rId21"/>
    <p:sldLayoutId id="2147483865" r:id="rId22"/>
    <p:sldLayoutId id="2147483866" r:id="rId23"/>
    <p:sldLayoutId id="2147483867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200" b="0" kern="1200" dirty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7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858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52538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ABBD"/>
        </a:buClr>
        <a:buSzPct val="70000"/>
        <a:buFont typeface="Verdana" panose="020B060403050404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1.jpeg"/><Relationship Id="rId18" Type="http://schemas.openxmlformats.org/officeDocument/2006/relationships/image" Target="../media/image76.jpeg"/><Relationship Id="rId26" Type="http://schemas.openxmlformats.org/officeDocument/2006/relationships/image" Target="../media/image84.png"/><Relationship Id="rId3" Type="http://schemas.openxmlformats.org/officeDocument/2006/relationships/tags" Target="../tags/tag6.xml"/><Relationship Id="rId21" Type="http://schemas.openxmlformats.org/officeDocument/2006/relationships/image" Target="../media/image79.jpeg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tags" Target="../tags/tag5.xml"/><Relationship Id="rId16" Type="http://schemas.openxmlformats.org/officeDocument/2006/relationships/image" Target="../media/image74.jpeg"/><Relationship Id="rId20" Type="http://schemas.openxmlformats.org/officeDocument/2006/relationships/image" Target="../media/image78.jpeg"/><Relationship Id="rId29" Type="http://schemas.openxmlformats.org/officeDocument/2006/relationships/image" Target="../media/image87.png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32.xml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tags" Target="../tags/tag8.xml"/><Relationship Id="rId15" Type="http://schemas.openxmlformats.org/officeDocument/2006/relationships/image" Target="../media/image73.jpe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2.png"/><Relationship Id="rId19" Type="http://schemas.openxmlformats.org/officeDocument/2006/relationships/image" Target="../media/image77.png"/><Relationship Id="rId4" Type="http://schemas.openxmlformats.org/officeDocument/2006/relationships/tags" Target="../tags/tag7.xml"/><Relationship Id="rId9" Type="http://schemas.openxmlformats.org/officeDocument/2006/relationships/image" Target="../media/image1.emf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46C04F-7AC8-7241-E4FD-2DFDBDA83BD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8" imgW="473" imgH="473" progId="TCLayout.ActiveDocument.1">
                  <p:embed/>
                </p:oleObj>
              </mc:Choice>
              <mc:Fallback>
                <p:oleObj name="Diapositive think-cell" r:id="rId8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46C04F-7AC8-7241-E4FD-2DFDBDA8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264EF73-B973-C036-212B-8269DF44A352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>
          <a:xfrm>
            <a:off x="577698" y="4444015"/>
            <a:ext cx="4460798" cy="321468"/>
          </a:xfrm>
        </p:spPr>
        <p:txBody>
          <a:bodyPr/>
          <a:lstStyle/>
          <a:p>
            <a:r>
              <a:rPr lang="fr-FR" sz="1200" i="1" dirty="0"/>
              <a:t>01/04/2025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99B7583-1649-F38C-094F-8E9DE081492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25146" y="2082538"/>
            <a:ext cx="5329554" cy="1204641"/>
          </a:xfrm>
        </p:spPr>
        <p:txBody>
          <a:bodyPr vert="horz" anchor="b">
            <a:noAutofit/>
          </a:bodyPr>
          <a:lstStyle/>
          <a:p>
            <a:r>
              <a:rPr lang="fr-FR" sz="2400" dirty="0"/>
              <a:t>CADRAGE ERP Achat / VENTE</a:t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138881-BD77-F32F-CB95-06540A67F850}"/>
              </a:ext>
            </a:extLst>
          </p:cNvPr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25146" y="2864086"/>
            <a:ext cx="4460798" cy="321468"/>
          </a:xfrm>
        </p:spPr>
        <p:txBody>
          <a:bodyPr anchor="ctr">
            <a:normAutofit lnSpcReduction="10000"/>
          </a:bodyPr>
          <a:lstStyle/>
          <a:p>
            <a:r>
              <a:rPr lang="fr-FR" i="1" dirty="0">
                <a:solidFill>
                  <a:schemeClr val="accent1"/>
                </a:solidFill>
              </a:rPr>
              <a:t>Comité de pilotage N°1</a:t>
            </a:r>
          </a:p>
        </p:txBody>
      </p:sp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28F7E5A7-19D1-CD14-48BA-6F576E57E24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77698" y="4883700"/>
            <a:ext cx="4460798" cy="32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b="0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Plus Jakarta Sa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10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endParaRPr lang="fr-FR" sz="120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A3CB16F-3EE6-CDFB-83D6-D0074BF392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171" y="486017"/>
            <a:ext cx="2887853" cy="1289908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20E6FEC-5E58-A31A-F8C1-EC15AC722B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Groupe Beaumanoir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7569130-212C-B095-E555-ABFD09D911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999" y="3646812"/>
            <a:ext cx="5428595" cy="2111120"/>
          </a:xfrm>
          <a:prstGeom prst="rect">
            <a:avLst/>
          </a:prstGeom>
        </p:spPr>
      </p:pic>
      <p:pic>
        <p:nvPicPr>
          <p:cNvPr id="1032" name="Picture 8" descr="Surf – Teiva Tairoa &amp; Aelan Vaast s’offrent la Taapuna Master 2023 ...">
            <a:extLst>
              <a:ext uri="{FF2B5EF4-FFF2-40B4-BE49-F238E27FC236}">
                <a16:creationId xmlns:a16="http://schemas.microsoft.com/office/drawing/2014/main" id="{CAA39C0E-BDD1-48A4-D6AF-72C3C4052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9" r="15637"/>
          <a:stretch/>
        </p:blipFill>
        <p:spPr bwMode="auto">
          <a:xfrm>
            <a:off x="9402945" y="3646812"/>
            <a:ext cx="2121649" cy="211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7FFD593-AF56-0F61-7115-4F77B11C05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2047" y="3752957"/>
            <a:ext cx="3837274" cy="1898830"/>
          </a:xfrm>
          <a:prstGeom prst="rect">
            <a:avLst/>
          </a:prstGeom>
        </p:spPr>
      </p:pic>
      <p:pic>
        <p:nvPicPr>
          <p:cNvPr id="1036" name="Picture 12" descr="Quiksilver Logo Wallpaper - WallpaperSafari">
            <a:extLst>
              <a:ext uri="{FF2B5EF4-FFF2-40B4-BE49-F238E27FC236}">
                <a16:creationId xmlns:a16="http://schemas.microsoft.com/office/drawing/2014/main" id="{9DC8DE98-1116-5D1F-F726-70FE6BEA7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32" y="3913921"/>
            <a:ext cx="817389" cy="65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llabong">
            <a:extLst>
              <a:ext uri="{FF2B5EF4-FFF2-40B4-BE49-F238E27FC236}">
                <a16:creationId xmlns:a16="http://schemas.microsoft.com/office/drawing/2014/main" id="{5207F572-3963-829A-9E58-229BC77F7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890" y="3804751"/>
            <a:ext cx="831198" cy="83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ボードライダーズジャパン合同会社 「社員クチコミ」 就職・転職の採用企業リサーチ OpenWork">
            <a:extLst>
              <a:ext uri="{FF2B5EF4-FFF2-40B4-BE49-F238E27FC236}">
                <a16:creationId xmlns:a16="http://schemas.microsoft.com/office/drawing/2014/main" id="{5B0205AB-B73A-6EE0-20C4-500830822A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1" r="11330"/>
          <a:stretch/>
        </p:blipFill>
        <p:spPr bwMode="auto">
          <a:xfrm>
            <a:off x="6346977" y="3950200"/>
            <a:ext cx="871119" cy="54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ogo Roxy | Logo de surf, Roxy, Marque surf">
            <a:extLst>
              <a:ext uri="{FF2B5EF4-FFF2-40B4-BE49-F238E27FC236}">
                <a16:creationId xmlns:a16="http://schemas.microsoft.com/office/drawing/2014/main" id="{711D9518-F4F8-70AA-8F96-04E746447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687" y="3960591"/>
            <a:ext cx="914063" cy="57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C Shoes logo transparent PNG 24555547 PNG">
            <a:extLst>
              <a:ext uri="{FF2B5EF4-FFF2-40B4-BE49-F238E27FC236}">
                <a16:creationId xmlns:a16="http://schemas.microsoft.com/office/drawing/2014/main" id="{0C4F82ED-A78B-71BB-F912-5A16F90D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55" y="4640600"/>
            <a:ext cx="1024885" cy="102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3378AC75-0DEA-FBA1-8472-78AD43A16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32" y="4744258"/>
            <a:ext cx="842812" cy="84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BMX_Y_SKATE: ELEMENT SKATEBOARDS">
            <a:extLst>
              <a:ext uri="{FF2B5EF4-FFF2-40B4-BE49-F238E27FC236}">
                <a16:creationId xmlns:a16="http://schemas.microsoft.com/office/drawing/2014/main" id="{2BCDCF66-8F0B-9334-1182-7DE02986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884" y="4846922"/>
            <a:ext cx="673501" cy="67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Von Zipper Logo">
            <a:extLst>
              <a:ext uri="{FF2B5EF4-FFF2-40B4-BE49-F238E27FC236}">
                <a16:creationId xmlns:a16="http://schemas.microsoft.com/office/drawing/2014/main" id="{AA25B0C8-75A5-CE4B-08E2-74502A6BD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6" t="11705" r="19979" b="14633"/>
          <a:stretch/>
        </p:blipFill>
        <p:spPr bwMode="auto">
          <a:xfrm>
            <a:off x="9225257" y="4755872"/>
            <a:ext cx="914064" cy="83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F2EB8A54-B5D0-93DD-B612-602B8131782C}"/>
              </a:ext>
            </a:extLst>
          </p:cNvPr>
          <p:cNvPicPr/>
          <p:nvPr/>
        </p:nvPicPr>
        <p:blipFill>
          <a:blip r:embed="rId12"/>
          <a:srcRect l="4147" t="16353" r="78698" b="60545"/>
          <a:stretch/>
        </p:blipFill>
        <p:spPr>
          <a:xfrm>
            <a:off x="6238983" y="3310335"/>
            <a:ext cx="1044000" cy="5040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94572FA-4869-7E18-371E-83BBB21E1C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313128"/>
            <a:ext cx="5428595" cy="211112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3EFD444-36B6-6921-5FEE-0ED43E7CC626}"/>
              </a:ext>
            </a:extLst>
          </p:cNvPr>
          <p:cNvSpPr/>
          <p:nvPr/>
        </p:nvSpPr>
        <p:spPr>
          <a:xfrm>
            <a:off x="6346977" y="1521234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25CFA1-708D-5F2F-A7CA-F2A116915EFC}"/>
              </a:ext>
            </a:extLst>
          </p:cNvPr>
          <p:cNvSpPr/>
          <p:nvPr/>
        </p:nvSpPr>
        <p:spPr>
          <a:xfrm>
            <a:off x="7302839" y="1499527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31F3B8-E8C7-E5D3-8D6A-884080EA28D1}"/>
              </a:ext>
            </a:extLst>
          </p:cNvPr>
          <p:cNvSpPr/>
          <p:nvPr/>
        </p:nvSpPr>
        <p:spPr>
          <a:xfrm>
            <a:off x="8278383" y="1521233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16A2D8-7AE7-B5AF-8BE5-B9DCDC2EB49D}"/>
              </a:ext>
            </a:extLst>
          </p:cNvPr>
          <p:cNvSpPr/>
          <p:nvPr/>
        </p:nvSpPr>
        <p:spPr>
          <a:xfrm>
            <a:off x="9225817" y="1485790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433199-21D9-EEE4-72A0-F9E2BFE99A49}"/>
              </a:ext>
            </a:extLst>
          </p:cNvPr>
          <p:cNvSpPr/>
          <p:nvPr/>
        </p:nvSpPr>
        <p:spPr>
          <a:xfrm>
            <a:off x="6305429" y="2418586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A41319-F573-AFCA-097E-DA6ADF07E804}"/>
              </a:ext>
            </a:extLst>
          </p:cNvPr>
          <p:cNvSpPr/>
          <p:nvPr/>
        </p:nvSpPr>
        <p:spPr>
          <a:xfrm>
            <a:off x="7312778" y="2418586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8A5D72-C6FA-B771-F3F4-47279C6E80B7}"/>
              </a:ext>
            </a:extLst>
          </p:cNvPr>
          <p:cNvSpPr/>
          <p:nvPr/>
        </p:nvSpPr>
        <p:spPr>
          <a:xfrm>
            <a:off x="8254805" y="2447291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DADF4A-0A08-2847-2ECF-A0D9D6615D7E}"/>
              </a:ext>
            </a:extLst>
          </p:cNvPr>
          <p:cNvSpPr/>
          <p:nvPr/>
        </p:nvSpPr>
        <p:spPr>
          <a:xfrm>
            <a:off x="9237067" y="2390286"/>
            <a:ext cx="871119" cy="79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601952D-AF98-00CA-4FF8-64AC062D725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8494" t="69024" r="26533" b="23369"/>
          <a:stretch/>
        </p:blipFill>
        <p:spPr>
          <a:xfrm>
            <a:off x="9259794" y="2741870"/>
            <a:ext cx="812797" cy="160614"/>
          </a:xfrm>
          <a:prstGeom prst="rect">
            <a:avLst/>
          </a:prstGeom>
        </p:spPr>
      </p:pic>
      <p:pic>
        <p:nvPicPr>
          <p:cNvPr id="19" name="Image 18" descr="Une image contenant Police, Graphique, blanc, logo&#10;&#10;Le contenu généré par l’IA peut être incorrect.">
            <a:extLst>
              <a:ext uri="{FF2B5EF4-FFF2-40B4-BE49-F238E27FC236}">
                <a16:creationId xmlns:a16="http://schemas.microsoft.com/office/drawing/2014/main" id="{F581E855-49EA-4B8B-9DE7-D3E54A2E98F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81998" y="2611474"/>
            <a:ext cx="842812" cy="42140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B4370BAB-C011-CDC1-5064-CA3FFE8C8C3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9140" y="1792032"/>
            <a:ext cx="792000" cy="29651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8919268-DAF0-1C6E-E6C4-5EAD3F96BFF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70254" y="1806337"/>
            <a:ext cx="756000" cy="26790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CF8DBA7-7B6F-B6E4-E087-65DEACB81C3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58229" y="1803033"/>
            <a:ext cx="860965" cy="27451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FA88EAA2-EA0F-6ED1-9372-A4F123D58CE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80797" y="1779554"/>
            <a:ext cx="506555" cy="32146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3976726-5F2C-411F-9FB7-2E0CEC3F2CF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21099" y="2687915"/>
            <a:ext cx="730386" cy="26852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CF2D50CE-26EC-2AE1-BBA0-6C05ACA95B0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57277" y="2680683"/>
            <a:ext cx="765264" cy="2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6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A19F-732B-F0F6-7A8A-689C41C8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237A56D-BA36-9A41-5D16-80192376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 </a:t>
            </a:r>
            <a:r>
              <a:rPr lang="fr-FR" cap="none" dirty="0"/>
              <a:t>DE L’ÉTUDE </a:t>
            </a:r>
            <a:r>
              <a:rPr lang="fr-FR" dirty="0"/>
              <a:t>| </a:t>
            </a:r>
            <a:r>
              <a:rPr lang="fr-FR" cap="none" dirty="0"/>
              <a:t>Proposer des scénarios applicatifs adaptés aux besoins des métiers</a:t>
            </a:r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9AD3B5A-FA1A-7E83-54C8-9AE9597CAAA6}"/>
              </a:ext>
            </a:extLst>
          </p:cNvPr>
          <p:cNvSpPr/>
          <p:nvPr/>
        </p:nvSpPr>
        <p:spPr>
          <a:xfrm>
            <a:off x="2761668" y="1551157"/>
            <a:ext cx="7538779" cy="4618811"/>
          </a:xfrm>
          <a:prstGeom prst="roundRect">
            <a:avLst>
              <a:gd name="adj" fmla="val 14764"/>
            </a:avLst>
          </a:prstGeom>
          <a:solidFill>
            <a:schemeClr val="accent1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8000" rIns="108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fr-FR" sz="1400" b="1" dirty="0">
                <a:solidFill>
                  <a:schemeClr val="accent1"/>
                </a:solidFill>
                <a:cs typeface="Calibri" panose="020F0502020204030204" pitchFamily="34" charset="0"/>
              </a:rPr>
              <a:t>DÉFINIR LES PRINCIPES STRUCTURANTS D’UN </a:t>
            </a:r>
            <a:r>
              <a:rPr lang="fr-FR" sz="1400" b="1" i="1" dirty="0">
                <a:solidFill>
                  <a:schemeClr val="accent1"/>
                </a:solidFill>
                <a:cs typeface="Calibri" panose="020F0502020204030204" pitchFamily="34" charset="0"/>
              </a:rPr>
              <a:t>CORE MODEL </a:t>
            </a:r>
            <a:r>
              <a:rPr lang="fr-FR" sz="1400" b="1" dirty="0">
                <a:solidFill>
                  <a:schemeClr val="accent1"/>
                </a:solidFill>
                <a:cs typeface="Calibri" panose="020F0502020204030204" pitchFamily="34" charset="0"/>
              </a:rPr>
              <a:t>POUR LE GROUPE</a:t>
            </a:r>
          </a:p>
          <a:p>
            <a:pPr>
              <a:spcAft>
                <a:spcPts val="600"/>
              </a:spcAft>
            </a:pPr>
            <a:r>
              <a:rPr lang="fr-FR" sz="1400" b="1" dirty="0">
                <a:solidFill>
                  <a:srgbClr val="1A1C30"/>
                </a:solidFill>
                <a:cs typeface="Calibri" panose="020F0502020204030204" pitchFamily="34" charset="0"/>
              </a:rPr>
              <a:t>en comparant les processus et les solutions actuels de chaque entité,</a:t>
            </a:r>
            <a:br>
              <a:rPr lang="fr-FR" sz="1400" b="1" dirty="0">
                <a:solidFill>
                  <a:srgbClr val="1A1C30"/>
                </a:solidFill>
                <a:cs typeface="Calibri" panose="020F0502020204030204" pitchFamily="34" charset="0"/>
              </a:rPr>
            </a:br>
            <a:r>
              <a:rPr lang="fr-FR" sz="1400" b="1" dirty="0">
                <a:solidFill>
                  <a:srgbClr val="1A1C30"/>
                </a:solidFill>
                <a:cs typeface="Calibri" panose="020F0502020204030204" pitchFamily="34" charset="0"/>
              </a:rPr>
              <a:t>pour en déduire 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fr-FR" sz="1400" dirty="0"/>
              <a:t>les bonnes pratiques et les synergies potentielles</a:t>
            </a:r>
            <a:r>
              <a:rPr lang="fr-FR" sz="1400" dirty="0">
                <a:solidFill>
                  <a:srgbClr val="1A1C30"/>
                </a:solidFill>
                <a:cs typeface="Calibri" panose="020F0502020204030204" pitchFamily="34" charset="0"/>
              </a:rPr>
              <a:t>,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fr-FR" sz="1400" dirty="0">
                <a:solidFill>
                  <a:srgbClr val="1A1C30"/>
                </a:solidFill>
                <a:cs typeface="Calibri" panose="020F0502020204030204" pitchFamily="34" charset="0"/>
              </a:rPr>
              <a:t>les limites des outils actuels,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fr-FR" sz="1400" dirty="0">
                <a:solidFill>
                  <a:srgbClr val="1A1C30"/>
                </a:solidFill>
                <a:cs typeface="Calibri" panose="020F0502020204030204" pitchFamily="34" charset="0"/>
              </a:rPr>
              <a:t>les besoins à adresser…</a:t>
            </a:r>
          </a:p>
          <a:p>
            <a:pPr>
              <a:spcAft>
                <a:spcPts val="600"/>
              </a:spcAft>
            </a:pPr>
            <a:endParaRPr lang="fr-FR" sz="1400" dirty="0">
              <a:solidFill>
                <a:srgbClr val="1A1C30"/>
              </a:solidFill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fr-FR" sz="1400" b="1" dirty="0">
                <a:solidFill>
                  <a:schemeClr val="accent1"/>
                </a:solidFill>
                <a:cs typeface="Calibri" panose="020F0502020204030204" pitchFamily="34" charset="0"/>
              </a:rPr>
              <a:t>IDENTIFIER LES SOLUTIONS ADAPTÉES</a:t>
            </a:r>
          </a:p>
          <a:p>
            <a:pPr>
              <a:spcAft>
                <a:spcPts val="600"/>
              </a:spcAft>
            </a:pPr>
            <a:r>
              <a:rPr lang="fr-FR" sz="1400" dirty="0">
                <a:solidFill>
                  <a:srgbClr val="1A1C30"/>
                </a:solidFill>
                <a:cs typeface="Calibri" panose="020F0502020204030204" pitchFamily="34" charset="0"/>
              </a:rPr>
              <a:t>… et évaluer les solutions achats / ventes sur leur réponse aux principaux enjeux.</a:t>
            </a:r>
          </a:p>
        </p:txBody>
      </p:sp>
      <p:pic>
        <p:nvPicPr>
          <p:cNvPr id="13" name="Image 12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0D0F4A29-EBF0-6655-FCA2-7FF778E33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377" y="1272782"/>
            <a:ext cx="1024227" cy="1024227"/>
          </a:xfrm>
          <a:prstGeom prst="rect">
            <a:avLst/>
          </a:prstGeom>
        </p:spPr>
      </p:pic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7E0296C6-0110-7C88-08D0-9AF59E8AB33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/>
          <a:lstStyle/>
          <a:p>
            <a:r>
              <a:rPr lang="fr-FR" dirty="0"/>
              <a:t>Confidentiel</a:t>
            </a:r>
          </a:p>
        </p:txBody>
      </p:sp>
    </p:spTree>
    <p:extLst>
      <p:ext uri="{BB962C8B-B14F-4D97-AF65-F5344CB8AC3E}">
        <p14:creationId xmlns:p14="http://schemas.microsoft.com/office/powerpoint/2010/main" val="44409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2AB95AB9-2347-006C-F3AA-29E30A7831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27FD045-7CE2-2A7C-3CC0-902C7B9798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sz="2800" dirty="0"/>
              <a:t>Retour sur l’étude de l’existant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CBB8857-9F7E-4020-459D-9743746F9DC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</p:spTree>
    <p:extLst>
      <p:ext uri="{BB962C8B-B14F-4D97-AF65-F5344CB8AC3E}">
        <p14:creationId xmlns:p14="http://schemas.microsoft.com/office/powerpoint/2010/main" val="90892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ACBB-CC55-1972-E935-24DA46A8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2789540-6FFA-9599-83DB-23377C285D8B}"/>
              </a:ext>
            </a:extLst>
          </p:cNvPr>
          <p:cNvSpPr/>
          <p:nvPr/>
        </p:nvSpPr>
        <p:spPr>
          <a:xfrm>
            <a:off x="8588188" y="2944585"/>
            <a:ext cx="3352956" cy="716816"/>
          </a:xfrm>
          <a:prstGeom prst="rect">
            <a:avLst/>
          </a:prstGeom>
          <a:solidFill>
            <a:schemeClr val="bg1"/>
          </a:solidFill>
          <a:ln>
            <a:solidFill>
              <a:srgbClr val="6E8D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B0886D1-D5C8-A4F7-B2AA-3C68B0A4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1 | </a:t>
            </a:r>
            <a:r>
              <a:rPr lang="fr-FR" cap="none" dirty="0"/>
              <a:t>Les premiers ateliers ont permis de recenser les besoins clés pour chaque processus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5B8EF6-9C59-0F4B-3A7D-77A8BA5C5D42}"/>
              </a:ext>
            </a:extLst>
          </p:cNvPr>
          <p:cNvSpPr/>
          <p:nvPr/>
        </p:nvSpPr>
        <p:spPr>
          <a:xfrm>
            <a:off x="319346" y="3774959"/>
            <a:ext cx="11621798" cy="447819"/>
          </a:xfrm>
          <a:prstGeom prst="rect">
            <a:avLst/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solidFill>
              <a:srgbClr val="C2C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fr-FR" sz="9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3E5C2-5CF3-280A-686F-06B624252B74}"/>
              </a:ext>
            </a:extLst>
          </p:cNvPr>
          <p:cNvSpPr/>
          <p:nvPr/>
        </p:nvSpPr>
        <p:spPr>
          <a:xfrm>
            <a:off x="4302275" y="3875116"/>
            <a:ext cx="1788368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A8A01-F1A0-5854-BC89-8040E0F46DA5}"/>
              </a:ext>
            </a:extLst>
          </p:cNvPr>
          <p:cNvSpPr/>
          <p:nvPr/>
        </p:nvSpPr>
        <p:spPr>
          <a:xfrm>
            <a:off x="9884551" y="3875116"/>
            <a:ext cx="1788368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WHOLESALE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5291CE-6026-4638-6581-13AD4EFB58EF}"/>
              </a:ext>
            </a:extLst>
          </p:cNvPr>
          <p:cNvSpPr/>
          <p:nvPr/>
        </p:nvSpPr>
        <p:spPr>
          <a:xfrm>
            <a:off x="6162480" y="3875116"/>
            <a:ext cx="1788368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INVENTORY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F18E92-E4F3-3DA2-5639-C1BB82FC19F5}"/>
              </a:ext>
            </a:extLst>
          </p:cNvPr>
          <p:cNvSpPr/>
          <p:nvPr/>
        </p:nvSpPr>
        <p:spPr>
          <a:xfrm>
            <a:off x="8023516" y="3875116"/>
            <a:ext cx="1788368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F9A700-F141-551E-2CD5-85389F66E6B2}"/>
              </a:ext>
            </a:extLst>
          </p:cNvPr>
          <p:cNvSpPr/>
          <p:nvPr/>
        </p:nvSpPr>
        <p:spPr>
          <a:xfrm>
            <a:off x="2440407" y="3875116"/>
            <a:ext cx="1788368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PROCUREMENT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864B2-C340-C3D3-67D0-64B98CAEEDC5}"/>
              </a:ext>
            </a:extLst>
          </p:cNvPr>
          <p:cNvSpPr/>
          <p:nvPr/>
        </p:nvSpPr>
        <p:spPr>
          <a:xfrm>
            <a:off x="579371" y="3875116"/>
            <a:ext cx="1788368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PLANNING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FF2C285-6B25-59AC-0953-B46B8E8AA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71" y="4268990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9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Budgets ventes 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CDA977D-DD4E-015B-D9C6-C61A5322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71" y="4585912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Budgets achats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9EEA95B-8322-975E-24DD-9B4C575C1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71" y="5536678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Prévisions d’achats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3CD4876-9CD9-EF3D-9719-AD4327DF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71" y="5219756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Prévisions de ventes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2F3E260-6ADF-A700-5378-E213333E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71" y="490283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Collections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7529574-7E64-D87F-5DC3-D2E209657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71" y="5853601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Planning de commandes </a:t>
            </a:r>
            <a:r>
              <a:rPr lang="fr-FR" altLang="fr-FR" sz="8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(cadencement)</a:t>
            </a:r>
            <a:endParaRPr lang="fr-FR" altLang="fr-FR" sz="900" dirty="0">
              <a:solidFill>
                <a:schemeClr val="tx2">
                  <a:lumMod val="50000"/>
                </a:schemeClr>
              </a:solidFill>
              <a:latin typeface="Segoe UI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4FF1498-0E13-D651-7195-458861B52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07" y="4268990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Référentiels fournisseurs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1E6BD2B-603A-A743-9782-24B77D63D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07" y="4585912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Référentiels articles achats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22E640BA-2224-6F68-6A3A-2EA277559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07" y="5536678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Gestion des PO produits finis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535861C-F3BA-2F83-2A2A-C5C08AD99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07" y="5219756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Conditions d’appro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E328036-E7F3-4B01-518A-6F67789B9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07" y="490283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Prix et conditions d’achats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71958E8-8707-B603-0E62-EE03EFD98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443" y="4268990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Réservation et appro matières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EA808214-5A1E-9F69-E39E-A5DAE3B20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443" y="4585912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Réservation et appro semi-finis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34DC2AA7-1EF0-7D46-0409-DD6BA149A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443" y="490283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Réservation de capacités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99E2766-902B-653C-14E1-7B6C2F77A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480" y="4268990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Référentiels stocks physiques et logiques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CC80A29-DC13-E1B4-10D9-F1C675853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480" y="4585912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Niveaux de stocks et </a:t>
            </a:r>
            <a:r>
              <a:rPr lang="fr-FR" altLang="fr-FR" sz="900" dirty="0" err="1">
                <a:solidFill>
                  <a:schemeClr val="tx2">
                    <a:lumMod val="50000"/>
                  </a:schemeClr>
                </a:solidFill>
                <a:latin typeface="Segoe UI"/>
              </a:rPr>
              <a:t>coverage</a:t>
            </a:r>
            <a:endParaRPr lang="fr-FR" altLang="fr-FR" sz="900" dirty="0">
              <a:solidFill>
                <a:schemeClr val="tx2">
                  <a:lumMod val="50000"/>
                </a:schemeClr>
              </a:solidFill>
              <a:latin typeface="Segoe UI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7CBD629C-F6DD-5A47-CE58-ADD2AC142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480" y="5219756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Gestion des allocations</a:t>
            </a:r>
            <a:b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</a:b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et disponibilités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BC2F3C6-5C64-0641-76F6-B124B4A26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480" y="490283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Mouvements et transferts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4778891-6E15-1B2F-DF50-16580F3AD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480" y="5536678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Inventaires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564AD3B-3846-8E79-3523-0962960F7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684" y="4268990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 et organisation réseau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0E98337C-0C80-260E-9624-37FD0F8EC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684" y="4585912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</a:t>
            </a:r>
            <a:b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</a:b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articles ventes, dont assortiments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7680904-F908-B9CF-C1D0-70EC51210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684" y="5536678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Stocks et réassort</a:t>
            </a:r>
            <a:b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</a:b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magasins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38CB195-FD84-38B8-C0B1-812BA974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684" y="5219756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Gestion et priorisation des commandes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A7DEDB3-6CDF-99EE-E82B-B5043B9E8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684" y="490283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Prix et conditions de ventes</a:t>
            </a:r>
          </a:p>
          <a:p>
            <a:pPr algn="ctr">
              <a:spcBef>
                <a:spcPct val="0"/>
              </a:spcBef>
            </a:pPr>
            <a:r>
              <a:rPr lang="fr-FR" altLang="fr-FR" sz="8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(dont opé promo)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DEE4A98-4AEF-54CC-4135-274F07F96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684" y="5853601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Expéditions, livraisons et retours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7AC22D37-5066-848C-67B1-150CBBD1A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4268990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 et organisation FDV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260593AF-1CBC-E3A2-B073-F8E68A220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4585912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Référentiel</a:t>
            </a:r>
            <a:b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</a:b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articles ventes, dont catalogues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BC09BF91-4A34-9B7E-236B-154BFA922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5536678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Gestion et priorisation des commandes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3CC1A65-09E4-DE13-E82B-2A14AD13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5219756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Conditions contractuelles</a:t>
            </a:r>
            <a:b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</a:br>
            <a:r>
              <a:rPr lang="fr-FR" altLang="fr-FR" sz="8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(dont remises)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E55CF47-B8CA-86C1-A68A-5F0579C76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490283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Prix et conditions de ventes</a:t>
            </a:r>
          </a:p>
          <a:p>
            <a:pPr algn="ctr">
              <a:spcBef>
                <a:spcPct val="0"/>
              </a:spcBef>
            </a:pPr>
            <a:r>
              <a:rPr lang="fr-FR" altLang="fr-FR" sz="8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(dont opé promo)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E4EB7AA-1656-A7A7-F08E-630AE92B9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5853601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Expéditions, livraisons et retours</a:t>
            </a:r>
          </a:p>
        </p:txBody>
      </p:sp>
      <p:sp>
        <p:nvSpPr>
          <p:cNvPr id="216" name="Espace réservé du pied de page 4">
            <a:extLst>
              <a:ext uri="{FF2B5EF4-FFF2-40B4-BE49-F238E27FC236}">
                <a16:creationId xmlns:a16="http://schemas.microsoft.com/office/drawing/2014/main" id="{AE97C52F-2BFE-2603-3BC3-BF9DAD1724D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559535"/>
            <a:ext cx="4114800" cy="216982"/>
          </a:xfrm>
        </p:spPr>
        <p:txBody>
          <a:bodyPr/>
          <a:lstStyle/>
          <a:p>
            <a:r>
              <a:rPr lang="fr-FR" dirty="0"/>
              <a:t>Confidentiel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72A8A-737D-5A85-946E-8DE5783D0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3719" y="6170524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Facturation et ADV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A8CE8-66BE-1B1C-0A6D-6DB5BFD6F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406" y="5853601"/>
            <a:ext cx="1789200" cy="28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8000" tIns="0" rIns="18000" bIns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fr-FR" altLang="fr-FR" sz="900" dirty="0">
                <a:solidFill>
                  <a:schemeClr val="tx2">
                    <a:lumMod val="50000"/>
                  </a:schemeClr>
                </a:solidFill>
                <a:latin typeface="Segoe UI"/>
              </a:rPr>
              <a:t>Facturation fournisseurs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7817BEF9-AE9A-DB36-2FF3-ADE5BADD1C41}"/>
              </a:ext>
            </a:extLst>
          </p:cNvPr>
          <p:cNvSpPr txBox="1">
            <a:spLocks/>
          </p:cNvSpPr>
          <p:nvPr/>
        </p:nvSpPr>
        <p:spPr>
          <a:xfrm>
            <a:off x="576391" y="1216967"/>
            <a:ext cx="11036238" cy="2317166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Conformément à notre démarche (et à notre proposition), nous avons conduit cette première partie de l’étude sur</a:t>
            </a: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 six « briques » fonctionnelles.</a:t>
            </a:r>
          </a:p>
          <a:p>
            <a:pPr marL="285750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  <a:latin typeface="Noto Sans"/>
              <a:cs typeface="Calibri" panose="020F0502020204030204" pitchFamily="34" charset="0"/>
            </a:endParaRPr>
          </a:p>
          <a:p>
            <a:pPr marL="285750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Elles constituent </a:t>
            </a: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le noyau des opérations « achats et ventes » 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et </a:t>
            </a: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le périmètre des ERP actuels : </a:t>
            </a:r>
            <a:r>
              <a:rPr lang="fr-FR" b="1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SAP 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pour </a:t>
            </a:r>
            <a:r>
              <a:rPr lang="fr-FR" dirty="0" err="1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Boardriders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, </a:t>
            </a:r>
            <a:r>
              <a:rPr lang="fr-FR" b="1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STORELAND 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pour Beaumanoir, en adhérence avec les applications satellites. </a:t>
            </a:r>
          </a:p>
          <a:p>
            <a:pPr marL="285750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  <a:latin typeface="Noto Sans"/>
              <a:cs typeface="Calibri" panose="020F0502020204030204" pitchFamily="34" charset="0"/>
            </a:endParaRPr>
          </a:p>
          <a:p>
            <a:pPr marL="285750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Nous avons analysé chacune des « briques » et leurs activités sous-jacentes selon trois grands axes :</a:t>
            </a:r>
          </a:p>
          <a:p>
            <a:pPr marL="742950" lvl="1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la gestion des données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, en particulier référentielles,</a:t>
            </a:r>
          </a:p>
          <a:p>
            <a:pPr marL="742950" lvl="1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le degré de digitalisation 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(et son niveau de maturité),</a:t>
            </a:r>
          </a:p>
          <a:p>
            <a:pPr marL="742950" lvl="1" indent="-285750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l’efficacité des processus</a:t>
            </a:r>
            <a:r>
              <a:rPr lang="fr-FR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 et des outils transactionnels actuels.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BB1FA25-CF6C-E3B2-ED78-4034A44ECB0A}"/>
              </a:ext>
            </a:extLst>
          </p:cNvPr>
          <p:cNvSpPr txBox="1">
            <a:spLocks/>
          </p:cNvSpPr>
          <p:nvPr/>
        </p:nvSpPr>
        <p:spPr>
          <a:xfrm>
            <a:off x="9688535" y="2799026"/>
            <a:ext cx="1152263" cy="26268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Chiffres clés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CDB1E8F2-7869-79F0-82AA-706CFEC4B427}"/>
              </a:ext>
            </a:extLst>
          </p:cNvPr>
          <p:cNvSpPr txBox="1">
            <a:spLocks/>
          </p:cNvSpPr>
          <p:nvPr/>
        </p:nvSpPr>
        <p:spPr>
          <a:xfrm>
            <a:off x="8600835" y="3025242"/>
            <a:ext cx="1296000" cy="1035303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20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40</a:t>
            </a:r>
          </a:p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10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participants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267914AE-1CC0-8781-726A-391C08CFEC0B}"/>
              </a:ext>
            </a:extLst>
          </p:cNvPr>
          <p:cNvSpPr txBox="1">
            <a:spLocks/>
          </p:cNvSpPr>
          <p:nvPr/>
        </p:nvSpPr>
        <p:spPr>
          <a:xfrm>
            <a:off x="9616666" y="3014254"/>
            <a:ext cx="1296000" cy="1035304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20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15</a:t>
            </a:r>
          </a:p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10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ateliers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61B81CBC-992A-CB0B-20EB-2CACDE3386F6}"/>
              </a:ext>
            </a:extLst>
          </p:cNvPr>
          <p:cNvSpPr txBox="1">
            <a:spLocks/>
          </p:cNvSpPr>
          <p:nvPr/>
        </p:nvSpPr>
        <p:spPr>
          <a:xfrm>
            <a:off x="10645144" y="3025241"/>
            <a:ext cx="1296000" cy="1035304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20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≈100</a:t>
            </a:r>
          </a:p>
          <a:p>
            <a:pPr marL="0" indent="0" algn="ctr" defTabSz="609585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fr-FR" sz="10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besoins identifiés</a:t>
            </a:r>
          </a:p>
        </p:txBody>
      </p:sp>
    </p:spTree>
    <p:extLst>
      <p:ext uri="{BB962C8B-B14F-4D97-AF65-F5344CB8AC3E}">
        <p14:creationId xmlns:p14="http://schemas.microsoft.com/office/powerpoint/2010/main" val="317788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A5DB5-9802-EDA5-8C70-48E810D9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EEB605AE-58FE-BBA1-39C7-171002BBFA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08419" y="2372578"/>
            <a:ext cx="5760000" cy="44838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L’étude montre également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des synergies dans les architectures applicatives</a:t>
            </a:r>
            <a:b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</a:br>
            <a:r>
              <a:rPr lang="fr-FR" sz="1100" dirty="0">
                <a:latin typeface="Noto Sans"/>
                <a:cs typeface="Calibri" panose="020F0502020204030204" pitchFamily="34" charset="0"/>
              </a:rPr>
              <a:t>de Beaumanoir et </a:t>
            </a:r>
            <a:r>
              <a:rPr lang="fr-FR" sz="1100" dirty="0" err="1">
                <a:latin typeface="Noto Sans"/>
                <a:cs typeface="Calibri" panose="020F0502020204030204" pitchFamily="34" charset="0"/>
              </a:rPr>
              <a:t>Boardriders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La majorité des outils satellites aux ERP couvre un périmètre fonctionnel comparable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, en dépit de différences dans le détail des fonctionnalités et leur niveau de maturité / technicité.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La définition des besoins cibles tiendra compte de toutes ces applications satellites, sans remise en cause, et en intégrant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les principales interactions</a:t>
            </a:r>
            <a:b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</a:b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avec l’ERP dans le terrain de jeu.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83FC17EC-7CCB-9EC1-30EE-39C7BE2986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604" y="2372578"/>
            <a:ext cx="5760000" cy="44838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Les processus de </a:t>
            </a:r>
            <a:r>
              <a:rPr lang="fr-FR" sz="1100" dirty="0" err="1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Boardriders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 et des marques historiques du groupe Beaumanoir montrent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une logique de fonctionnement commune 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qui rend très pertinente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l’approche </a:t>
            </a:r>
            <a:r>
              <a:rPr lang="fr-FR" sz="1100" b="1" i="1" dirty="0" err="1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core</a:t>
            </a:r>
            <a:r>
              <a:rPr lang="fr-FR" sz="1100" b="1" i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 model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tx1"/>
              </a:solidFill>
              <a:latin typeface="Noto Sans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Les différences actuelles résident majoritairement dans certains choix de gestion et dans le périmètre des différents outils (avec leurs fonctionnalités / capacités propres), mais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la structure globale est comparable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L’un des enjeux de l’approche </a:t>
            </a:r>
            <a:r>
              <a:rPr lang="fr-FR" sz="1100" i="1" dirty="0" err="1">
                <a:latin typeface="Noto Sans"/>
                <a:cs typeface="Calibri" panose="020F0502020204030204" pitchFamily="34" charset="0"/>
              </a:rPr>
              <a:t>core</a:t>
            </a:r>
            <a:r>
              <a:rPr lang="fr-FR" sz="1100" i="1" dirty="0">
                <a:latin typeface="Noto Sans"/>
                <a:cs typeface="Calibri" panose="020F0502020204030204" pitchFamily="34" charset="0"/>
              </a:rPr>
              <a:t> model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sera de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faire converger ces choix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et ces outils vers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un modèle unique, porté par un ERP commun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.</a:t>
            </a:r>
            <a:endParaRPr lang="fr-FR" sz="1100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BB43CFC-81E1-4C80-E4DD-1305B5C3B9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68DA254D-3A0D-7DC3-11F1-741D5959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PREMIERS CONSTATS | </a:t>
            </a:r>
            <a:r>
              <a:rPr lang="fr-FR" cap="none" dirty="0"/>
              <a:t>Des besoins qui convergent</a:t>
            </a:r>
            <a:endParaRPr lang="fr-FR" dirty="0"/>
          </a:p>
        </p:txBody>
      </p:sp>
      <p:sp>
        <p:nvSpPr>
          <p:cNvPr id="6" name="Espace réservé du texte 10">
            <a:extLst>
              <a:ext uri="{FF2B5EF4-FFF2-40B4-BE49-F238E27FC236}">
                <a16:creationId xmlns:a16="http://schemas.microsoft.com/office/drawing/2014/main" id="{CD0C0F51-260B-154D-E660-B12144045BB7}"/>
              </a:ext>
            </a:extLst>
          </p:cNvPr>
          <p:cNvSpPr txBox="1">
            <a:spLocks/>
          </p:cNvSpPr>
          <p:nvPr/>
        </p:nvSpPr>
        <p:spPr>
          <a:xfrm>
            <a:off x="1092832" y="1903190"/>
            <a:ext cx="423554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Un existant propice au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</a:rPr>
              <a:t>core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</a:rPr>
              <a:t> model</a:t>
            </a:r>
          </a:p>
        </p:txBody>
      </p:sp>
      <p:sp>
        <p:nvSpPr>
          <p:cNvPr id="7" name="Espace réservé du texte 14">
            <a:extLst>
              <a:ext uri="{FF2B5EF4-FFF2-40B4-BE49-F238E27FC236}">
                <a16:creationId xmlns:a16="http://schemas.microsoft.com/office/drawing/2014/main" id="{62D2C3A0-557B-980D-9085-22DEFF552B67}"/>
              </a:ext>
            </a:extLst>
          </p:cNvPr>
          <p:cNvSpPr txBox="1">
            <a:spLocks/>
          </p:cNvSpPr>
          <p:nvPr/>
        </p:nvSpPr>
        <p:spPr>
          <a:xfrm>
            <a:off x="6870647" y="1903190"/>
            <a:ext cx="4235544" cy="3077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fr-FR" sz="1700" b="1" dirty="0">
                <a:solidFill>
                  <a:schemeClr val="accent1">
                    <a:lumMod val="50000"/>
                  </a:schemeClr>
                </a:solidFill>
                <a:latin typeface="Plus Jakarta Sans" pitchFamily="2" charset="77"/>
              </a:rPr>
              <a:t>Un terrain de jeu centré sur l’ERP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61CA11C-A9BF-AC0E-7830-47C9CF9ED460}"/>
              </a:ext>
            </a:extLst>
          </p:cNvPr>
          <p:cNvGrpSpPr/>
          <p:nvPr/>
        </p:nvGrpSpPr>
        <p:grpSpPr>
          <a:xfrm>
            <a:off x="2940604" y="1232302"/>
            <a:ext cx="540000" cy="540000"/>
            <a:chOff x="2957481" y="2095902"/>
            <a:chExt cx="540000" cy="540000"/>
          </a:xfrm>
        </p:grpSpPr>
        <p:sp>
          <p:nvSpPr>
            <p:cNvPr id="10" name="Freeform 2656">
              <a:extLst>
                <a:ext uri="{FF2B5EF4-FFF2-40B4-BE49-F238E27FC236}">
                  <a16:creationId xmlns:a16="http://schemas.microsoft.com/office/drawing/2014/main" id="{E17D41BD-028B-EF2E-04FD-BEF78CB4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169" y="2363576"/>
              <a:ext cx="252809" cy="180000"/>
            </a:xfrm>
            <a:custGeom>
              <a:avLst/>
              <a:gdLst>
                <a:gd name="T0" fmla="*/ 6 w 356"/>
                <a:gd name="T1" fmla="*/ 137 h 254"/>
                <a:gd name="T2" fmla="*/ 48 w 356"/>
                <a:gd name="T3" fmla="*/ 178 h 254"/>
                <a:gd name="T4" fmla="*/ 100 w 356"/>
                <a:gd name="T5" fmla="*/ 154 h 254"/>
                <a:gd name="T6" fmla="*/ 103 w 356"/>
                <a:gd name="T7" fmla="*/ 155 h 254"/>
                <a:gd name="T8" fmla="*/ 103 w 356"/>
                <a:gd name="T9" fmla="*/ 254 h 254"/>
                <a:gd name="T10" fmla="*/ 275 w 356"/>
                <a:gd name="T11" fmla="*/ 254 h 254"/>
                <a:gd name="T12" fmla="*/ 356 w 356"/>
                <a:gd name="T13" fmla="*/ 173 h 254"/>
                <a:gd name="T14" fmla="*/ 356 w 356"/>
                <a:gd name="T15" fmla="*/ 0 h 254"/>
                <a:gd name="T16" fmla="*/ 258 w 356"/>
                <a:gd name="T17" fmla="*/ 0 h 254"/>
                <a:gd name="T18" fmla="*/ 257 w 356"/>
                <a:gd name="T19" fmla="*/ 4 h 254"/>
                <a:gd name="T20" fmla="*/ 281 w 356"/>
                <a:gd name="T21" fmla="*/ 56 h 254"/>
                <a:gd name="T22" fmla="*/ 239 w 356"/>
                <a:gd name="T23" fmla="*/ 98 h 254"/>
                <a:gd name="T24" fmla="*/ 178 w 356"/>
                <a:gd name="T25" fmla="*/ 47 h 254"/>
                <a:gd name="T26" fmla="*/ 203 w 356"/>
                <a:gd name="T27" fmla="*/ 4 h 254"/>
                <a:gd name="T28" fmla="*/ 202 w 356"/>
                <a:gd name="T29" fmla="*/ 0 h 254"/>
                <a:gd name="T30" fmla="*/ 103 w 356"/>
                <a:gd name="T31" fmla="*/ 0 h 254"/>
                <a:gd name="T32" fmla="*/ 103 w 356"/>
                <a:gd name="T33" fmla="*/ 99 h 254"/>
                <a:gd name="T34" fmla="*/ 100 w 356"/>
                <a:gd name="T35" fmla="*/ 100 h 254"/>
                <a:gd name="T36" fmla="*/ 56 w 356"/>
                <a:gd name="T37" fmla="*/ 76 h 254"/>
                <a:gd name="T38" fmla="*/ 6 w 356"/>
                <a:gd name="T39" fmla="*/ 13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6" h="254">
                  <a:moveTo>
                    <a:pt x="6" y="137"/>
                  </a:moveTo>
                  <a:cubicBezTo>
                    <a:pt x="9" y="158"/>
                    <a:pt x="27" y="175"/>
                    <a:pt x="48" y="178"/>
                  </a:cubicBezTo>
                  <a:cubicBezTo>
                    <a:pt x="70" y="181"/>
                    <a:pt x="90" y="171"/>
                    <a:pt x="100" y="154"/>
                  </a:cubicBezTo>
                  <a:cubicBezTo>
                    <a:pt x="101" y="153"/>
                    <a:pt x="103" y="154"/>
                    <a:pt x="103" y="155"/>
                  </a:cubicBezTo>
                  <a:lnTo>
                    <a:pt x="103" y="254"/>
                  </a:lnTo>
                  <a:lnTo>
                    <a:pt x="275" y="254"/>
                  </a:lnTo>
                  <a:cubicBezTo>
                    <a:pt x="320" y="254"/>
                    <a:pt x="356" y="217"/>
                    <a:pt x="356" y="173"/>
                  </a:cubicBezTo>
                  <a:lnTo>
                    <a:pt x="356" y="0"/>
                  </a:lnTo>
                  <a:lnTo>
                    <a:pt x="258" y="0"/>
                  </a:lnTo>
                  <a:cubicBezTo>
                    <a:pt x="256" y="0"/>
                    <a:pt x="256" y="3"/>
                    <a:pt x="257" y="4"/>
                  </a:cubicBezTo>
                  <a:cubicBezTo>
                    <a:pt x="274" y="14"/>
                    <a:pt x="284" y="34"/>
                    <a:pt x="281" y="56"/>
                  </a:cubicBezTo>
                  <a:cubicBezTo>
                    <a:pt x="277" y="77"/>
                    <a:pt x="260" y="94"/>
                    <a:pt x="239" y="98"/>
                  </a:cubicBezTo>
                  <a:cubicBezTo>
                    <a:pt x="207" y="104"/>
                    <a:pt x="178" y="79"/>
                    <a:pt x="178" y="47"/>
                  </a:cubicBezTo>
                  <a:cubicBezTo>
                    <a:pt x="178" y="29"/>
                    <a:pt x="188" y="13"/>
                    <a:pt x="203" y="4"/>
                  </a:cubicBezTo>
                  <a:cubicBezTo>
                    <a:pt x="204" y="3"/>
                    <a:pt x="203" y="0"/>
                    <a:pt x="202" y="0"/>
                  </a:cubicBezTo>
                  <a:lnTo>
                    <a:pt x="103" y="0"/>
                  </a:lnTo>
                  <a:lnTo>
                    <a:pt x="103" y="99"/>
                  </a:lnTo>
                  <a:cubicBezTo>
                    <a:pt x="103" y="101"/>
                    <a:pt x="101" y="101"/>
                    <a:pt x="100" y="100"/>
                  </a:cubicBezTo>
                  <a:cubicBezTo>
                    <a:pt x="91" y="85"/>
                    <a:pt x="75" y="76"/>
                    <a:pt x="56" y="76"/>
                  </a:cubicBezTo>
                  <a:cubicBezTo>
                    <a:pt x="25" y="76"/>
                    <a:pt x="0" y="104"/>
                    <a:pt x="6" y="137"/>
                  </a:cubicBezTo>
                  <a:close/>
                </a:path>
              </a:pathLst>
            </a:custGeom>
            <a:noFill/>
            <a:ln w="20638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A3424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2657">
              <a:extLst>
                <a:ext uri="{FF2B5EF4-FFF2-40B4-BE49-F238E27FC236}">
                  <a16:creationId xmlns:a16="http://schemas.microsoft.com/office/drawing/2014/main" id="{AD12C851-5EDC-9433-BEA3-A583268A2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990" y="2289756"/>
              <a:ext cx="180000" cy="253820"/>
            </a:xfrm>
            <a:custGeom>
              <a:avLst/>
              <a:gdLst>
                <a:gd name="T0" fmla="*/ 117 w 253"/>
                <a:gd name="T1" fmla="*/ 6 h 357"/>
                <a:gd name="T2" fmla="*/ 76 w 253"/>
                <a:gd name="T3" fmla="*/ 48 h 357"/>
                <a:gd name="T4" fmla="*/ 99 w 253"/>
                <a:gd name="T5" fmla="*/ 100 h 357"/>
                <a:gd name="T6" fmla="*/ 98 w 253"/>
                <a:gd name="T7" fmla="*/ 103 h 357"/>
                <a:gd name="T8" fmla="*/ 0 w 253"/>
                <a:gd name="T9" fmla="*/ 103 h 357"/>
                <a:gd name="T10" fmla="*/ 0 w 253"/>
                <a:gd name="T11" fmla="*/ 276 h 357"/>
                <a:gd name="T12" fmla="*/ 81 w 253"/>
                <a:gd name="T13" fmla="*/ 357 h 357"/>
                <a:gd name="T14" fmla="*/ 253 w 253"/>
                <a:gd name="T15" fmla="*/ 357 h 357"/>
                <a:gd name="T16" fmla="*/ 253 w 253"/>
                <a:gd name="T17" fmla="*/ 258 h 357"/>
                <a:gd name="T18" fmla="*/ 250 w 253"/>
                <a:gd name="T19" fmla="*/ 257 h 357"/>
                <a:gd name="T20" fmla="*/ 198 w 253"/>
                <a:gd name="T21" fmla="*/ 281 h 357"/>
                <a:gd name="T22" fmla="*/ 156 w 253"/>
                <a:gd name="T23" fmla="*/ 240 h 357"/>
                <a:gd name="T24" fmla="*/ 206 w 253"/>
                <a:gd name="T25" fmla="*/ 179 h 357"/>
                <a:gd name="T26" fmla="*/ 250 w 253"/>
                <a:gd name="T27" fmla="*/ 203 h 357"/>
                <a:gd name="T28" fmla="*/ 253 w 253"/>
                <a:gd name="T29" fmla="*/ 202 h 357"/>
                <a:gd name="T30" fmla="*/ 253 w 253"/>
                <a:gd name="T31" fmla="*/ 103 h 357"/>
                <a:gd name="T32" fmla="*/ 155 w 253"/>
                <a:gd name="T33" fmla="*/ 103 h 357"/>
                <a:gd name="T34" fmla="*/ 154 w 253"/>
                <a:gd name="T35" fmla="*/ 100 h 357"/>
                <a:gd name="T36" fmla="*/ 178 w 253"/>
                <a:gd name="T37" fmla="*/ 57 h 357"/>
                <a:gd name="T38" fmla="*/ 117 w 253"/>
                <a:gd name="T39" fmla="*/ 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3" h="357">
                  <a:moveTo>
                    <a:pt x="117" y="6"/>
                  </a:moveTo>
                  <a:cubicBezTo>
                    <a:pt x="96" y="10"/>
                    <a:pt x="79" y="27"/>
                    <a:pt x="76" y="48"/>
                  </a:cubicBezTo>
                  <a:cubicBezTo>
                    <a:pt x="72" y="70"/>
                    <a:pt x="83" y="90"/>
                    <a:pt x="99" y="100"/>
                  </a:cubicBezTo>
                  <a:cubicBezTo>
                    <a:pt x="101" y="101"/>
                    <a:pt x="100" y="103"/>
                    <a:pt x="98" y="103"/>
                  </a:cubicBezTo>
                  <a:lnTo>
                    <a:pt x="0" y="103"/>
                  </a:lnTo>
                  <a:lnTo>
                    <a:pt x="0" y="276"/>
                  </a:lnTo>
                  <a:cubicBezTo>
                    <a:pt x="0" y="320"/>
                    <a:pt x="36" y="357"/>
                    <a:pt x="81" y="357"/>
                  </a:cubicBezTo>
                  <a:lnTo>
                    <a:pt x="253" y="357"/>
                  </a:lnTo>
                  <a:lnTo>
                    <a:pt x="253" y="258"/>
                  </a:lnTo>
                  <a:cubicBezTo>
                    <a:pt x="253" y="257"/>
                    <a:pt x="251" y="256"/>
                    <a:pt x="250" y="257"/>
                  </a:cubicBezTo>
                  <a:cubicBezTo>
                    <a:pt x="240" y="274"/>
                    <a:pt x="220" y="284"/>
                    <a:pt x="198" y="281"/>
                  </a:cubicBezTo>
                  <a:cubicBezTo>
                    <a:pt x="177" y="278"/>
                    <a:pt x="159" y="261"/>
                    <a:pt x="156" y="240"/>
                  </a:cubicBezTo>
                  <a:cubicBezTo>
                    <a:pt x="150" y="207"/>
                    <a:pt x="175" y="179"/>
                    <a:pt x="206" y="179"/>
                  </a:cubicBezTo>
                  <a:cubicBezTo>
                    <a:pt x="225" y="179"/>
                    <a:pt x="241" y="188"/>
                    <a:pt x="250" y="203"/>
                  </a:cubicBezTo>
                  <a:cubicBezTo>
                    <a:pt x="251" y="204"/>
                    <a:pt x="253" y="204"/>
                    <a:pt x="253" y="202"/>
                  </a:cubicBezTo>
                  <a:lnTo>
                    <a:pt x="253" y="103"/>
                  </a:lnTo>
                  <a:lnTo>
                    <a:pt x="155" y="103"/>
                  </a:lnTo>
                  <a:cubicBezTo>
                    <a:pt x="153" y="103"/>
                    <a:pt x="152" y="101"/>
                    <a:pt x="154" y="100"/>
                  </a:cubicBezTo>
                  <a:cubicBezTo>
                    <a:pt x="168" y="91"/>
                    <a:pt x="178" y="75"/>
                    <a:pt x="178" y="57"/>
                  </a:cubicBezTo>
                  <a:cubicBezTo>
                    <a:pt x="178" y="25"/>
                    <a:pt x="150" y="0"/>
                    <a:pt x="117" y="6"/>
                  </a:cubicBezTo>
                  <a:close/>
                </a:path>
              </a:pathLst>
            </a:custGeom>
            <a:noFill/>
            <a:ln w="20638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A3424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POWER_USER_SHAPE_ICON_STYLE_3">
              <a:extLst>
                <a:ext uri="{FF2B5EF4-FFF2-40B4-BE49-F238E27FC236}">
                  <a16:creationId xmlns:a16="http://schemas.microsoft.com/office/drawing/2014/main" id="{E04AE83F-C0C1-CCA9-4E8A-6F96BAE2ADFD}"/>
                </a:ext>
              </a:extLst>
            </p:cNvPr>
            <p:cNvSpPr/>
            <p:nvPr/>
          </p:nvSpPr>
          <p:spPr>
            <a:xfrm>
              <a:off x="2957481" y="2095902"/>
              <a:ext cx="540000" cy="540000"/>
            </a:xfrm>
            <a:prstGeom prst="ellipse">
              <a:avLst/>
            </a:prstGeom>
            <a:noFill/>
            <a:ln w="15875">
              <a:solidFill>
                <a:schemeClr val="accent1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marL="171450" indent="-171450">
                <a:spcAft>
                  <a:spcPts val="600"/>
                </a:spcAft>
              </a:pPr>
              <a:endParaRPr lang="fr-FR" sz="1000" b="1">
                <a:solidFill>
                  <a:srgbClr val="A34245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Freeform 2654">
              <a:extLst>
                <a:ext uri="{FF2B5EF4-FFF2-40B4-BE49-F238E27FC236}">
                  <a16:creationId xmlns:a16="http://schemas.microsoft.com/office/drawing/2014/main" id="{EE3EEF89-107C-01EF-72F8-1BDE0EF07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990" y="2176937"/>
              <a:ext cx="252809" cy="180000"/>
            </a:xfrm>
            <a:custGeom>
              <a:avLst/>
              <a:gdLst>
                <a:gd name="T0" fmla="*/ 351 w 356"/>
                <a:gd name="T1" fmla="*/ 117 h 253"/>
                <a:gd name="T2" fmla="*/ 308 w 356"/>
                <a:gd name="T3" fmla="*/ 76 h 253"/>
                <a:gd name="T4" fmla="*/ 256 w 356"/>
                <a:gd name="T5" fmla="*/ 100 h 253"/>
                <a:gd name="T6" fmla="*/ 253 w 356"/>
                <a:gd name="T7" fmla="*/ 99 h 253"/>
                <a:gd name="T8" fmla="*/ 253 w 356"/>
                <a:gd name="T9" fmla="*/ 0 h 253"/>
                <a:gd name="T10" fmla="*/ 81 w 356"/>
                <a:gd name="T11" fmla="*/ 0 h 253"/>
                <a:gd name="T12" fmla="*/ 0 w 356"/>
                <a:gd name="T13" fmla="*/ 81 h 253"/>
                <a:gd name="T14" fmla="*/ 0 w 356"/>
                <a:gd name="T15" fmla="*/ 253 h 253"/>
                <a:gd name="T16" fmla="*/ 98 w 356"/>
                <a:gd name="T17" fmla="*/ 253 h 253"/>
                <a:gd name="T18" fmla="*/ 99 w 356"/>
                <a:gd name="T19" fmla="*/ 250 h 253"/>
                <a:gd name="T20" fmla="*/ 76 w 356"/>
                <a:gd name="T21" fmla="*/ 198 h 253"/>
                <a:gd name="T22" fmla="*/ 117 w 356"/>
                <a:gd name="T23" fmla="*/ 156 h 253"/>
                <a:gd name="T24" fmla="*/ 178 w 356"/>
                <a:gd name="T25" fmla="*/ 207 h 253"/>
                <a:gd name="T26" fmla="*/ 154 w 356"/>
                <a:gd name="T27" fmla="*/ 250 h 253"/>
                <a:gd name="T28" fmla="*/ 155 w 356"/>
                <a:gd name="T29" fmla="*/ 253 h 253"/>
                <a:gd name="T30" fmla="*/ 253 w 356"/>
                <a:gd name="T31" fmla="*/ 253 h 253"/>
                <a:gd name="T32" fmla="*/ 253 w 356"/>
                <a:gd name="T33" fmla="*/ 155 h 253"/>
                <a:gd name="T34" fmla="*/ 256 w 356"/>
                <a:gd name="T35" fmla="*/ 154 h 253"/>
                <a:gd name="T36" fmla="*/ 300 w 356"/>
                <a:gd name="T37" fmla="*/ 178 h 253"/>
                <a:gd name="T38" fmla="*/ 351 w 356"/>
                <a:gd name="T39" fmla="*/ 117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6" h="253">
                  <a:moveTo>
                    <a:pt x="351" y="117"/>
                  </a:moveTo>
                  <a:cubicBezTo>
                    <a:pt x="347" y="96"/>
                    <a:pt x="329" y="79"/>
                    <a:pt x="308" y="76"/>
                  </a:cubicBezTo>
                  <a:cubicBezTo>
                    <a:pt x="286" y="73"/>
                    <a:pt x="267" y="83"/>
                    <a:pt x="256" y="100"/>
                  </a:cubicBezTo>
                  <a:cubicBezTo>
                    <a:pt x="255" y="101"/>
                    <a:pt x="253" y="100"/>
                    <a:pt x="253" y="99"/>
                  </a:cubicBezTo>
                  <a:lnTo>
                    <a:pt x="253" y="0"/>
                  </a:lnTo>
                  <a:lnTo>
                    <a:pt x="81" y="0"/>
                  </a:lnTo>
                  <a:cubicBezTo>
                    <a:pt x="36" y="0"/>
                    <a:pt x="0" y="37"/>
                    <a:pt x="0" y="81"/>
                  </a:cubicBezTo>
                  <a:lnTo>
                    <a:pt x="0" y="253"/>
                  </a:lnTo>
                  <a:lnTo>
                    <a:pt x="98" y="253"/>
                  </a:lnTo>
                  <a:cubicBezTo>
                    <a:pt x="100" y="253"/>
                    <a:pt x="101" y="251"/>
                    <a:pt x="99" y="250"/>
                  </a:cubicBezTo>
                  <a:cubicBezTo>
                    <a:pt x="83" y="240"/>
                    <a:pt x="72" y="220"/>
                    <a:pt x="76" y="198"/>
                  </a:cubicBezTo>
                  <a:cubicBezTo>
                    <a:pt x="79" y="177"/>
                    <a:pt x="96" y="160"/>
                    <a:pt x="117" y="156"/>
                  </a:cubicBezTo>
                  <a:cubicBezTo>
                    <a:pt x="150" y="150"/>
                    <a:pt x="178" y="175"/>
                    <a:pt x="178" y="207"/>
                  </a:cubicBezTo>
                  <a:cubicBezTo>
                    <a:pt x="178" y="225"/>
                    <a:pt x="168" y="241"/>
                    <a:pt x="154" y="250"/>
                  </a:cubicBezTo>
                  <a:cubicBezTo>
                    <a:pt x="152" y="251"/>
                    <a:pt x="153" y="253"/>
                    <a:pt x="155" y="253"/>
                  </a:cubicBezTo>
                  <a:lnTo>
                    <a:pt x="253" y="253"/>
                  </a:lnTo>
                  <a:lnTo>
                    <a:pt x="253" y="155"/>
                  </a:lnTo>
                  <a:cubicBezTo>
                    <a:pt x="253" y="153"/>
                    <a:pt x="255" y="153"/>
                    <a:pt x="256" y="154"/>
                  </a:cubicBezTo>
                  <a:cubicBezTo>
                    <a:pt x="265" y="169"/>
                    <a:pt x="282" y="178"/>
                    <a:pt x="300" y="178"/>
                  </a:cubicBezTo>
                  <a:cubicBezTo>
                    <a:pt x="332" y="178"/>
                    <a:pt x="356" y="150"/>
                    <a:pt x="351" y="117"/>
                  </a:cubicBezTo>
                  <a:close/>
                </a:path>
              </a:pathLst>
            </a:custGeom>
            <a:noFill/>
            <a:ln w="20638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A3424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2655">
              <a:extLst>
                <a:ext uri="{FF2B5EF4-FFF2-40B4-BE49-F238E27FC236}">
                  <a16:creationId xmlns:a16="http://schemas.microsoft.com/office/drawing/2014/main" id="{70A76D96-538C-84F8-5265-302DD95F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990" y="2176937"/>
              <a:ext cx="178989" cy="253820"/>
            </a:xfrm>
            <a:custGeom>
              <a:avLst/>
              <a:gdLst>
                <a:gd name="T0" fmla="*/ 136 w 253"/>
                <a:gd name="T1" fmla="*/ 351 h 357"/>
                <a:gd name="T2" fmla="*/ 178 w 253"/>
                <a:gd name="T3" fmla="*/ 309 h 357"/>
                <a:gd name="T4" fmla="*/ 154 w 253"/>
                <a:gd name="T5" fmla="*/ 257 h 357"/>
                <a:gd name="T6" fmla="*/ 155 w 253"/>
                <a:gd name="T7" fmla="*/ 253 h 357"/>
                <a:gd name="T8" fmla="*/ 253 w 253"/>
                <a:gd name="T9" fmla="*/ 253 h 357"/>
                <a:gd name="T10" fmla="*/ 253 w 253"/>
                <a:gd name="T11" fmla="*/ 81 h 357"/>
                <a:gd name="T12" fmla="*/ 172 w 253"/>
                <a:gd name="T13" fmla="*/ 0 h 357"/>
                <a:gd name="T14" fmla="*/ 0 w 253"/>
                <a:gd name="T15" fmla="*/ 0 h 357"/>
                <a:gd name="T16" fmla="*/ 0 w 253"/>
                <a:gd name="T17" fmla="*/ 99 h 357"/>
                <a:gd name="T18" fmla="*/ 3 w 253"/>
                <a:gd name="T19" fmla="*/ 100 h 357"/>
                <a:gd name="T20" fmla="*/ 55 w 253"/>
                <a:gd name="T21" fmla="*/ 76 h 357"/>
                <a:gd name="T22" fmla="*/ 98 w 253"/>
                <a:gd name="T23" fmla="*/ 117 h 357"/>
                <a:gd name="T24" fmla="*/ 47 w 253"/>
                <a:gd name="T25" fmla="*/ 178 h 357"/>
                <a:gd name="T26" fmla="*/ 3 w 253"/>
                <a:gd name="T27" fmla="*/ 154 h 357"/>
                <a:gd name="T28" fmla="*/ 0 w 253"/>
                <a:gd name="T29" fmla="*/ 155 h 357"/>
                <a:gd name="T30" fmla="*/ 0 w 253"/>
                <a:gd name="T31" fmla="*/ 253 h 357"/>
                <a:gd name="T32" fmla="*/ 99 w 253"/>
                <a:gd name="T33" fmla="*/ 253 h 357"/>
                <a:gd name="T34" fmla="*/ 100 w 253"/>
                <a:gd name="T35" fmla="*/ 257 h 357"/>
                <a:gd name="T36" fmla="*/ 75 w 253"/>
                <a:gd name="T37" fmla="*/ 300 h 357"/>
                <a:gd name="T38" fmla="*/ 136 w 253"/>
                <a:gd name="T39" fmla="*/ 351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3" h="357">
                  <a:moveTo>
                    <a:pt x="136" y="351"/>
                  </a:moveTo>
                  <a:cubicBezTo>
                    <a:pt x="157" y="347"/>
                    <a:pt x="174" y="330"/>
                    <a:pt x="178" y="309"/>
                  </a:cubicBezTo>
                  <a:cubicBezTo>
                    <a:pt x="181" y="287"/>
                    <a:pt x="171" y="267"/>
                    <a:pt x="154" y="257"/>
                  </a:cubicBezTo>
                  <a:cubicBezTo>
                    <a:pt x="153" y="256"/>
                    <a:pt x="153" y="253"/>
                    <a:pt x="155" y="253"/>
                  </a:cubicBezTo>
                  <a:lnTo>
                    <a:pt x="253" y="253"/>
                  </a:lnTo>
                  <a:lnTo>
                    <a:pt x="253" y="81"/>
                  </a:lnTo>
                  <a:cubicBezTo>
                    <a:pt x="253" y="37"/>
                    <a:pt x="217" y="0"/>
                    <a:pt x="172" y="0"/>
                  </a:cubicBezTo>
                  <a:lnTo>
                    <a:pt x="0" y="0"/>
                  </a:lnTo>
                  <a:lnTo>
                    <a:pt x="0" y="99"/>
                  </a:lnTo>
                  <a:cubicBezTo>
                    <a:pt x="0" y="100"/>
                    <a:pt x="2" y="101"/>
                    <a:pt x="3" y="100"/>
                  </a:cubicBezTo>
                  <a:cubicBezTo>
                    <a:pt x="14" y="83"/>
                    <a:pt x="33" y="73"/>
                    <a:pt x="55" y="76"/>
                  </a:cubicBezTo>
                  <a:cubicBezTo>
                    <a:pt x="76" y="79"/>
                    <a:pt x="94" y="96"/>
                    <a:pt x="98" y="117"/>
                  </a:cubicBezTo>
                  <a:cubicBezTo>
                    <a:pt x="103" y="150"/>
                    <a:pt x="79" y="178"/>
                    <a:pt x="47" y="178"/>
                  </a:cubicBezTo>
                  <a:cubicBezTo>
                    <a:pt x="29" y="178"/>
                    <a:pt x="12" y="169"/>
                    <a:pt x="3" y="154"/>
                  </a:cubicBezTo>
                  <a:cubicBezTo>
                    <a:pt x="2" y="153"/>
                    <a:pt x="0" y="153"/>
                    <a:pt x="0" y="155"/>
                  </a:cubicBezTo>
                  <a:lnTo>
                    <a:pt x="0" y="253"/>
                  </a:lnTo>
                  <a:lnTo>
                    <a:pt x="99" y="253"/>
                  </a:lnTo>
                  <a:cubicBezTo>
                    <a:pt x="100" y="253"/>
                    <a:pt x="101" y="256"/>
                    <a:pt x="100" y="257"/>
                  </a:cubicBezTo>
                  <a:cubicBezTo>
                    <a:pt x="85" y="266"/>
                    <a:pt x="75" y="282"/>
                    <a:pt x="75" y="300"/>
                  </a:cubicBezTo>
                  <a:cubicBezTo>
                    <a:pt x="75" y="332"/>
                    <a:pt x="104" y="357"/>
                    <a:pt x="136" y="351"/>
                  </a:cubicBezTo>
                  <a:close/>
                </a:path>
              </a:pathLst>
            </a:custGeom>
            <a:noFill/>
            <a:ln w="20638" cap="flat">
              <a:solidFill>
                <a:schemeClr val="accent1">
                  <a:lumMod val="5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A3424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e 15" descr="{&quot;Key&quot;:&quot;POWER_USER_SHAPE_ICON&quot;,&quot;Value&quot;:&quot;POWER_USER_SHAPE_ICON_STYLE_3&quot;}">
            <a:extLst>
              <a:ext uri="{FF2B5EF4-FFF2-40B4-BE49-F238E27FC236}">
                <a16:creationId xmlns:a16="http://schemas.microsoft.com/office/drawing/2014/main" id="{69AAC0FE-50BC-01DA-588E-D4923D5C3372}"/>
              </a:ext>
            </a:extLst>
          </p:cNvPr>
          <p:cNvGrpSpPr>
            <a:grpSpLocks noChangeAspect="1"/>
          </p:cNvGrpSpPr>
          <p:nvPr/>
        </p:nvGrpSpPr>
        <p:grpSpPr>
          <a:xfrm>
            <a:off x="8718419" y="1232302"/>
            <a:ext cx="540000" cy="540000"/>
            <a:chOff x="8078868" y="2355400"/>
            <a:chExt cx="762000" cy="762001"/>
          </a:xfrm>
        </p:grpSpPr>
        <p:sp>
          <p:nvSpPr>
            <p:cNvPr id="21" name="POWER_USER_SHAPE_ICON_STYLE_3">
              <a:extLst>
                <a:ext uri="{FF2B5EF4-FFF2-40B4-BE49-F238E27FC236}">
                  <a16:creationId xmlns:a16="http://schemas.microsoft.com/office/drawing/2014/main" id="{984B0A32-468C-F169-96BE-90847480B5D1}"/>
                </a:ext>
              </a:extLst>
            </p:cNvPr>
            <p:cNvSpPr/>
            <p:nvPr/>
          </p:nvSpPr>
          <p:spPr>
            <a:xfrm>
              <a:off x="8078868" y="2355400"/>
              <a:ext cx="762000" cy="762001"/>
            </a:xfrm>
            <a:prstGeom prst="ellipse">
              <a:avLst/>
            </a:prstGeom>
            <a:noFill/>
            <a:ln w="15875">
              <a:solidFill>
                <a:schemeClr val="accent1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 anchorCtr="0">
              <a:noAutofit/>
            </a:bodyPr>
            <a:lstStyle/>
            <a:p>
              <a:pPr marL="171450" indent="-171450">
                <a:spcAft>
                  <a:spcPts val="600"/>
                </a:spcAft>
              </a:pPr>
              <a:endParaRPr lang="fr-FR" sz="1000" b="1">
                <a:solidFill>
                  <a:srgbClr val="A34245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3878FB72-3EA1-9B58-AFE1-245EF3CE0B5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05868" y="2488283"/>
              <a:ext cx="508000" cy="496236"/>
              <a:chOff x="8205868" y="2488283"/>
              <a:chExt cx="386954" cy="377992"/>
            </a:xfrm>
          </p:grpSpPr>
          <p:sp>
            <p:nvSpPr>
              <p:cNvPr id="23" name="Oval 471">
                <a:extLst>
                  <a:ext uri="{FF2B5EF4-FFF2-40B4-BE49-F238E27FC236}">
                    <a16:creationId xmlns:a16="http://schemas.microsoft.com/office/drawing/2014/main" id="{B1A7CE87-85D3-82BF-6B9A-5ACC34564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88548" y="2829616"/>
                <a:ext cx="33400" cy="34215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472">
                <a:extLst>
                  <a:ext uri="{FF2B5EF4-FFF2-40B4-BE49-F238E27FC236}">
                    <a16:creationId xmlns:a16="http://schemas.microsoft.com/office/drawing/2014/main" id="{8F451836-102D-9077-9C78-2ACD55EEE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6470" y="2660986"/>
                <a:ext cx="33400" cy="334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473">
                <a:extLst>
                  <a:ext uri="{FF2B5EF4-FFF2-40B4-BE49-F238E27FC236}">
                    <a16:creationId xmlns:a16="http://schemas.microsoft.com/office/drawing/2014/main" id="{0EC32A8B-023A-5589-394D-68A43AB0C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88548" y="2491542"/>
                <a:ext cx="33400" cy="334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474">
                <a:extLst>
                  <a:ext uri="{FF2B5EF4-FFF2-40B4-BE49-F238E27FC236}">
                    <a16:creationId xmlns:a16="http://schemas.microsoft.com/office/drawing/2014/main" id="{4DA3AA93-9BE6-1085-91FC-2C916F066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2928" y="2775850"/>
                <a:ext cx="33400" cy="34215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Oval 475">
                <a:extLst>
                  <a:ext uri="{FF2B5EF4-FFF2-40B4-BE49-F238E27FC236}">
                    <a16:creationId xmlns:a16="http://schemas.microsoft.com/office/drawing/2014/main" id="{3F98BB67-21C8-860B-903A-A6A505BFD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2928" y="2545308"/>
                <a:ext cx="33400" cy="334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Oval 476">
                <a:extLst>
                  <a:ext uri="{FF2B5EF4-FFF2-40B4-BE49-F238E27FC236}">
                    <a16:creationId xmlns:a16="http://schemas.microsoft.com/office/drawing/2014/main" id="{A0471ED8-3B3B-ABAE-28C8-2B62A4E7A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6163" y="2568932"/>
                <a:ext cx="33400" cy="334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477">
                <a:extLst>
                  <a:ext uri="{FF2B5EF4-FFF2-40B4-BE49-F238E27FC236}">
                    <a16:creationId xmlns:a16="http://schemas.microsoft.com/office/drawing/2014/main" id="{072D65E0-BE52-7377-4571-E05C7C7AB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6163" y="2751411"/>
                <a:ext cx="33400" cy="334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478">
                <a:extLst>
                  <a:ext uri="{FF2B5EF4-FFF2-40B4-BE49-F238E27FC236}">
                    <a16:creationId xmlns:a16="http://schemas.microsoft.com/office/drawing/2014/main" id="{EF711324-71C2-6235-1772-A49B05AFE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8312" y="2499688"/>
                <a:ext cx="180850" cy="361699"/>
              </a:xfrm>
              <a:custGeom>
                <a:avLst/>
                <a:gdLst>
                  <a:gd name="T0" fmla="*/ 522 w 522"/>
                  <a:gd name="T1" fmla="*/ 0 h 1043"/>
                  <a:gd name="T2" fmla="*/ 462 w 522"/>
                  <a:gd name="T3" fmla="*/ 0 h 1043"/>
                  <a:gd name="T4" fmla="*/ 417 w 522"/>
                  <a:gd name="T5" fmla="*/ 46 h 1043"/>
                  <a:gd name="T6" fmla="*/ 417 w 522"/>
                  <a:gd name="T7" fmla="*/ 79 h 1043"/>
                  <a:gd name="T8" fmla="*/ 382 w 522"/>
                  <a:gd name="T9" fmla="*/ 128 h 1043"/>
                  <a:gd name="T10" fmla="*/ 340 w 522"/>
                  <a:gd name="T11" fmla="*/ 145 h 1043"/>
                  <a:gd name="T12" fmla="*/ 284 w 522"/>
                  <a:gd name="T13" fmla="*/ 135 h 1043"/>
                  <a:gd name="T14" fmla="*/ 263 w 522"/>
                  <a:gd name="T15" fmla="*/ 114 h 1043"/>
                  <a:gd name="T16" fmla="*/ 195 w 522"/>
                  <a:gd name="T17" fmla="*/ 111 h 1043"/>
                  <a:gd name="T18" fmla="*/ 111 w 522"/>
                  <a:gd name="T19" fmla="*/ 195 h 1043"/>
                  <a:gd name="T20" fmla="*/ 111 w 522"/>
                  <a:gd name="T21" fmla="*/ 260 h 1043"/>
                  <a:gd name="T22" fmla="*/ 134 w 522"/>
                  <a:gd name="T23" fmla="*/ 283 h 1043"/>
                  <a:gd name="T24" fmla="*/ 145 w 522"/>
                  <a:gd name="T25" fmla="*/ 341 h 1043"/>
                  <a:gd name="T26" fmla="*/ 128 w 522"/>
                  <a:gd name="T27" fmla="*/ 382 h 1043"/>
                  <a:gd name="T28" fmla="*/ 79 w 522"/>
                  <a:gd name="T29" fmla="*/ 417 h 1043"/>
                  <a:gd name="T30" fmla="*/ 46 w 522"/>
                  <a:gd name="T31" fmla="*/ 417 h 1043"/>
                  <a:gd name="T32" fmla="*/ 0 w 522"/>
                  <a:gd name="T33" fmla="*/ 462 h 1043"/>
                  <a:gd name="T34" fmla="*/ 0 w 522"/>
                  <a:gd name="T35" fmla="*/ 581 h 1043"/>
                  <a:gd name="T36" fmla="*/ 46 w 522"/>
                  <a:gd name="T37" fmla="*/ 627 h 1043"/>
                  <a:gd name="T38" fmla="*/ 79 w 522"/>
                  <a:gd name="T39" fmla="*/ 627 h 1043"/>
                  <a:gd name="T40" fmla="*/ 128 w 522"/>
                  <a:gd name="T41" fmla="*/ 661 h 1043"/>
                  <a:gd name="T42" fmla="*/ 145 w 522"/>
                  <a:gd name="T43" fmla="*/ 703 h 1043"/>
                  <a:gd name="T44" fmla="*/ 135 w 522"/>
                  <a:gd name="T45" fmla="*/ 759 h 1043"/>
                  <a:gd name="T46" fmla="*/ 114 w 522"/>
                  <a:gd name="T47" fmla="*/ 780 h 1043"/>
                  <a:gd name="T48" fmla="*/ 111 w 522"/>
                  <a:gd name="T49" fmla="*/ 848 h 1043"/>
                  <a:gd name="T50" fmla="*/ 195 w 522"/>
                  <a:gd name="T51" fmla="*/ 932 h 1043"/>
                  <a:gd name="T52" fmla="*/ 260 w 522"/>
                  <a:gd name="T53" fmla="*/ 932 h 1043"/>
                  <a:gd name="T54" fmla="*/ 283 w 522"/>
                  <a:gd name="T55" fmla="*/ 909 h 1043"/>
                  <a:gd name="T56" fmla="*/ 341 w 522"/>
                  <a:gd name="T57" fmla="*/ 898 h 1043"/>
                  <a:gd name="T58" fmla="*/ 384 w 522"/>
                  <a:gd name="T59" fmla="*/ 916 h 1043"/>
                  <a:gd name="T60" fmla="*/ 417 w 522"/>
                  <a:gd name="T61" fmla="*/ 963 h 1043"/>
                  <a:gd name="T62" fmla="*/ 417 w 522"/>
                  <a:gd name="T63" fmla="*/ 993 h 1043"/>
                  <a:gd name="T64" fmla="*/ 462 w 522"/>
                  <a:gd name="T65" fmla="*/ 1043 h 1043"/>
                  <a:gd name="T66" fmla="*/ 522 w 522"/>
                  <a:gd name="T67" fmla="*/ 1043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22" h="1043">
                    <a:moveTo>
                      <a:pt x="522" y="0"/>
                    </a:moveTo>
                    <a:lnTo>
                      <a:pt x="462" y="0"/>
                    </a:lnTo>
                    <a:cubicBezTo>
                      <a:pt x="437" y="0"/>
                      <a:pt x="417" y="21"/>
                      <a:pt x="417" y="46"/>
                    </a:cubicBezTo>
                    <a:lnTo>
                      <a:pt x="417" y="79"/>
                    </a:lnTo>
                    <a:cubicBezTo>
                      <a:pt x="417" y="101"/>
                      <a:pt x="403" y="120"/>
                      <a:pt x="382" y="128"/>
                    </a:cubicBezTo>
                    <a:cubicBezTo>
                      <a:pt x="368" y="133"/>
                      <a:pt x="354" y="139"/>
                      <a:pt x="340" y="145"/>
                    </a:cubicBezTo>
                    <a:cubicBezTo>
                      <a:pt x="321" y="154"/>
                      <a:pt x="299" y="150"/>
                      <a:pt x="284" y="135"/>
                    </a:cubicBezTo>
                    <a:lnTo>
                      <a:pt x="263" y="114"/>
                    </a:lnTo>
                    <a:cubicBezTo>
                      <a:pt x="242" y="93"/>
                      <a:pt x="213" y="93"/>
                      <a:pt x="195" y="111"/>
                    </a:cubicBezTo>
                    <a:lnTo>
                      <a:pt x="111" y="195"/>
                    </a:lnTo>
                    <a:cubicBezTo>
                      <a:pt x="93" y="213"/>
                      <a:pt x="93" y="242"/>
                      <a:pt x="111" y="260"/>
                    </a:cubicBezTo>
                    <a:lnTo>
                      <a:pt x="134" y="283"/>
                    </a:lnTo>
                    <a:cubicBezTo>
                      <a:pt x="150" y="298"/>
                      <a:pt x="154" y="322"/>
                      <a:pt x="145" y="341"/>
                    </a:cubicBezTo>
                    <a:cubicBezTo>
                      <a:pt x="138" y="355"/>
                      <a:pt x="133" y="368"/>
                      <a:pt x="128" y="382"/>
                    </a:cubicBezTo>
                    <a:cubicBezTo>
                      <a:pt x="120" y="403"/>
                      <a:pt x="101" y="417"/>
                      <a:pt x="79" y="417"/>
                    </a:cubicBezTo>
                    <a:lnTo>
                      <a:pt x="46" y="417"/>
                    </a:lnTo>
                    <a:cubicBezTo>
                      <a:pt x="21" y="417"/>
                      <a:pt x="0" y="437"/>
                      <a:pt x="0" y="462"/>
                    </a:cubicBezTo>
                    <a:lnTo>
                      <a:pt x="0" y="581"/>
                    </a:lnTo>
                    <a:cubicBezTo>
                      <a:pt x="0" y="606"/>
                      <a:pt x="21" y="627"/>
                      <a:pt x="46" y="627"/>
                    </a:cubicBezTo>
                    <a:lnTo>
                      <a:pt x="79" y="627"/>
                    </a:lnTo>
                    <a:cubicBezTo>
                      <a:pt x="101" y="627"/>
                      <a:pt x="120" y="640"/>
                      <a:pt x="128" y="661"/>
                    </a:cubicBezTo>
                    <a:cubicBezTo>
                      <a:pt x="133" y="675"/>
                      <a:pt x="139" y="689"/>
                      <a:pt x="145" y="703"/>
                    </a:cubicBezTo>
                    <a:cubicBezTo>
                      <a:pt x="154" y="722"/>
                      <a:pt x="150" y="744"/>
                      <a:pt x="135" y="759"/>
                    </a:cubicBezTo>
                    <a:lnTo>
                      <a:pt x="114" y="780"/>
                    </a:lnTo>
                    <a:cubicBezTo>
                      <a:pt x="93" y="801"/>
                      <a:pt x="93" y="830"/>
                      <a:pt x="111" y="848"/>
                    </a:cubicBezTo>
                    <a:lnTo>
                      <a:pt x="195" y="932"/>
                    </a:lnTo>
                    <a:cubicBezTo>
                      <a:pt x="213" y="950"/>
                      <a:pt x="242" y="950"/>
                      <a:pt x="260" y="932"/>
                    </a:cubicBezTo>
                    <a:lnTo>
                      <a:pt x="283" y="909"/>
                    </a:lnTo>
                    <a:cubicBezTo>
                      <a:pt x="298" y="893"/>
                      <a:pt x="322" y="889"/>
                      <a:pt x="341" y="898"/>
                    </a:cubicBezTo>
                    <a:cubicBezTo>
                      <a:pt x="355" y="905"/>
                      <a:pt x="369" y="911"/>
                      <a:pt x="384" y="916"/>
                    </a:cubicBezTo>
                    <a:cubicBezTo>
                      <a:pt x="404" y="923"/>
                      <a:pt x="417" y="942"/>
                      <a:pt x="417" y="963"/>
                    </a:cubicBezTo>
                    <a:lnTo>
                      <a:pt x="417" y="993"/>
                    </a:lnTo>
                    <a:cubicBezTo>
                      <a:pt x="417" y="1022"/>
                      <a:pt x="437" y="1043"/>
                      <a:pt x="462" y="1043"/>
                    </a:cubicBezTo>
                    <a:lnTo>
                      <a:pt x="522" y="1043"/>
                    </a:lnTo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480">
                <a:extLst>
                  <a:ext uri="{FF2B5EF4-FFF2-40B4-BE49-F238E27FC236}">
                    <a16:creationId xmlns:a16="http://schemas.microsoft.com/office/drawing/2014/main" id="{08E69EDD-73AE-6AC3-81ED-AD54E3518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796" y="2731859"/>
                <a:ext cx="74132" cy="63542"/>
              </a:xfrm>
              <a:custGeom>
                <a:avLst/>
                <a:gdLst>
                  <a:gd name="T0" fmla="*/ 214 w 214"/>
                  <a:gd name="T1" fmla="*/ 183 h 183"/>
                  <a:gd name="T2" fmla="*/ 168 w 214"/>
                  <a:gd name="T3" fmla="*/ 183 h 183"/>
                  <a:gd name="T4" fmla="*/ 112 w 214"/>
                  <a:gd name="T5" fmla="*/ 128 h 183"/>
                  <a:gd name="T6" fmla="*/ 112 w 214"/>
                  <a:gd name="T7" fmla="*/ 55 h 183"/>
                  <a:gd name="T8" fmla="*/ 73 w 214"/>
                  <a:gd name="T9" fmla="*/ 16 h 183"/>
                  <a:gd name="T10" fmla="*/ 0 w 214"/>
                  <a:gd name="T11" fmla="*/ 16 h 183"/>
                  <a:gd name="T12" fmla="*/ 0 w 214"/>
                  <a:gd name="T13" fmla="*/ 0 h 183"/>
                  <a:gd name="T14" fmla="*/ 73 w 214"/>
                  <a:gd name="T15" fmla="*/ 0 h 183"/>
                  <a:gd name="T16" fmla="*/ 129 w 214"/>
                  <a:gd name="T17" fmla="*/ 55 h 183"/>
                  <a:gd name="T18" fmla="*/ 129 w 214"/>
                  <a:gd name="T19" fmla="*/ 128 h 183"/>
                  <a:gd name="T20" fmla="*/ 168 w 214"/>
                  <a:gd name="T21" fmla="*/ 167 h 183"/>
                  <a:gd name="T22" fmla="*/ 214 w 214"/>
                  <a:gd name="T23" fmla="*/ 167 h 183"/>
                  <a:gd name="T24" fmla="*/ 214 w 214"/>
                  <a:gd name="T25" fmla="*/ 183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4" h="183">
                    <a:moveTo>
                      <a:pt x="214" y="183"/>
                    </a:moveTo>
                    <a:lnTo>
                      <a:pt x="168" y="183"/>
                    </a:lnTo>
                    <a:cubicBezTo>
                      <a:pt x="137" y="183"/>
                      <a:pt x="112" y="158"/>
                      <a:pt x="112" y="128"/>
                    </a:cubicBezTo>
                    <a:lnTo>
                      <a:pt x="112" y="55"/>
                    </a:lnTo>
                    <a:cubicBezTo>
                      <a:pt x="112" y="34"/>
                      <a:pt x="95" y="16"/>
                      <a:pt x="73" y="16"/>
                    </a:cubicBezTo>
                    <a:lnTo>
                      <a:pt x="0" y="16"/>
                    </a:lnTo>
                    <a:lnTo>
                      <a:pt x="0" y="0"/>
                    </a:lnTo>
                    <a:lnTo>
                      <a:pt x="73" y="0"/>
                    </a:lnTo>
                    <a:cubicBezTo>
                      <a:pt x="104" y="0"/>
                      <a:pt x="129" y="25"/>
                      <a:pt x="129" y="55"/>
                    </a:cubicBezTo>
                    <a:lnTo>
                      <a:pt x="129" y="128"/>
                    </a:lnTo>
                    <a:cubicBezTo>
                      <a:pt x="129" y="149"/>
                      <a:pt x="146" y="167"/>
                      <a:pt x="168" y="167"/>
                    </a:cubicBezTo>
                    <a:lnTo>
                      <a:pt x="214" y="167"/>
                    </a:lnTo>
                    <a:lnTo>
                      <a:pt x="214" y="183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Freeform 481">
                <a:extLst>
                  <a:ext uri="{FF2B5EF4-FFF2-40B4-BE49-F238E27FC236}">
                    <a16:creationId xmlns:a16="http://schemas.microsoft.com/office/drawing/2014/main" id="{6C26999A-DEF5-4FC9-9345-F16F0F7BC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8265" y="2731859"/>
                <a:ext cx="79835" cy="97757"/>
              </a:xfrm>
              <a:custGeom>
                <a:avLst/>
                <a:gdLst>
                  <a:gd name="T0" fmla="*/ 232 w 232"/>
                  <a:gd name="T1" fmla="*/ 282 h 282"/>
                  <a:gd name="T2" fmla="*/ 215 w 232"/>
                  <a:gd name="T3" fmla="*/ 282 h 282"/>
                  <a:gd name="T4" fmla="*/ 215 w 232"/>
                  <a:gd name="T5" fmla="*/ 93 h 282"/>
                  <a:gd name="T6" fmla="*/ 139 w 232"/>
                  <a:gd name="T7" fmla="*/ 16 h 282"/>
                  <a:gd name="T8" fmla="*/ 0 w 232"/>
                  <a:gd name="T9" fmla="*/ 16 h 282"/>
                  <a:gd name="T10" fmla="*/ 0 w 232"/>
                  <a:gd name="T11" fmla="*/ 0 h 282"/>
                  <a:gd name="T12" fmla="*/ 139 w 232"/>
                  <a:gd name="T13" fmla="*/ 0 h 282"/>
                  <a:gd name="T14" fmla="*/ 232 w 232"/>
                  <a:gd name="T15" fmla="*/ 93 h 282"/>
                  <a:gd name="T16" fmla="*/ 232 w 232"/>
                  <a:gd name="T17" fmla="*/ 28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2" h="282">
                    <a:moveTo>
                      <a:pt x="232" y="282"/>
                    </a:moveTo>
                    <a:lnTo>
                      <a:pt x="215" y="282"/>
                    </a:lnTo>
                    <a:lnTo>
                      <a:pt x="215" y="93"/>
                    </a:lnTo>
                    <a:cubicBezTo>
                      <a:pt x="215" y="51"/>
                      <a:pt x="181" y="16"/>
                      <a:pt x="139" y="16"/>
                    </a:cubicBezTo>
                    <a:lnTo>
                      <a:pt x="0" y="16"/>
                    </a:lnTo>
                    <a:lnTo>
                      <a:pt x="0" y="0"/>
                    </a:lnTo>
                    <a:lnTo>
                      <a:pt x="139" y="0"/>
                    </a:lnTo>
                    <a:cubicBezTo>
                      <a:pt x="190" y="0"/>
                      <a:pt x="232" y="41"/>
                      <a:pt x="232" y="93"/>
                    </a:cubicBezTo>
                    <a:lnTo>
                      <a:pt x="232" y="282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 482">
                <a:extLst>
                  <a:ext uri="{FF2B5EF4-FFF2-40B4-BE49-F238E27FC236}">
                    <a16:creationId xmlns:a16="http://schemas.microsoft.com/office/drawing/2014/main" id="{6B3051A4-71B6-A58E-9BA2-7BCE57029A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86104" y="2827172"/>
                <a:ext cx="39103" cy="39103"/>
              </a:xfrm>
              <a:custGeom>
                <a:avLst/>
                <a:gdLst>
                  <a:gd name="T0" fmla="*/ 57 w 113"/>
                  <a:gd name="T1" fmla="*/ 17 h 114"/>
                  <a:gd name="T2" fmla="*/ 16 w 113"/>
                  <a:gd name="T3" fmla="*/ 57 h 114"/>
                  <a:gd name="T4" fmla="*/ 57 w 113"/>
                  <a:gd name="T5" fmla="*/ 97 h 114"/>
                  <a:gd name="T6" fmla="*/ 97 w 113"/>
                  <a:gd name="T7" fmla="*/ 57 h 114"/>
                  <a:gd name="T8" fmla="*/ 57 w 113"/>
                  <a:gd name="T9" fmla="*/ 17 h 114"/>
                  <a:gd name="T10" fmla="*/ 57 w 113"/>
                  <a:gd name="T11" fmla="*/ 114 h 114"/>
                  <a:gd name="T12" fmla="*/ 0 w 113"/>
                  <a:gd name="T13" fmla="*/ 57 h 114"/>
                  <a:gd name="T14" fmla="*/ 57 w 113"/>
                  <a:gd name="T15" fmla="*/ 0 h 114"/>
                  <a:gd name="T16" fmla="*/ 113 w 113"/>
                  <a:gd name="T17" fmla="*/ 57 h 114"/>
                  <a:gd name="T18" fmla="*/ 57 w 113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3" h="114">
                    <a:moveTo>
                      <a:pt x="57" y="17"/>
                    </a:moveTo>
                    <a:cubicBezTo>
                      <a:pt x="34" y="17"/>
                      <a:pt x="16" y="35"/>
                      <a:pt x="16" y="57"/>
                    </a:cubicBezTo>
                    <a:cubicBezTo>
                      <a:pt x="16" y="79"/>
                      <a:pt x="34" y="97"/>
                      <a:pt x="57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5"/>
                      <a:pt x="79" y="17"/>
                      <a:pt x="57" y="17"/>
                    </a:cubicBezTo>
                    <a:close/>
                    <a:moveTo>
                      <a:pt x="57" y="114"/>
                    </a:moveTo>
                    <a:cubicBezTo>
                      <a:pt x="25" y="114"/>
                      <a:pt x="0" y="88"/>
                      <a:pt x="0" y="57"/>
                    </a:cubicBezTo>
                    <a:cubicBezTo>
                      <a:pt x="0" y="26"/>
                      <a:pt x="25" y="0"/>
                      <a:pt x="57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88"/>
                      <a:pt x="88" y="114"/>
                      <a:pt x="57" y="114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 483">
                <a:extLst>
                  <a:ext uri="{FF2B5EF4-FFF2-40B4-BE49-F238E27FC236}">
                    <a16:creationId xmlns:a16="http://schemas.microsoft.com/office/drawing/2014/main" id="{43AE9CCF-8378-F8BB-B47F-C052E2EB1E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40484" y="2773406"/>
                <a:ext cx="39103" cy="39103"/>
              </a:xfrm>
              <a:custGeom>
                <a:avLst/>
                <a:gdLst>
                  <a:gd name="T0" fmla="*/ 56 w 113"/>
                  <a:gd name="T1" fmla="*/ 17 h 114"/>
                  <a:gd name="T2" fmla="*/ 16 w 113"/>
                  <a:gd name="T3" fmla="*/ 57 h 114"/>
                  <a:gd name="T4" fmla="*/ 56 w 113"/>
                  <a:gd name="T5" fmla="*/ 97 h 114"/>
                  <a:gd name="T6" fmla="*/ 97 w 113"/>
                  <a:gd name="T7" fmla="*/ 57 h 114"/>
                  <a:gd name="T8" fmla="*/ 56 w 113"/>
                  <a:gd name="T9" fmla="*/ 17 h 114"/>
                  <a:gd name="T10" fmla="*/ 56 w 113"/>
                  <a:gd name="T11" fmla="*/ 114 h 114"/>
                  <a:gd name="T12" fmla="*/ 0 w 113"/>
                  <a:gd name="T13" fmla="*/ 57 h 114"/>
                  <a:gd name="T14" fmla="*/ 56 w 113"/>
                  <a:gd name="T15" fmla="*/ 0 h 114"/>
                  <a:gd name="T16" fmla="*/ 113 w 113"/>
                  <a:gd name="T17" fmla="*/ 57 h 114"/>
                  <a:gd name="T18" fmla="*/ 56 w 113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3" h="114">
                    <a:moveTo>
                      <a:pt x="56" y="17"/>
                    </a:moveTo>
                    <a:cubicBezTo>
                      <a:pt x="34" y="17"/>
                      <a:pt x="16" y="35"/>
                      <a:pt x="16" y="57"/>
                    </a:cubicBezTo>
                    <a:cubicBezTo>
                      <a:pt x="16" y="79"/>
                      <a:pt x="34" y="97"/>
                      <a:pt x="56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5"/>
                      <a:pt x="79" y="17"/>
                      <a:pt x="56" y="17"/>
                    </a:cubicBezTo>
                    <a:close/>
                    <a:moveTo>
                      <a:pt x="56" y="114"/>
                    </a:moveTo>
                    <a:cubicBezTo>
                      <a:pt x="25" y="114"/>
                      <a:pt x="0" y="88"/>
                      <a:pt x="0" y="57"/>
                    </a:cubicBezTo>
                    <a:cubicBezTo>
                      <a:pt x="0" y="26"/>
                      <a:pt x="25" y="0"/>
                      <a:pt x="56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88"/>
                      <a:pt x="88" y="114"/>
                      <a:pt x="56" y="114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484">
                <a:extLst>
                  <a:ext uri="{FF2B5EF4-FFF2-40B4-BE49-F238E27FC236}">
                    <a16:creationId xmlns:a16="http://schemas.microsoft.com/office/drawing/2014/main" id="{047BF516-63AE-5FF4-9FDF-AE2E47F35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796" y="2559971"/>
                <a:ext cx="74132" cy="63542"/>
              </a:xfrm>
              <a:custGeom>
                <a:avLst/>
                <a:gdLst>
                  <a:gd name="T0" fmla="*/ 73 w 214"/>
                  <a:gd name="T1" fmla="*/ 184 h 184"/>
                  <a:gd name="T2" fmla="*/ 0 w 214"/>
                  <a:gd name="T3" fmla="*/ 184 h 184"/>
                  <a:gd name="T4" fmla="*/ 0 w 214"/>
                  <a:gd name="T5" fmla="*/ 167 h 184"/>
                  <a:gd name="T6" fmla="*/ 73 w 214"/>
                  <a:gd name="T7" fmla="*/ 167 h 184"/>
                  <a:gd name="T8" fmla="*/ 112 w 214"/>
                  <a:gd name="T9" fmla="*/ 128 h 184"/>
                  <a:gd name="T10" fmla="*/ 112 w 214"/>
                  <a:gd name="T11" fmla="*/ 55 h 184"/>
                  <a:gd name="T12" fmla="*/ 168 w 214"/>
                  <a:gd name="T13" fmla="*/ 0 h 184"/>
                  <a:gd name="T14" fmla="*/ 214 w 214"/>
                  <a:gd name="T15" fmla="*/ 0 h 184"/>
                  <a:gd name="T16" fmla="*/ 214 w 214"/>
                  <a:gd name="T17" fmla="*/ 16 h 184"/>
                  <a:gd name="T18" fmla="*/ 168 w 214"/>
                  <a:gd name="T19" fmla="*/ 16 h 184"/>
                  <a:gd name="T20" fmla="*/ 129 w 214"/>
                  <a:gd name="T21" fmla="*/ 55 h 184"/>
                  <a:gd name="T22" fmla="*/ 129 w 214"/>
                  <a:gd name="T23" fmla="*/ 128 h 184"/>
                  <a:gd name="T24" fmla="*/ 73 w 214"/>
                  <a:gd name="T25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4" h="184">
                    <a:moveTo>
                      <a:pt x="73" y="184"/>
                    </a:moveTo>
                    <a:lnTo>
                      <a:pt x="0" y="184"/>
                    </a:lnTo>
                    <a:lnTo>
                      <a:pt x="0" y="167"/>
                    </a:lnTo>
                    <a:lnTo>
                      <a:pt x="73" y="167"/>
                    </a:lnTo>
                    <a:cubicBezTo>
                      <a:pt x="95" y="167"/>
                      <a:pt x="112" y="149"/>
                      <a:pt x="112" y="128"/>
                    </a:cubicBezTo>
                    <a:lnTo>
                      <a:pt x="112" y="55"/>
                    </a:lnTo>
                    <a:cubicBezTo>
                      <a:pt x="112" y="25"/>
                      <a:pt x="137" y="0"/>
                      <a:pt x="168" y="0"/>
                    </a:cubicBezTo>
                    <a:lnTo>
                      <a:pt x="214" y="0"/>
                    </a:lnTo>
                    <a:lnTo>
                      <a:pt x="214" y="16"/>
                    </a:lnTo>
                    <a:lnTo>
                      <a:pt x="168" y="16"/>
                    </a:lnTo>
                    <a:cubicBezTo>
                      <a:pt x="146" y="16"/>
                      <a:pt x="129" y="34"/>
                      <a:pt x="129" y="55"/>
                    </a:cubicBezTo>
                    <a:lnTo>
                      <a:pt x="129" y="128"/>
                    </a:lnTo>
                    <a:cubicBezTo>
                      <a:pt x="129" y="159"/>
                      <a:pt x="104" y="184"/>
                      <a:pt x="73" y="184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485">
                <a:extLst>
                  <a:ext uri="{FF2B5EF4-FFF2-40B4-BE49-F238E27FC236}">
                    <a16:creationId xmlns:a16="http://schemas.microsoft.com/office/drawing/2014/main" id="{EBB444F1-CFCB-E8E2-87F2-8F240F6F64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40484" y="2542863"/>
                <a:ext cx="39103" cy="39103"/>
              </a:xfrm>
              <a:custGeom>
                <a:avLst/>
                <a:gdLst>
                  <a:gd name="T0" fmla="*/ 56 w 113"/>
                  <a:gd name="T1" fmla="*/ 17 h 114"/>
                  <a:gd name="T2" fmla="*/ 16 w 113"/>
                  <a:gd name="T3" fmla="*/ 57 h 114"/>
                  <a:gd name="T4" fmla="*/ 56 w 113"/>
                  <a:gd name="T5" fmla="*/ 97 h 114"/>
                  <a:gd name="T6" fmla="*/ 97 w 113"/>
                  <a:gd name="T7" fmla="*/ 57 h 114"/>
                  <a:gd name="T8" fmla="*/ 56 w 113"/>
                  <a:gd name="T9" fmla="*/ 17 h 114"/>
                  <a:gd name="T10" fmla="*/ 56 w 113"/>
                  <a:gd name="T11" fmla="*/ 114 h 114"/>
                  <a:gd name="T12" fmla="*/ 0 w 113"/>
                  <a:gd name="T13" fmla="*/ 57 h 114"/>
                  <a:gd name="T14" fmla="*/ 56 w 113"/>
                  <a:gd name="T15" fmla="*/ 0 h 114"/>
                  <a:gd name="T16" fmla="*/ 113 w 113"/>
                  <a:gd name="T17" fmla="*/ 57 h 114"/>
                  <a:gd name="T18" fmla="*/ 56 w 113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3" h="114">
                    <a:moveTo>
                      <a:pt x="56" y="17"/>
                    </a:moveTo>
                    <a:cubicBezTo>
                      <a:pt x="34" y="17"/>
                      <a:pt x="16" y="35"/>
                      <a:pt x="16" y="57"/>
                    </a:cubicBezTo>
                    <a:cubicBezTo>
                      <a:pt x="16" y="79"/>
                      <a:pt x="34" y="97"/>
                      <a:pt x="56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5"/>
                      <a:pt x="79" y="17"/>
                      <a:pt x="56" y="17"/>
                    </a:cubicBezTo>
                    <a:close/>
                    <a:moveTo>
                      <a:pt x="56" y="114"/>
                    </a:moveTo>
                    <a:cubicBezTo>
                      <a:pt x="25" y="114"/>
                      <a:pt x="0" y="88"/>
                      <a:pt x="0" y="57"/>
                    </a:cubicBezTo>
                    <a:cubicBezTo>
                      <a:pt x="0" y="26"/>
                      <a:pt x="25" y="0"/>
                      <a:pt x="56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88"/>
                      <a:pt x="88" y="114"/>
                      <a:pt x="56" y="114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486">
                <a:extLst>
                  <a:ext uri="{FF2B5EF4-FFF2-40B4-BE49-F238E27FC236}">
                    <a16:creationId xmlns:a16="http://schemas.microsoft.com/office/drawing/2014/main" id="{C0D8CF1F-CCD4-BC2B-5AB6-7A160347D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04640" y="2674835"/>
                <a:ext cx="101015" cy="5703"/>
              </a:xfrm>
              <a:prstGeom prst="rect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487">
                <a:extLst>
                  <a:ext uri="{FF2B5EF4-FFF2-40B4-BE49-F238E27FC236}">
                    <a16:creationId xmlns:a16="http://schemas.microsoft.com/office/drawing/2014/main" id="{5E3FDB09-E053-85EB-EB60-12A4F0469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25620" y="2674835"/>
                <a:ext cx="63542" cy="5703"/>
              </a:xfrm>
              <a:prstGeom prst="rect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 488">
                <a:extLst>
                  <a:ext uri="{FF2B5EF4-FFF2-40B4-BE49-F238E27FC236}">
                    <a16:creationId xmlns:a16="http://schemas.microsoft.com/office/drawing/2014/main" id="{A4D8000C-1808-1976-A872-171037FD63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04026" y="2657728"/>
                <a:ext cx="39103" cy="39103"/>
              </a:xfrm>
              <a:custGeom>
                <a:avLst/>
                <a:gdLst>
                  <a:gd name="T0" fmla="*/ 57 w 114"/>
                  <a:gd name="T1" fmla="*/ 16 h 113"/>
                  <a:gd name="T2" fmla="*/ 17 w 114"/>
                  <a:gd name="T3" fmla="*/ 57 h 113"/>
                  <a:gd name="T4" fmla="*/ 57 w 114"/>
                  <a:gd name="T5" fmla="*/ 97 h 113"/>
                  <a:gd name="T6" fmla="*/ 97 w 114"/>
                  <a:gd name="T7" fmla="*/ 57 h 113"/>
                  <a:gd name="T8" fmla="*/ 57 w 114"/>
                  <a:gd name="T9" fmla="*/ 16 h 113"/>
                  <a:gd name="T10" fmla="*/ 57 w 114"/>
                  <a:gd name="T11" fmla="*/ 113 h 113"/>
                  <a:gd name="T12" fmla="*/ 0 w 114"/>
                  <a:gd name="T13" fmla="*/ 57 h 113"/>
                  <a:gd name="T14" fmla="*/ 57 w 114"/>
                  <a:gd name="T15" fmla="*/ 0 h 113"/>
                  <a:gd name="T16" fmla="*/ 114 w 114"/>
                  <a:gd name="T17" fmla="*/ 57 h 113"/>
                  <a:gd name="T18" fmla="*/ 57 w 114"/>
                  <a:gd name="T19" fmla="*/ 11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3">
                    <a:moveTo>
                      <a:pt x="57" y="16"/>
                    </a:moveTo>
                    <a:cubicBezTo>
                      <a:pt x="35" y="16"/>
                      <a:pt x="17" y="34"/>
                      <a:pt x="17" y="57"/>
                    </a:cubicBezTo>
                    <a:cubicBezTo>
                      <a:pt x="17" y="79"/>
                      <a:pt x="35" y="97"/>
                      <a:pt x="57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4"/>
                      <a:pt x="79" y="16"/>
                      <a:pt x="57" y="16"/>
                    </a:cubicBezTo>
                    <a:close/>
                    <a:moveTo>
                      <a:pt x="57" y="113"/>
                    </a:moveTo>
                    <a:cubicBezTo>
                      <a:pt x="25" y="113"/>
                      <a:pt x="0" y="88"/>
                      <a:pt x="0" y="57"/>
                    </a:cubicBezTo>
                    <a:cubicBezTo>
                      <a:pt x="0" y="25"/>
                      <a:pt x="25" y="0"/>
                      <a:pt x="57" y="0"/>
                    </a:cubicBezTo>
                    <a:cubicBezTo>
                      <a:pt x="88" y="0"/>
                      <a:pt x="114" y="25"/>
                      <a:pt x="114" y="57"/>
                    </a:cubicBezTo>
                    <a:cubicBezTo>
                      <a:pt x="114" y="88"/>
                      <a:pt x="88" y="113"/>
                      <a:pt x="57" y="113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Freeform 489">
                <a:extLst>
                  <a:ext uri="{FF2B5EF4-FFF2-40B4-BE49-F238E27FC236}">
                    <a16:creationId xmlns:a16="http://schemas.microsoft.com/office/drawing/2014/main" id="{66E11C1C-D1E8-7D8A-4C81-ABE26C8C7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8265" y="2524941"/>
                <a:ext cx="79835" cy="98571"/>
              </a:xfrm>
              <a:custGeom>
                <a:avLst/>
                <a:gdLst>
                  <a:gd name="T0" fmla="*/ 139 w 232"/>
                  <a:gd name="T1" fmla="*/ 283 h 283"/>
                  <a:gd name="T2" fmla="*/ 0 w 232"/>
                  <a:gd name="T3" fmla="*/ 283 h 283"/>
                  <a:gd name="T4" fmla="*/ 0 w 232"/>
                  <a:gd name="T5" fmla="*/ 266 h 283"/>
                  <a:gd name="T6" fmla="*/ 139 w 232"/>
                  <a:gd name="T7" fmla="*/ 266 h 283"/>
                  <a:gd name="T8" fmla="*/ 215 w 232"/>
                  <a:gd name="T9" fmla="*/ 189 h 283"/>
                  <a:gd name="T10" fmla="*/ 215 w 232"/>
                  <a:gd name="T11" fmla="*/ 0 h 283"/>
                  <a:gd name="T12" fmla="*/ 232 w 232"/>
                  <a:gd name="T13" fmla="*/ 0 h 283"/>
                  <a:gd name="T14" fmla="*/ 232 w 232"/>
                  <a:gd name="T15" fmla="*/ 189 h 283"/>
                  <a:gd name="T16" fmla="*/ 139 w 232"/>
                  <a:gd name="T17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2" h="283">
                    <a:moveTo>
                      <a:pt x="139" y="283"/>
                    </a:moveTo>
                    <a:lnTo>
                      <a:pt x="0" y="283"/>
                    </a:lnTo>
                    <a:lnTo>
                      <a:pt x="0" y="266"/>
                    </a:lnTo>
                    <a:lnTo>
                      <a:pt x="139" y="266"/>
                    </a:lnTo>
                    <a:cubicBezTo>
                      <a:pt x="181" y="266"/>
                      <a:pt x="215" y="232"/>
                      <a:pt x="215" y="189"/>
                    </a:cubicBezTo>
                    <a:lnTo>
                      <a:pt x="215" y="0"/>
                    </a:lnTo>
                    <a:lnTo>
                      <a:pt x="232" y="0"/>
                    </a:lnTo>
                    <a:lnTo>
                      <a:pt x="232" y="189"/>
                    </a:lnTo>
                    <a:cubicBezTo>
                      <a:pt x="232" y="241"/>
                      <a:pt x="190" y="283"/>
                      <a:pt x="139" y="283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Freeform 490">
                <a:extLst>
                  <a:ext uri="{FF2B5EF4-FFF2-40B4-BE49-F238E27FC236}">
                    <a16:creationId xmlns:a16="http://schemas.microsoft.com/office/drawing/2014/main" id="{E395ABD3-1DBF-6D19-9783-273DC65AB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65738" y="2592557"/>
                <a:ext cx="96127" cy="58654"/>
              </a:xfrm>
              <a:custGeom>
                <a:avLst/>
                <a:gdLst>
                  <a:gd name="T0" fmla="*/ 41 w 278"/>
                  <a:gd name="T1" fmla="*/ 170 h 170"/>
                  <a:gd name="T2" fmla="*/ 0 w 278"/>
                  <a:gd name="T3" fmla="*/ 170 h 170"/>
                  <a:gd name="T4" fmla="*/ 0 w 278"/>
                  <a:gd name="T5" fmla="*/ 153 h 170"/>
                  <a:gd name="T6" fmla="*/ 41 w 278"/>
                  <a:gd name="T7" fmla="*/ 153 h 170"/>
                  <a:gd name="T8" fmla="*/ 105 w 278"/>
                  <a:gd name="T9" fmla="*/ 131 h 170"/>
                  <a:gd name="T10" fmla="*/ 267 w 278"/>
                  <a:gd name="T11" fmla="*/ 0 h 170"/>
                  <a:gd name="T12" fmla="*/ 278 w 278"/>
                  <a:gd name="T13" fmla="*/ 13 h 170"/>
                  <a:gd name="T14" fmla="*/ 115 w 278"/>
                  <a:gd name="T15" fmla="*/ 144 h 170"/>
                  <a:gd name="T16" fmla="*/ 41 w 278"/>
                  <a:gd name="T17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8" h="170">
                    <a:moveTo>
                      <a:pt x="41" y="170"/>
                    </a:moveTo>
                    <a:lnTo>
                      <a:pt x="0" y="170"/>
                    </a:lnTo>
                    <a:lnTo>
                      <a:pt x="0" y="153"/>
                    </a:lnTo>
                    <a:lnTo>
                      <a:pt x="41" y="153"/>
                    </a:lnTo>
                    <a:cubicBezTo>
                      <a:pt x="64" y="153"/>
                      <a:pt x="87" y="145"/>
                      <a:pt x="105" y="131"/>
                    </a:cubicBezTo>
                    <a:lnTo>
                      <a:pt x="267" y="0"/>
                    </a:lnTo>
                    <a:lnTo>
                      <a:pt x="278" y="13"/>
                    </a:lnTo>
                    <a:lnTo>
                      <a:pt x="115" y="144"/>
                    </a:lnTo>
                    <a:cubicBezTo>
                      <a:pt x="94" y="160"/>
                      <a:pt x="68" y="170"/>
                      <a:pt x="41" y="170"/>
                    </a:cubicBezTo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 491">
                <a:extLst>
                  <a:ext uri="{FF2B5EF4-FFF2-40B4-BE49-F238E27FC236}">
                    <a16:creationId xmlns:a16="http://schemas.microsoft.com/office/drawing/2014/main" id="{C2C9A1E1-0C8A-2011-BD5E-2996182F0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55762" y="2645508"/>
                <a:ext cx="85537" cy="5703"/>
              </a:xfrm>
              <a:prstGeom prst="rect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Rectangle 492">
                <a:extLst>
                  <a:ext uri="{FF2B5EF4-FFF2-40B4-BE49-F238E27FC236}">
                    <a16:creationId xmlns:a16="http://schemas.microsoft.com/office/drawing/2014/main" id="{6D26E179-1DB7-D8B8-E9A7-C8333B7BB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2952" y="2645508"/>
                <a:ext cx="11405" cy="5703"/>
              </a:xfrm>
              <a:prstGeom prst="rect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 493">
                <a:extLst>
                  <a:ext uri="{FF2B5EF4-FFF2-40B4-BE49-F238E27FC236}">
                    <a16:creationId xmlns:a16="http://schemas.microsoft.com/office/drawing/2014/main" id="{951A641F-AE95-845A-D1B1-D4EB23307F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86104" y="2488283"/>
                <a:ext cx="39103" cy="39918"/>
              </a:xfrm>
              <a:custGeom>
                <a:avLst/>
                <a:gdLst>
                  <a:gd name="T0" fmla="*/ 57 w 113"/>
                  <a:gd name="T1" fmla="*/ 17 h 114"/>
                  <a:gd name="T2" fmla="*/ 16 w 113"/>
                  <a:gd name="T3" fmla="*/ 57 h 114"/>
                  <a:gd name="T4" fmla="*/ 57 w 113"/>
                  <a:gd name="T5" fmla="*/ 97 h 114"/>
                  <a:gd name="T6" fmla="*/ 97 w 113"/>
                  <a:gd name="T7" fmla="*/ 57 h 114"/>
                  <a:gd name="T8" fmla="*/ 57 w 113"/>
                  <a:gd name="T9" fmla="*/ 17 h 114"/>
                  <a:gd name="T10" fmla="*/ 57 w 113"/>
                  <a:gd name="T11" fmla="*/ 114 h 114"/>
                  <a:gd name="T12" fmla="*/ 0 w 113"/>
                  <a:gd name="T13" fmla="*/ 57 h 114"/>
                  <a:gd name="T14" fmla="*/ 57 w 113"/>
                  <a:gd name="T15" fmla="*/ 0 h 114"/>
                  <a:gd name="T16" fmla="*/ 113 w 113"/>
                  <a:gd name="T17" fmla="*/ 57 h 114"/>
                  <a:gd name="T18" fmla="*/ 57 w 113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3" h="114">
                    <a:moveTo>
                      <a:pt x="57" y="17"/>
                    </a:moveTo>
                    <a:cubicBezTo>
                      <a:pt x="34" y="17"/>
                      <a:pt x="16" y="35"/>
                      <a:pt x="16" y="57"/>
                    </a:cubicBezTo>
                    <a:cubicBezTo>
                      <a:pt x="16" y="79"/>
                      <a:pt x="34" y="97"/>
                      <a:pt x="57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5"/>
                      <a:pt x="79" y="17"/>
                      <a:pt x="57" y="17"/>
                    </a:cubicBezTo>
                    <a:close/>
                    <a:moveTo>
                      <a:pt x="57" y="114"/>
                    </a:moveTo>
                    <a:cubicBezTo>
                      <a:pt x="25" y="114"/>
                      <a:pt x="0" y="89"/>
                      <a:pt x="0" y="57"/>
                    </a:cubicBezTo>
                    <a:cubicBezTo>
                      <a:pt x="0" y="26"/>
                      <a:pt x="25" y="0"/>
                      <a:pt x="57" y="0"/>
                    </a:cubicBezTo>
                    <a:cubicBezTo>
                      <a:pt x="88" y="0"/>
                      <a:pt x="113" y="26"/>
                      <a:pt x="113" y="57"/>
                    </a:cubicBezTo>
                    <a:cubicBezTo>
                      <a:pt x="113" y="89"/>
                      <a:pt x="88" y="114"/>
                      <a:pt x="57" y="114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494">
                <a:extLst>
                  <a:ext uri="{FF2B5EF4-FFF2-40B4-BE49-F238E27FC236}">
                    <a16:creationId xmlns:a16="http://schemas.microsoft.com/office/drawing/2014/main" id="{01BE72D6-0D86-B57A-DD1F-FE9CA71F81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52904" y="2565673"/>
                <a:ext cx="39918" cy="39103"/>
              </a:xfrm>
              <a:custGeom>
                <a:avLst/>
                <a:gdLst>
                  <a:gd name="T0" fmla="*/ 57 w 114"/>
                  <a:gd name="T1" fmla="*/ 16 h 113"/>
                  <a:gd name="T2" fmla="*/ 17 w 114"/>
                  <a:gd name="T3" fmla="*/ 57 h 113"/>
                  <a:gd name="T4" fmla="*/ 57 w 114"/>
                  <a:gd name="T5" fmla="*/ 97 h 113"/>
                  <a:gd name="T6" fmla="*/ 97 w 114"/>
                  <a:gd name="T7" fmla="*/ 57 h 113"/>
                  <a:gd name="T8" fmla="*/ 57 w 114"/>
                  <a:gd name="T9" fmla="*/ 16 h 113"/>
                  <a:gd name="T10" fmla="*/ 57 w 114"/>
                  <a:gd name="T11" fmla="*/ 113 h 113"/>
                  <a:gd name="T12" fmla="*/ 0 w 114"/>
                  <a:gd name="T13" fmla="*/ 57 h 113"/>
                  <a:gd name="T14" fmla="*/ 57 w 114"/>
                  <a:gd name="T15" fmla="*/ 0 h 113"/>
                  <a:gd name="T16" fmla="*/ 114 w 114"/>
                  <a:gd name="T17" fmla="*/ 57 h 113"/>
                  <a:gd name="T18" fmla="*/ 57 w 114"/>
                  <a:gd name="T19" fmla="*/ 11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3">
                    <a:moveTo>
                      <a:pt x="57" y="16"/>
                    </a:moveTo>
                    <a:cubicBezTo>
                      <a:pt x="35" y="16"/>
                      <a:pt x="17" y="34"/>
                      <a:pt x="17" y="57"/>
                    </a:cubicBezTo>
                    <a:cubicBezTo>
                      <a:pt x="17" y="79"/>
                      <a:pt x="35" y="97"/>
                      <a:pt x="57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4"/>
                      <a:pt x="79" y="16"/>
                      <a:pt x="57" y="16"/>
                    </a:cubicBezTo>
                    <a:close/>
                    <a:moveTo>
                      <a:pt x="57" y="113"/>
                    </a:moveTo>
                    <a:cubicBezTo>
                      <a:pt x="26" y="113"/>
                      <a:pt x="0" y="88"/>
                      <a:pt x="0" y="57"/>
                    </a:cubicBezTo>
                    <a:cubicBezTo>
                      <a:pt x="0" y="25"/>
                      <a:pt x="26" y="0"/>
                      <a:pt x="57" y="0"/>
                    </a:cubicBezTo>
                    <a:cubicBezTo>
                      <a:pt x="88" y="0"/>
                      <a:pt x="114" y="25"/>
                      <a:pt x="114" y="57"/>
                    </a:cubicBezTo>
                    <a:cubicBezTo>
                      <a:pt x="114" y="88"/>
                      <a:pt x="88" y="113"/>
                      <a:pt x="57" y="113"/>
                    </a:cubicBezTo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495">
                <a:extLst>
                  <a:ext uri="{FF2B5EF4-FFF2-40B4-BE49-F238E27FC236}">
                    <a16:creationId xmlns:a16="http://schemas.microsoft.com/office/drawing/2014/main" id="{C887F98D-EB96-7269-5E58-220BB91B3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796" y="2702533"/>
                <a:ext cx="193070" cy="58654"/>
              </a:xfrm>
              <a:custGeom>
                <a:avLst/>
                <a:gdLst>
                  <a:gd name="T0" fmla="*/ 546 w 557"/>
                  <a:gd name="T1" fmla="*/ 169 h 169"/>
                  <a:gd name="T2" fmla="*/ 384 w 557"/>
                  <a:gd name="T3" fmla="*/ 39 h 169"/>
                  <a:gd name="T4" fmla="*/ 320 w 557"/>
                  <a:gd name="T5" fmla="*/ 16 h 169"/>
                  <a:gd name="T6" fmla="*/ 0 w 557"/>
                  <a:gd name="T7" fmla="*/ 16 h 169"/>
                  <a:gd name="T8" fmla="*/ 0 w 557"/>
                  <a:gd name="T9" fmla="*/ 0 h 169"/>
                  <a:gd name="T10" fmla="*/ 320 w 557"/>
                  <a:gd name="T11" fmla="*/ 0 h 169"/>
                  <a:gd name="T12" fmla="*/ 394 w 557"/>
                  <a:gd name="T13" fmla="*/ 26 h 169"/>
                  <a:gd name="T14" fmla="*/ 557 w 557"/>
                  <a:gd name="T15" fmla="*/ 156 h 169"/>
                  <a:gd name="T16" fmla="*/ 546 w 557"/>
                  <a:gd name="T17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7" h="169">
                    <a:moveTo>
                      <a:pt x="546" y="169"/>
                    </a:moveTo>
                    <a:lnTo>
                      <a:pt x="384" y="39"/>
                    </a:lnTo>
                    <a:cubicBezTo>
                      <a:pt x="366" y="24"/>
                      <a:pt x="343" y="16"/>
                      <a:pt x="320" y="16"/>
                    </a:cubicBezTo>
                    <a:lnTo>
                      <a:pt x="0" y="16"/>
                    </a:lnTo>
                    <a:lnTo>
                      <a:pt x="0" y="0"/>
                    </a:lnTo>
                    <a:lnTo>
                      <a:pt x="320" y="0"/>
                    </a:lnTo>
                    <a:cubicBezTo>
                      <a:pt x="347" y="0"/>
                      <a:pt x="373" y="9"/>
                      <a:pt x="394" y="26"/>
                    </a:cubicBezTo>
                    <a:lnTo>
                      <a:pt x="557" y="156"/>
                    </a:lnTo>
                    <a:lnTo>
                      <a:pt x="546" y="169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96">
                <a:extLst>
                  <a:ext uri="{FF2B5EF4-FFF2-40B4-BE49-F238E27FC236}">
                    <a16:creationId xmlns:a16="http://schemas.microsoft.com/office/drawing/2014/main" id="{A618192E-9715-8D68-9B07-BEB27D1B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5986" y="2702533"/>
                <a:ext cx="11405" cy="5703"/>
              </a:xfrm>
              <a:prstGeom prst="rect">
                <a:avLst/>
              </a:prstGeom>
              <a:noFill/>
              <a:ln w="9525">
                <a:solidFill>
                  <a:schemeClr val="accent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497">
                <a:extLst>
                  <a:ext uri="{FF2B5EF4-FFF2-40B4-BE49-F238E27FC236}">
                    <a16:creationId xmlns:a16="http://schemas.microsoft.com/office/drawing/2014/main" id="{CA90D61A-23C7-23EF-C770-4E6B241295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52904" y="2748967"/>
                <a:ext cx="39918" cy="39103"/>
              </a:xfrm>
              <a:custGeom>
                <a:avLst/>
                <a:gdLst>
                  <a:gd name="T0" fmla="*/ 57 w 114"/>
                  <a:gd name="T1" fmla="*/ 17 h 114"/>
                  <a:gd name="T2" fmla="*/ 17 w 114"/>
                  <a:gd name="T3" fmla="*/ 57 h 114"/>
                  <a:gd name="T4" fmla="*/ 57 w 114"/>
                  <a:gd name="T5" fmla="*/ 97 h 114"/>
                  <a:gd name="T6" fmla="*/ 97 w 114"/>
                  <a:gd name="T7" fmla="*/ 57 h 114"/>
                  <a:gd name="T8" fmla="*/ 57 w 114"/>
                  <a:gd name="T9" fmla="*/ 17 h 114"/>
                  <a:gd name="T10" fmla="*/ 57 w 114"/>
                  <a:gd name="T11" fmla="*/ 114 h 114"/>
                  <a:gd name="T12" fmla="*/ 0 w 114"/>
                  <a:gd name="T13" fmla="*/ 57 h 114"/>
                  <a:gd name="T14" fmla="*/ 57 w 114"/>
                  <a:gd name="T15" fmla="*/ 0 h 114"/>
                  <a:gd name="T16" fmla="*/ 114 w 114"/>
                  <a:gd name="T17" fmla="*/ 57 h 114"/>
                  <a:gd name="T18" fmla="*/ 57 w 114"/>
                  <a:gd name="T19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" h="114">
                    <a:moveTo>
                      <a:pt x="57" y="17"/>
                    </a:moveTo>
                    <a:cubicBezTo>
                      <a:pt x="35" y="17"/>
                      <a:pt x="17" y="35"/>
                      <a:pt x="17" y="57"/>
                    </a:cubicBezTo>
                    <a:cubicBezTo>
                      <a:pt x="17" y="79"/>
                      <a:pt x="35" y="97"/>
                      <a:pt x="57" y="97"/>
                    </a:cubicBezTo>
                    <a:cubicBezTo>
                      <a:pt x="79" y="97"/>
                      <a:pt x="97" y="79"/>
                      <a:pt x="97" y="57"/>
                    </a:cubicBezTo>
                    <a:cubicBezTo>
                      <a:pt x="97" y="35"/>
                      <a:pt x="79" y="17"/>
                      <a:pt x="57" y="17"/>
                    </a:cubicBezTo>
                    <a:close/>
                    <a:moveTo>
                      <a:pt x="57" y="114"/>
                    </a:moveTo>
                    <a:cubicBezTo>
                      <a:pt x="26" y="114"/>
                      <a:pt x="0" y="88"/>
                      <a:pt x="0" y="57"/>
                    </a:cubicBezTo>
                    <a:cubicBezTo>
                      <a:pt x="0" y="26"/>
                      <a:pt x="26" y="0"/>
                      <a:pt x="57" y="0"/>
                    </a:cubicBezTo>
                    <a:cubicBezTo>
                      <a:pt x="88" y="0"/>
                      <a:pt x="114" y="26"/>
                      <a:pt x="114" y="57"/>
                    </a:cubicBezTo>
                    <a:cubicBezTo>
                      <a:pt x="114" y="88"/>
                      <a:pt x="88" y="114"/>
                      <a:pt x="57" y="114"/>
                    </a:cubicBezTo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498">
                <a:extLst>
                  <a:ext uri="{FF2B5EF4-FFF2-40B4-BE49-F238E27FC236}">
                    <a16:creationId xmlns:a16="http://schemas.microsoft.com/office/drawing/2014/main" id="{1E434FB2-DA3C-4F1A-B129-B78E74AB9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4440" y="2595815"/>
                <a:ext cx="84723" cy="169445"/>
              </a:xfrm>
              <a:custGeom>
                <a:avLst/>
                <a:gdLst>
                  <a:gd name="T0" fmla="*/ 245 w 245"/>
                  <a:gd name="T1" fmla="*/ 489 h 489"/>
                  <a:gd name="T2" fmla="*/ 0 w 245"/>
                  <a:gd name="T3" fmla="*/ 245 h 489"/>
                  <a:gd name="T4" fmla="*/ 245 w 245"/>
                  <a:gd name="T5" fmla="*/ 0 h 489"/>
                  <a:gd name="T6" fmla="*/ 245 w 245"/>
                  <a:gd name="T7" fmla="*/ 17 h 489"/>
                  <a:gd name="T8" fmla="*/ 17 w 245"/>
                  <a:gd name="T9" fmla="*/ 245 h 489"/>
                  <a:gd name="T10" fmla="*/ 245 w 245"/>
                  <a:gd name="T11" fmla="*/ 472 h 489"/>
                  <a:gd name="T12" fmla="*/ 245 w 245"/>
                  <a:gd name="T13" fmla="*/ 489 h 4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5" h="489">
                    <a:moveTo>
                      <a:pt x="245" y="489"/>
                    </a:moveTo>
                    <a:cubicBezTo>
                      <a:pt x="110" y="489"/>
                      <a:pt x="0" y="379"/>
                      <a:pt x="0" y="245"/>
                    </a:cubicBezTo>
                    <a:cubicBezTo>
                      <a:pt x="0" y="110"/>
                      <a:pt x="110" y="0"/>
                      <a:pt x="245" y="0"/>
                    </a:cubicBezTo>
                    <a:lnTo>
                      <a:pt x="245" y="17"/>
                    </a:lnTo>
                    <a:cubicBezTo>
                      <a:pt x="119" y="17"/>
                      <a:pt x="17" y="119"/>
                      <a:pt x="17" y="245"/>
                    </a:cubicBezTo>
                    <a:cubicBezTo>
                      <a:pt x="17" y="370"/>
                      <a:pt x="119" y="472"/>
                      <a:pt x="245" y="472"/>
                    </a:cubicBezTo>
                    <a:lnTo>
                      <a:pt x="245" y="489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499">
                <a:extLst>
                  <a:ext uri="{FF2B5EF4-FFF2-40B4-BE49-F238E27FC236}">
                    <a16:creationId xmlns:a16="http://schemas.microsoft.com/office/drawing/2014/main" id="{96A0A13B-D766-FB03-1272-E729882E61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5868" y="2497244"/>
                <a:ext cx="183294" cy="366587"/>
              </a:xfrm>
              <a:custGeom>
                <a:avLst/>
                <a:gdLst>
                  <a:gd name="T0" fmla="*/ 470 w 530"/>
                  <a:gd name="T1" fmla="*/ 1059 h 1059"/>
                  <a:gd name="T2" fmla="*/ 416 w 530"/>
                  <a:gd name="T3" fmla="*/ 971 h 1059"/>
                  <a:gd name="T4" fmla="*/ 346 w 530"/>
                  <a:gd name="T5" fmla="*/ 914 h 1059"/>
                  <a:gd name="T6" fmla="*/ 273 w 530"/>
                  <a:gd name="T7" fmla="*/ 946 h 1059"/>
                  <a:gd name="T8" fmla="*/ 113 w 530"/>
                  <a:gd name="T9" fmla="*/ 862 h 1059"/>
                  <a:gd name="T10" fmla="*/ 137 w 530"/>
                  <a:gd name="T11" fmla="*/ 761 h 1059"/>
                  <a:gd name="T12" fmla="*/ 128 w 530"/>
                  <a:gd name="T13" fmla="*/ 671 h 1059"/>
                  <a:gd name="T14" fmla="*/ 54 w 530"/>
                  <a:gd name="T15" fmla="*/ 643 h 1059"/>
                  <a:gd name="T16" fmla="*/ 0 w 530"/>
                  <a:gd name="T17" fmla="*/ 470 h 1059"/>
                  <a:gd name="T18" fmla="*/ 87 w 530"/>
                  <a:gd name="T19" fmla="*/ 416 h 1059"/>
                  <a:gd name="T20" fmla="*/ 145 w 530"/>
                  <a:gd name="T21" fmla="*/ 346 h 1059"/>
                  <a:gd name="T22" fmla="*/ 113 w 530"/>
                  <a:gd name="T23" fmla="*/ 273 h 1059"/>
                  <a:gd name="T24" fmla="*/ 113 w 530"/>
                  <a:gd name="T25" fmla="*/ 197 h 1059"/>
                  <a:gd name="T26" fmla="*/ 236 w 530"/>
                  <a:gd name="T27" fmla="*/ 98 h 1059"/>
                  <a:gd name="T28" fmla="*/ 298 w 530"/>
                  <a:gd name="T29" fmla="*/ 137 h 1059"/>
                  <a:gd name="T30" fmla="*/ 388 w 530"/>
                  <a:gd name="T31" fmla="*/ 128 h 1059"/>
                  <a:gd name="T32" fmla="*/ 416 w 530"/>
                  <a:gd name="T33" fmla="*/ 54 h 1059"/>
                  <a:gd name="T34" fmla="*/ 530 w 530"/>
                  <a:gd name="T35" fmla="*/ 0 h 1059"/>
                  <a:gd name="T36" fmla="*/ 470 w 530"/>
                  <a:gd name="T37" fmla="*/ 17 h 1059"/>
                  <a:gd name="T38" fmla="*/ 433 w 530"/>
                  <a:gd name="T39" fmla="*/ 87 h 1059"/>
                  <a:gd name="T40" fmla="*/ 351 w 530"/>
                  <a:gd name="T41" fmla="*/ 161 h 1059"/>
                  <a:gd name="T42" fmla="*/ 265 w 530"/>
                  <a:gd name="T43" fmla="*/ 128 h 1059"/>
                  <a:gd name="T44" fmla="*/ 209 w 530"/>
                  <a:gd name="T45" fmla="*/ 125 h 1059"/>
                  <a:gd name="T46" fmla="*/ 114 w 530"/>
                  <a:gd name="T47" fmla="*/ 235 h 1059"/>
                  <a:gd name="T48" fmla="*/ 148 w 530"/>
                  <a:gd name="T49" fmla="*/ 285 h 1059"/>
                  <a:gd name="T50" fmla="*/ 143 w 530"/>
                  <a:gd name="T51" fmla="*/ 393 h 1059"/>
                  <a:gd name="T52" fmla="*/ 54 w 530"/>
                  <a:gd name="T53" fmla="*/ 433 h 1059"/>
                  <a:gd name="T54" fmla="*/ 17 w 530"/>
                  <a:gd name="T55" fmla="*/ 589 h 1059"/>
                  <a:gd name="T56" fmla="*/ 87 w 530"/>
                  <a:gd name="T57" fmla="*/ 626 h 1059"/>
                  <a:gd name="T58" fmla="*/ 161 w 530"/>
                  <a:gd name="T59" fmla="*/ 708 h 1059"/>
                  <a:gd name="T60" fmla="*/ 128 w 530"/>
                  <a:gd name="T61" fmla="*/ 794 h 1059"/>
                  <a:gd name="T62" fmla="*/ 209 w 530"/>
                  <a:gd name="T63" fmla="*/ 934 h 1059"/>
                  <a:gd name="T64" fmla="*/ 285 w 530"/>
                  <a:gd name="T65" fmla="*/ 911 h 1059"/>
                  <a:gd name="T66" fmla="*/ 395 w 530"/>
                  <a:gd name="T67" fmla="*/ 916 h 1059"/>
                  <a:gd name="T68" fmla="*/ 433 w 530"/>
                  <a:gd name="T69" fmla="*/ 1001 h 1059"/>
                  <a:gd name="T70" fmla="*/ 530 w 530"/>
                  <a:gd name="T71" fmla="*/ 1042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30" h="1059">
                    <a:moveTo>
                      <a:pt x="530" y="1059"/>
                    </a:moveTo>
                    <a:lnTo>
                      <a:pt x="470" y="1059"/>
                    </a:lnTo>
                    <a:cubicBezTo>
                      <a:pt x="439" y="1059"/>
                      <a:pt x="416" y="1034"/>
                      <a:pt x="416" y="1001"/>
                    </a:cubicBezTo>
                    <a:lnTo>
                      <a:pt x="416" y="971"/>
                    </a:lnTo>
                    <a:cubicBezTo>
                      <a:pt x="416" y="953"/>
                      <a:pt x="405" y="937"/>
                      <a:pt x="389" y="932"/>
                    </a:cubicBezTo>
                    <a:cubicBezTo>
                      <a:pt x="374" y="927"/>
                      <a:pt x="360" y="921"/>
                      <a:pt x="346" y="914"/>
                    </a:cubicBezTo>
                    <a:cubicBezTo>
                      <a:pt x="329" y="906"/>
                      <a:pt x="310" y="910"/>
                      <a:pt x="297" y="923"/>
                    </a:cubicBezTo>
                    <a:lnTo>
                      <a:pt x="273" y="946"/>
                    </a:lnTo>
                    <a:cubicBezTo>
                      <a:pt x="252" y="967"/>
                      <a:pt x="218" y="967"/>
                      <a:pt x="197" y="946"/>
                    </a:cubicBezTo>
                    <a:lnTo>
                      <a:pt x="113" y="862"/>
                    </a:lnTo>
                    <a:cubicBezTo>
                      <a:pt x="91" y="840"/>
                      <a:pt x="93" y="806"/>
                      <a:pt x="116" y="782"/>
                    </a:cubicBezTo>
                    <a:lnTo>
                      <a:pt x="137" y="761"/>
                    </a:lnTo>
                    <a:cubicBezTo>
                      <a:pt x="150" y="749"/>
                      <a:pt x="153" y="730"/>
                      <a:pt x="146" y="715"/>
                    </a:cubicBezTo>
                    <a:cubicBezTo>
                      <a:pt x="139" y="701"/>
                      <a:pt x="133" y="686"/>
                      <a:pt x="128" y="671"/>
                    </a:cubicBezTo>
                    <a:cubicBezTo>
                      <a:pt x="122" y="654"/>
                      <a:pt x="105" y="643"/>
                      <a:pt x="87" y="643"/>
                    </a:cubicBezTo>
                    <a:lnTo>
                      <a:pt x="54" y="643"/>
                    </a:lnTo>
                    <a:cubicBezTo>
                      <a:pt x="24" y="643"/>
                      <a:pt x="0" y="619"/>
                      <a:pt x="0" y="589"/>
                    </a:cubicBezTo>
                    <a:lnTo>
                      <a:pt x="0" y="470"/>
                    </a:lnTo>
                    <a:cubicBezTo>
                      <a:pt x="0" y="440"/>
                      <a:pt x="24" y="416"/>
                      <a:pt x="54" y="416"/>
                    </a:cubicBezTo>
                    <a:lnTo>
                      <a:pt x="87" y="416"/>
                    </a:lnTo>
                    <a:cubicBezTo>
                      <a:pt x="105" y="416"/>
                      <a:pt x="122" y="405"/>
                      <a:pt x="128" y="388"/>
                    </a:cubicBezTo>
                    <a:cubicBezTo>
                      <a:pt x="133" y="373"/>
                      <a:pt x="139" y="359"/>
                      <a:pt x="145" y="346"/>
                    </a:cubicBezTo>
                    <a:cubicBezTo>
                      <a:pt x="153" y="329"/>
                      <a:pt x="149" y="310"/>
                      <a:pt x="136" y="297"/>
                    </a:cubicBezTo>
                    <a:lnTo>
                      <a:pt x="113" y="273"/>
                    </a:lnTo>
                    <a:cubicBezTo>
                      <a:pt x="103" y="263"/>
                      <a:pt x="97" y="250"/>
                      <a:pt x="97" y="235"/>
                    </a:cubicBezTo>
                    <a:cubicBezTo>
                      <a:pt x="97" y="221"/>
                      <a:pt x="103" y="207"/>
                      <a:pt x="113" y="197"/>
                    </a:cubicBezTo>
                    <a:lnTo>
                      <a:pt x="197" y="113"/>
                    </a:lnTo>
                    <a:cubicBezTo>
                      <a:pt x="207" y="103"/>
                      <a:pt x="221" y="97"/>
                      <a:pt x="236" y="98"/>
                    </a:cubicBezTo>
                    <a:cubicBezTo>
                      <a:pt x="251" y="98"/>
                      <a:pt x="265" y="105"/>
                      <a:pt x="277" y="116"/>
                    </a:cubicBezTo>
                    <a:lnTo>
                      <a:pt x="298" y="137"/>
                    </a:lnTo>
                    <a:cubicBezTo>
                      <a:pt x="310" y="150"/>
                      <a:pt x="329" y="153"/>
                      <a:pt x="344" y="146"/>
                    </a:cubicBezTo>
                    <a:cubicBezTo>
                      <a:pt x="358" y="139"/>
                      <a:pt x="373" y="133"/>
                      <a:pt x="388" y="128"/>
                    </a:cubicBezTo>
                    <a:cubicBezTo>
                      <a:pt x="405" y="122"/>
                      <a:pt x="416" y="105"/>
                      <a:pt x="416" y="87"/>
                    </a:cubicBezTo>
                    <a:lnTo>
                      <a:pt x="416" y="54"/>
                    </a:lnTo>
                    <a:cubicBezTo>
                      <a:pt x="416" y="24"/>
                      <a:pt x="440" y="0"/>
                      <a:pt x="470" y="0"/>
                    </a:cubicBezTo>
                    <a:lnTo>
                      <a:pt x="530" y="0"/>
                    </a:lnTo>
                    <a:lnTo>
                      <a:pt x="530" y="17"/>
                    </a:lnTo>
                    <a:lnTo>
                      <a:pt x="470" y="17"/>
                    </a:lnTo>
                    <a:cubicBezTo>
                      <a:pt x="450" y="17"/>
                      <a:pt x="433" y="33"/>
                      <a:pt x="433" y="54"/>
                    </a:cubicBezTo>
                    <a:lnTo>
                      <a:pt x="433" y="87"/>
                    </a:lnTo>
                    <a:cubicBezTo>
                      <a:pt x="433" y="112"/>
                      <a:pt x="417" y="135"/>
                      <a:pt x="393" y="143"/>
                    </a:cubicBezTo>
                    <a:cubicBezTo>
                      <a:pt x="379" y="148"/>
                      <a:pt x="365" y="154"/>
                      <a:pt x="351" y="161"/>
                    </a:cubicBezTo>
                    <a:cubicBezTo>
                      <a:pt x="330" y="171"/>
                      <a:pt x="303" y="167"/>
                      <a:pt x="286" y="149"/>
                    </a:cubicBezTo>
                    <a:lnTo>
                      <a:pt x="265" y="128"/>
                    </a:lnTo>
                    <a:cubicBezTo>
                      <a:pt x="256" y="120"/>
                      <a:pt x="246" y="115"/>
                      <a:pt x="235" y="114"/>
                    </a:cubicBezTo>
                    <a:cubicBezTo>
                      <a:pt x="225" y="114"/>
                      <a:pt x="216" y="118"/>
                      <a:pt x="209" y="125"/>
                    </a:cubicBezTo>
                    <a:lnTo>
                      <a:pt x="125" y="209"/>
                    </a:lnTo>
                    <a:cubicBezTo>
                      <a:pt x="118" y="216"/>
                      <a:pt x="114" y="225"/>
                      <a:pt x="114" y="235"/>
                    </a:cubicBezTo>
                    <a:cubicBezTo>
                      <a:pt x="114" y="245"/>
                      <a:pt x="118" y="255"/>
                      <a:pt x="125" y="262"/>
                    </a:cubicBezTo>
                    <a:lnTo>
                      <a:pt x="148" y="285"/>
                    </a:lnTo>
                    <a:cubicBezTo>
                      <a:pt x="166" y="303"/>
                      <a:pt x="171" y="330"/>
                      <a:pt x="160" y="353"/>
                    </a:cubicBezTo>
                    <a:cubicBezTo>
                      <a:pt x="154" y="366"/>
                      <a:pt x="148" y="380"/>
                      <a:pt x="143" y="393"/>
                    </a:cubicBezTo>
                    <a:cubicBezTo>
                      <a:pt x="135" y="417"/>
                      <a:pt x="112" y="433"/>
                      <a:pt x="87" y="433"/>
                    </a:cubicBezTo>
                    <a:lnTo>
                      <a:pt x="54" y="433"/>
                    </a:lnTo>
                    <a:cubicBezTo>
                      <a:pt x="33" y="433"/>
                      <a:pt x="17" y="450"/>
                      <a:pt x="17" y="470"/>
                    </a:cubicBezTo>
                    <a:lnTo>
                      <a:pt x="17" y="589"/>
                    </a:lnTo>
                    <a:cubicBezTo>
                      <a:pt x="17" y="609"/>
                      <a:pt x="33" y="626"/>
                      <a:pt x="54" y="626"/>
                    </a:cubicBezTo>
                    <a:lnTo>
                      <a:pt x="87" y="626"/>
                    </a:lnTo>
                    <a:cubicBezTo>
                      <a:pt x="112" y="626"/>
                      <a:pt x="135" y="642"/>
                      <a:pt x="143" y="666"/>
                    </a:cubicBezTo>
                    <a:cubicBezTo>
                      <a:pt x="148" y="680"/>
                      <a:pt x="154" y="694"/>
                      <a:pt x="161" y="708"/>
                    </a:cubicBezTo>
                    <a:cubicBezTo>
                      <a:pt x="171" y="729"/>
                      <a:pt x="167" y="756"/>
                      <a:pt x="149" y="773"/>
                    </a:cubicBezTo>
                    <a:lnTo>
                      <a:pt x="128" y="794"/>
                    </a:lnTo>
                    <a:cubicBezTo>
                      <a:pt x="111" y="811"/>
                      <a:pt x="110" y="835"/>
                      <a:pt x="125" y="850"/>
                    </a:cubicBezTo>
                    <a:lnTo>
                      <a:pt x="209" y="934"/>
                    </a:lnTo>
                    <a:cubicBezTo>
                      <a:pt x="223" y="949"/>
                      <a:pt x="247" y="949"/>
                      <a:pt x="262" y="934"/>
                    </a:cubicBezTo>
                    <a:lnTo>
                      <a:pt x="285" y="911"/>
                    </a:lnTo>
                    <a:cubicBezTo>
                      <a:pt x="303" y="893"/>
                      <a:pt x="330" y="888"/>
                      <a:pt x="353" y="899"/>
                    </a:cubicBezTo>
                    <a:cubicBezTo>
                      <a:pt x="366" y="905"/>
                      <a:pt x="381" y="911"/>
                      <a:pt x="395" y="916"/>
                    </a:cubicBezTo>
                    <a:cubicBezTo>
                      <a:pt x="418" y="924"/>
                      <a:pt x="433" y="946"/>
                      <a:pt x="433" y="971"/>
                    </a:cubicBezTo>
                    <a:lnTo>
                      <a:pt x="433" y="1001"/>
                    </a:lnTo>
                    <a:cubicBezTo>
                      <a:pt x="433" y="1025"/>
                      <a:pt x="449" y="1042"/>
                      <a:pt x="470" y="1042"/>
                    </a:cubicBezTo>
                    <a:lnTo>
                      <a:pt x="530" y="1042"/>
                    </a:lnTo>
                    <a:lnTo>
                      <a:pt x="530" y="1059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1" i="0" u="none" strike="noStrike" kern="1200" cap="none" spc="0" normalizeH="0" baseline="0" noProof="0">
                  <a:ln>
                    <a:noFill/>
                  </a:ln>
                  <a:solidFill>
                    <a:srgbClr val="A34245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31C448B5-6FF3-3D45-D3CE-174B974A6D71}"/>
              </a:ext>
            </a:extLst>
          </p:cNvPr>
          <p:cNvSpPr/>
          <p:nvPr/>
        </p:nvSpPr>
        <p:spPr>
          <a:xfrm>
            <a:off x="330604" y="5171111"/>
            <a:ext cx="11537815" cy="6245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DA0784BC-85AB-8111-F196-C723590D5145}"/>
              </a:ext>
            </a:extLst>
          </p:cNvPr>
          <p:cNvSpPr txBox="1"/>
          <p:nvPr/>
        </p:nvSpPr>
        <p:spPr>
          <a:xfrm>
            <a:off x="770951" y="5341178"/>
            <a:ext cx="10657121" cy="284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r-FR" sz="1200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La prochaine étape consistera à affiner les besoins cibles et à formaliser les critères d’évaluation des solutions. </a:t>
            </a:r>
          </a:p>
        </p:txBody>
      </p:sp>
    </p:spTree>
    <p:extLst>
      <p:ext uri="{BB962C8B-B14F-4D97-AF65-F5344CB8AC3E}">
        <p14:creationId xmlns:p14="http://schemas.microsoft.com/office/powerpoint/2010/main" val="268496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2A9C-BD74-537D-53F7-34649955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3E5E365-00D2-8F32-1676-A46DFF9F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terrain de jeu de l’étude | </a:t>
            </a:r>
            <a:r>
              <a:rPr lang="fr-FR" cap="none" dirty="0"/>
              <a:t>Une couverture comparable à l’existant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D5BD4-7641-D547-7A67-05DD894A6FBB}"/>
              </a:ext>
            </a:extLst>
          </p:cNvPr>
          <p:cNvSpPr/>
          <p:nvPr/>
        </p:nvSpPr>
        <p:spPr>
          <a:xfrm>
            <a:off x="4283997" y="797692"/>
            <a:ext cx="3240000" cy="13875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Développement Produits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DA034-0723-6332-0932-117E12A84671}"/>
              </a:ext>
            </a:extLst>
          </p:cNvPr>
          <p:cNvSpPr/>
          <p:nvPr/>
        </p:nvSpPr>
        <p:spPr>
          <a:xfrm>
            <a:off x="989011" y="794163"/>
            <a:ext cx="3240000" cy="13875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Merch</a:t>
            </a: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Planning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22F8751-2DEB-9FA6-4203-0AAE56FC2BF4}"/>
              </a:ext>
            </a:extLst>
          </p:cNvPr>
          <p:cNvSpPr/>
          <p:nvPr/>
        </p:nvSpPr>
        <p:spPr>
          <a:xfrm>
            <a:off x="989011" y="2227633"/>
            <a:ext cx="3240000" cy="131186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A5D550A-BAA4-740D-EE65-0E3999C7092D}"/>
              </a:ext>
            </a:extLst>
          </p:cNvPr>
          <p:cNvSpPr/>
          <p:nvPr/>
        </p:nvSpPr>
        <p:spPr>
          <a:xfrm>
            <a:off x="4283997" y="2227633"/>
            <a:ext cx="3240000" cy="131186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Procurement</a:t>
            </a:r>
            <a:endParaRPr lang="fr-FR" sz="11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508C563-7CB9-6766-ED18-5962A8E05714}"/>
              </a:ext>
            </a:extLst>
          </p:cNvPr>
          <p:cNvSpPr/>
          <p:nvPr/>
        </p:nvSpPr>
        <p:spPr>
          <a:xfrm>
            <a:off x="989011" y="5621915"/>
            <a:ext cx="3240000" cy="973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3757F55-EB21-AD7A-0CEF-D034B694B308}"/>
              </a:ext>
            </a:extLst>
          </p:cNvPr>
          <p:cNvSpPr/>
          <p:nvPr/>
        </p:nvSpPr>
        <p:spPr>
          <a:xfrm>
            <a:off x="7571622" y="2227633"/>
            <a:ext cx="3240000" cy="131186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Inventory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1E814DF-B26B-C7DA-74AF-F8ED36841C71}"/>
              </a:ext>
            </a:extLst>
          </p:cNvPr>
          <p:cNvSpPr/>
          <p:nvPr/>
        </p:nvSpPr>
        <p:spPr>
          <a:xfrm>
            <a:off x="989011" y="3579522"/>
            <a:ext cx="3240000" cy="1997507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960FA01-EB2B-4671-2B75-D93CAEB3A816}"/>
              </a:ext>
            </a:extLst>
          </p:cNvPr>
          <p:cNvSpPr/>
          <p:nvPr/>
        </p:nvSpPr>
        <p:spPr>
          <a:xfrm>
            <a:off x="4283997" y="3579523"/>
            <a:ext cx="3240000" cy="151712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Wholesale</a:t>
            </a:r>
            <a:endParaRPr lang="fr-FR" sz="11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5211A96-4DED-F137-6B33-67FA1CDAEC84}"/>
              </a:ext>
            </a:extLst>
          </p:cNvPr>
          <p:cNvSpPr/>
          <p:nvPr/>
        </p:nvSpPr>
        <p:spPr>
          <a:xfrm>
            <a:off x="7572388" y="794164"/>
            <a:ext cx="3240000" cy="13875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data Produits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680312F-5499-8B6B-4DB7-84CFD42BB59B}"/>
              </a:ext>
            </a:extLst>
          </p:cNvPr>
          <p:cNvSpPr/>
          <p:nvPr/>
        </p:nvSpPr>
        <p:spPr>
          <a:xfrm>
            <a:off x="7571622" y="3579524"/>
            <a:ext cx="3240000" cy="15171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Commissionnement Force de Vente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67FC91C-1CE8-456D-66A8-45D51952719D}"/>
              </a:ext>
            </a:extLst>
          </p:cNvPr>
          <p:cNvSpPr/>
          <p:nvPr/>
        </p:nvSpPr>
        <p:spPr>
          <a:xfrm>
            <a:off x="4283997" y="5140515"/>
            <a:ext cx="3240000" cy="1464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 data clients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AB1660B-2313-A777-6B96-6A79F600DCC6}"/>
              </a:ext>
            </a:extLst>
          </p:cNvPr>
          <p:cNvSpPr/>
          <p:nvPr/>
        </p:nvSpPr>
        <p:spPr>
          <a:xfrm>
            <a:off x="7571622" y="5140515"/>
            <a:ext cx="3240000" cy="1464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 client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9639F54-40B6-CE8C-09D7-65EBA2048D9F}"/>
              </a:ext>
            </a:extLst>
          </p:cNvPr>
          <p:cNvSpPr/>
          <p:nvPr/>
        </p:nvSpPr>
        <p:spPr>
          <a:xfrm>
            <a:off x="1090810" y="1072945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BPC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77B4757-B2AC-9B55-5E51-C46FB0E8E4BE}"/>
              </a:ext>
            </a:extLst>
          </p:cNvPr>
          <p:cNvSpPr/>
          <p:nvPr/>
        </p:nvSpPr>
        <p:spPr>
          <a:xfrm>
            <a:off x="1297979" y="1331770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074C35F-7E82-B506-121F-076B97EA8022}"/>
              </a:ext>
            </a:extLst>
          </p:cNvPr>
          <p:cNvSpPr/>
          <p:nvPr/>
        </p:nvSpPr>
        <p:spPr>
          <a:xfrm>
            <a:off x="7660143" y="1206227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EE52816-2D3F-9C3F-E7F8-6DA8AB364D75}"/>
              </a:ext>
            </a:extLst>
          </p:cNvPr>
          <p:cNvSpPr/>
          <p:nvPr/>
        </p:nvSpPr>
        <p:spPr>
          <a:xfrm>
            <a:off x="7660143" y="1689621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58A3FB0-E304-C8FD-918F-8066AF81D0A9}"/>
              </a:ext>
            </a:extLst>
          </p:cNvPr>
          <p:cNvSpPr/>
          <p:nvPr/>
        </p:nvSpPr>
        <p:spPr>
          <a:xfrm>
            <a:off x="1090810" y="2712058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8DC1993-F5E9-81E1-9A9D-E9940C44F6EE}"/>
              </a:ext>
            </a:extLst>
          </p:cNvPr>
          <p:cNvSpPr/>
          <p:nvPr/>
        </p:nvSpPr>
        <p:spPr>
          <a:xfrm>
            <a:off x="4405513" y="2459292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ED35AC7-214B-E058-6B67-96DA48359D4F}"/>
              </a:ext>
            </a:extLst>
          </p:cNvPr>
          <p:cNvSpPr/>
          <p:nvPr/>
        </p:nvSpPr>
        <p:spPr>
          <a:xfrm>
            <a:off x="7660143" y="2537285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0753C6D-2919-8C11-DF43-C231930AAE94}"/>
              </a:ext>
            </a:extLst>
          </p:cNvPr>
          <p:cNvSpPr/>
          <p:nvPr/>
        </p:nvSpPr>
        <p:spPr>
          <a:xfrm>
            <a:off x="1090810" y="3923774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5DC6FEA-480E-090E-65FB-2B81D8A5C19E}"/>
              </a:ext>
            </a:extLst>
          </p:cNvPr>
          <p:cNvSpPr/>
          <p:nvPr/>
        </p:nvSpPr>
        <p:spPr>
          <a:xfrm>
            <a:off x="4405513" y="3964170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D48B3BA-8B8B-6856-8663-814270028490}"/>
              </a:ext>
            </a:extLst>
          </p:cNvPr>
          <p:cNvSpPr/>
          <p:nvPr/>
        </p:nvSpPr>
        <p:spPr>
          <a:xfrm>
            <a:off x="4428450" y="5541957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9DD5CA8-ECF2-4F68-7DEE-25B386C095D1}"/>
              </a:ext>
            </a:extLst>
          </p:cNvPr>
          <p:cNvSpPr/>
          <p:nvPr/>
        </p:nvSpPr>
        <p:spPr>
          <a:xfrm>
            <a:off x="1090810" y="5901806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BDB0BA4-60A2-6E54-3CD8-BC3C43789E2E}"/>
              </a:ext>
            </a:extLst>
          </p:cNvPr>
          <p:cNvSpPr/>
          <p:nvPr/>
        </p:nvSpPr>
        <p:spPr>
          <a:xfrm>
            <a:off x="4405513" y="2857633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9B37073-1BDE-93FA-E9E9-A5EE6F95BC2D}"/>
              </a:ext>
            </a:extLst>
          </p:cNvPr>
          <p:cNvSpPr/>
          <p:nvPr/>
        </p:nvSpPr>
        <p:spPr>
          <a:xfrm>
            <a:off x="4621901" y="3091308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SNC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DE9D856-1D45-BDED-1874-CE34880541C1}"/>
              </a:ext>
            </a:extLst>
          </p:cNvPr>
          <p:cNvSpPr/>
          <p:nvPr/>
        </p:nvSpPr>
        <p:spPr>
          <a:xfrm>
            <a:off x="7660143" y="3003683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WMS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A6437CF-1ECD-0927-88BD-25338100BCCB}"/>
              </a:ext>
            </a:extLst>
          </p:cNvPr>
          <p:cNvSpPr/>
          <p:nvPr/>
        </p:nvSpPr>
        <p:spPr>
          <a:xfrm>
            <a:off x="1297979" y="6159298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3677789-C453-3934-B9FD-5BAA431C0F6B}"/>
              </a:ext>
            </a:extLst>
          </p:cNvPr>
          <p:cNvSpPr/>
          <p:nvPr/>
        </p:nvSpPr>
        <p:spPr>
          <a:xfrm>
            <a:off x="8622169" y="131503"/>
            <a:ext cx="985585" cy="169101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 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1DE707CD-4AE2-7100-FA12-1678C11350A4}"/>
              </a:ext>
            </a:extLst>
          </p:cNvPr>
          <p:cNvSpPr/>
          <p:nvPr/>
        </p:nvSpPr>
        <p:spPr>
          <a:xfrm>
            <a:off x="8622169" y="338654"/>
            <a:ext cx="985585" cy="169101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3C7567F-8659-587B-6B31-3CA50A4538B3}"/>
              </a:ext>
            </a:extLst>
          </p:cNvPr>
          <p:cNvSpPr/>
          <p:nvPr/>
        </p:nvSpPr>
        <p:spPr>
          <a:xfrm>
            <a:off x="8622168" y="545805"/>
            <a:ext cx="985585" cy="169101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A1D5FC08-210A-0307-327D-4F7BE2CF4109}"/>
              </a:ext>
            </a:extLst>
          </p:cNvPr>
          <p:cNvSpPr txBox="1"/>
          <p:nvPr/>
        </p:nvSpPr>
        <p:spPr>
          <a:xfrm>
            <a:off x="9607753" y="120591"/>
            <a:ext cx="13420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Couvert par l’ERP et l’étude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BC2F64A-1882-C921-B071-4EA5C43DE8CC}"/>
              </a:ext>
            </a:extLst>
          </p:cNvPr>
          <p:cNvSpPr txBox="1"/>
          <p:nvPr/>
        </p:nvSpPr>
        <p:spPr>
          <a:xfrm>
            <a:off x="9607752" y="326939"/>
            <a:ext cx="21643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Interactions couvertes dans le cadre de l’étude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EE9CDF6-31C5-E654-C6F1-87EC85DDB996}"/>
              </a:ext>
            </a:extLst>
          </p:cNvPr>
          <p:cNvSpPr txBox="1"/>
          <p:nvPr/>
        </p:nvSpPr>
        <p:spPr>
          <a:xfrm>
            <a:off x="9607751" y="536630"/>
            <a:ext cx="7072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Non couvert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37B3FB0-7FE8-F2DE-2F7F-AB044162556A}"/>
              </a:ext>
            </a:extLst>
          </p:cNvPr>
          <p:cNvSpPr/>
          <p:nvPr/>
        </p:nvSpPr>
        <p:spPr>
          <a:xfrm>
            <a:off x="4354713" y="1200084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PLM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840D8CA-3657-5A0C-DD90-FA5353501318}"/>
              </a:ext>
            </a:extLst>
          </p:cNvPr>
          <p:cNvSpPr/>
          <p:nvPr/>
        </p:nvSpPr>
        <p:spPr>
          <a:xfrm>
            <a:off x="4428450" y="5950002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ZOHO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8658C9D-6F37-EDD3-A981-49AC42CD539F}"/>
              </a:ext>
            </a:extLst>
          </p:cNvPr>
          <p:cNvSpPr/>
          <p:nvPr/>
        </p:nvSpPr>
        <p:spPr>
          <a:xfrm>
            <a:off x="4687539" y="6201039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8378CA1-AEC6-9919-3DAC-E9AFD20333CE}"/>
              </a:ext>
            </a:extLst>
          </p:cNvPr>
          <p:cNvSpPr/>
          <p:nvPr/>
        </p:nvSpPr>
        <p:spPr>
          <a:xfrm>
            <a:off x="4405513" y="4456116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ZOHO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932BB9E-096D-EB37-01B3-80956188FF01}"/>
              </a:ext>
            </a:extLst>
          </p:cNvPr>
          <p:cNvSpPr/>
          <p:nvPr/>
        </p:nvSpPr>
        <p:spPr>
          <a:xfrm>
            <a:off x="4687539" y="4688476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9FA5DD4-9DEE-46B5-4773-1954718FC6F0}"/>
              </a:ext>
            </a:extLst>
          </p:cNvPr>
          <p:cNvSpPr/>
          <p:nvPr/>
        </p:nvSpPr>
        <p:spPr>
          <a:xfrm>
            <a:off x="7641114" y="5518965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ZOHO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DD35749-865C-2ACA-5427-24C103087B8D}"/>
              </a:ext>
            </a:extLst>
          </p:cNvPr>
          <p:cNvSpPr/>
          <p:nvPr/>
        </p:nvSpPr>
        <p:spPr>
          <a:xfrm>
            <a:off x="7900203" y="5770002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9E9CCA7A-6F26-E675-C263-FEC69A9756AF}"/>
              </a:ext>
            </a:extLst>
          </p:cNvPr>
          <p:cNvSpPr txBox="1"/>
          <p:nvPr/>
        </p:nvSpPr>
        <p:spPr>
          <a:xfrm>
            <a:off x="2292638" y="1154017"/>
            <a:ext cx="156492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Budget de ventes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Plan de collection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Prévisions de ventes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2C49BCA-9291-1ACC-0863-CF3F3CA18803}"/>
              </a:ext>
            </a:extLst>
          </p:cNvPr>
          <p:cNvSpPr/>
          <p:nvPr/>
        </p:nvSpPr>
        <p:spPr>
          <a:xfrm>
            <a:off x="1090809" y="5077712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SCOR-TEX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77045BF-1000-ED09-AF42-C49A5D3D14F7}"/>
              </a:ext>
            </a:extLst>
          </p:cNvPr>
          <p:cNvSpPr/>
          <p:nvPr/>
        </p:nvSpPr>
        <p:spPr>
          <a:xfrm>
            <a:off x="1090809" y="1642036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OPTIMATE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D0250017-60A2-06DB-15FF-511F745A49E9}"/>
              </a:ext>
            </a:extLst>
          </p:cNvPr>
          <p:cNvSpPr txBox="1"/>
          <p:nvPr/>
        </p:nvSpPr>
        <p:spPr>
          <a:xfrm>
            <a:off x="2292638" y="1661353"/>
            <a:ext cx="156492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Budget d’achats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Planning d’achats</a:t>
            </a: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1E298C7C-0CC2-39DD-F502-70C8164CDF69}"/>
              </a:ext>
            </a:extLst>
          </p:cNvPr>
          <p:cNvSpPr txBox="1"/>
          <p:nvPr/>
        </p:nvSpPr>
        <p:spPr>
          <a:xfrm>
            <a:off x="5316738" y="1215572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Studio et développement produits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Nomenclatures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BEBFD86-28BE-3853-01B9-81974BE47B39}"/>
              </a:ext>
            </a:extLst>
          </p:cNvPr>
          <p:cNvSpPr/>
          <p:nvPr/>
        </p:nvSpPr>
        <p:spPr>
          <a:xfrm>
            <a:off x="4354713" y="1689621"/>
            <a:ext cx="962025" cy="360000"/>
          </a:xfrm>
          <a:prstGeom prst="rect">
            <a:avLst/>
          </a:prstGeom>
          <a:solidFill>
            <a:srgbClr val="6E8D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ERP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98CE0EED-1C19-2B4A-7C70-42638C093FDF}"/>
              </a:ext>
            </a:extLst>
          </p:cNvPr>
          <p:cNvSpPr txBox="1"/>
          <p:nvPr/>
        </p:nvSpPr>
        <p:spPr>
          <a:xfrm>
            <a:off x="5339675" y="1652742"/>
            <a:ext cx="221148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Articles référencés (attributs, variantes) 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Catalogues et saisons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Nomenclatures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ADAE9ED-E6A4-B563-E7D6-CF8DA3197E05}"/>
              </a:ext>
            </a:extLst>
          </p:cNvPr>
          <p:cNvSpPr txBox="1"/>
          <p:nvPr/>
        </p:nvSpPr>
        <p:spPr>
          <a:xfrm>
            <a:off x="8649297" y="1092462"/>
            <a:ext cx="216232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Articles référencés (attributs, variantes)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Catalogues et saisons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transactionnelles essentielles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Nomenclatures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AB551AE6-336A-CAE4-8B14-D351140D7F14}"/>
              </a:ext>
            </a:extLst>
          </p:cNvPr>
          <p:cNvSpPr txBox="1"/>
          <p:nvPr/>
        </p:nvSpPr>
        <p:spPr>
          <a:xfrm>
            <a:off x="8651031" y="1698232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marketing 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Enrichissement données Articles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4FC8824C-B042-2F30-CFA1-3E14173A6B14}"/>
              </a:ext>
            </a:extLst>
          </p:cNvPr>
          <p:cNvSpPr txBox="1"/>
          <p:nvPr/>
        </p:nvSpPr>
        <p:spPr>
          <a:xfrm>
            <a:off x="2292638" y="2556009"/>
            <a:ext cx="1793583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Paramètres d’appro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Commandes d’intrants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Stocks d’intrants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Réservation et suivi de capacité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PDP global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388F929A-E0BA-2732-5EA0-4EDEF51E2400}"/>
              </a:ext>
            </a:extLst>
          </p:cNvPr>
          <p:cNvSpPr txBox="1"/>
          <p:nvPr/>
        </p:nvSpPr>
        <p:spPr>
          <a:xfrm>
            <a:off x="5367537" y="2380449"/>
            <a:ext cx="203338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Fournisseurs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Prix et conditions de prix d’achat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Paramètres appro et logistiques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Commandes d’achats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0B8E7AED-62F1-3404-1CB5-4B778A399CD5}"/>
              </a:ext>
            </a:extLst>
          </p:cNvPr>
          <p:cNvSpPr txBox="1"/>
          <p:nvPr/>
        </p:nvSpPr>
        <p:spPr>
          <a:xfrm>
            <a:off x="5607342" y="2955183"/>
            <a:ext cx="185786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Workflow commandes d’achats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Suivi et statut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Relation fournisseur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DB78230D-866C-079D-A3C7-0AD14C8E78F6}"/>
              </a:ext>
            </a:extLst>
          </p:cNvPr>
          <p:cNvSpPr txBox="1"/>
          <p:nvPr/>
        </p:nvSpPr>
        <p:spPr>
          <a:xfrm>
            <a:off x="8660559" y="2424898"/>
            <a:ext cx="203338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Référentiel stocks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Gestion des stocks théoriques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Vue des stocks physiques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Gestion des allocations et priorités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D5A2097-3026-A0BC-1AA1-AF49DC49D013}"/>
              </a:ext>
            </a:extLst>
          </p:cNvPr>
          <p:cNvSpPr/>
          <p:nvPr/>
        </p:nvSpPr>
        <p:spPr>
          <a:xfrm>
            <a:off x="1222176" y="4211673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CEGID Y2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257FB4B-0A83-5593-8B6A-907BF3632114}"/>
              </a:ext>
            </a:extLst>
          </p:cNvPr>
          <p:cNvSpPr/>
          <p:nvPr/>
        </p:nvSpPr>
        <p:spPr>
          <a:xfrm>
            <a:off x="3243060" y="816858"/>
            <a:ext cx="962025" cy="3600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 err="1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S&amp;Op</a:t>
            </a: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?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ABE8F12-5BC3-4902-0BD8-2E2953C0B6CF}"/>
              </a:ext>
            </a:extLst>
          </p:cNvPr>
          <p:cNvSpPr txBox="1"/>
          <p:nvPr/>
        </p:nvSpPr>
        <p:spPr>
          <a:xfrm>
            <a:off x="8671822" y="3022664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Gestion des stocks physiques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Opérations de stocks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F2AFA01-C47B-0C63-3019-945C20D6A13C}"/>
              </a:ext>
            </a:extLst>
          </p:cNvPr>
          <p:cNvSpPr/>
          <p:nvPr/>
        </p:nvSpPr>
        <p:spPr>
          <a:xfrm>
            <a:off x="1504202" y="4461139"/>
            <a:ext cx="962025" cy="360000"/>
          </a:xfrm>
          <a:prstGeom prst="rect">
            <a:avLst/>
          </a:prstGeom>
          <a:solidFill>
            <a:srgbClr val="C5D1F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UR</a:t>
            </a: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15BDABEF-5339-F49C-585A-6C25AE478531}"/>
              </a:ext>
            </a:extLst>
          </p:cNvPr>
          <p:cNvSpPr txBox="1"/>
          <p:nvPr/>
        </p:nvSpPr>
        <p:spPr>
          <a:xfrm>
            <a:off x="2514601" y="3923653"/>
            <a:ext cx="161924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magasins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articles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Paramètres logistiques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de stocks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Commandes de réassort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Commandes de ventes 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4A04BF30-1FFF-DE14-A8DD-C64FCAC1F56D}"/>
              </a:ext>
            </a:extLst>
          </p:cNvPr>
          <p:cNvSpPr txBox="1"/>
          <p:nvPr/>
        </p:nvSpPr>
        <p:spPr>
          <a:xfrm>
            <a:off x="5367536" y="3715972"/>
            <a:ext cx="203338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clients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articles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prix et conditions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Paramètres logistiques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Données de stocks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Commandes de vente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1F1E4163-6022-C5B7-9CE6-C8BFA5D7C430}"/>
              </a:ext>
            </a:extLst>
          </p:cNvPr>
          <p:cNvSpPr txBox="1"/>
          <p:nvPr/>
        </p:nvSpPr>
        <p:spPr>
          <a:xfrm>
            <a:off x="5402513" y="5368798"/>
            <a:ext cx="2065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Organisation et comptes clients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Contacts principaux et coordonnées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Informations financières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 err="1"/>
              <a:t>Scoring</a:t>
            </a:r>
            <a:r>
              <a:rPr lang="fr-FR" sz="800" dirty="0"/>
              <a:t> et gestion de risque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Vues et hiérarchies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Conditions </a:t>
            </a:r>
            <a:r>
              <a:rPr lang="fr-FR" sz="800" dirty="0" err="1"/>
              <a:t>comm</a:t>
            </a:r>
            <a:r>
              <a:rPr lang="fr-FR" sz="800" dirty="0"/>
              <a:t>. et </a:t>
            </a:r>
            <a:r>
              <a:rPr lang="fr-FR" sz="800" dirty="0" err="1"/>
              <a:t>contract</a:t>
            </a:r>
            <a:r>
              <a:rPr lang="fr-FR" sz="800" dirty="0"/>
              <a:t>.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634718CB-187F-105A-8FF5-487BFE39BD58}"/>
              </a:ext>
            </a:extLst>
          </p:cNvPr>
          <p:cNvSpPr txBox="1"/>
          <p:nvPr/>
        </p:nvSpPr>
        <p:spPr>
          <a:xfrm>
            <a:off x="5715302" y="6193910"/>
            <a:ext cx="16856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Contacts et coordonnées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Activités commerciales</a:t>
            </a: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406BD7B9-FF1C-A388-675C-3D4AB00F4B2D}"/>
              </a:ext>
            </a:extLst>
          </p:cNvPr>
          <p:cNvSpPr txBox="1"/>
          <p:nvPr/>
        </p:nvSpPr>
        <p:spPr>
          <a:xfrm>
            <a:off x="8862228" y="5421441"/>
            <a:ext cx="1997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Portail client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Communication et  inbound and </a:t>
            </a:r>
            <a:r>
              <a:rPr lang="fr-FR" sz="800" dirty="0" err="1"/>
              <a:t>outbound</a:t>
            </a:r>
            <a:endParaRPr lang="fr-FR" sz="800" dirty="0"/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SAV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 dirty="0"/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 dirty="0"/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C5505C01-0070-69AE-2767-E92AD367E14E}"/>
              </a:ext>
            </a:extLst>
          </p:cNvPr>
          <p:cNvSpPr txBox="1"/>
          <p:nvPr/>
        </p:nvSpPr>
        <p:spPr>
          <a:xfrm>
            <a:off x="5654329" y="4629464"/>
            <a:ext cx="20333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Portail client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>
                <a:solidFill>
                  <a:srgbClr val="C00000"/>
                </a:solidFill>
              </a:rPr>
              <a:t>Opé promo ?</a:t>
            </a:r>
          </a:p>
        </p:txBody>
      </p:sp>
      <p:sp>
        <p:nvSpPr>
          <p:cNvPr id="186" name="ZoneTexte 185">
            <a:extLst>
              <a:ext uri="{FF2B5EF4-FFF2-40B4-BE49-F238E27FC236}">
                <a16:creationId xmlns:a16="http://schemas.microsoft.com/office/drawing/2014/main" id="{38649F6D-C7A6-1B8C-FB90-81816ABDB71B}"/>
              </a:ext>
            </a:extLst>
          </p:cNvPr>
          <p:cNvSpPr txBox="1"/>
          <p:nvPr/>
        </p:nvSpPr>
        <p:spPr>
          <a:xfrm>
            <a:off x="2372126" y="5106215"/>
            <a:ext cx="183295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Calcul de stock magasin idéal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Propositions de réassort</a:t>
            </a:r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405E7710-E496-B48A-8A07-96C006F8B778}"/>
              </a:ext>
            </a:extLst>
          </p:cNvPr>
          <p:cNvSpPr txBox="1"/>
          <p:nvPr/>
        </p:nvSpPr>
        <p:spPr>
          <a:xfrm>
            <a:off x="2371049" y="5865320"/>
            <a:ext cx="1997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Ventes magasins détaillées</a:t>
            </a:r>
            <a:br>
              <a:rPr lang="fr-FR" sz="800" dirty="0"/>
            </a:br>
            <a:r>
              <a:rPr lang="fr-FR" sz="800" dirty="0"/>
              <a:t>(tickets de ventes)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sz="800" dirty="0"/>
              <a:t>Merchandising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 dirty="0"/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 dirty="0"/>
          </a:p>
          <a:p>
            <a:pPr marL="85725" indent="-85725">
              <a:buFont typeface="Arial" panose="020B0604020202020204" pitchFamily="34" charset="0"/>
              <a:buChar char="•"/>
            </a:pPr>
            <a:endParaRPr lang="fr-FR" sz="800" dirty="0"/>
          </a:p>
        </p:txBody>
      </p:sp>
      <p:sp>
        <p:nvSpPr>
          <p:cNvPr id="188" name="Triangle isocèle 187">
            <a:extLst>
              <a:ext uri="{FF2B5EF4-FFF2-40B4-BE49-F238E27FC236}">
                <a16:creationId xmlns:a16="http://schemas.microsoft.com/office/drawing/2014/main" id="{C113A56E-5187-FEDB-9356-5B875BA5AC61}"/>
              </a:ext>
            </a:extLst>
          </p:cNvPr>
          <p:cNvSpPr/>
          <p:nvPr/>
        </p:nvSpPr>
        <p:spPr>
          <a:xfrm>
            <a:off x="4515853" y="3246234"/>
            <a:ext cx="212095" cy="199439"/>
          </a:xfrm>
          <a:prstGeom prst="triangl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AEB8EC-2E95-EE03-48AE-35BFFCDC45C5}"/>
              </a:ext>
            </a:extLst>
          </p:cNvPr>
          <p:cNvSpPr/>
          <p:nvPr/>
        </p:nvSpPr>
        <p:spPr>
          <a:xfrm>
            <a:off x="7660142" y="3964170"/>
            <a:ext cx="962025" cy="360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fr-FR" sz="1000" b="1" dirty="0">
                <a:solidFill>
                  <a:srgbClr val="1A1C3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VISTEX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A1D77C-64C0-CDF8-9820-AF0C32D12205}"/>
              </a:ext>
            </a:extLst>
          </p:cNvPr>
          <p:cNvSpPr txBox="1"/>
          <p:nvPr/>
        </p:nvSpPr>
        <p:spPr>
          <a:xfrm>
            <a:off x="8669792" y="3918943"/>
            <a:ext cx="2033387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800" b="1"/>
            </a:lvl1pPr>
          </a:lstStyle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Suivi du CA réalisé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Gestion des conditions de commissionnement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Calcul des commissions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fr-FR" b="0" dirty="0"/>
              <a:t>Flux paiement (en lien ADV) ?</a:t>
            </a:r>
          </a:p>
        </p:txBody>
      </p:sp>
    </p:spTree>
    <p:extLst>
      <p:ext uri="{BB962C8B-B14F-4D97-AF65-F5344CB8AC3E}">
        <p14:creationId xmlns:p14="http://schemas.microsoft.com/office/powerpoint/2010/main" val="373077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1B2DB098-4318-1141-D9EC-8CE6FCE34A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6107" y="1712366"/>
            <a:ext cx="5263204" cy="954107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Les VARIANTES articles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8221EEC7-6A1C-53A9-1CBA-F14D9AF3EA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36507" y="1712366"/>
            <a:ext cx="5263204" cy="954107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La gestion des SAISONS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6AFBBC5F-E769-72EA-4138-2DB6B79F63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37" y="2285785"/>
            <a:ext cx="5400000" cy="34085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Prendre en charge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une notion transverse de Saison 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régissant :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l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es données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référentielles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 (articles à l’EAN, catalogues et assortiments, prix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 et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 conditions vente et achat, etc.)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l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es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transactions </a:t>
            </a:r>
            <a:r>
              <a:rPr lang="fr-FR" sz="1100" dirty="0">
                <a:solidFill>
                  <a:schemeClr val="tx1"/>
                </a:solidFill>
                <a:latin typeface="Noto Sans"/>
                <a:cs typeface="Calibri" panose="020F0502020204030204" pitchFamily="34" charset="0"/>
              </a:rPr>
              <a:t>créées et gérées dans / par l’ERP.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Enjeux :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Simplifier la gestion des « variantes »,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avec des versions d’articles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uniques et homogènes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(tous attributs) pour une saison donnée (composition, origine, etc.).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u="sng" dirty="0">
                <a:latin typeface="Noto Sans"/>
                <a:cs typeface="Calibri" panose="020F0502020204030204" pitchFamily="34" charset="0"/>
              </a:rPr>
              <a:t>Nota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: les carry-over et permanents seront également gérés à la saison et « invariables » sur une saison donnée.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Faciliter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la gestion des périodes de recouvrement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entre saisons (par rapport à des dates de validité, par exemple).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28AB543E-4099-140E-FAFD-75BAEC039D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2137" y="2285785"/>
            <a:ext cx="5400000" cy="36451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Créer et gérer des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produits partageant un même code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, mais différenciés par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certaines valeurs d’attributs.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Enjeux : 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Maintenir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l’unicité et la cohérence des données d’historiques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.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cs typeface="Calibri" panose="020F0502020204030204" pitchFamily="34" charset="0"/>
              </a:rPr>
              <a:t>Gérer et différencier les variantes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à toutes les étapes du processus </a:t>
            </a:r>
            <a:r>
              <a:rPr lang="fr-FR" sz="1100" dirty="0">
                <a:latin typeface="Noto Sans"/>
                <a:cs typeface="Calibri" panose="020F0502020204030204" pitchFamily="34" charset="0"/>
              </a:rPr>
              <a:t>et à chaque transaction / mouvement, dont stocks.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/>
              </a:solidFill>
              <a:latin typeface="Noto Sans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Limiter la complexité</a:t>
            </a:r>
            <a:r>
              <a:rPr lang="fr-FR" sz="1100" dirty="0"/>
              <a:t> induite par cette granularité, pour les solutions techniques comme pour les opérations métiers.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tx1"/>
              </a:solidFill>
              <a:latin typeface="Noto Sans"/>
              <a:cs typeface="Calibri" panose="020F0502020204030204" pitchFamily="34" charset="0"/>
            </a:endParaRPr>
          </a:p>
          <a:p>
            <a:endParaRPr lang="fr-FR" sz="1100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467687DC-8BD0-F0B1-CD3B-30C3BDB2379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9" name="Titre 18">
            <a:extLst>
              <a:ext uri="{FF2B5EF4-FFF2-40B4-BE49-F238E27FC236}">
                <a16:creationId xmlns:a16="http://schemas.microsoft.com/office/drawing/2014/main" id="{0F213C60-8030-48FC-FED9-12562E0D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principaux points d’attention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D216DEE-56C9-5267-6BC9-E9BFFFB3BCB2}"/>
              </a:ext>
            </a:extLst>
          </p:cNvPr>
          <p:cNvSpPr/>
          <p:nvPr/>
        </p:nvSpPr>
        <p:spPr>
          <a:xfrm>
            <a:off x="507245" y="5756281"/>
            <a:ext cx="11177363" cy="6445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C21BC74-8278-896C-CD9F-8101FCAED5B5}"/>
              </a:ext>
            </a:extLst>
          </p:cNvPr>
          <p:cNvSpPr txBox="1"/>
          <p:nvPr/>
        </p:nvSpPr>
        <p:spPr>
          <a:xfrm>
            <a:off x="1091634" y="1074346"/>
            <a:ext cx="10008584" cy="48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r-FR" sz="1200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La gestion technique de ces deux dimensions entraîne des difficultés tout au long du processus. Les solutions étudiées chez Beaumanoir et </a:t>
            </a:r>
            <a:r>
              <a:rPr lang="fr-FR" sz="1200" b="1" dirty="0" err="1">
                <a:solidFill>
                  <a:schemeClr val="accent2">
                    <a:lumMod val="90000"/>
                    <a:lumOff val="10000"/>
                  </a:schemeClr>
                </a:solidFill>
              </a:rPr>
              <a:t>Boardriders</a:t>
            </a:r>
            <a:r>
              <a:rPr lang="fr-FR" sz="1200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, à ce jour, n’ont pas apporté de réponse satisfaisant pleinement les enjeux métiers.</a:t>
            </a:r>
            <a:endParaRPr lang="fr-FR" sz="1200" b="1" dirty="0">
              <a:solidFill>
                <a:srgbClr val="FF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522A18-CE1D-5865-8E03-F05EAF311338}"/>
              </a:ext>
            </a:extLst>
          </p:cNvPr>
          <p:cNvSpPr txBox="1"/>
          <p:nvPr/>
        </p:nvSpPr>
        <p:spPr>
          <a:xfrm>
            <a:off x="698500" y="5834756"/>
            <a:ext cx="10452100" cy="48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r-FR" sz="1200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Préconisation : formuler des expressions de besoins claires mais non-contraignantes,</a:t>
            </a:r>
            <a:br>
              <a:rPr lang="fr-FR" sz="1200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</a:br>
            <a:r>
              <a:rPr lang="fr-FR" sz="1200" b="1" dirty="0">
                <a:solidFill>
                  <a:schemeClr val="accent2">
                    <a:lumMod val="90000"/>
                    <a:lumOff val="10000"/>
                  </a:schemeClr>
                </a:solidFill>
              </a:rPr>
              <a:t>pour permettre aux éditeurs ERP de proposer des solutions techniques adaptées.</a:t>
            </a:r>
          </a:p>
        </p:txBody>
      </p:sp>
    </p:spTree>
    <p:extLst>
      <p:ext uri="{BB962C8B-B14F-4D97-AF65-F5344CB8AC3E}">
        <p14:creationId xmlns:p14="http://schemas.microsoft.com/office/powerpoint/2010/main" val="159458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C367-E29C-4AC3-85FF-9F029180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4C9F2281-73EC-D68B-A7D8-4CF545A2CEC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2DEDFBBC-4DE4-6A07-92ED-5BAF7295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limites de l’étude | </a:t>
            </a:r>
            <a:r>
              <a:rPr lang="fr-FR" cap="none" dirty="0"/>
              <a:t>Les besoins hors périmètre de l’ERP</a:t>
            </a:r>
            <a:endParaRPr lang="fr-FR" dirty="0"/>
          </a:p>
        </p:txBody>
      </p:sp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D273C397-6DF8-72B4-A422-404A6674F111}"/>
              </a:ext>
            </a:extLst>
          </p:cNvPr>
          <p:cNvSpPr txBox="1">
            <a:spLocks/>
          </p:cNvSpPr>
          <p:nvPr/>
        </p:nvSpPr>
        <p:spPr>
          <a:xfrm>
            <a:off x="596107" y="1002458"/>
            <a:ext cx="5263204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solidFill>
                  <a:schemeClr val="accent1">
                    <a:lumMod val="50000"/>
                  </a:schemeClr>
                </a:solidFill>
              </a:rPr>
              <a:t>Gestion du Back-Office Magasins</a:t>
            </a: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Espace réservé du texte 17">
            <a:extLst>
              <a:ext uri="{FF2B5EF4-FFF2-40B4-BE49-F238E27FC236}">
                <a16:creationId xmlns:a16="http://schemas.microsoft.com/office/drawing/2014/main" id="{F483C511-56B6-1E8E-D78B-6E62654DF7F7}"/>
              </a:ext>
            </a:extLst>
          </p:cNvPr>
          <p:cNvSpPr txBox="1">
            <a:spLocks/>
          </p:cNvSpPr>
          <p:nvPr/>
        </p:nvSpPr>
        <p:spPr>
          <a:xfrm>
            <a:off x="6336507" y="1002458"/>
            <a:ext cx="5263204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>
                <a:solidFill>
                  <a:schemeClr val="accent1">
                    <a:lumMod val="50000"/>
                  </a:schemeClr>
                </a:solidFill>
              </a:rPr>
              <a:t>Commissionnement Force de Vente</a:t>
            </a:r>
            <a:endParaRPr lang="fr-F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3B26D6B4-DC3A-CA25-F5AC-48CD170D969B}"/>
              </a:ext>
            </a:extLst>
          </p:cNvPr>
          <p:cNvSpPr txBox="1">
            <a:spLocks/>
          </p:cNvSpPr>
          <p:nvPr/>
        </p:nvSpPr>
        <p:spPr>
          <a:xfrm>
            <a:off x="6332538" y="1571002"/>
            <a:ext cx="5263205" cy="4483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Hors périmètre de l’étude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Le commissionnement 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repose sur des règles de calcul parfois complexes, évolutives et individualisées.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ea typeface="+mn-ea"/>
              <a:cs typeface="Calibri" panose="020F0502020204030204" pitchFamily="34" charset="0"/>
            </a:endParaRP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Les ERP ne couvrent en général pas nativement ce besoin, en dehors d’éventuels </a:t>
            </a: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états de </a:t>
            </a:r>
            <a:r>
              <a:rPr lang="fr-FR" sz="1100" b="1" dirty="0" err="1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reporting</a:t>
            </a: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 ou extractions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 permettant de préparer le calcul.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ea typeface="+mn-ea"/>
              <a:cs typeface="Calibri" panose="020F0502020204030204" pitchFamily="34" charset="0"/>
            </a:endParaRP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L’interfaçage avec les solutions existantes 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sera en revanche analysé, pour empêcher les régressions par rapport à l’existant. 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888DF5C3-47CC-7220-D15B-87AE500E5A20}"/>
              </a:ext>
            </a:extLst>
          </p:cNvPr>
          <p:cNvSpPr txBox="1">
            <a:spLocks/>
          </p:cNvSpPr>
          <p:nvPr/>
        </p:nvSpPr>
        <p:spPr>
          <a:xfrm>
            <a:off x="592138" y="1571001"/>
            <a:ext cx="5454181" cy="4483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Ce qui sera étudié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Le suivi des stocks magasins au détail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 (quantités), en cohérence avec les règles de gestion des stocks et allocations.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ea typeface="+mn-ea"/>
              <a:cs typeface="Calibri" panose="020F0502020204030204" pitchFamily="34" charset="0"/>
            </a:endParaRP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La présence d’un moteur de calcul de réassort simplifié 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(ou de fonctionnalités susceptibles de couvrir ce besoin). </a:t>
            </a:r>
          </a:p>
          <a:p>
            <a:pPr marL="742950" lvl="3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Pour couvrir les besoins liés à la gestion des permanents / produits d’équipement, pour lesquels les règles de réassort en place ne sont pas optimales (car adaptées aux produits saisonniers et basées sur des quantités de MEP initiale) et / ou ne nécessitent pas les solutions pointues apportées par SCOR-TEX.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Tx/>
              <a:buNone/>
            </a:pPr>
            <a:endParaRPr lang="fr-FR" b="1" dirty="0">
              <a:solidFill>
                <a:schemeClr val="tx2">
                  <a:lumMod val="50000"/>
                </a:schemeClr>
              </a:solidFill>
              <a:latin typeface="Segoe UI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Ce qui ne sera pas étudié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Les activités de POS : 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réceptions de marchandises, stocks physiques et emplacements, ventes détaillées, encaissements, etc.</a:t>
            </a: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Noto Sans"/>
              <a:ea typeface="+mn-ea"/>
              <a:cs typeface="Calibri" panose="020F0502020204030204" pitchFamily="34" charset="0"/>
            </a:endParaRPr>
          </a:p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L’OMS et le </a:t>
            </a:r>
            <a:r>
              <a:rPr lang="fr-FR" sz="1100" b="1" dirty="0" err="1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fullfilment</a:t>
            </a: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, </a:t>
            </a:r>
            <a:r>
              <a:rPr lang="fr-FR" sz="1100" dirty="0">
                <a:latin typeface="Noto Sans"/>
                <a:ea typeface="+mn-ea"/>
                <a:cs typeface="Calibri" panose="020F0502020204030204" pitchFamily="34" charset="0"/>
              </a:rPr>
              <a:t>qui relèvent de l’omnicanal et non du cœur ERP et sont adressés par des solutions spécialisées.</a:t>
            </a:r>
          </a:p>
        </p:txBody>
      </p:sp>
    </p:spTree>
    <p:extLst>
      <p:ext uri="{BB962C8B-B14F-4D97-AF65-F5344CB8AC3E}">
        <p14:creationId xmlns:p14="http://schemas.microsoft.com/office/powerpoint/2010/main" val="537786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BC6677B-C5A3-C8E5-465C-8AE24CC70A9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68A52610-F8DC-5D6A-0934-08A2199F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limites de l’étude | </a:t>
            </a:r>
            <a:r>
              <a:rPr lang="fr-FR" cap="none" dirty="0"/>
              <a:t>Des opportunités d’études complémentaires</a:t>
            </a:r>
            <a:endParaRPr lang="fr-FR" dirty="0"/>
          </a:p>
        </p:txBody>
      </p:sp>
      <p:sp>
        <p:nvSpPr>
          <p:cNvPr id="31" name="Espace réservé du texte 16">
            <a:extLst>
              <a:ext uri="{FF2B5EF4-FFF2-40B4-BE49-F238E27FC236}">
                <a16:creationId xmlns:a16="http://schemas.microsoft.com/office/drawing/2014/main" id="{4CEFCC3A-903A-C8CA-873E-5548F1FC70E5}"/>
              </a:ext>
            </a:extLst>
          </p:cNvPr>
          <p:cNvSpPr txBox="1">
            <a:spLocks/>
          </p:cNvSpPr>
          <p:nvPr/>
        </p:nvSpPr>
        <p:spPr>
          <a:xfrm>
            <a:off x="596107" y="1002455"/>
            <a:ext cx="5263204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S&amp;Op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, planning et simulation</a:t>
            </a:r>
          </a:p>
          <a:p>
            <a:pPr algn="ctr"/>
            <a:endParaRPr lang="fr-FR" dirty="0"/>
          </a:p>
        </p:txBody>
      </p:sp>
      <p:sp>
        <p:nvSpPr>
          <p:cNvPr id="32" name="Espace réservé du texte 17">
            <a:extLst>
              <a:ext uri="{FF2B5EF4-FFF2-40B4-BE49-F238E27FC236}">
                <a16:creationId xmlns:a16="http://schemas.microsoft.com/office/drawing/2014/main" id="{2536861C-0A80-0FA5-953B-17DD7FE50590}"/>
              </a:ext>
            </a:extLst>
          </p:cNvPr>
          <p:cNvSpPr txBox="1">
            <a:spLocks/>
          </p:cNvSpPr>
          <p:nvPr/>
        </p:nvSpPr>
        <p:spPr>
          <a:xfrm>
            <a:off x="6336507" y="1002455"/>
            <a:ext cx="5263204" cy="954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Plus Jakarta Sans" pitchFamily="2" charset="77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Master Data Management</a:t>
            </a:r>
          </a:p>
          <a:p>
            <a:pPr algn="ctr"/>
            <a:endParaRPr lang="fr-FR" dirty="0"/>
          </a:p>
        </p:txBody>
      </p:sp>
      <p:sp>
        <p:nvSpPr>
          <p:cNvPr id="2" name="Espace réservé du texte 19">
            <a:extLst>
              <a:ext uri="{FF2B5EF4-FFF2-40B4-BE49-F238E27FC236}">
                <a16:creationId xmlns:a16="http://schemas.microsoft.com/office/drawing/2014/main" id="{83471C23-7489-59DD-FC8D-C700047F5AE7}"/>
              </a:ext>
            </a:extLst>
          </p:cNvPr>
          <p:cNvSpPr txBox="1">
            <a:spLocks/>
          </p:cNvSpPr>
          <p:nvPr/>
        </p:nvSpPr>
        <p:spPr>
          <a:xfrm>
            <a:off x="600194" y="1573622"/>
            <a:ext cx="5474321" cy="4911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 étudier, via des modules ou </a:t>
            </a:r>
            <a:r>
              <a:rPr lang="fr-FR" sz="11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reporting</a:t>
            </a: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dédiés dans l’ERP</a:t>
            </a:r>
            <a:endParaRPr lang="fr-FR" sz="1100" dirty="0">
              <a:solidFill>
                <a:schemeClr val="accent1">
                  <a:lumMod val="50000"/>
                </a:schemeClr>
              </a:solidFill>
              <a:latin typeface="+mn-lt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Gestion des intrants (matières, consommables, semi-finis) :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achats et réservations, suivi des stocks fournisseurs, consommations et prévisions.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tx2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Aides au calcul d’adéquation entre </a:t>
            </a: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charges / volumes et capacités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théoriques des fournisseurs.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latin typeface="+mn-lt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 couvrir par une étude dédiée ?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Planning stratégique :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élaboration budgétaire, consolidation des prévisions de ventes, construction des plans d’approvisionnement.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Pilotage et simulation :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ajustement des prévisions, dates et jalons en fonction des ventes réelles et des écarts planning ; simulation et pilotage</a:t>
            </a:r>
            <a:b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de changements de paramètres d’approvisionnement ; simulation de changements d’allocation et mesure des impacts.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Production :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Plan de Production détaillé, gestion d’ordres de fabrication</a:t>
            </a:r>
            <a:b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et ordonnancement, capacités et ressources « intégrées ».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Proposition :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conduire une étude dédiée à la pertinence d’une solution </a:t>
            </a:r>
            <a:r>
              <a:rPr lang="fr-FR" sz="1100" dirty="0" err="1">
                <a:solidFill>
                  <a:schemeClr val="tx2">
                    <a:lumMod val="50000"/>
                  </a:schemeClr>
                </a:solidFill>
                <a:latin typeface="+mn-lt"/>
              </a:rPr>
              <a:t>S&amp;Op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 (outil et processus), afin d’améliorer les prévisions d’achat, renforcer les capacités de simulation et fiabiliser les décisions sur l’ensemble de la chaîne.</a:t>
            </a:r>
          </a:p>
        </p:txBody>
      </p:sp>
      <p:sp>
        <p:nvSpPr>
          <p:cNvPr id="3" name="Espace réservé du texte 18">
            <a:extLst>
              <a:ext uri="{FF2B5EF4-FFF2-40B4-BE49-F238E27FC236}">
                <a16:creationId xmlns:a16="http://schemas.microsoft.com/office/drawing/2014/main" id="{F40C4598-C368-985B-86A8-5271A68183E2}"/>
              </a:ext>
            </a:extLst>
          </p:cNvPr>
          <p:cNvSpPr txBox="1">
            <a:spLocks/>
          </p:cNvSpPr>
          <p:nvPr/>
        </p:nvSpPr>
        <p:spPr>
          <a:xfrm>
            <a:off x="6332538" y="1569595"/>
            <a:ext cx="5263205" cy="4758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Tx/>
              <a:buBlip>
                <a:blip r:embed="rId2"/>
              </a:buBlip>
              <a:defRPr sz="1200" b="0" i="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200" kern="120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A étudier dans le périmètre de l’ERP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Les données référentielles essentielles aux transactions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(clients, articles, fournisseurs, conditions d’achat, prix) seront connues de l’ERP et synchronisées avec les applications existantes (CRM, PIM, PLM…), où elles seront créées, déversées et / ou enrichies si nécessaire.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Les interactions entre l’ERP et les outils actuels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qui portent ces données, pour garantir la continuité des processus.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tx2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 couvrir par une étude dédiée ?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L’analyse détaillée de la gouvernance des données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de référence à l’échelle du Groupe (rôles, cycles, données cibles…). 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tx2">
                  <a:lumMod val="50000"/>
                </a:schemeClr>
              </a:solidFill>
              <a:latin typeface="+mn-lt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Le choix d’une </a:t>
            </a: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architecture cible de gestion des données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(best-of-</a:t>
            </a:r>
            <a:r>
              <a:rPr lang="fr-FR" sz="1100" dirty="0" err="1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breed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, MDM central ou ERP maître).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fr-FR" sz="1100" b="1" dirty="0">
              <a:solidFill>
                <a:schemeClr val="accent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b="1" dirty="0">
                <a:solidFill>
                  <a:schemeClr val="accent1"/>
                </a:solidFill>
                <a:latin typeface="+mn-lt"/>
                <a:ea typeface="+mn-ea"/>
                <a:cs typeface="Calibri" panose="020F0502020204030204" pitchFamily="34" charset="0"/>
              </a:rPr>
              <a:t>Proposition : </a:t>
            </a:r>
            <a:r>
              <a:rPr lang="fr-FR" sz="1100" dirty="0">
                <a:solidFill>
                  <a:schemeClr val="tx2">
                    <a:lumMod val="50000"/>
                  </a:schemeClr>
                </a:solidFill>
                <a:latin typeface="+mn-lt"/>
                <a:cs typeface="Segoe UI" panose="020B0502040204020203" pitchFamily="34" charset="0"/>
              </a:rPr>
              <a:t>conduire une étude dédiée à la gestion de la Master Data.</a:t>
            </a:r>
            <a:endParaRPr lang="fr-FR" sz="1100" dirty="0">
              <a:latin typeface="+mn-lt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1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0C2C480D-F969-AAB2-A95E-26A4719519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Les prochaines étapes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FB4AF-30B3-BB7B-6568-04A9C67BD49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19206927-A5B8-C2EF-F61C-7ACD1BBB2D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31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A08969E-B493-8C0E-6B6E-9C388F3CE11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05149C7-0AE6-9E6A-2144-749C3F6F0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Lancement de l’étape 2| </a:t>
            </a:r>
            <a:r>
              <a:rPr lang="fr-FR" cap="none" dirty="0"/>
              <a:t>Les prochaines activités</a:t>
            </a:r>
            <a:endParaRPr dirty="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9F964D74-6266-EEAC-03F6-2C3BCC487EE6}"/>
              </a:ext>
            </a:extLst>
          </p:cNvPr>
          <p:cNvSpPr txBox="1">
            <a:spLocks/>
          </p:cNvSpPr>
          <p:nvPr/>
        </p:nvSpPr>
        <p:spPr>
          <a:xfrm>
            <a:off x="380625" y="1120588"/>
            <a:ext cx="7687609" cy="5438947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L'objectif de cette étape est de construire une 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matrice de </a:t>
            </a:r>
            <a:r>
              <a:rPr lang="fr-FR" sz="1100" b="1" i="1" dirty="0" err="1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scoring</a:t>
            </a:r>
            <a: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 des solutions ERP du marché</a:t>
            </a:r>
            <a:br>
              <a:rPr lang="fr-FR" sz="1100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</a:br>
            <a:r>
              <a:rPr lang="fr-FR" sz="1100" dirty="0"/>
              <a:t>à partir des besoins fonctionnels et des principes structurants du </a:t>
            </a:r>
            <a:r>
              <a:rPr lang="fr-FR" sz="1100" i="1" dirty="0" err="1"/>
              <a:t>core</a:t>
            </a:r>
            <a:r>
              <a:rPr lang="fr-FR" sz="1100" i="1" dirty="0"/>
              <a:t> model </a:t>
            </a:r>
            <a:r>
              <a:rPr lang="fr-FR" sz="1100" dirty="0"/>
              <a:t>de demain.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fr-FR" sz="1100" dirty="0"/>
          </a:p>
          <a:p>
            <a:pPr marL="285750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Nous devons pour ce faire approfondir certaines thématiques.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Des nouveaux besoins </a:t>
            </a:r>
            <a:r>
              <a:rPr lang="fr-FR" dirty="0"/>
              <a:t>pour lesquels il est nécessaire de définir des règles / grands principes de fonctionnement.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/>
              <a:t>Des besoins communs aux deux entités, mais dont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le fonctionnement / les règles diffèrent aujourd’hui. 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/>
              <a:t>Des besoins existants, à étudier plus en détail pour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limiter / éviter les régressions </a:t>
            </a:r>
            <a:r>
              <a:rPr lang="fr-FR" dirty="0">
                <a:solidFill>
                  <a:srgbClr val="060B12"/>
                </a:solidFill>
                <a:cs typeface="Calibri" panose="020F0502020204030204" pitchFamily="34" charset="0"/>
              </a:rPr>
              <a:t>en cas de changement d’outil.</a:t>
            </a:r>
          </a:p>
          <a:p>
            <a:pPr marL="742950" lvl="1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Des besoins non-fonctionnels, </a:t>
            </a:r>
            <a:r>
              <a:rPr lang="fr-FR" dirty="0"/>
              <a:t>liés aux volumes d’activité et de données.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fr-FR" sz="1100" dirty="0">
              <a:solidFill>
                <a:schemeClr val="accent1"/>
              </a:solidFill>
              <a:latin typeface="Noto Sans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100" dirty="0"/>
              <a:t>Les prochaines étapes devront poser les bases de la phase 2 - benchmark des solutions du marché.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60B12"/>
              </a:buClr>
              <a:buAutoNum type="arabicPeriod"/>
            </a:pP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 </a:t>
            </a:r>
            <a:r>
              <a:rPr lang="fr-FR" dirty="0"/>
              <a:t>Formalisation d’une première liste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/ matrice structurée des besoins</a:t>
            </a:r>
            <a:r>
              <a:rPr lang="fr-FR" dirty="0"/>
              <a:t>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60B12"/>
              </a:buClr>
              <a:buAutoNum type="arabicPeriod"/>
            </a:pP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 Ateliers complémentaires </a:t>
            </a:r>
            <a:r>
              <a:rPr lang="fr-FR" dirty="0"/>
              <a:t>sur les thématiques évoquées ci-dessus, et listées ci-après.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dirty="0"/>
              <a:t>Nous préconisons de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réunir les équipes des deux entités </a:t>
            </a:r>
            <a:r>
              <a:rPr lang="fr-FR" dirty="0"/>
              <a:t>pour la définition des besoins cibles.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60B12"/>
              </a:buClr>
              <a:buAutoNum type="arabicPeriod"/>
            </a:pPr>
            <a:r>
              <a:rPr lang="fr-FR" b="1" dirty="0"/>
              <a:t>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Partage avec les référents métiers</a:t>
            </a:r>
            <a:r>
              <a:rPr lang="fr-FR" b="1" dirty="0"/>
              <a:t> </a:t>
            </a:r>
            <a:r>
              <a:rPr lang="fr-FR" dirty="0"/>
              <a:t>de la liste des besoins cibles.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60B12"/>
              </a:buClr>
              <a:buAutoNum type="arabicPeriod"/>
            </a:pPr>
            <a:r>
              <a:rPr lang="fr-FR" b="1" dirty="0"/>
              <a:t> </a:t>
            </a:r>
            <a:r>
              <a:rPr lang="fr-FR" dirty="0"/>
              <a:t>Formalisation</a:t>
            </a:r>
            <a:r>
              <a:rPr lang="fr-FR" b="1" dirty="0"/>
              <a:t> </a:t>
            </a:r>
            <a:r>
              <a:rPr lang="fr-FR" dirty="0"/>
              <a:t>de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la grille de </a:t>
            </a:r>
            <a:r>
              <a:rPr lang="fr-FR" b="1" i="1" dirty="0" err="1">
                <a:solidFill>
                  <a:schemeClr val="accent1"/>
                </a:solidFill>
                <a:cs typeface="Calibri" panose="020F0502020204030204" pitchFamily="34" charset="0"/>
              </a:rPr>
              <a:t>scoring</a:t>
            </a:r>
            <a:r>
              <a:rPr lang="fr-FR" b="1" i="1" dirty="0">
                <a:solidFill>
                  <a:schemeClr val="accent1"/>
                </a:solidFill>
                <a:cs typeface="Calibri" panose="020F0502020204030204" pitchFamily="34" charset="0"/>
              </a:rPr>
              <a:t>.</a:t>
            </a:r>
            <a:endParaRPr lang="fr-FR" dirty="0"/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fr-FR" b="1" dirty="0"/>
              <a:t> </a:t>
            </a:r>
            <a:r>
              <a:rPr lang="fr-FR" dirty="0"/>
              <a:t>Identification d’un premier panel de </a:t>
            </a:r>
            <a:r>
              <a:rPr lang="fr-FR" b="1" dirty="0">
                <a:solidFill>
                  <a:schemeClr val="accent1"/>
                </a:solidFill>
                <a:cs typeface="Calibri" panose="020F0502020204030204" pitchFamily="34" charset="0"/>
              </a:rPr>
              <a:t>solution candidates</a:t>
            </a:r>
            <a:r>
              <a:rPr lang="fr-FR" dirty="0"/>
              <a:t> (et élimination des options inadaptées).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AutoNum type="arabicPeriod"/>
            </a:pPr>
            <a:endParaRPr lang="fr-FR" dirty="0"/>
          </a:p>
          <a:p>
            <a:pPr lvl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AutoNum type="arabicPeriod"/>
            </a:pP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91482-601E-71E3-9703-B4D8416EE3D5}"/>
              </a:ext>
            </a:extLst>
          </p:cNvPr>
          <p:cNvSpPr/>
          <p:nvPr/>
        </p:nvSpPr>
        <p:spPr>
          <a:xfrm>
            <a:off x="8839201" y="4395184"/>
            <a:ext cx="3630705" cy="5254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REVUE ET VALIDATION DE LA CIBLE MACRO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18C1F-275D-6A25-7AEE-7C1CB86C58D9}"/>
              </a:ext>
            </a:extLst>
          </p:cNvPr>
          <p:cNvSpPr/>
          <p:nvPr/>
        </p:nvSpPr>
        <p:spPr>
          <a:xfrm>
            <a:off x="8839201" y="5547213"/>
            <a:ext cx="3630705" cy="4893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 algn="l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GRILLE D’EVALUATION STRUCTUREE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BE15AE6-C82B-B2FA-AEA6-F9C6051DF66E}"/>
              </a:ext>
            </a:extLst>
          </p:cNvPr>
          <p:cNvSpPr/>
          <p:nvPr/>
        </p:nvSpPr>
        <p:spPr>
          <a:xfrm>
            <a:off x="8588188" y="4477896"/>
            <a:ext cx="360000" cy="360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359C90D-B805-C5A1-A681-F053BA0382AE}"/>
              </a:ext>
            </a:extLst>
          </p:cNvPr>
          <p:cNvSpPr/>
          <p:nvPr/>
        </p:nvSpPr>
        <p:spPr>
          <a:xfrm>
            <a:off x="8588188" y="5611886"/>
            <a:ext cx="360000" cy="360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B07A6-68FC-B85D-C778-4F02BC71643E}"/>
              </a:ext>
            </a:extLst>
          </p:cNvPr>
          <p:cNvSpPr/>
          <p:nvPr/>
        </p:nvSpPr>
        <p:spPr>
          <a:xfrm>
            <a:off x="8839201" y="4973724"/>
            <a:ext cx="3630705" cy="5254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 algn="l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QUALIFICATION ET PRIORISATION DES CRITÈRES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1865D77-F2E6-4514-BDBB-DFCDC04D8AE0}"/>
              </a:ext>
            </a:extLst>
          </p:cNvPr>
          <p:cNvSpPr/>
          <p:nvPr/>
        </p:nvSpPr>
        <p:spPr>
          <a:xfrm>
            <a:off x="8588188" y="5056436"/>
            <a:ext cx="360000" cy="360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BCAD04-5959-662D-F3B4-4E5E86C3417B}"/>
              </a:ext>
            </a:extLst>
          </p:cNvPr>
          <p:cNvSpPr/>
          <p:nvPr/>
        </p:nvSpPr>
        <p:spPr>
          <a:xfrm>
            <a:off x="8839201" y="1843087"/>
            <a:ext cx="3630705" cy="525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 algn="l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BESOINS FONCTIONNELS EXISTANTS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76C17-49EF-BF63-13C3-DD19062B5302}"/>
              </a:ext>
            </a:extLst>
          </p:cNvPr>
          <p:cNvSpPr/>
          <p:nvPr/>
        </p:nvSpPr>
        <p:spPr>
          <a:xfrm>
            <a:off x="8839201" y="2415363"/>
            <a:ext cx="3630705" cy="525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 algn="l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AXES D’AMÉLIORATION ET NOUVEAUX BESOINS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755B552-5C8E-06C5-9239-53C39C8283BB}"/>
              </a:ext>
            </a:extLst>
          </p:cNvPr>
          <p:cNvSpPr/>
          <p:nvPr/>
        </p:nvSpPr>
        <p:spPr>
          <a:xfrm>
            <a:off x="8588188" y="2498075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45784-FEF2-7246-BF63-EF0453A9B5B4}"/>
              </a:ext>
            </a:extLst>
          </p:cNvPr>
          <p:cNvSpPr/>
          <p:nvPr/>
        </p:nvSpPr>
        <p:spPr>
          <a:xfrm>
            <a:off x="8839201" y="2986620"/>
            <a:ext cx="3630705" cy="525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 algn="l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BESOINS NON FONCTIONNELS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BF71241-2BBC-8E86-5829-EA4FF90C0BAA}"/>
              </a:ext>
            </a:extLst>
          </p:cNvPr>
          <p:cNvSpPr/>
          <p:nvPr/>
        </p:nvSpPr>
        <p:spPr>
          <a:xfrm>
            <a:off x="8588188" y="3069332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6A36D7-B33E-8737-A9EC-F509CA53F7A3}"/>
              </a:ext>
            </a:extLst>
          </p:cNvPr>
          <p:cNvSpPr/>
          <p:nvPr/>
        </p:nvSpPr>
        <p:spPr>
          <a:xfrm>
            <a:off x="8839201" y="3559645"/>
            <a:ext cx="3630705" cy="525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ctr"/>
          <a:lstStyle/>
          <a:p>
            <a:pPr algn="l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PROPOSITION D’UNE CIBLE MACRO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2BEE203-1BB1-79CF-511C-2B4195B31AA4}"/>
              </a:ext>
            </a:extLst>
          </p:cNvPr>
          <p:cNvSpPr/>
          <p:nvPr/>
        </p:nvSpPr>
        <p:spPr>
          <a:xfrm>
            <a:off x="8588187" y="3642357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spcAft>
                <a:spcPts val="600"/>
              </a:spcAft>
            </a:pPr>
            <a:r>
              <a:rPr lang="fr-FR" sz="11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</a:p>
        </p:txBody>
      </p:sp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24689C57-C78B-D8B1-FA16-FEA42BD7044B}"/>
              </a:ext>
            </a:extLst>
          </p:cNvPr>
          <p:cNvSpPr/>
          <p:nvPr/>
        </p:nvSpPr>
        <p:spPr>
          <a:xfrm rot="10800000">
            <a:off x="10092018" y="4132669"/>
            <a:ext cx="1125071" cy="20939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06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DAE7-E771-422D-047D-D6DE1D3A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D3FF351-06F5-C48F-8B6C-6393E760C2D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/>
              <a:t>Confidentiel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8C23BC-14D2-2905-5147-74D8AFF8C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031563"/>
              </p:ext>
            </p:extLst>
          </p:nvPr>
        </p:nvGraphicFramePr>
        <p:xfrm>
          <a:off x="186189" y="1929228"/>
          <a:ext cx="11819620" cy="2826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399">
                  <a:extLst>
                    <a:ext uri="{9D8B030D-6E8A-4147-A177-3AD203B41FA5}">
                      <a16:colId xmlns:a16="http://schemas.microsoft.com/office/drawing/2014/main" val="277415090"/>
                    </a:ext>
                  </a:extLst>
                </a:gridCol>
                <a:gridCol w="1810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8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9654">
                  <a:extLst>
                    <a:ext uri="{9D8B030D-6E8A-4147-A177-3AD203B41FA5}">
                      <a16:colId xmlns:a16="http://schemas.microsoft.com/office/drawing/2014/main" val="1801138322"/>
                    </a:ext>
                  </a:extLst>
                </a:gridCol>
                <a:gridCol w="883967">
                  <a:extLst>
                    <a:ext uri="{9D8B030D-6E8A-4147-A177-3AD203B41FA5}">
                      <a16:colId xmlns:a16="http://schemas.microsoft.com/office/drawing/2014/main" val="2715737520"/>
                    </a:ext>
                  </a:extLst>
                </a:gridCol>
              </a:tblGrid>
              <a:tr h="172861"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</a:rPr>
                        <a:t>DOMAINE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</a:rPr>
                        <a:t>ATELIER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</a:rPr>
                        <a:t>DESCRIPTION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</a:rPr>
                        <a:t>LISTE DES PARTICIPANTS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</a:rPr>
                        <a:t>DATE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Transverse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Saison et permanents / Carry-</a:t>
                      </a:r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overs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Dimension "saison" appliquée à tout le cycle de vie / l'ensemble du processus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 des carry-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overs</a:t>
                      </a:r>
                      <a:endParaRPr lang="fr-F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Permanents : modalité de gestion (hors saison ? Saison "permanente" spécifique ?)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Référents Planning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Référents Sales Ops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11.04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872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Transverse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RSE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Enjeux associés à la RSE : traçabilité et origine (produit, matières), impact carbone, 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fr-F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60B12"/>
                          </a:solidFill>
                          <a:effectLst/>
                          <a:latin typeface="+mn-lt"/>
                        </a:rPr>
                        <a:t>Référents RSE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60B12"/>
                          </a:solidFill>
                          <a:effectLst/>
                          <a:latin typeface="+mn-lt"/>
                        </a:rPr>
                        <a:t>03.04 (</a:t>
                      </a:r>
                      <a:r>
                        <a:rPr lang="fr-FR" sz="700" b="0" i="0" u="none" strike="noStrike">
                          <a:solidFill>
                            <a:srgbClr val="060B12"/>
                          </a:solidFill>
                          <a:effectLst/>
                          <a:latin typeface="+mn-lt"/>
                        </a:rPr>
                        <a:t>à valider)</a:t>
                      </a:r>
                      <a:endParaRPr lang="fr-FR" sz="700" b="0" i="0" u="none" strike="noStrike" dirty="0">
                        <a:solidFill>
                          <a:srgbClr val="060B1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227499"/>
                  </a:ext>
                </a:extLst>
              </a:tr>
              <a:tr h="219872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Production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Façon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Limites actuelles de 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Storeland</a:t>
                      </a: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=&gt; focus façon, stocks matières déportés, pilotage des coûts / 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upcharges</a:t>
                      </a:r>
                      <a:endParaRPr lang="fr-F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60B12"/>
                          </a:solidFill>
                          <a:effectLst/>
                          <a:latin typeface="+mn-lt"/>
                        </a:rPr>
                        <a:t>Référents Façon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60B12"/>
                          </a:solidFill>
                          <a:effectLst/>
                          <a:latin typeface="+mn-lt"/>
                        </a:rPr>
                        <a:t>02.04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83888"/>
                  </a:ext>
                </a:extLst>
              </a:tr>
              <a:tr h="460148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Procurement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&amp; Inventory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Allocations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Pré-allocations, sur engagement non confirmé (jusqu'à validation de la commande)</a:t>
                      </a:r>
                    </a:p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 PO / en stock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Accostage règles / critères priorisation, dont recalcul 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Référents Planning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Référents Flux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Référents Stocks et allocations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S15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Aval &amp; </a:t>
                      </a:r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Wholesale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Service client / processus associés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Attentes (processus et fonctionnalités) nouvelles, non couvertes aujourd’hui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 (gestion des prix / conditions / remises associées)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Référents Sales Ops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Référents 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Wholesale</a:t>
                      </a:r>
                      <a:endParaRPr lang="fr-F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S16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Finance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Finance : accostage transactionnel &lt;&gt; FICO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Compta ventes 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Compta fournisseurs, dont remises fournisseurs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Stocks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Référents Finance et Compta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S16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 fonctionnel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Interfaces et architecture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Revue de l’existant (documenté) et identification des  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Interfaces externes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Volumétrie données référentielles</a:t>
                      </a:r>
                    </a:p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Volumétries transactions 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Equipe projet restreinte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S15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B8F9A02-310E-430A-8F10-603944466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80248"/>
              </p:ext>
            </p:extLst>
          </p:nvPr>
        </p:nvGraphicFramePr>
        <p:xfrm>
          <a:off x="186189" y="5141554"/>
          <a:ext cx="11819620" cy="124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399">
                  <a:extLst>
                    <a:ext uri="{9D8B030D-6E8A-4147-A177-3AD203B41FA5}">
                      <a16:colId xmlns:a16="http://schemas.microsoft.com/office/drawing/2014/main" val="2288983708"/>
                    </a:ext>
                  </a:extLst>
                </a:gridCol>
                <a:gridCol w="1810864">
                  <a:extLst>
                    <a:ext uri="{9D8B030D-6E8A-4147-A177-3AD203B41FA5}">
                      <a16:colId xmlns:a16="http://schemas.microsoft.com/office/drawing/2014/main" val="1496129451"/>
                    </a:ext>
                  </a:extLst>
                </a:gridCol>
                <a:gridCol w="4906793">
                  <a:extLst>
                    <a:ext uri="{9D8B030D-6E8A-4147-A177-3AD203B41FA5}">
                      <a16:colId xmlns:a16="http://schemas.microsoft.com/office/drawing/2014/main" val="2013797962"/>
                    </a:ext>
                  </a:extLst>
                </a:gridCol>
                <a:gridCol w="3351457">
                  <a:extLst>
                    <a:ext uri="{9D8B030D-6E8A-4147-A177-3AD203B41FA5}">
                      <a16:colId xmlns:a16="http://schemas.microsoft.com/office/drawing/2014/main" val="2190741250"/>
                    </a:ext>
                  </a:extLst>
                </a:gridCol>
                <a:gridCol w="904107">
                  <a:extLst>
                    <a:ext uri="{9D8B030D-6E8A-4147-A177-3AD203B41FA5}">
                      <a16:colId xmlns:a16="http://schemas.microsoft.com/office/drawing/2014/main" val="908062128"/>
                    </a:ext>
                  </a:extLst>
                </a:gridCol>
              </a:tblGrid>
              <a:tr h="19306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7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DOMAINE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7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ATELIER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7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7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LISTE DES PARTICIPANTS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7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87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Transverse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Spécifiques SAP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Cockpit gestion des PO : visualisation, alertes / </a:t>
                      </a:r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reporting</a:t>
                      </a: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modifications (masse ou détail)</a:t>
                      </a:r>
                      <a:endParaRPr lang="fr-F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Commandes spéciales</a:t>
                      </a:r>
                    </a:p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SMU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Yannick </a:t>
                      </a:r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Gruel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Pascale Despax (optionnel) 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S15-17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9183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Procurement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CBS et SNC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Fonctionnalités existantes, pour gap 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avec module tiers (ou interfaçage existant-ERP à choisir)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Equipe projet restreinte</a:t>
                      </a:r>
                      <a:b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Christophe </a:t>
                      </a:r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Dicharry</a:t>
                      </a: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(optionnel)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S15-17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67842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Inventory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Supply</a:t>
                      </a: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r-F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Demand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outils d’analyse de la cohérence SO / PO</a:t>
                      </a:r>
                    </a:p>
                    <a:p>
                      <a:pPr marL="88900" indent="-88900" algn="l" defTabSz="914400" rtl="0" eaLnBrk="1" fontAlgn="t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Supply</a:t>
                      </a: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7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demand</a:t>
                      </a:r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planning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Equipe projet restreinte</a:t>
                      </a:r>
                      <a:b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Frédéric DAVARD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Noto Sans"/>
                          <a:ea typeface="+mn-ea"/>
                          <a:cs typeface="+mn-cs"/>
                        </a:rPr>
                        <a:t>S15-17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662775"/>
                  </a:ext>
                </a:extLst>
              </a:tr>
            </a:tbl>
          </a:graphicData>
        </a:graphic>
      </p:graphicFrame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86B29C28-FCFE-CC87-1008-4330E4075F7B}"/>
              </a:ext>
            </a:extLst>
          </p:cNvPr>
          <p:cNvSpPr txBox="1">
            <a:spLocks/>
          </p:cNvSpPr>
          <p:nvPr/>
        </p:nvSpPr>
        <p:spPr>
          <a:xfrm>
            <a:off x="574339" y="1115604"/>
            <a:ext cx="11245439" cy="831181"/>
          </a:xfrm>
          <a:prstGeom prst="rect">
            <a:avLst/>
          </a:prstGeom>
          <a:noFill/>
          <a:ln w="12700" cap="flat" cmpd="sng" algn="ctr">
            <a:noFill/>
            <a:prstDash val="sysDash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rIns="18000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7 ateliers </a:t>
            </a:r>
            <a:r>
              <a:rPr lang="fr-FR" sz="1200" dirty="0"/>
              <a:t>portant sur les différentes </a:t>
            </a: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thématiques à approfondir </a:t>
            </a:r>
            <a:r>
              <a:rPr lang="fr-FR" dirty="0"/>
              <a:t>(hors ateliers de relecture et validation).</a:t>
            </a:r>
          </a:p>
          <a:p>
            <a:pPr marL="285750" indent="-285750" algn="just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60B12"/>
              </a:buCl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accent1"/>
                </a:solidFill>
                <a:latin typeface="Noto Sans"/>
                <a:cs typeface="Calibri" panose="020F0502020204030204" pitchFamily="34" charset="0"/>
              </a:rPr>
              <a:t>Des analyses complémentaires </a:t>
            </a:r>
            <a:r>
              <a:rPr lang="fr-FR" dirty="0"/>
              <a:t>(équipe projet restreinte) sur la réponse technique aux besoins actuels.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A6A3928-5C10-6DAE-B0A9-AD2C4AEAFADB}"/>
              </a:ext>
            </a:extLst>
          </p:cNvPr>
          <p:cNvSpPr txBox="1"/>
          <p:nvPr/>
        </p:nvSpPr>
        <p:spPr>
          <a:xfrm>
            <a:off x="194459" y="1677924"/>
            <a:ext cx="11819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1" dirty="0"/>
              <a:t>Liste des ateliers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7D2A0E2-8FD2-9B91-0CE9-92FC45B9208E}"/>
              </a:ext>
            </a:extLst>
          </p:cNvPr>
          <p:cNvSpPr txBox="1"/>
          <p:nvPr/>
        </p:nvSpPr>
        <p:spPr>
          <a:xfrm>
            <a:off x="194459" y="4895000"/>
            <a:ext cx="11819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1" dirty="0"/>
              <a:t>Analyses complémentaires (macro)</a:t>
            </a:r>
          </a:p>
        </p:txBody>
      </p:sp>
      <p:sp>
        <p:nvSpPr>
          <p:cNvPr id="17" name="Titre 2">
            <a:extLst>
              <a:ext uri="{FF2B5EF4-FFF2-40B4-BE49-F238E27FC236}">
                <a16:creationId xmlns:a16="http://schemas.microsoft.com/office/drawing/2014/main" id="{216D0698-8C1D-2988-0FCB-D5BAD18D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5" y="427028"/>
            <a:ext cx="10846555" cy="348557"/>
          </a:xfrm>
        </p:spPr>
        <p:txBody>
          <a:bodyPr/>
          <a:lstStyle/>
          <a:p>
            <a:r>
              <a:rPr lang="fr-FR" dirty="0"/>
              <a:t>Lancement de l’étape 2| </a:t>
            </a:r>
            <a:r>
              <a:rPr lang="fr-FR" cap="none" dirty="0"/>
              <a:t>Les prochaines activités</a:t>
            </a:r>
            <a:endParaRPr dirty="0"/>
          </a:p>
        </p:txBody>
      </p:sp>
      <p:sp>
        <p:nvSpPr>
          <p:cNvPr id="3" name="Légende : encadrée 2">
            <a:extLst>
              <a:ext uri="{FF2B5EF4-FFF2-40B4-BE49-F238E27FC236}">
                <a16:creationId xmlns:a16="http://schemas.microsoft.com/office/drawing/2014/main" id="{AFCC832B-4E55-0DE6-EC7E-AD74E0CE741F}"/>
              </a:ext>
            </a:extLst>
          </p:cNvPr>
          <p:cNvSpPr/>
          <p:nvPr/>
        </p:nvSpPr>
        <p:spPr>
          <a:xfrm flipH="1">
            <a:off x="9212480" y="1052466"/>
            <a:ext cx="1530713" cy="519637"/>
          </a:xfrm>
          <a:prstGeom prst="borderCallout1">
            <a:avLst>
              <a:gd name="adj1" fmla="val 28052"/>
              <a:gd name="adj2" fmla="val -3859"/>
              <a:gd name="adj3" fmla="val 112500"/>
              <a:gd name="adj4" fmla="val -3833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800" b="1" dirty="0">
                <a:solidFill>
                  <a:srgbClr val="1A1C30"/>
                </a:solidFill>
                <a:cs typeface="Calibri" panose="020F0502020204030204" pitchFamily="34" charset="0"/>
              </a:rPr>
              <a:t>En cours de planification avec les métiers concernés</a:t>
            </a:r>
          </a:p>
        </p:txBody>
      </p:sp>
    </p:spTree>
    <p:extLst>
      <p:ext uri="{BB962C8B-B14F-4D97-AF65-F5344CB8AC3E}">
        <p14:creationId xmlns:p14="http://schemas.microsoft.com/office/powerpoint/2010/main" val="192519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CB90A-3316-81FD-F553-46143CF0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DC3F1A3-8249-5D9D-4FC3-07B4B48DB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623213"/>
              </p:ext>
            </p:extLst>
          </p:nvPr>
        </p:nvGraphicFramePr>
        <p:xfrm>
          <a:off x="413405" y="1665094"/>
          <a:ext cx="11427588" cy="3369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4866">
                  <a:extLst>
                    <a:ext uri="{9D8B030D-6E8A-4147-A177-3AD203B41FA5}">
                      <a16:colId xmlns:a16="http://schemas.microsoft.com/office/drawing/2014/main" val="2713646041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3550639171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628602388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1923997243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1635667415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1333031389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4202539168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3004268650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3062504775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3268647298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1328607486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434217480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1181621900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3298625014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2405670063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289276544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930037834"/>
                    </a:ext>
                  </a:extLst>
                </a:gridCol>
                <a:gridCol w="634866">
                  <a:extLst>
                    <a:ext uri="{9D8B030D-6E8A-4147-A177-3AD203B41FA5}">
                      <a16:colId xmlns:a16="http://schemas.microsoft.com/office/drawing/2014/main" val="2987426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FÉVRIER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MARS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AVRIL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MAI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JUIN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76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S09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S19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S24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S26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74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F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AUDIT DE L’EXISTANT &amp; MACRO-BESOINS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000" b="1" dirty="0"/>
                        <a:t>ANALYSE DU MARCHÉ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BB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000" b="1" dirty="0"/>
                        <a:t>RECOMMANDATIONS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E9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53584"/>
                  </a:ext>
                </a:extLst>
              </a:tr>
              <a:tr h="2696671">
                <a:tc gridSpan="18">
                  <a:txBody>
                    <a:bodyPr/>
                    <a:lstStyle/>
                    <a:p>
                      <a:pPr marL="171450" marR="0" lvl="0" indent="-171450" algn="l" defTabSz="457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60000"/>
                            <a:lumOff val="40000"/>
                          </a:schemeClr>
                        </a:buClr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10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Verdana"/>
                        <a:cs typeface="Calibri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457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60000"/>
                            <a:lumOff val="40000"/>
                          </a:schemeClr>
                        </a:buClr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10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Verdana"/>
                        <a:cs typeface="Calibri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457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60000"/>
                            <a:lumOff val="40000"/>
                          </a:schemeClr>
                        </a:buClr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10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Verdana"/>
                        <a:cs typeface="Calibri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660314"/>
                  </a:ext>
                </a:extLst>
              </a:tr>
            </a:tbl>
          </a:graphicData>
        </a:graphic>
      </p:graphicFrame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9D1833-49C1-A976-3589-B3C1107CF79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69799" y="6536244"/>
            <a:ext cx="4114800" cy="216982"/>
          </a:xfr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E7D99CA-6EAB-C014-CD95-905679C5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46" y="427028"/>
            <a:ext cx="7807764" cy="348557"/>
          </a:xfrm>
        </p:spPr>
        <p:txBody>
          <a:bodyPr/>
          <a:lstStyle/>
          <a:p>
            <a:r>
              <a:rPr lang="fr-FR" dirty="0"/>
              <a:t>Le calendrier | </a:t>
            </a:r>
            <a:r>
              <a:rPr lang="fr-FR" cap="none" dirty="0"/>
              <a:t>Nous prévoyons de terminer l’étape 2 à l’horizon fin avril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02C4B9-444E-6A99-32D3-4351CA767060}"/>
              </a:ext>
            </a:extLst>
          </p:cNvPr>
          <p:cNvSpPr txBox="1"/>
          <p:nvPr/>
        </p:nvSpPr>
        <p:spPr>
          <a:xfrm>
            <a:off x="413406" y="5286205"/>
            <a:ext cx="1901170" cy="485646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92075" indent="-9207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Ateliers thématiques – existant et principes structurants 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F61AB31-3C56-788A-FE6E-0783266A2F2E}"/>
              </a:ext>
            </a:extLst>
          </p:cNvPr>
          <p:cNvCxnSpPr>
            <a:cxnSpLocks/>
          </p:cNvCxnSpPr>
          <p:nvPr/>
        </p:nvCxnSpPr>
        <p:spPr>
          <a:xfrm>
            <a:off x="2314575" y="2112105"/>
            <a:ext cx="0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8949C703-F54A-1FA7-D3DA-A89E6F127EEB}"/>
              </a:ext>
            </a:extLst>
          </p:cNvPr>
          <p:cNvSpPr txBox="1"/>
          <p:nvPr/>
        </p:nvSpPr>
        <p:spPr>
          <a:xfrm>
            <a:off x="2328546" y="5286205"/>
            <a:ext cx="1264920" cy="485646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Formalisation</a:t>
            </a:r>
            <a:b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</a:b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et documentation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3989432-3C57-9F1E-07B1-1E71B1A1C1A5}"/>
              </a:ext>
            </a:extLst>
          </p:cNvPr>
          <p:cNvCxnSpPr>
            <a:cxnSpLocks/>
          </p:cNvCxnSpPr>
          <p:nvPr/>
        </p:nvCxnSpPr>
        <p:spPr>
          <a:xfrm flipH="1">
            <a:off x="3577914" y="2112105"/>
            <a:ext cx="14281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F55F2064-A947-5ED4-B358-741056262D32}"/>
              </a:ext>
            </a:extLst>
          </p:cNvPr>
          <p:cNvSpPr txBox="1"/>
          <p:nvPr/>
        </p:nvSpPr>
        <p:spPr>
          <a:xfrm>
            <a:off x="3598545" y="5286205"/>
            <a:ext cx="1899916" cy="693395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Ateliers supplémentaires  et itérations - définition de la cible</a:t>
            </a:r>
          </a:p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Formalisation des besoins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8703712-D4DE-584A-0306-6FFCE4B4C896}"/>
              </a:ext>
            </a:extLst>
          </p:cNvPr>
          <p:cNvCxnSpPr>
            <a:cxnSpLocks/>
          </p:cNvCxnSpPr>
          <p:nvPr/>
        </p:nvCxnSpPr>
        <p:spPr>
          <a:xfrm>
            <a:off x="5499735" y="2112105"/>
            <a:ext cx="0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5DC55F1-3B67-AF5A-6BE1-932DA41C3D41}"/>
              </a:ext>
            </a:extLst>
          </p:cNvPr>
          <p:cNvSpPr txBox="1"/>
          <p:nvPr/>
        </p:nvSpPr>
        <p:spPr>
          <a:xfrm>
            <a:off x="5504814" y="5286205"/>
            <a:ext cx="1267421" cy="485646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Revue, qualification et validation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F3BD662-B1ED-012E-4330-B0778005D916}"/>
              </a:ext>
            </a:extLst>
          </p:cNvPr>
          <p:cNvCxnSpPr>
            <a:cxnSpLocks/>
          </p:cNvCxnSpPr>
          <p:nvPr/>
        </p:nvCxnSpPr>
        <p:spPr>
          <a:xfrm>
            <a:off x="6753840" y="2112105"/>
            <a:ext cx="0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53A95196-C966-1769-328C-5976FC0FAA10}"/>
              </a:ext>
            </a:extLst>
          </p:cNvPr>
          <p:cNvSpPr txBox="1"/>
          <p:nvPr/>
        </p:nvSpPr>
        <p:spPr>
          <a:xfrm>
            <a:off x="6752566" y="5286205"/>
            <a:ext cx="1251038" cy="485646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Etude de marché</a:t>
            </a:r>
          </a:p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Sélection / RFI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73A5D8C-A097-AACD-B187-D4570D07C42B}"/>
              </a:ext>
            </a:extLst>
          </p:cNvPr>
          <p:cNvCxnSpPr>
            <a:cxnSpLocks/>
          </p:cNvCxnSpPr>
          <p:nvPr/>
        </p:nvCxnSpPr>
        <p:spPr>
          <a:xfrm flipH="1">
            <a:off x="8032178" y="2112105"/>
            <a:ext cx="0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8439818A-4732-14C3-5C3C-655A78479C79}"/>
              </a:ext>
            </a:extLst>
          </p:cNvPr>
          <p:cNvSpPr txBox="1"/>
          <p:nvPr/>
        </p:nvSpPr>
        <p:spPr>
          <a:xfrm>
            <a:off x="8026339" y="5286205"/>
            <a:ext cx="1273801" cy="277897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Scénarios applicatifs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0DBA634F-FDAA-06B0-DCDC-1418EBDFA971}"/>
              </a:ext>
            </a:extLst>
          </p:cNvPr>
          <p:cNvCxnSpPr>
            <a:cxnSpLocks/>
          </p:cNvCxnSpPr>
          <p:nvPr/>
        </p:nvCxnSpPr>
        <p:spPr>
          <a:xfrm flipH="1">
            <a:off x="9296682" y="2112105"/>
            <a:ext cx="0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D57312AE-BA7E-DC68-2307-A631DDCF73F6}"/>
              </a:ext>
            </a:extLst>
          </p:cNvPr>
          <p:cNvSpPr txBox="1"/>
          <p:nvPr/>
        </p:nvSpPr>
        <p:spPr>
          <a:xfrm>
            <a:off x="9296682" y="5286205"/>
            <a:ext cx="2537252" cy="485646"/>
          </a:xfrm>
          <a:prstGeom prst="rect">
            <a:avLst/>
          </a:prstGeom>
          <a:noFill/>
        </p:spPr>
        <p:txBody>
          <a:bodyPr wrap="square" lIns="36000" rIns="36000" anchor="t" anchorCtr="0">
            <a:spAutoFit/>
          </a:bodyPr>
          <a:lstStyle/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Affinage et validation du scénario applicatif</a:t>
            </a:r>
          </a:p>
          <a:p>
            <a:pPr marL="85725" indent="-85725" defTabSz="457173">
              <a:lnSpc>
                <a:spcPct val="150000"/>
              </a:lnSpc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solidFill>
                  <a:schemeClr val="bg1">
                    <a:lumMod val="50000"/>
                  </a:schemeClr>
                </a:solidFill>
                <a:ea typeface="Verdana"/>
                <a:cs typeface="Calibri"/>
              </a:rPr>
              <a:t>Estimations budgétaires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8431F26-1955-2BF8-9244-21772FFC2007}"/>
              </a:ext>
            </a:extLst>
          </p:cNvPr>
          <p:cNvCxnSpPr>
            <a:cxnSpLocks/>
          </p:cNvCxnSpPr>
          <p:nvPr/>
        </p:nvCxnSpPr>
        <p:spPr>
          <a:xfrm flipH="1">
            <a:off x="11839857" y="2112105"/>
            <a:ext cx="0" cy="3780000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C1D3C9BC-62D0-9498-F351-0C97F85FF144}"/>
              </a:ext>
            </a:extLst>
          </p:cNvPr>
          <p:cNvSpPr/>
          <p:nvPr/>
        </p:nvSpPr>
        <p:spPr>
          <a:xfrm>
            <a:off x="430550" y="2732198"/>
            <a:ext cx="3259530" cy="252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Etape 1 :  existant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3F206D5-373A-5FB2-8C43-184B5AFE376E}"/>
              </a:ext>
            </a:extLst>
          </p:cNvPr>
          <p:cNvSpPr/>
          <p:nvPr/>
        </p:nvSpPr>
        <p:spPr>
          <a:xfrm>
            <a:off x="9289563" y="4606487"/>
            <a:ext cx="2551430" cy="25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fr-FR" sz="1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4C08D8E-64CE-7418-F585-79484365ECEA}"/>
              </a:ext>
            </a:extLst>
          </p:cNvPr>
          <p:cNvSpPr/>
          <p:nvPr/>
        </p:nvSpPr>
        <p:spPr>
          <a:xfrm>
            <a:off x="6754495" y="3669342"/>
            <a:ext cx="1284801" cy="25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fr-FR" sz="1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58702344-C629-8D54-9CE7-394FC1E8C35C}"/>
              </a:ext>
            </a:extLst>
          </p:cNvPr>
          <p:cNvSpPr/>
          <p:nvPr/>
        </p:nvSpPr>
        <p:spPr>
          <a:xfrm>
            <a:off x="8021918" y="4137914"/>
            <a:ext cx="1278222" cy="25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fr-FR" sz="1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CAFD99D9-1DFD-AD96-4220-29156B9EF1B0}"/>
              </a:ext>
            </a:extLst>
          </p:cNvPr>
          <p:cNvSpPr/>
          <p:nvPr/>
        </p:nvSpPr>
        <p:spPr>
          <a:xfrm>
            <a:off x="1147444" y="3200770"/>
            <a:ext cx="1874523" cy="252000"/>
          </a:xfrm>
          <a:prstGeom prst="roundRect">
            <a:avLst/>
          </a:prstGeom>
          <a:pattFill prst="dkUpDiag">
            <a:fgClr>
              <a:schemeClr val="accent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fr-FR" sz="1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D2D5E2C3-A2F6-53C9-9538-98A96E73405A}"/>
              </a:ext>
            </a:extLst>
          </p:cNvPr>
          <p:cNvSpPr/>
          <p:nvPr/>
        </p:nvSpPr>
        <p:spPr>
          <a:xfrm>
            <a:off x="4215745" y="3200770"/>
            <a:ext cx="2547620" cy="252000"/>
          </a:xfrm>
          <a:prstGeom prst="roundRect">
            <a:avLst/>
          </a:prstGeom>
          <a:solidFill>
            <a:srgbClr val="1345F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Etape 2 : besoins cibles</a:t>
            </a:r>
          </a:p>
        </p:txBody>
      </p:sp>
      <p:sp>
        <p:nvSpPr>
          <p:cNvPr id="35" name="Organigramme : Décision 34">
            <a:extLst>
              <a:ext uri="{FF2B5EF4-FFF2-40B4-BE49-F238E27FC236}">
                <a16:creationId xmlns:a16="http://schemas.microsoft.com/office/drawing/2014/main" id="{C850B1B2-9BAE-2882-1609-F6C45C14D5CC}"/>
              </a:ext>
            </a:extLst>
          </p:cNvPr>
          <p:cNvSpPr/>
          <p:nvPr/>
        </p:nvSpPr>
        <p:spPr>
          <a:xfrm>
            <a:off x="588999" y="2565260"/>
            <a:ext cx="277404" cy="252000"/>
          </a:xfrm>
          <a:prstGeom prst="flowChartDecision">
            <a:avLst/>
          </a:prstGeom>
          <a:solidFill>
            <a:srgbClr val="00B050"/>
          </a:solidFill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rganigramme : Décision 35">
            <a:extLst>
              <a:ext uri="{FF2B5EF4-FFF2-40B4-BE49-F238E27FC236}">
                <a16:creationId xmlns:a16="http://schemas.microsoft.com/office/drawing/2014/main" id="{5C57B33D-7DA8-6D5A-B120-505178C23E3E}"/>
              </a:ext>
            </a:extLst>
          </p:cNvPr>
          <p:cNvSpPr/>
          <p:nvPr/>
        </p:nvSpPr>
        <p:spPr>
          <a:xfrm>
            <a:off x="1225289" y="2565260"/>
            <a:ext cx="277404" cy="252000"/>
          </a:xfrm>
          <a:prstGeom prst="flowChartDecision">
            <a:avLst/>
          </a:prstGeom>
          <a:solidFill>
            <a:srgbClr val="00B050"/>
          </a:solidFill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Organigramme : Décision 36">
            <a:extLst>
              <a:ext uri="{FF2B5EF4-FFF2-40B4-BE49-F238E27FC236}">
                <a16:creationId xmlns:a16="http://schemas.microsoft.com/office/drawing/2014/main" id="{93B194C0-5F1A-FBC8-030C-982325B3F4D7}"/>
              </a:ext>
            </a:extLst>
          </p:cNvPr>
          <p:cNvSpPr/>
          <p:nvPr/>
        </p:nvSpPr>
        <p:spPr>
          <a:xfrm>
            <a:off x="1861579" y="2557246"/>
            <a:ext cx="277404" cy="252000"/>
          </a:xfrm>
          <a:prstGeom prst="flowChartDecision">
            <a:avLst/>
          </a:prstGeom>
          <a:solidFill>
            <a:srgbClr val="00B050"/>
          </a:solidFill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Organigramme : Décision 37">
            <a:extLst>
              <a:ext uri="{FF2B5EF4-FFF2-40B4-BE49-F238E27FC236}">
                <a16:creationId xmlns:a16="http://schemas.microsoft.com/office/drawing/2014/main" id="{D96F8178-1992-AFB9-7D9D-2B7A5FD1B28B}"/>
              </a:ext>
            </a:extLst>
          </p:cNvPr>
          <p:cNvSpPr/>
          <p:nvPr/>
        </p:nvSpPr>
        <p:spPr>
          <a:xfrm>
            <a:off x="3552966" y="2600596"/>
            <a:ext cx="277404" cy="252000"/>
          </a:xfrm>
          <a:prstGeom prst="flowChartDecisi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DE07E86-4D68-D50A-4782-28E849818E70}"/>
              </a:ext>
            </a:extLst>
          </p:cNvPr>
          <p:cNvSpPr txBox="1"/>
          <p:nvPr/>
        </p:nvSpPr>
        <p:spPr>
          <a:xfrm>
            <a:off x="370962" y="2323118"/>
            <a:ext cx="7134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sz="800" b="0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ateliers</a:t>
            </a:r>
            <a:endParaRPr lang="fr-FR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9258D97C-795D-EAE0-DF71-3CBFFCA5C9D7}"/>
              </a:ext>
            </a:extLst>
          </p:cNvPr>
          <p:cNvSpPr txBox="1"/>
          <p:nvPr/>
        </p:nvSpPr>
        <p:spPr>
          <a:xfrm>
            <a:off x="1009771" y="2323118"/>
            <a:ext cx="7134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" i="1" dirty="0"/>
              <a:t>5</a:t>
            </a:r>
            <a:r>
              <a:rPr kumimoji="0" lang="fr-FR" sz="800" b="0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ateliers</a:t>
            </a:r>
            <a:endParaRPr lang="fr-FR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3AF9EC8-FEB3-A9DF-B6EF-EDBD2540C101}"/>
              </a:ext>
            </a:extLst>
          </p:cNvPr>
          <p:cNvSpPr txBox="1"/>
          <p:nvPr/>
        </p:nvSpPr>
        <p:spPr>
          <a:xfrm>
            <a:off x="1648165" y="2323118"/>
            <a:ext cx="7134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" i="1" dirty="0"/>
              <a:t>5</a:t>
            </a:r>
            <a:r>
              <a:rPr kumimoji="0" lang="fr-FR" sz="800" b="0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ateliers</a:t>
            </a:r>
            <a:endParaRPr lang="fr-FR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909C196-FD79-DDC5-5DEE-D53F181159EB}"/>
              </a:ext>
            </a:extLst>
          </p:cNvPr>
          <p:cNvSpPr txBox="1"/>
          <p:nvPr/>
        </p:nvSpPr>
        <p:spPr>
          <a:xfrm>
            <a:off x="3342661" y="2380015"/>
            <a:ext cx="7134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00" b="1" i="1" dirty="0"/>
              <a:t>COPIL 1</a:t>
            </a:r>
            <a:endParaRPr lang="fr-FR" b="1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CF7A2A55-0514-716C-7C22-2C8173970FD8}"/>
              </a:ext>
            </a:extLst>
          </p:cNvPr>
          <p:cNvSpPr/>
          <p:nvPr/>
        </p:nvSpPr>
        <p:spPr>
          <a:xfrm>
            <a:off x="2938124" y="3200770"/>
            <a:ext cx="1279581" cy="252000"/>
          </a:xfrm>
          <a:prstGeom prst="roundRect">
            <a:avLst/>
          </a:prstGeom>
          <a:solidFill>
            <a:srgbClr val="1345FF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Préparation étape 2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619C82DA-FD61-BAE2-C321-107BF2BC1C10}"/>
              </a:ext>
            </a:extLst>
          </p:cNvPr>
          <p:cNvCxnSpPr>
            <a:cxnSpLocks/>
          </p:cNvCxnSpPr>
          <p:nvPr/>
        </p:nvCxnSpPr>
        <p:spPr>
          <a:xfrm flipV="1">
            <a:off x="3696628" y="1531970"/>
            <a:ext cx="4597" cy="3492000"/>
          </a:xfrm>
          <a:prstGeom prst="line">
            <a:avLst/>
          </a:prstGeom>
          <a:ln w="9525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riangle isocèle 45">
            <a:extLst>
              <a:ext uri="{FF2B5EF4-FFF2-40B4-BE49-F238E27FC236}">
                <a16:creationId xmlns:a16="http://schemas.microsoft.com/office/drawing/2014/main" id="{D49010BA-193F-476A-0E0A-313B2A2B6521}"/>
              </a:ext>
            </a:extLst>
          </p:cNvPr>
          <p:cNvSpPr/>
          <p:nvPr/>
        </p:nvSpPr>
        <p:spPr>
          <a:xfrm rot="10800000">
            <a:off x="3619056" y="1504303"/>
            <a:ext cx="164339" cy="144094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941AD6FA-867A-763A-CC69-D8FFB1669E62}"/>
              </a:ext>
            </a:extLst>
          </p:cNvPr>
          <p:cNvSpPr txBox="1"/>
          <p:nvPr/>
        </p:nvSpPr>
        <p:spPr>
          <a:xfrm>
            <a:off x="4179046" y="2923949"/>
            <a:ext cx="8323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sz="800" b="0" i="1" u="none" strike="noStrike" kern="1200" cap="none" spc="0" normalizeH="0" baseline="0" dirty="0">
                <a:ln>
                  <a:noFill/>
                </a:ln>
                <a:solidFill>
                  <a:srgbClr val="060B1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à 5 ateliers</a:t>
            </a:r>
            <a:endParaRPr lang="fr-FR" dirty="0">
              <a:solidFill>
                <a:srgbClr val="060B12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33DB5623-568C-F4DA-E7E2-520057729EE7}"/>
              </a:ext>
            </a:extLst>
          </p:cNvPr>
          <p:cNvSpPr txBox="1"/>
          <p:nvPr/>
        </p:nvSpPr>
        <p:spPr>
          <a:xfrm>
            <a:off x="4814160" y="2925166"/>
            <a:ext cx="8323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sz="800" b="0" i="1" u="none" strike="noStrike" kern="1200" cap="none" spc="0" normalizeH="0" baseline="0" dirty="0">
                <a:ln>
                  <a:noFill/>
                </a:ln>
                <a:solidFill>
                  <a:srgbClr val="060B1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à 3 ateliers</a:t>
            </a:r>
            <a:endParaRPr lang="fr-FR" dirty="0">
              <a:solidFill>
                <a:srgbClr val="060B12"/>
              </a:solidFill>
            </a:endParaRPr>
          </a:p>
        </p:txBody>
      </p:sp>
      <p:sp>
        <p:nvSpPr>
          <p:cNvPr id="6" name="Organigramme : Décision 5">
            <a:extLst>
              <a:ext uri="{FF2B5EF4-FFF2-40B4-BE49-F238E27FC236}">
                <a16:creationId xmlns:a16="http://schemas.microsoft.com/office/drawing/2014/main" id="{0DD92D25-9BE1-9746-3667-7E8AD847A3F1}"/>
              </a:ext>
            </a:extLst>
          </p:cNvPr>
          <p:cNvSpPr/>
          <p:nvPr/>
        </p:nvSpPr>
        <p:spPr>
          <a:xfrm>
            <a:off x="4452780" y="3101658"/>
            <a:ext cx="277404" cy="252000"/>
          </a:xfrm>
          <a:prstGeom prst="flowChartDecision">
            <a:avLst/>
          </a:prstGeom>
          <a:solidFill>
            <a:srgbClr val="1345FF"/>
          </a:solidFill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fr-FR" sz="1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rganigramme : Décision 6">
            <a:extLst>
              <a:ext uri="{FF2B5EF4-FFF2-40B4-BE49-F238E27FC236}">
                <a16:creationId xmlns:a16="http://schemas.microsoft.com/office/drawing/2014/main" id="{EE441E1F-7FB5-A3B8-2746-0A546112E531}"/>
              </a:ext>
            </a:extLst>
          </p:cNvPr>
          <p:cNvSpPr/>
          <p:nvPr/>
        </p:nvSpPr>
        <p:spPr>
          <a:xfrm>
            <a:off x="5089070" y="3101658"/>
            <a:ext cx="277404" cy="252000"/>
          </a:xfrm>
          <a:prstGeom prst="flowChartDecision">
            <a:avLst/>
          </a:prstGeom>
          <a:solidFill>
            <a:srgbClr val="1345FF"/>
          </a:solidFill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fr-FR" sz="1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rganigramme : Décision 17">
            <a:extLst>
              <a:ext uri="{FF2B5EF4-FFF2-40B4-BE49-F238E27FC236}">
                <a16:creationId xmlns:a16="http://schemas.microsoft.com/office/drawing/2014/main" id="{C8133802-E0E3-BAFB-6D7B-12F297FFE8F8}"/>
              </a:ext>
            </a:extLst>
          </p:cNvPr>
          <p:cNvSpPr/>
          <p:nvPr/>
        </p:nvSpPr>
        <p:spPr>
          <a:xfrm>
            <a:off x="5847718" y="3083302"/>
            <a:ext cx="277404" cy="252000"/>
          </a:xfrm>
          <a:prstGeom prst="flowChartDecision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Organigramme : Décision 18">
            <a:extLst>
              <a:ext uri="{FF2B5EF4-FFF2-40B4-BE49-F238E27FC236}">
                <a16:creationId xmlns:a16="http://schemas.microsoft.com/office/drawing/2014/main" id="{A8092016-E4B0-DACA-D01A-ED99CF96D0B5}"/>
              </a:ext>
            </a:extLst>
          </p:cNvPr>
          <p:cNvSpPr/>
          <p:nvPr/>
        </p:nvSpPr>
        <p:spPr>
          <a:xfrm>
            <a:off x="6447940" y="3073186"/>
            <a:ext cx="277404" cy="252000"/>
          </a:xfrm>
          <a:prstGeom prst="flowChartDecision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000" b="1" dirty="0">
              <a:solidFill>
                <a:srgbClr val="1A1C3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90956B-5EF3-8D9D-0CC3-F3CD9A63004C}"/>
              </a:ext>
            </a:extLst>
          </p:cNvPr>
          <p:cNvSpPr txBox="1"/>
          <p:nvPr/>
        </p:nvSpPr>
        <p:spPr>
          <a:xfrm>
            <a:off x="507245" y="1054878"/>
            <a:ext cx="109932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60958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>
                    <a:lumMod val="50000"/>
                  </a:schemeClr>
                </a:solidFill>
                <a:ea typeface="Noto Sans" panose="020B0502040504020204" pitchFamily="34" charset="0"/>
                <a:cs typeface="Noto Sans" panose="020B0502040504020204" pitchFamily="34" charset="0"/>
              </a:rPr>
              <a:t>L’avancement, le budget et le planning sont en ligne avec les prévisions.</a:t>
            </a:r>
          </a:p>
        </p:txBody>
      </p:sp>
    </p:spTree>
    <p:extLst>
      <p:ext uri="{BB962C8B-B14F-4D97-AF65-F5344CB8AC3E}">
        <p14:creationId xmlns:p14="http://schemas.microsoft.com/office/powerpoint/2010/main" val="343036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30F5756-5FD7-386F-70A9-C08D8637C387}"/>
              </a:ext>
            </a:extLst>
          </p:cNvPr>
          <p:cNvSpPr/>
          <p:nvPr/>
        </p:nvSpPr>
        <p:spPr>
          <a:xfrm rot="7986625">
            <a:off x="2613961" y="1412082"/>
            <a:ext cx="4462810" cy="4462810"/>
          </a:xfrm>
          <a:prstGeom prst="round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8F22B18-07B5-1E77-3CC9-4C337AEF1592}"/>
              </a:ext>
            </a:extLst>
          </p:cNvPr>
          <p:cNvSpPr/>
          <p:nvPr/>
        </p:nvSpPr>
        <p:spPr>
          <a:xfrm rot="7986625">
            <a:off x="5431045" y="1412080"/>
            <a:ext cx="4462810" cy="4462810"/>
          </a:xfrm>
          <a:prstGeom prst="round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38C5A5D-1EA2-780F-FCFA-22A470EF8B28}"/>
              </a:ext>
            </a:extLst>
          </p:cNvPr>
          <p:cNvSpPr/>
          <p:nvPr/>
        </p:nvSpPr>
        <p:spPr>
          <a:xfrm rot="7986625">
            <a:off x="3971704" y="748725"/>
            <a:ext cx="4462810" cy="4462810"/>
          </a:xfrm>
          <a:prstGeom prst="roundRect">
            <a:avLst/>
          </a:prstGeom>
          <a:solidFill>
            <a:srgbClr val="6E8D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A33E9FA-7D0E-0AB2-8F53-1F7A2DE6747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9550"/>
            <a:ext cx="4114800" cy="2174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Confidentiel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E584276-F2B3-5EB1-35E5-4E24BEC1D3D1}"/>
              </a:ext>
            </a:extLst>
          </p:cNvPr>
          <p:cNvSpPr txBox="1"/>
          <p:nvPr/>
        </p:nvSpPr>
        <p:spPr>
          <a:xfrm>
            <a:off x="2686943" y="2705725"/>
            <a:ext cx="6818113" cy="14465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32545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C021F4-2A9A-4D61-B546-C2A7E0E90E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Annexes 1 à 6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07AFDD-BFF8-DE50-8E49-FF9C5776C0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5330" y="4557439"/>
            <a:ext cx="5498340" cy="863642"/>
          </a:xfrm>
        </p:spPr>
        <p:txBody>
          <a:bodyPr/>
          <a:lstStyle/>
          <a:p>
            <a:r>
              <a:rPr lang="fr-FR" sz="2000" dirty="0"/>
              <a:t>Les principaux besoins recensés | par processus</a:t>
            </a:r>
          </a:p>
        </p:txBody>
      </p:sp>
    </p:spTree>
    <p:extLst>
      <p:ext uri="{BB962C8B-B14F-4D97-AF65-F5344CB8AC3E}">
        <p14:creationId xmlns:p14="http://schemas.microsoft.com/office/powerpoint/2010/main" val="1659188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C31E-E8B2-0EA3-FAA3-092B2FB3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DD1F92-099C-C2B7-0D20-36A6F9DCD83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Confidentiel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A4B2CAAE-8C60-F2B1-004D-3F42E751E72E}"/>
              </a:ext>
            </a:extLst>
          </p:cNvPr>
          <p:cNvGrpSpPr/>
          <p:nvPr/>
        </p:nvGrpSpPr>
        <p:grpSpPr>
          <a:xfrm>
            <a:off x="319346" y="231019"/>
            <a:ext cx="11621798" cy="744564"/>
            <a:chOff x="1017950" y="3859398"/>
            <a:chExt cx="10048757" cy="1044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F50B8B-366D-2A95-E224-9877AD12C36F}"/>
                </a:ext>
              </a:extLst>
            </p:cNvPr>
            <p:cNvSpPr/>
            <p:nvPr/>
          </p:nvSpPr>
          <p:spPr>
            <a:xfrm>
              <a:off x="446106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63D48C-0191-6BDA-DD73-7C7CC150AF61}"/>
                </a:ext>
              </a:extLst>
            </p:cNvPr>
            <p:cNvSpPr/>
            <p:nvPr/>
          </p:nvSpPr>
          <p:spPr>
            <a:xfrm>
              <a:off x="9288479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WHOLESALE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E0D8BC-D45B-EF7D-F230-9BA7D9F39910}"/>
                </a:ext>
              </a:extLst>
            </p:cNvPr>
            <p:cNvSpPr/>
            <p:nvPr/>
          </p:nvSpPr>
          <p:spPr>
            <a:xfrm>
              <a:off x="607020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A2B8D67-D8EE-B7DA-B366-9699E55B3CFC}"/>
                </a:ext>
              </a:extLst>
            </p:cNvPr>
            <p:cNvSpPr/>
            <p:nvPr/>
          </p:nvSpPr>
          <p:spPr>
            <a:xfrm>
              <a:off x="767934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AVAL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2802769-83D8-125C-1782-D643AD4BA78E}"/>
                </a:ext>
              </a:extLst>
            </p:cNvPr>
            <p:cNvSpPr/>
            <p:nvPr/>
          </p:nvSpPr>
          <p:spPr>
            <a:xfrm>
              <a:off x="285192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PROCUREMENT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CEB659-976D-FF89-D53D-29E66E810A62}"/>
                </a:ext>
              </a:extLst>
            </p:cNvPr>
            <p:cNvSpPr/>
            <p:nvPr/>
          </p:nvSpPr>
          <p:spPr>
            <a:xfrm>
              <a:off x="1017950" y="3859398"/>
              <a:ext cx="10048757" cy="10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505CA0-0A89-804D-7DFB-1EC55D3774B7}"/>
                </a:ext>
              </a:extLst>
            </p:cNvPr>
            <p:cNvSpPr/>
            <p:nvPr/>
          </p:nvSpPr>
          <p:spPr>
            <a:xfrm>
              <a:off x="1242780" y="4075255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PLANNING</a:t>
              </a:r>
            </a:p>
          </p:txBody>
        </p:sp>
      </p:grpSp>
      <p:sp>
        <p:nvSpPr>
          <p:cNvPr id="50" name="Google Shape;6383;g1e9637bbf18_0_469">
            <a:extLst>
              <a:ext uri="{FF2B5EF4-FFF2-40B4-BE49-F238E27FC236}">
                <a16:creationId xmlns:a16="http://schemas.microsoft.com/office/drawing/2014/main" id="{A5133D63-890D-CDFA-F21A-A996F80D3054}"/>
              </a:ext>
            </a:extLst>
          </p:cNvPr>
          <p:cNvSpPr/>
          <p:nvPr/>
        </p:nvSpPr>
        <p:spPr>
          <a:xfrm>
            <a:off x="319345" y="1028265"/>
            <a:ext cx="5760000" cy="2871028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DEFCBD">
                    <a:lumMod val="25000"/>
                  </a:srgbClr>
                </a:solidFill>
                <a:latin typeface="Segoe UI"/>
                <a:ea typeface="Roboto"/>
                <a:cs typeface="Roboto"/>
                <a:sym typeface="Roboto"/>
              </a:rPr>
              <a:t>Principaux besoins à reconduire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Elaboration des budgets et des prévisions sur la base d’une structure / d’une hiérarchie Produit commune, portée par l’ERP.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Macroplanning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global, permettant de planifier chaque étape du processus et de lancer les campagnes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drachats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dans les temps =&gt; traductible en workflow ?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Workflow de création des « demandes d’achats » (depuis l’outil de planification) &gt; validation &gt; contrôle des jalons et dates &gt; création de commande d’achat (dans l’ERP, en lien avec les portails fournisseurs).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6383;g1e9637bbf18_0_469">
            <a:extLst>
              <a:ext uri="{FF2B5EF4-FFF2-40B4-BE49-F238E27FC236}">
                <a16:creationId xmlns:a16="http://schemas.microsoft.com/office/drawing/2014/main" id="{41529138-FB0F-E2E3-2A5A-8315445F58BE}"/>
              </a:ext>
            </a:extLst>
          </p:cNvPr>
          <p:cNvSpPr/>
          <p:nvPr/>
        </p:nvSpPr>
        <p:spPr>
          <a:xfrm>
            <a:off x="6181144" y="4004793"/>
            <a:ext cx="5760000" cy="2331555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002060"/>
                </a:solidFill>
                <a:latin typeface="Segoe UI"/>
                <a:ea typeface="Roboto"/>
                <a:cs typeface="Roboto"/>
                <a:sym typeface="Roboto"/>
              </a:rPr>
              <a:t>Spécificités et points d’attention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[BRD] Plan d’assortiment (« 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Passo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 ») actuel construit sur une hiérarchie Produit spécifique (plus agrégée / macro que celle de SAP) =&gt; pistes d’harmonisation à évaluer.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des saisons et variantes Articles : données d’historique (transactions, performance, analyses) à chainer et consolider.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Modes de construction des prévisions et des plannings d’achats différents 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[BRD] Le Planner traduit la prévision de ventes en prévision d’achats cadencés (Notion de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Buy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) dans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Optimate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Supply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pour tous les canaux (RETAIL/WHOLESALE)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[BMN] Le gestionnaire amont travaille un Plan d’Achat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Retail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uniquement, dans MAP. Le besoin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Wholesale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est consolidé et acheté en même temps que l’implantation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Retail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des périodes différente d’une marque à l’autre : période budgétaire pour VIBS, session d’achat pour le Pole  Premium et La Halle, « 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Buying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session » pour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Boardriders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(qui se rapproche des sessions d’achats, avec une notion de cadencement).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Segoe UI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6383;g1e9637bbf18_0_469">
            <a:extLst>
              <a:ext uri="{FF2B5EF4-FFF2-40B4-BE49-F238E27FC236}">
                <a16:creationId xmlns:a16="http://schemas.microsoft.com/office/drawing/2014/main" id="{DB1A31AA-5AB4-C8FB-3BAB-855F1EE5ABFB}"/>
              </a:ext>
            </a:extLst>
          </p:cNvPr>
          <p:cNvSpPr/>
          <p:nvPr/>
        </p:nvSpPr>
        <p:spPr>
          <a:xfrm>
            <a:off x="6181144" y="1031689"/>
            <a:ext cx="5760000" cy="2871028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F6A70A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Pistes d’amélioration et de réponse aux principaux irritants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Planification « mixte », intégrant à la fois une logique saisonnière et une logique « annualisée » (pour les produits permanents ou reconduits).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Extrapolation des ventes assistée par calcul / outil de simulation 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Wholesale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: sur la base du carnet de commande enregistré, intégrant ou non les clients « non extrapolables ».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E-commerce et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retail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: sur la base des ventes passées, des nouveaux paramètres de l’année en cours (ouverture de magasins, etc.).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Tenant compte des tendances sur un produit donné et des articles comparables / similaires (performance réelle / prévisions, courbe de vie, etc.).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Prenant en compte les stocks et les encours pour les reconduits et les permanents.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Cadencement des achats tiré par les ventes et l’aval :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dates de livraison (client, implantation, réassort),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charge et capacité logistiques (lisser le flux logistique de réception &gt; préparation &gt; livraison).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compte (automatique) d’unités logistiques adaptées / optimisées dès l’achat.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FC5E3B8-230C-4F02-568B-7E8B3FE32F11}"/>
              </a:ext>
            </a:extLst>
          </p:cNvPr>
          <p:cNvGrpSpPr/>
          <p:nvPr/>
        </p:nvGrpSpPr>
        <p:grpSpPr>
          <a:xfrm>
            <a:off x="970856" y="4620032"/>
            <a:ext cx="2983154" cy="1096317"/>
            <a:chOff x="970856" y="5248423"/>
            <a:chExt cx="2983154" cy="1096317"/>
          </a:xfrm>
        </p:grpSpPr>
        <p:sp>
          <p:nvSpPr>
            <p:cNvPr id="11" name="ZoneTexte 79">
              <a:extLst>
                <a:ext uri="{FF2B5EF4-FFF2-40B4-BE49-F238E27FC236}">
                  <a16:creationId xmlns:a16="http://schemas.microsoft.com/office/drawing/2014/main" id="{3788DD33-8DDB-04EA-AF00-845DE8104664}"/>
                </a:ext>
              </a:extLst>
            </p:cNvPr>
            <p:cNvSpPr txBox="1"/>
            <p:nvPr/>
          </p:nvSpPr>
          <p:spPr>
            <a:xfrm>
              <a:off x="970856" y="5248423"/>
              <a:ext cx="281698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spcBef>
                  <a:spcPts val="0"/>
                </a:spcBef>
                <a:spcAft>
                  <a:spcPts val="600"/>
                </a:spcAft>
              </a:pPr>
              <a:r>
                <a:rPr lang="fr-FR" sz="1100" b="1" dirty="0">
                  <a:solidFill>
                    <a:schemeClr val="accent1"/>
                  </a:solidFill>
                  <a:effectLst/>
                </a:rPr>
                <a:t>OUTILS UTILISÉS</a:t>
              </a:r>
              <a:endParaRPr lang="fr-FR" sz="1100" b="0" dirty="0">
                <a:solidFill>
                  <a:schemeClr val="accent1"/>
                </a:solidFill>
                <a:effectLst/>
              </a:endParaRPr>
            </a:p>
            <a:p>
              <a:pPr marL="627062" lvl="1" algn="just">
                <a:spcBef>
                  <a:spcPts val="0"/>
                </a:spcBef>
              </a:pPr>
              <a:endParaRPr kumimoji="0" lang="fr-FR" sz="100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B28D7A55-260C-91DA-842C-86D1A1BBA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3794" y="5541930"/>
              <a:ext cx="435744" cy="435744"/>
            </a:xfrm>
            <a:prstGeom prst="rect">
              <a:avLst/>
            </a:prstGeom>
          </p:spPr>
        </p:pic>
        <p:sp>
          <p:nvSpPr>
            <p:cNvPr id="13" name="ZoneTexte 81">
              <a:extLst>
                <a:ext uri="{FF2B5EF4-FFF2-40B4-BE49-F238E27FC236}">
                  <a16:creationId xmlns:a16="http://schemas.microsoft.com/office/drawing/2014/main" id="{8E2A9376-748D-B512-B4FE-6080204BBA9F}"/>
                </a:ext>
              </a:extLst>
            </p:cNvPr>
            <p:cNvSpPr txBox="1"/>
            <p:nvPr/>
          </p:nvSpPr>
          <p:spPr>
            <a:xfrm>
              <a:off x="1403279" y="5482966"/>
              <a:ext cx="150932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Boardriders</a:t>
              </a:r>
              <a:endParaRPr lang="fr-FR" sz="1000" b="1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Excel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PLM</a:t>
              </a:r>
            </a:p>
            <a:p>
              <a:pPr marL="349250" indent="-179388" algn="just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BPC</a:t>
              </a:r>
            </a:p>
            <a:p>
              <a:pPr marL="349250" indent="-179388" algn="just">
                <a:buFont typeface="Wingdings" panose="05000000000000000000" pitchFamily="2" charset="2"/>
                <a:buChar char="ü"/>
              </a:pPr>
              <a:r>
                <a:rPr lang="fr-FR" sz="1000" kern="0" dirty="0" err="1">
                  <a:solidFill>
                    <a:srgbClr val="242424"/>
                  </a:solidFill>
                  <a:ea typeface="Roboto"/>
                  <a:cs typeface="Roboto"/>
                </a:rPr>
                <a:t>Optimate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  <p:sp>
          <p:nvSpPr>
            <p:cNvPr id="14" name="ZoneTexte 81">
              <a:extLst>
                <a:ext uri="{FF2B5EF4-FFF2-40B4-BE49-F238E27FC236}">
                  <a16:creationId xmlns:a16="http://schemas.microsoft.com/office/drawing/2014/main" id="{0CFA2CC0-CCEA-03B8-5047-552343BFEAD9}"/>
                </a:ext>
              </a:extLst>
            </p:cNvPr>
            <p:cNvSpPr txBox="1"/>
            <p:nvPr/>
          </p:nvSpPr>
          <p:spPr>
            <a:xfrm>
              <a:off x="2444681" y="5482966"/>
              <a:ext cx="150932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Beaumanoir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Excel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PLM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</a:rPr>
                <a:t>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5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65193-2CC2-102F-1E8A-B2C2D860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3B66ED-024E-23EE-BF46-2C0A94E5C57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Confidentiel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C2C81812-706F-4897-BF3B-49FF519E3F37}"/>
              </a:ext>
            </a:extLst>
          </p:cNvPr>
          <p:cNvGrpSpPr/>
          <p:nvPr/>
        </p:nvGrpSpPr>
        <p:grpSpPr>
          <a:xfrm>
            <a:off x="319346" y="231019"/>
            <a:ext cx="11621798" cy="744564"/>
            <a:chOff x="1017950" y="3859398"/>
            <a:chExt cx="10048757" cy="1044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FF65246-EF86-8801-9349-9A89050C9492}"/>
                </a:ext>
              </a:extLst>
            </p:cNvPr>
            <p:cNvSpPr/>
            <p:nvPr/>
          </p:nvSpPr>
          <p:spPr>
            <a:xfrm>
              <a:off x="446106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E9A53E5-E02C-3D8D-0655-605BE506E85C}"/>
                </a:ext>
              </a:extLst>
            </p:cNvPr>
            <p:cNvSpPr/>
            <p:nvPr/>
          </p:nvSpPr>
          <p:spPr>
            <a:xfrm>
              <a:off x="9288479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WHOLESALE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1C2345-4A58-172D-8504-551650B9A477}"/>
                </a:ext>
              </a:extLst>
            </p:cNvPr>
            <p:cNvSpPr/>
            <p:nvPr/>
          </p:nvSpPr>
          <p:spPr>
            <a:xfrm>
              <a:off x="607020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59480A4-FD44-5CED-C358-F61C7569B3AB}"/>
                </a:ext>
              </a:extLst>
            </p:cNvPr>
            <p:cNvSpPr/>
            <p:nvPr/>
          </p:nvSpPr>
          <p:spPr>
            <a:xfrm>
              <a:off x="767934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AVAL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E26A89B-2ACD-F9F4-F7E7-A0B7F56DC992}"/>
                </a:ext>
              </a:extLst>
            </p:cNvPr>
            <p:cNvSpPr/>
            <p:nvPr/>
          </p:nvSpPr>
          <p:spPr>
            <a:xfrm>
              <a:off x="1242780" y="4075255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PLANNING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85BF39F-39C4-944E-A3C5-777A2C488F07}"/>
                </a:ext>
              </a:extLst>
            </p:cNvPr>
            <p:cNvSpPr/>
            <p:nvPr/>
          </p:nvSpPr>
          <p:spPr>
            <a:xfrm>
              <a:off x="1017950" y="3859398"/>
              <a:ext cx="10048757" cy="10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EC3F152-4C39-9F4E-2800-77E88F9B34B6}"/>
                </a:ext>
              </a:extLst>
            </p:cNvPr>
            <p:cNvSpPr/>
            <p:nvPr/>
          </p:nvSpPr>
          <p:spPr>
            <a:xfrm>
              <a:off x="285192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PROCUREMENT</a:t>
              </a:r>
            </a:p>
          </p:txBody>
        </p:sp>
      </p:grpSp>
      <p:sp>
        <p:nvSpPr>
          <p:cNvPr id="50" name="Google Shape;6383;g1e9637bbf18_0_469">
            <a:extLst>
              <a:ext uri="{FF2B5EF4-FFF2-40B4-BE49-F238E27FC236}">
                <a16:creationId xmlns:a16="http://schemas.microsoft.com/office/drawing/2014/main" id="{202692B1-9AEA-C0E1-C030-279F82E1F18C}"/>
              </a:ext>
            </a:extLst>
          </p:cNvPr>
          <p:cNvSpPr/>
          <p:nvPr/>
        </p:nvSpPr>
        <p:spPr>
          <a:xfrm>
            <a:off x="319345" y="1033724"/>
            <a:ext cx="5760000" cy="3318393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900" b="1" kern="0" dirty="0">
                <a:solidFill>
                  <a:srgbClr val="DEFCBD">
                    <a:lumMod val="25000"/>
                  </a:srgbClr>
                </a:solidFill>
                <a:latin typeface="Segoe UI"/>
                <a:ea typeface="Roboto"/>
                <a:cs typeface="Roboto"/>
                <a:sym typeface="Roboto"/>
              </a:rPr>
              <a:t>Principaux besoins à reconduire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Création des commandes d’achats manuellement ou via import de masse (depuis MAP, OPTIMATE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Supply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Prévoir l’option d’une interface, avec « push » ?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Rétroplanning de commande d’achat (tous jalons) calculé automatiquement à partir de la RDD et des conditions / lead times.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En transaction et en simulation.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Portail fournisseur intégré pour la gestion des PO : demande d’achat, validation / rejet / modification, avancement et statut, (re)calcul des jalons, pilotage des intervenants (étiquetage, transitaire), etc..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Réception automatique de la PO par les fournisseurs, via le portail.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Workflow de validation / demande de modification par le fournisseur.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Mise à jour automatique des jalons, dont EDD.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Allocation automatique : affectation des quantités achetées aux commandes de ventes, selon les priorités de celles-ci =&gt; sans attendre la réception (PO en cours / transit).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 conditions d’achats (minimum et optimums de commandes)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 commandes pour tiers (TPO), non facturables et non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réceptionnables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types d’articles multiples (prototypes,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samples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/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CoVoy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, etc.) et de paramètres spécifiques.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d’articles de regroupement, de packs et d’unités de colisage / logistiques (approche « bouteilles d’eau »), dont colis assortis.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Cockpit de consultation, suivi et modification (unitaire ou en masse) des PO, avec alertes paramétrables.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Visualisation des retards / écarts prévisionnels entre jalons initiaux et jalons estimés / MAJ.</a:t>
            </a: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Roboto"/>
              <a:cs typeface="Roboto"/>
              <a:sym typeface="Roboto"/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F03714F4-64D5-BA91-83C4-357066E5285D}"/>
              </a:ext>
            </a:extLst>
          </p:cNvPr>
          <p:cNvGrpSpPr/>
          <p:nvPr/>
        </p:nvGrpSpPr>
        <p:grpSpPr>
          <a:xfrm>
            <a:off x="970856" y="5056728"/>
            <a:ext cx="2983154" cy="1250206"/>
            <a:chOff x="970856" y="5248423"/>
            <a:chExt cx="2983154" cy="1250206"/>
          </a:xfrm>
        </p:grpSpPr>
        <p:sp>
          <p:nvSpPr>
            <p:cNvPr id="52" name="ZoneTexte 79">
              <a:extLst>
                <a:ext uri="{FF2B5EF4-FFF2-40B4-BE49-F238E27FC236}">
                  <a16:creationId xmlns:a16="http://schemas.microsoft.com/office/drawing/2014/main" id="{8D555539-88C5-A2E7-8F9A-F56B65BA9606}"/>
                </a:ext>
              </a:extLst>
            </p:cNvPr>
            <p:cNvSpPr txBox="1"/>
            <p:nvPr/>
          </p:nvSpPr>
          <p:spPr>
            <a:xfrm>
              <a:off x="970856" y="5248423"/>
              <a:ext cx="281698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spcBef>
                  <a:spcPts val="0"/>
                </a:spcBef>
                <a:spcAft>
                  <a:spcPts val="600"/>
                </a:spcAft>
              </a:pPr>
              <a:r>
                <a:rPr lang="fr-FR" sz="1100" b="1" dirty="0">
                  <a:solidFill>
                    <a:schemeClr val="accent1"/>
                  </a:solidFill>
                  <a:effectLst/>
                </a:rPr>
                <a:t>OUTILS UTILISÉS</a:t>
              </a:r>
              <a:endParaRPr lang="fr-FR" sz="1100" b="0" dirty="0">
                <a:solidFill>
                  <a:schemeClr val="accent1"/>
                </a:solidFill>
                <a:effectLst/>
              </a:endParaRPr>
            </a:p>
            <a:p>
              <a:pPr marL="627062" lvl="1" algn="just">
                <a:spcBef>
                  <a:spcPts val="0"/>
                </a:spcBef>
              </a:pPr>
              <a:endParaRPr kumimoji="0" lang="fr-FR" sz="100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A70B2F95-FC9C-0ACD-0186-52C5434B4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3794" y="5541930"/>
              <a:ext cx="435744" cy="435744"/>
            </a:xfrm>
            <a:prstGeom prst="rect">
              <a:avLst/>
            </a:prstGeom>
          </p:spPr>
        </p:pic>
        <p:sp>
          <p:nvSpPr>
            <p:cNvPr id="54" name="ZoneTexte 81">
              <a:extLst>
                <a:ext uri="{FF2B5EF4-FFF2-40B4-BE49-F238E27FC236}">
                  <a16:creationId xmlns:a16="http://schemas.microsoft.com/office/drawing/2014/main" id="{3DDFDC4E-9E09-E23A-A214-F5FA721C0230}"/>
                </a:ext>
              </a:extLst>
            </p:cNvPr>
            <p:cNvSpPr txBox="1"/>
            <p:nvPr/>
          </p:nvSpPr>
          <p:spPr>
            <a:xfrm>
              <a:off x="1403279" y="5482966"/>
              <a:ext cx="150932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Boardriders</a:t>
              </a:r>
              <a:endParaRPr lang="fr-FR" sz="1000" b="1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PLM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Optimate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SNC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Excel (BI)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  <p:sp>
          <p:nvSpPr>
            <p:cNvPr id="55" name="ZoneTexte 81">
              <a:extLst>
                <a:ext uri="{FF2B5EF4-FFF2-40B4-BE49-F238E27FC236}">
                  <a16:creationId xmlns:a16="http://schemas.microsoft.com/office/drawing/2014/main" id="{C604965A-EDB8-126D-53E3-1D7C96C199C4}"/>
                </a:ext>
              </a:extLst>
            </p:cNvPr>
            <p:cNvSpPr txBox="1"/>
            <p:nvPr/>
          </p:nvSpPr>
          <p:spPr>
            <a:xfrm>
              <a:off x="2444681" y="5482966"/>
              <a:ext cx="150932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Beaumanoir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PLM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MAP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STORELAND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CBS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</p:grpSp>
      <p:sp>
        <p:nvSpPr>
          <p:cNvPr id="4" name="Google Shape;6383;g1e9637bbf18_0_469">
            <a:extLst>
              <a:ext uri="{FF2B5EF4-FFF2-40B4-BE49-F238E27FC236}">
                <a16:creationId xmlns:a16="http://schemas.microsoft.com/office/drawing/2014/main" id="{ED51A772-6C0E-D637-554E-6A7B68D92FD8}"/>
              </a:ext>
            </a:extLst>
          </p:cNvPr>
          <p:cNvSpPr/>
          <p:nvPr/>
        </p:nvSpPr>
        <p:spPr>
          <a:xfrm>
            <a:off x="6181144" y="4415614"/>
            <a:ext cx="5760000" cy="234925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900" b="1" kern="0" dirty="0">
                <a:solidFill>
                  <a:srgbClr val="002060"/>
                </a:solidFill>
                <a:latin typeface="Segoe UI"/>
                <a:ea typeface="Roboto"/>
                <a:cs typeface="Roboto"/>
                <a:sym typeface="Roboto"/>
              </a:rPr>
              <a:t>Spécificités et points d’attention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[BRD] Cockpit spécifique SAP pour la consultation, le pilotage et la mise à jour en masse de commandes d’achats déjà créées =&gt; certaines commandes sont modifiées, notamment pour pallier des écarts.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à la saison des paramètres d’achats (articles, prix, conditions d’achats et d’appro) et sur une période donnée (date limite) à valider avec le </a:t>
            </a:r>
            <a:r>
              <a:rPr lang="fr-FR" sz="800" b="1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COPIL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.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</a:rPr>
              <a:t>Dont gestion de « permanents » transverses à la notion de saison (ex : La Halle).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[BRD] Commandes spéciales (SMU,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dropshipping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,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crossdocking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, light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touch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</a:rPr>
              <a:t>Bascule automatique d’une PO existante vers une nouvelle PO dédiée.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</a:rPr>
              <a:t>Traitement automatique à réception (transfert / mise en livraison).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Prise en charge des variantes Articles (même code mais valeurs d’attributs différentes) dans la gestion des PO, avec traçabilité de bout-en-bout à étudier avec les éditeurs.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Dont prise en charge du double </a:t>
            </a:r>
            <a:r>
              <a:rPr lang="fr-FR" sz="800" dirty="0" err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sourcing</a:t>
            </a:r>
            <a:r>
              <a:rPr lang="fr-FR" sz="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 à valider.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C00000"/>
                </a:solidFill>
                <a:latin typeface="Segoe UI"/>
                <a:ea typeface="Roboto"/>
                <a:cs typeface="Roboto"/>
              </a:rPr>
              <a:t>Prise en compte des remises fournisseurs (qualité, pénalités) dans le PRMP et le calcul de marge ?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</a:rPr>
              <a:t>Coefficient basé sur prix de vente RETAIL pour BMN, marge sur la base du prix de cession WHOLESALE FR pour BRD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  <p:sp>
        <p:nvSpPr>
          <p:cNvPr id="8" name="Google Shape;6383;g1e9637bbf18_0_469">
            <a:extLst>
              <a:ext uri="{FF2B5EF4-FFF2-40B4-BE49-F238E27FC236}">
                <a16:creationId xmlns:a16="http://schemas.microsoft.com/office/drawing/2014/main" id="{811472AB-BB49-3213-A1F1-F4498B720590}"/>
              </a:ext>
            </a:extLst>
          </p:cNvPr>
          <p:cNvSpPr/>
          <p:nvPr/>
        </p:nvSpPr>
        <p:spPr>
          <a:xfrm>
            <a:off x="6181144" y="1037147"/>
            <a:ext cx="5760000" cy="3314969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900" b="1" kern="0" dirty="0">
                <a:solidFill>
                  <a:srgbClr val="F6A70A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Pistes d’amélioration et de réponse aux principaux irritants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Master data gérée dans l’ERP, synchronisée automatiquement.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</a:rPr>
              <a:t>Cockpit de revue des mises à jour (changements de </a:t>
            </a:r>
            <a:r>
              <a:rPr lang="fr-FR" sz="800" i="1" dirty="0">
                <a:latin typeface="Segoe UI" panose="020B0502040204020203" pitchFamily="34" charset="0"/>
                <a:cs typeface="Segoe UI" panose="020B0502040204020203" pitchFamily="34" charset="0"/>
              </a:rPr>
              <a:t>lead times</a:t>
            </a: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</a:rPr>
              <a:t>, impact en cours).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Outil de simulation sur commandes et calcul des impacts :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Rétroplanning prévisionnel (si changement de date).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Simulation d’allocations et livraisons partielles (taux de service sur commandes).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Changement d’allocations (sur la commande visée et les autres commandes).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Conditions d’appro / lead times et données de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tracking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supplémentaires.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Lead times : type de groupage, type de commande, localisation client / magasin, etc.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Tracking</a:t>
            </a: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 : avancement production/ </a:t>
            </a:r>
            <a:r>
              <a:rPr lang="fr-FR" sz="800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handover</a:t>
            </a: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, </a:t>
            </a:r>
            <a:r>
              <a:rPr lang="fr-FR" sz="800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tracking</a:t>
            </a:r>
            <a:r>
              <a:rPr lang="fr-FR" sz="8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 à bord, mise à jour ETA et EDD.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Approche / module OMS, pour une gestion flexible des PO et des allocations.</a:t>
            </a:r>
          </a:p>
          <a:p>
            <a:pPr marL="457200" lvl="2" indent="-136525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Modification des commandes et lignes (dont quantités partielles) sans recalcul de dates (y compris en cas de refus fournisseur lié au prix) ou d’allocations .</a:t>
            </a:r>
          </a:p>
          <a:p>
            <a:pPr marL="457200" lvl="2" indent="-136525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Recalcul quotidien des priorités et des allocations (en maximisant le taux de service).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Suivi des soumissions (par fournisseur, style, élément de nomenclature), statuts et relances.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Grille de taille (Master Data) : pouvoir ajouter une taille supplémentaire à une grille existante, quelque soit sa position (devant, au milieu, en fin) =&gt; index de tailles non chronologiques, et organisables.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kumimoji="0" lang="fr-FR" sz="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Roboto"/>
                <a:cs typeface="Roboto"/>
                <a:sym typeface="Roboto"/>
              </a:rPr>
              <a:t>Pouvoir identifier 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sur une même ligne de commande fournisseur des quantités allouées à des stocks logiques (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Retail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, </a:t>
            </a:r>
            <a:r>
              <a:rPr lang="fr-FR" sz="8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Wholesale</a:t>
            </a:r>
            <a:r>
              <a:rPr lang="fr-FR" sz="8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) =&gt; sans devoir passer plusieurs commandes</a:t>
            </a:r>
            <a:endParaRPr kumimoji="0" lang="fr-FR" sz="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42202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46DE-4C41-D047-A121-7D9D4F1D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E9890E6A-0669-7204-79DF-A578CA800A1D}"/>
              </a:ext>
            </a:extLst>
          </p:cNvPr>
          <p:cNvGrpSpPr/>
          <p:nvPr/>
        </p:nvGrpSpPr>
        <p:grpSpPr>
          <a:xfrm>
            <a:off x="319346" y="231019"/>
            <a:ext cx="11621798" cy="744564"/>
            <a:chOff x="1017950" y="3859398"/>
            <a:chExt cx="10048757" cy="1044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319012E-119A-6A94-BE90-6A2B34A65A9D}"/>
                </a:ext>
              </a:extLst>
            </p:cNvPr>
            <p:cNvSpPr/>
            <p:nvPr/>
          </p:nvSpPr>
          <p:spPr>
            <a:xfrm>
              <a:off x="9288479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WHOLESALE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4925B38-A745-684B-897C-3094B82D9F67}"/>
                </a:ext>
              </a:extLst>
            </p:cNvPr>
            <p:cNvSpPr/>
            <p:nvPr/>
          </p:nvSpPr>
          <p:spPr>
            <a:xfrm>
              <a:off x="607020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DF184F-B48F-6429-504A-C535CBA15D46}"/>
                </a:ext>
              </a:extLst>
            </p:cNvPr>
            <p:cNvSpPr/>
            <p:nvPr/>
          </p:nvSpPr>
          <p:spPr>
            <a:xfrm>
              <a:off x="767934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AVAL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F5237DB-269C-EC95-DF44-EFB487399AE3}"/>
                </a:ext>
              </a:extLst>
            </p:cNvPr>
            <p:cNvSpPr/>
            <p:nvPr/>
          </p:nvSpPr>
          <p:spPr>
            <a:xfrm>
              <a:off x="1242780" y="4075255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PLANNING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48DFA31-7CFD-FBB2-D9E7-AB901D51A81C}"/>
                </a:ext>
              </a:extLst>
            </p:cNvPr>
            <p:cNvSpPr/>
            <p:nvPr/>
          </p:nvSpPr>
          <p:spPr>
            <a:xfrm>
              <a:off x="285192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PROCUREMENT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EE966A-F0F1-1E41-42D4-DAC4EA23C72D}"/>
                </a:ext>
              </a:extLst>
            </p:cNvPr>
            <p:cNvSpPr/>
            <p:nvPr/>
          </p:nvSpPr>
          <p:spPr>
            <a:xfrm>
              <a:off x="1017950" y="3859398"/>
              <a:ext cx="10048757" cy="10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299773D-C996-0D89-9F3D-4AB5984B90BD}"/>
                </a:ext>
              </a:extLst>
            </p:cNvPr>
            <p:cNvSpPr/>
            <p:nvPr/>
          </p:nvSpPr>
          <p:spPr>
            <a:xfrm>
              <a:off x="446106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886744-E2E1-8149-705A-60B12DCA195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Confidentiel</a:t>
            </a:r>
          </a:p>
        </p:txBody>
      </p:sp>
      <p:sp>
        <p:nvSpPr>
          <p:cNvPr id="50" name="Google Shape;6383;g1e9637bbf18_0_469">
            <a:extLst>
              <a:ext uri="{FF2B5EF4-FFF2-40B4-BE49-F238E27FC236}">
                <a16:creationId xmlns:a16="http://schemas.microsoft.com/office/drawing/2014/main" id="{870DCAC1-1AD8-7F5E-9273-E09DF2178D54}"/>
              </a:ext>
            </a:extLst>
          </p:cNvPr>
          <p:cNvSpPr/>
          <p:nvPr/>
        </p:nvSpPr>
        <p:spPr>
          <a:xfrm>
            <a:off x="319345" y="1161190"/>
            <a:ext cx="5760000" cy="3245013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DEFCBD">
                    <a:lumMod val="25000"/>
                  </a:srgbClr>
                </a:solidFill>
                <a:latin typeface="Segoe UI"/>
                <a:ea typeface="Roboto"/>
                <a:cs typeface="Roboto"/>
                <a:sym typeface="Roboto"/>
              </a:rPr>
              <a:t>Principaux besoins à reconduire :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Pilotage des taux de service fournisseurs (qualité, retards, anomalies) : tableau de bord, alertes automatiques.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des données d’étiquetage 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handtags</a:t>
            </a:r>
            <a:r>
              <a:rPr lang="fr-FR" sz="900" i="1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: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template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/ ID document, valeurs (prix, devises, tailles) et index.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d’articles de regroupement, de packs et d’unités de colisage / logistiques (approche « bouteilles d’eau »), dont colis assortis dès la sortie d’usine.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fr-FR" sz="900" dirty="0">
              <a:latin typeface="Segoe UI" panose="020B0502040204020203" pitchFamily="34" charset="0"/>
              <a:cs typeface="Segoe UI" panose="020B0502040204020203" pitchFamily="34" charset="0"/>
              <a:sym typeface="Roboto"/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Roboto"/>
              <a:cs typeface="Roboto"/>
              <a:sym typeface="Roboto"/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6118B422-9DFA-BF64-EB1E-3B962507467F}"/>
              </a:ext>
            </a:extLst>
          </p:cNvPr>
          <p:cNvGrpSpPr/>
          <p:nvPr/>
        </p:nvGrpSpPr>
        <p:grpSpPr>
          <a:xfrm>
            <a:off x="970856" y="4617655"/>
            <a:ext cx="2983154" cy="1250206"/>
            <a:chOff x="970856" y="5248423"/>
            <a:chExt cx="2983154" cy="1250206"/>
          </a:xfrm>
        </p:grpSpPr>
        <p:sp>
          <p:nvSpPr>
            <p:cNvPr id="52" name="ZoneTexte 79">
              <a:extLst>
                <a:ext uri="{FF2B5EF4-FFF2-40B4-BE49-F238E27FC236}">
                  <a16:creationId xmlns:a16="http://schemas.microsoft.com/office/drawing/2014/main" id="{7CC90051-25CE-7AAE-D703-98E95FDA5755}"/>
                </a:ext>
              </a:extLst>
            </p:cNvPr>
            <p:cNvSpPr txBox="1"/>
            <p:nvPr/>
          </p:nvSpPr>
          <p:spPr>
            <a:xfrm>
              <a:off x="970856" y="5248423"/>
              <a:ext cx="281698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spcBef>
                  <a:spcPts val="0"/>
                </a:spcBef>
                <a:spcAft>
                  <a:spcPts val="600"/>
                </a:spcAft>
              </a:pPr>
              <a:r>
                <a:rPr lang="fr-FR" sz="1100" b="1" dirty="0">
                  <a:solidFill>
                    <a:schemeClr val="accent1"/>
                  </a:solidFill>
                  <a:effectLst/>
                </a:rPr>
                <a:t>OUTILS UTILISÉS</a:t>
              </a:r>
              <a:endParaRPr lang="fr-FR" sz="1100" b="0" dirty="0">
                <a:solidFill>
                  <a:schemeClr val="accent1"/>
                </a:solidFill>
                <a:effectLst/>
              </a:endParaRPr>
            </a:p>
            <a:p>
              <a:pPr marL="627062" lvl="1" algn="just">
                <a:spcBef>
                  <a:spcPts val="0"/>
                </a:spcBef>
              </a:pPr>
              <a:endParaRPr kumimoji="0" lang="fr-FR" sz="100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CC1AD4B6-81E4-3B60-87B8-DAF2F1C74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3794" y="5541930"/>
              <a:ext cx="435744" cy="435744"/>
            </a:xfrm>
            <a:prstGeom prst="rect">
              <a:avLst/>
            </a:prstGeom>
          </p:spPr>
        </p:pic>
        <p:sp>
          <p:nvSpPr>
            <p:cNvPr id="54" name="ZoneTexte 81">
              <a:extLst>
                <a:ext uri="{FF2B5EF4-FFF2-40B4-BE49-F238E27FC236}">
                  <a16:creationId xmlns:a16="http://schemas.microsoft.com/office/drawing/2014/main" id="{315A9111-04B0-1198-3424-07A3D37EE11A}"/>
                </a:ext>
              </a:extLst>
            </p:cNvPr>
            <p:cNvSpPr txBox="1"/>
            <p:nvPr/>
          </p:nvSpPr>
          <p:spPr>
            <a:xfrm>
              <a:off x="1403279" y="5482966"/>
              <a:ext cx="150932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Boardriders</a:t>
              </a:r>
              <a:endParaRPr lang="fr-FR" sz="1000" b="1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Excel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  <p:sp>
          <p:nvSpPr>
            <p:cNvPr id="55" name="ZoneTexte 81">
              <a:extLst>
                <a:ext uri="{FF2B5EF4-FFF2-40B4-BE49-F238E27FC236}">
                  <a16:creationId xmlns:a16="http://schemas.microsoft.com/office/drawing/2014/main" id="{DB4BE7A6-870D-7BB8-54AD-94106F442DB1}"/>
                </a:ext>
              </a:extLst>
            </p:cNvPr>
            <p:cNvSpPr txBox="1"/>
            <p:nvPr/>
          </p:nvSpPr>
          <p:spPr>
            <a:xfrm>
              <a:off x="2444681" y="5482966"/>
              <a:ext cx="150932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Beaumanoir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Excel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PLM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</a:rPr>
                <a:t>MAP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</a:rPr>
                <a:t>CBS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</p:grpSp>
      <p:sp>
        <p:nvSpPr>
          <p:cNvPr id="4" name="Google Shape;6383;g1e9637bbf18_0_469">
            <a:extLst>
              <a:ext uri="{FF2B5EF4-FFF2-40B4-BE49-F238E27FC236}">
                <a16:creationId xmlns:a16="http://schemas.microsoft.com/office/drawing/2014/main" id="{F00CF9CD-50F3-4F47-232C-A3D9503655E2}"/>
              </a:ext>
            </a:extLst>
          </p:cNvPr>
          <p:cNvSpPr/>
          <p:nvPr/>
        </p:nvSpPr>
        <p:spPr>
          <a:xfrm>
            <a:off x="6181144" y="4529463"/>
            <a:ext cx="5760000" cy="1812131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002060"/>
                </a:solidFill>
                <a:latin typeface="Segoe UI"/>
                <a:ea typeface="Roboto"/>
                <a:cs typeface="Roboto"/>
                <a:sym typeface="Roboto"/>
              </a:rPr>
              <a:t>Spécificités et points d’attention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Politiques d’Achats de matières et de capacités à définir / confirmer avec le </a:t>
            </a:r>
            <a:r>
              <a:rPr lang="fr-FR" sz="900" b="1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COPIL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.</a:t>
            </a:r>
            <a:endParaRPr lang="fr-FR" sz="9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des variantes Articles (même code mais valeurs d’attributs différentes) dans la gestion : 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des nomenclatures et des données associées / dépendantes ;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des lots de production, et de leur traçabilité jusqu’au client final.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  <p:sp>
        <p:nvSpPr>
          <p:cNvPr id="8" name="Google Shape;6383;g1e9637bbf18_0_469">
            <a:extLst>
              <a:ext uri="{FF2B5EF4-FFF2-40B4-BE49-F238E27FC236}">
                <a16:creationId xmlns:a16="http://schemas.microsoft.com/office/drawing/2014/main" id="{B427595D-5A77-B49A-5B55-3011D2ED7826}"/>
              </a:ext>
            </a:extLst>
          </p:cNvPr>
          <p:cNvSpPr/>
          <p:nvPr/>
        </p:nvSpPr>
        <p:spPr>
          <a:xfrm>
            <a:off x="6181144" y="1161190"/>
            <a:ext cx="5760000" cy="3245013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F6A70A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Pistes d’amélioration et de réponse aux principaux irritants :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Suivi des stocks d’achats matières et aide au pilotage : défilement / couverture, seuils minimums et optimaux, gestion des </a:t>
            </a:r>
            <a:r>
              <a:rPr lang="fr-FR" sz="900" i="1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lead times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Suivi des chiffres d’affaires fournisseurs et des niveaux d’engagement / dépendance.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intégrée des réservations, achats et approvisionnements de matières et produits semi-finis.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Calcul des besoins à partir des nomenclatures (connues de l’ERP), suivi des prévisions et consommé.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Gestion des </a:t>
            </a:r>
            <a:r>
              <a:rPr lang="fr-FR" sz="900" i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lead times « </a:t>
            </a:r>
            <a:r>
              <a:rPr lang="fr-FR" sz="900" i="1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mills</a:t>
            </a:r>
            <a:r>
              <a:rPr lang="fr-FR" sz="900" i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 »</a:t>
            </a: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 et des flux d’approvisionnement de l’atelier.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Flux et règles distincts pour les achats et les simples réservations (stock consigné / quota ?).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Pilotage de la capacité fournisseur : totale, réservée, disponible (prévisions et en-cours) sur la saison et / ou une période (gestion des 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overlaps</a:t>
            </a:r>
            <a:r>
              <a:rPr lang="fr-FR" sz="900" i="1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saisonniers).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Approche « PIC » sur les produits permanents (</a:t>
            </a:r>
            <a:r>
              <a:rPr lang="fr-FR" sz="900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forecasts</a:t>
            </a: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 annuels et mensuels, flux tirés).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Cockpit de suivi des changements et mesure des impacts sur les commandes en cours et prévisions.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Notion de plan de charge : volumes de ventes et d’achats, capacités fournisseurs, capacités logistiques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fr-FR" sz="900" dirty="0">
              <a:latin typeface="Segoe UI" panose="020B0502040204020203" pitchFamily="34" charset="0"/>
              <a:cs typeface="Segoe UI" panose="020B0502040204020203" pitchFamily="34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58814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7012B-1551-09FA-5B62-15F2A5EDD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5427EE7A-7135-E2E2-999F-76D4F46B9DF9}"/>
              </a:ext>
            </a:extLst>
          </p:cNvPr>
          <p:cNvGrpSpPr/>
          <p:nvPr/>
        </p:nvGrpSpPr>
        <p:grpSpPr>
          <a:xfrm>
            <a:off x="319346" y="231019"/>
            <a:ext cx="11621798" cy="744564"/>
            <a:chOff x="1017950" y="3859398"/>
            <a:chExt cx="10048757" cy="1044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4504705-A1AA-FD7A-E251-F585354DBAF7}"/>
                </a:ext>
              </a:extLst>
            </p:cNvPr>
            <p:cNvSpPr/>
            <p:nvPr/>
          </p:nvSpPr>
          <p:spPr>
            <a:xfrm>
              <a:off x="9288479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WHOLESALE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6CF872-75D3-C1BC-67B1-4F36C14F2A55}"/>
                </a:ext>
              </a:extLst>
            </p:cNvPr>
            <p:cNvSpPr/>
            <p:nvPr/>
          </p:nvSpPr>
          <p:spPr>
            <a:xfrm>
              <a:off x="767934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AVAL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D1F1616-A1A2-BF77-BFDA-A10188B1147C}"/>
                </a:ext>
              </a:extLst>
            </p:cNvPr>
            <p:cNvSpPr/>
            <p:nvPr/>
          </p:nvSpPr>
          <p:spPr>
            <a:xfrm>
              <a:off x="1242780" y="4075255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PLANNING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E32D594-82EB-C56C-40DD-14EDD378A605}"/>
                </a:ext>
              </a:extLst>
            </p:cNvPr>
            <p:cNvSpPr/>
            <p:nvPr/>
          </p:nvSpPr>
          <p:spPr>
            <a:xfrm>
              <a:off x="285192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PROCUREMENT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EA9EBA-0B3E-88BD-D6CB-3CA3AD733FEB}"/>
                </a:ext>
              </a:extLst>
            </p:cNvPr>
            <p:cNvSpPr/>
            <p:nvPr/>
          </p:nvSpPr>
          <p:spPr>
            <a:xfrm>
              <a:off x="446106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6F0C50-E4DD-1B3B-81FC-DF7B976412C7}"/>
                </a:ext>
              </a:extLst>
            </p:cNvPr>
            <p:cNvSpPr/>
            <p:nvPr/>
          </p:nvSpPr>
          <p:spPr>
            <a:xfrm>
              <a:off x="1017950" y="3859398"/>
              <a:ext cx="10048757" cy="10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4A9445-7D2B-118E-158C-96E19B008A93}"/>
                </a:ext>
              </a:extLst>
            </p:cNvPr>
            <p:cNvSpPr/>
            <p:nvPr/>
          </p:nvSpPr>
          <p:spPr>
            <a:xfrm>
              <a:off x="607020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3502CB-A884-D354-AE6B-269C173F60C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Confidentiel</a:t>
            </a:r>
          </a:p>
        </p:txBody>
      </p:sp>
      <p:sp>
        <p:nvSpPr>
          <p:cNvPr id="4" name="Google Shape;6383;g1e9637bbf18_0_469">
            <a:extLst>
              <a:ext uri="{FF2B5EF4-FFF2-40B4-BE49-F238E27FC236}">
                <a16:creationId xmlns:a16="http://schemas.microsoft.com/office/drawing/2014/main" id="{99912F2C-C2FB-808C-A341-01C8DC879077}"/>
              </a:ext>
            </a:extLst>
          </p:cNvPr>
          <p:cNvSpPr/>
          <p:nvPr/>
        </p:nvSpPr>
        <p:spPr>
          <a:xfrm>
            <a:off x="6181144" y="4822619"/>
            <a:ext cx="5760000" cy="1713661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002060"/>
                </a:solidFill>
                <a:latin typeface="Segoe UI"/>
                <a:ea typeface="Roboto"/>
                <a:cs typeface="Roboto"/>
                <a:sym typeface="Roboto"/>
              </a:rPr>
              <a:t>Spécificités et points d’attention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[BRD] Flux / mouvements automatiques pour le traitement des commandes spéciales (SMU,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dropshipping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,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crossdocking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, light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touch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) =&gt; réception, transfert / ventilation, mise en expédition.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des variantes Articles en stocks, avec application de règles de gestion sur les produits liés :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</a:rPr>
              <a:t>même code article, mais valeurs d’attributs différentes,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</a:rPr>
              <a:t>codes articles différents, mais issus du même modèle.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des saisons dans la gestion des stocks.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Pour un article, quantités réparties / allouées à une saison donnée.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Transferts / réaffectations possibles pour les articles reconduits, </a:t>
            </a:r>
            <a:r>
              <a:rPr lang="fr-FR" sz="900" b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si variante identique</a:t>
            </a: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88DE945-8F2C-3CCC-7FE9-3D1F9E73441E}"/>
              </a:ext>
            </a:extLst>
          </p:cNvPr>
          <p:cNvGrpSpPr/>
          <p:nvPr/>
        </p:nvGrpSpPr>
        <p:grpSpPr>
          <a:xfrm>
            <a:off x="972580" y="4877740"/>
            <a:ext cx="2983154" cy="930554"/>
            <a:chOff x="970856" y="5248423"/>
            <a:chExt cx="2983154" cy="930554"/>
          </a:xfrm>
        </p:grpSpPr>
        <p:sp>
          <p:nvSpPr>
            <p:cNvPr id="7" name="ZoneTexte 79">
              <a:extLst>
                <a:ext uri="{FF2B5EF4-FFF2-40B4-BE49-F238E27FC236}">
                  <a16:creationId xmlns:a16="http://schemas.microsoft.com/office/drawing/2014/main" id="{50949B40-E814-FC7F-5910-7D8E3AAD448F}"/>
                </a:ext>
              </a:extLst>
            </p:cNvPr>
            <p:cNvSpPr txBox="1"/>
            <p:nvPr/>
          </p:nvSpPr>
          <p:spPr>
            <a:xfrm>
              <a:off x="970856" y="5248423"/>
              <a:ext cx="281698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spcBef>
                  <a:spcPts val="0"/>
                </a:spcBef>
                <a:spcAft>
                  <a:spcPts val="600"/>
                </a:spcAft>
              </a:pPr>
              <a:r>
                <a:rPr lang="fr-FR" sz="1100" b="1" dirty="0">
                  <a:solidFill>
                    <a:schemeClr val="accent1"/>
                  </a:solidFill>
                  <a:effectLst/>
                </a:rPr>
                <a:t>OUTILS UTILISÉS</a:t>
              </a:r>
              <a:endParaRPr lang="fr-FR" sz="1100" b="0" dirty="0">
                <a:solidFill>
                  <a:schemeClr val="accent1"/>
                </a:solidFill>
                <a:effectLst/>
              </a:endParaRPr>
            </a:p>
            <a:p>
              <a:pPr marL="627062" lvl="1" algn="just">
                <a:spcBef>
                  <a:spcPts val="0"/>
                </a:spcBef>
              </a:pPr>
              <a:endParaRPr kumimoji="0" lang="fr-FR" sz="100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0727A290-5892-5480-677E-9E128B756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3794" y="5541930"/>
              <a:ext cx="435744" cy="435744"/>
            </a:xfrm>
            <a:prstGeom prst="rect">
              <a:avLst/>
            </a:prstGeom>
          </p:spPr>
        </p:pic>
        <p:sp>
          <p:nvSpPr>
            <p:cNvPr id="10" name="ZoneTexte 81">
              <a:extLst>
                <a:ext uri="{FF2B5EF4-FFF2-40B4-BE49-F238E27FC236}">
                  <a16:creationId xmlns:a16="http://schemas.microsoft.com/office/drawing/2014/main" id="{1972A28A-4BB2-2E23-D8CE-D4ADE17159A4}"/>
                </a:ext>
              </a:extLst>
            </p:cNvPr>
            <p:cNvSpPr txBox="1"/>
            <p:nvPr/>
          </p:nvSpPr>
          <p:spPr>
            <a:xfrm>
              <a:off x="1403279" y="5471091"/>
              <a:ext cx="150932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Boardriders</a:t>
              </a:r>
              <a:endParaRPr lang="fr-FR" sz="1000" b="1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WMS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  <p:sp>
          <p:nvSpPr>
            <p:cNvPr id="11" name="ZoneTexte 81">
              <a:extLst>
                <a:ext uri="{FF2B5EF4-FFF2-40B4-BE49-F238E27FC236}">
                  <a16:creationId xmlns:a16="http://schemas.microsoft.com/office/drawing/2014/main" id="{D573955A-BEE3-53A8-529F-0A6A72ABF2BA}"/>
                </a:ext>
              </a:extLst>
            </p:cNvPr>
            <p:cNvSpPr txBox="1"/>
            <p:nvPr/>
          </p:nvSpPr>
          <p:spPr>
            <a:xfrm>
              <a:off x="2444681" y="5471091"/>
              <a:ext cx="150932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Beaumanoir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STORELAND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WMS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</p:grpSp>
      <p:sp>
        <p:nvSpPr>
          <p:cNvPr id="16" name="Google Shape;6383;g1e9637bbf18_0_469">
            <a:extLst>
              <a:ext uri="{FF2B5EF4-FFF2-40B4-BE49-F238E27FC236}">
                <a16:creationId xmlns:a16="http://schemas.microsoft.com/office/drawing/2014/main" id="{AC376DF8-7E38-F1C4-E184-E38D32093814}"/>
              </a:ext>
            </a:extLst>
          </p:cNvPr>
          <p:cNvSpPr/>
          <p:nvPr/>
        </p:nvSpPr>
        <p:spPr>
          <a:xfrm>
            <a:off x="319345" y="1037364"/>
            <a:ext cx="5760000" cy="3721710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DEFCBD">
                    <a:lumMod val="25000"/>
                  </a:srgbClr>
                </a:solidFill>
                <a:latin typeface="Segoe UI"/>
                <a:ea typeface="Roboto"/>
                <a:cs typeface="Roboto"/>
                <a:sym typeface="Roboto"/>
              </a:rPr>
              <a:t>Principaux besoins à reconduire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 plusieurs vues et paramètres de stocks pour chaque code Article (une par entrepôt, au minimum et 1</a:t>
            </a:r>
            <a:r>
              <a:rPr lang="fr-FR" sz="900" kern="0" baseline="3000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ier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Choix/2</a:t>
            </a:r>
            <a:r>
              <a:rPr lang="fr-FR" sz="900" kern="0" baseline="3000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ième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Choix/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Sample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=Collection représentants).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Calcul dynamique de la valorisation (CUMP) sur tout ou partie des stocks.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Mise à jour à chaque évènement opérationnel, sur la base des montants des PO et </a:t>
            </a:r>
            <a:r>
              <a:rPr lang="fr-FR" sz="900" i="1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upcharges</a:t>
            </a: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Paramètres et règles de valorisation gérés à la saison.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en stock (dont valorisation) d’articles de regroupement (ex : costumes), de packs et d’unités de colisage / logistiques =&gt; dotés ou non d’une référence et d’attributs propres.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Conserver les références et attributs des articles au détail.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Dont multi-références (« handling </a:t>
            </a:r>
            <a:r>
              <a:rPr lang="fr-FR" sz="900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units</a:t>
            </a: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 » destinés aux soldeurs, colis assortis).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Règles de valorisation flexibles : somme des articles unitaires, ou prix défini à l’article de regroupement.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Avec ou sans contrainte (dé-lotissage possible ou non).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 stocks consignés / déportés (chez </a:t>
            </a:r>
            <a:r>
              <a:rPr lang="fr-FR" sz="900" kern="0" dirty="0">
                <a:solidFill>
                  <a:srgbClr val="000000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un client ou un fournisseur (matières)).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Mouvements automatiques sur la base de rapports de ventes et rapports d’inventaires.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Calcul automatique de la facturation idoine.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Règles automatiques d’allocation, de priorisation et d’exclusion dans le traitement des commandes et flux.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Dont ventilation des quantités non allouées (commandes de ventes) sur les stocks, à réception.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Dont traitements / mouvements automatiques de certains flux (retours, défectueux, souffrance / anomalies de livraison, etc.).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En lien avec le module / l’approche OMS : mise à jour quotidienne des priorités et allocations.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6383;g1e9637bbf18_0_469">
            <a:extLst>
              <a:ext uri="{FF2B5EF4-FFF2-40B4-BE49-F238E27FC236}">
                <a16:creationId xmlns:a16="http://schemas.microsoft.com/office/drawing/2014/main" id="{A562F575-C0C5-544D-0581-2552687FB1AE}"/>
              </a:ext>
            </a:extLst>
          </p:cNvPr>
          <p:cNvSpPr/>
          <p:nvPr/>
        </p:nvSpPr>
        <p:spPr>
          <a:xfrm>
            <a:off x="6162480" y="1040789"/>
            <a:ext cx="5760000" cy="3721711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F6A70A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Pistes d’amélioration et de réponse aux principaux irritants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la gestion des stocks par l’ERP, dont état des stocks physiques (pas uniquement logiques).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Calcul et gestion des seuils (mini, maxi) et optimums par l’ERP, multicritère.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Propositions d’achats / d’approvisionnement, multicritère (liés à la gestion des seuils notamment).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Pilotage des WMS, via l’envoi des ordres de préparation et de blocage.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Prise en charge des immobilisations de stocks temporaires via des mouvements spécifiques, et en lien avec l’approche / le module OMS.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Simulation et préconisations dynamiques d’ajustement des différents stocks théoriques.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Maximiser les taux de service / les ventes, limiter les ruptures =&gt; transferts et équilibrages.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Lien OMS : prendre en compte les quantités disponibles, les allocations et les encours de commandes.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Cockpit de pilotage des stocks et écarts de stocks entre les applications (décompte, rapprochement et calcul des écarts).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Permettre des « commandes de stocks » sur les produits GSS / PLV =&gt; workflow permettant au PDV de passer commande, déclencher un mouvement de stock (transfert) et recevoir les équipements.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Roboto"/>
                <a:cs typeface="Roboto"/>
                <a:sym typeface="Roboto"/>
              </a:rPr>
              <a:t>Allocations :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Permettre la gestion / modification des allocations et / ou des commandes de ventes sans suppression / perte complète de l’allocation et la priorité initiales.</a:t>
            </a:r>
            <a:endParaRPr lang="fr-FR" sz="900" kern="0" dirty="0">
              <a:solidFill>
                <a:srgbClr val="000000"/>
              </a:solidFill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Disposer d’un outil de simulation / calcul permettant de mesurer les impacts de changements (paramétrages, dates / jalons, quantités, etc.) sur l’état global des allocations</a:t>
            </a:r>
          </a:p>
          <a:p>
            <a:pPr marL="903288" lvl="3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+ recommandations visant à maximiser le taux de service</a:t>
            </a:r>
            <a:endParaRPr lang="fr-FR" sz="900" dirty="0">
              <a:latin typeface="Segoe UI" panose="020B0502040204020203" pitchFamily="34" charset="0"/>
              <a:cs typeface="Segoe UI" panose="020B0502040204020203" pitchFamily="34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23846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6A49-0FA4-98E8-2559-710AFA58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F0DC1B62-BE52-ACF7-2E9C-3315CC61A9D2}"/>
              </a:ext>
            </a:extLst>
          </p:cNvPr>
          <p:cNvGrpSpPr/>
          <p:nvPr/>
        </p:nvGrpSpPr>
        <p:grpSpPr>
          <a:xfrm>
            <a:off x="319346" y="231019"/>
            <a:ext cx="11621798" cy="744564"/>
            <a:chOff x="1017950" y="3859398"/>
            <a:chExt cx="10048757" cy="1044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75089F-55FD-B99F-0486-3A9C4C1EA183}"/>
                </a:ext>
              </a:extLst>
            </p:cNvPr>
            <p:cNvSpPr/>
            <p:nvPr/>
          </p:nvSpPr>
          <p:spPr>
            <a:xfrm>
              <a:off x="9288479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WHOLESALE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0A46DDE-3064-C1E0-B8D2-4EB6492EB545}"/>
                </a:ext>
              </a:extLst>
            </p:cNvPr>
            <p:cNvSpPr/>
            <p:nvPr/>
          </p:nvSpPr>
          <p:spPr>
            <a:xfrm>
              <a:off x="1242780" y="4075255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PLANNING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2532FC-72AD-7CEB-753D-7C1F47D9ADA7}"/>
                </a:ext>
              </a:extLst>
            </p:cNvPr>
            <p:cNvSpPr/>
            <p:nvPr/>
          </p:nvSpPr>
          <p:spPr>
            <a:xfrm>
              <a:off x="285192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PROCUREMENT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063A6F1-C9D5-CC67-2FD9-E3EF5FAD1A96}"/>
                </a:ext>
              </a:extLst>
            </p:cNvPr>
            <p:cNvSpPr/>
            <p:nvPr/>
          </p:nvSpPr>
          <p:spPr>
            <a:xfrm>
              <a:off x="446106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304B4EF-11B3-FAF6-CE7B-410C68FBC0A9}"/>
                </a:ext>
              </a:extLst>
            </p:cNvPr>
            <p:cNvSpPr/>
            <p:nvPr/>
          </p:nvSpPr>
          <p:spPr>
            <a:xfrm>
              <a:off x="607020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5BDC74-2516-8F3E-68A6-0F8F00A5BF27}"/>
                </a:ext>
              </a:extLst>
            </p:cNvPr>
            <p:cNvSpPr/>
            <p:nvPr/>
          </p:nvSpPr>
          <p:spPr>
            <a:xfrm>
              <a:off x="1017950" y="3859398"/>
              <a:ext cx="10048757" cy="10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4C27193-2610-5AD0-8310-6FDBB9E99CFC}"/>
                </a:ext>
              </a:extLst>
            </p:cNvPr>
            <p:cNvSpPr/>
            <p:nvPr/>
          </p:nvSpPr>
          <p:spPr>
            <a:xfrm>
              <a:off x="767934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AVAL</a:t>
              </a: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3C4DEB-1964-E5D4-E14C-0764F8EC525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Confidentiel</a:t>
            </a:r>
          </a:p>
        </p:txBody>
      </p:sp>
      <p:sp>
        <p:nvSpPr>
          <p:cNvPr id="50" name="Google Shape;6383;g1e9637bbf18_0_469">
            <a:extLst>
              <a:ext uri="{FF2B5EF4-FFF2-40B4-BE49-F238E27FC236}">
                <a16:creationId xmlns:a16="http://schemas.microsoft.com/office/drawing/2014/main" id="{A3804305-7990-C178-8003-AFF3FA97640A}"/>
              </a:ext>
            </a:extLst>
          </p:cNvPr>
          <p:cNvSpPr/>
          <p:nvPr/>
        </p:nvSpPr>
        <p:spPr>
          <a:xfrm>
            <a:off x="319345" y="1161190"/>
            <a:ext cx="5760000" cy="3302519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DEFCBD">
                    <a:lumMod val="25000"/>
                  </a:srgbClr>
                </a:solidFill>
                <a:latin typeface="Segoe UI"/>
                <a:ea typeface="Roboto"/>
                <a:cs typeface="Roboto"/>
                <a:sym typeface="Roboto"/>
              </a:rPr>
              <a:t>Principaux besoins à reconduire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Prise en charge d’une arborescence réseau de vente (magasins, clients internes) multi-niveaux et multi-vues.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des assortiments par typologie / segment de magasins (en lien avec PLM / PIM).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des prix et conditions de prix :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verticale, avec application en masse (nœud parent &gt; enfants) et gestion des exceptions (si condition active au nœud enfant, elle remplace le nœud parent),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horizontale / transverse, via des règles de segmentation,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à la saison, et sur une période donnée (date limite).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Prise en charge intégrée des flux d’expédition et livraison, avec règles de massification et d’optimisation 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définition de l’entrepôt de départ par le module OMS,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annonce d’expédition et de livraison (magasin ou client), n° de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tracking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 (si pertinent),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des livraisons partielles et reliquats, dont souffrance (avec ou sans retour entrepôt),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groupage, optimisation des chargements et des colisages (notamment pour les MEP magasins).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Prise en charge des flux retours magasins, avec critères de traitement en réception / stock.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En lien avec la gestion des unités de colisage et de regroupement.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Intégration des ventes magasins consolidées au MCT.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[BRD] Ventes et Stock remontés et stockés dans l’ERP au niveau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Material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Group, pas au MCT</a:t>
            </a: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26634C1F-6C32-0A31-49DF-4941C8F441A3}"/>
              </a:ext>
            </a:extLst>
          </p:cNvPr>
          <p:cNvGrpSpPr/>
          <p:nvPr/>
        </p:nvGrpSpPr>
        <p:grpSpPr>
          <a:xfrm>
            <a:off x="970856" y="4617655"/>
            <a:ext cx="2983154" cy="1096317"/>
            <a:chOff x="970856" y="5248423"/>
            <a:chExt cx="2983154" cy="1096317"/>
          </a:xfrm>
        </p:grpSpPr>
        <p:sp>
          <p:nvSpPr>
            <p:cNvPr id="52" name="ZoneTexte 79">
              <a:extLst>
                <a:ext uri="{FF2B5EF4-FFF2-40B4-BE49-F238E27FC236}">
                  <a16:creationId xmlns:a16="http://schemas.microsoft.com/office/drawing/2014/main" id="{5B19D811-8950-94DB-4F25-86BB8F5F0153}"/>
                </a:ext>
              </a:extLst>
            </p:cNvPr>
            <p:cNvSpPr txBox="1"/>
            <p:nvPr/>
          </p:nvSpPr>
          <p:spPr>
            <a:xfrm>
              <a:off x="970856" y="5248423"/>
              <a:ext cx="281698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spcBef>
                  <a:spcPts val="0"/>
                </a:spcBef>
                <a:spcAft>
                  <a:spcPts val="600"/>
                </a:spcAft>
              </a:pPr>
              <a:r>
                <a:rPr lang="fr-FR" sz="1100" b="1" dirty="0">
                  <a:solidFill>
                    <a:schemeClr val="accent1"/>
                  </a:solidFill>
                  <a:effectLst/>
                </a:rPr>
                <a:t>OUTILS UTILISÉS</a:t>
              </a:r>
              <a:endParaRPr lang="fr-FR" sz="1100" b="0" dirty="0">
                <a:solidFill>
                  <a:schemeClr val="accent1"/>
                </a:solidFill>
                <a:effectLst/>
              </a:endParaRPr>
            </a:p>
            <a:p>
              <a:pPr marL="627062" lvl="1" algn="just">
                <a:spcBef>
                  <a:spcPts val="0"/>
                </a:spcBef>
              </a:pPr>
              <a:endParaRPr kumimoji="0" lang="fr-FR" sz="100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619D8CFF-F5E1-C98A-7031-B48B03BBB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3794" y="5541930"/>
              <a:ext cx="435744" cy="435744"/>
            </a:xfrm>
            <a:prstGeom prst="rect">
              <a:avLst/>
            </a:prstGeom>
          </p:spPr>
        </p:pic>
        <p:sp>
          <p:nvSpPr>
            <p:cNvPr id="54" name="ZoneTexte 81">
              <a:extLst>
                <a:ext uri="{FF2B5EF4-FFF2-40B4-BE49-F238E27FC236}">
                  <a16:creationId xmlns:a16="http://schemas.microsoft.com/office/drawing/2014/main" id="{8B1EDB61-FAC0-9E4F-D07F-455AF55BAC86}"/>
                </a:ext>
              </a:extLst>
            </p:cNvPr>
            <p:cNvSpPr txBox="1"/>
            <p:nvPr/>
          </p:nvSpPr>
          <p:spPr>
            <a:xfrm>
              <a:off x="1403279" y="5482966"/>
              <a:ext cx="150932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Boardriders</a:t>
              </a:r>
              <a:endParaRPr lang="fr-FR" sz="1000" b="1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CEGID</a:t>
              </a:r>
            </a:p>
          </p:txBody>
        </p:sp>
        <p:sp>
          <p:nvSpPr>
            <p:cNvPr id="55" name="ZoneTexte 81">
              <a:extLst>
                <a:ext uri="{FF2B5EF4-FFF2-40B4-BE49-F238E27FC236}">
                  <a16:creationId xmlns:a16="http://schemas.microsoft.com/office/drawing/2014/main" id="{2323FC9D-9F8D-F27B-E1D3-778EEDC457FA}"/>
                </a:ext>
              </a:extLst>
            </p:cNvPr>
            <p:cNvSpPr txBox="1"/>
            <p:nvPr/>
          </p:nvSpPr>
          <p:spPr>
            <a:xfrm>
              <a:off x="2444681" y="5482966"/>
              <a:ext cx="150932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Beaumanoir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STORELAND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UR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SCOR-TEX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</p:grpSp>
      <p:sp>
        <p:nvSpPr>
          <p:cNvPr id="4" name="Google Shape;6383;g1e9637bbf18_0_469">
            <a:extLst>
              <a:ext uri="{FF2B5EF4-FFF2-40B4-BE49-F238E27FC236}">
                <a16:creationId xmlns:a16="http://schemas.microsoft.com/office/drawing/2014/main" id="{AA64FC50-6AA6-F753-4F92-EADE9F574F9A}"/>
              </a:ext>
            </a:extLst>
          </p:cNvPr>
          <p:cNvSpPr/>
          <p:nvPr/>
        </p:nvSpPr>
        <p:spPr>
          <a:xfrm>
            <a:off x="6181144" y="4529463"/>
            <a:ext cx="5760000" cy="1943572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002060"/>
                </a:solidFill>
                <a:latin typeface="Segoe UI"/>
                <a:ea typeface="Roboto"/>
                <a:cs typeface="Roboto"/>
                <a:sym typeface="Roboto"/>
              </a:rPr>
              <a:t>Spécificités et points d’attention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[BRD] Gestion de clients génériques / one-time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customers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 et des données à occurrence unique (coordonnées) pour la gestion des commandes e-commerce (comptes clients gérés dans la CRM).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C00000"/>
                </a:solidFill>
                <a:latin typeface="Segoe UI"/>
                <a:ea typeface="Roboto"/>
                <a:cs typeface="Roboto"/>
              </a:rPr>
              <a:t>Bonne pratique à généraliser : toutes les commandes passent par l’ERP ?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Modèle de MDM Produit (ERP, PLM, PIM) à clarifier.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Gestion centralisée des saisons de vente dans l’ERP, et synchronisation avec les autres systèmes.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Dont état des stocks (pour ajout automatique au catalogue de la saison suivante).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Dont gestion des variantes Articles, et leur utilisation / priorité dans les différentes transactions et flux.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Disposer d’outils de pilotage de la rentabilité à l’Article, multidimensionnelle (canal, client, segment, etc.).</a:t>
            </a:r>
          </a:p>
          <a:p>
            <a:pPr marL="457200" lvl="2" indent="-136525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C00000"/>
                </a:solidFill>
                <a:latin typeface="Segoe UI"/>
                <a:ea typeface="Roboto"/>
                <a:cs typeface="Roboto"/>
              </a:rPr>
              <a:t>Nota : définir une règle de valorisation des coûts (CUMP ?).</a:t>
            </a:r>
          </a:p>
          <a:p>
            <a:pPr marL="0" lvl="1" indent="-136525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fr-FR" sz="900" dirty="0">
              <a:latin typeface="Segoe UI" panose="020B0502040204020203" pitchFamily="34" charset="0"/>
              <a:cs typeface="Segoe UI" panose="020B0502040204020203" pitchFamily="34" charset="0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Tx/>
              <a:buNone/>
              <a:tabLst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  <p:sp>
        <p:nvSpPr>
          <p:cNvPr id="8" name="Google Shape;6383;g1e9637bbf18_0_469">
            <a:extLst>
              <a:ext uri="{FF2B5EF4-FFF2-40B4-BE49-F238E27FC236}">
                <a16:creationId xmlns:a16="http://schemas.microsoft.com/office/drawing/2014/main" id="{5F76F988-7991-9234-3DB6-861B462B03AF}"/>
              </a:ext>
            </a:extLst>
          </p:cNvPr>
          <p:cNvSpPr/>
          <p:nvPr/>
        </p:nvSpPr>
        <p:spPr>
          <a:xfrm>
            <a:off x="6181144" y="1161190"/>
            <a:ext cx="5760000" cy="3307171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F6A70A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Pistes d’amélioration et de réponse aux principaux irritants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Pilotage des données essentielles en lien avec la CRM (cockpit de suivi des fiches incomplètes, blocages de la création du compte / des transactions si données obligatoires incomplètes, etc.).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multicritère des modes de livraison, dont typologie et attributs articles (volumes, poids, hors gabarit).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OMS et cockpit de suivi et pilotage des SO et EDD, en lien avec les PO, avec alertes (paramétrables).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Dont visualisation des retards / écarts prévisionnels entre jalons initiaux et jalons estimés / MAJ.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Dont simulation des changements sur commandes et impacts (allocations notamment).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Dont propositions de réallocation, en maximisant / équilibrant les taux de service.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la gestion des stocks et du réassort magasins par l’ERP </a:t>
            </a:r>
            <a:r>
              <a:rPr lang="fr-FR" sz="900" kern="0" dirty="0">
                <a:solidFill>
                  <a:srgbClr val="C00000"/>
                </a:solidFill>
                <a:latin typeface="Segoe UI"/>
                <a:ea typeface="Roboto"/>
                <a:cs typeface="Roboto"/>
                <a:sym typeface="Roboto"/>
              </a:rPr>
              <a:t>=&gt; différents modèles et règles peuvent-ils cohabiter ?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[GBM] Ajustement automatique des stocks magasins sur un optimum : MEP initiale, quantités disponibles, seuils, ventes et prévisions, vitesse de défilement, couverture, etc.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[GBM] Calcul d’un optimum de réassort magasins au MCT et déclenchement automatique des commandes.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[BRD] Import des commandes de réapprovisionnement magasin en provenance de CEGID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centralisée et multicritère des opérations promotionnelles (prix, quantités, gratuité, etc.)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Cockpit de pilotage de la charge entrepôt : réception, préparation, expédition (sur la base des commandes et des allocations).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Roboto"/>
              <a:cs typeface="Segoe UI" panose="020B0502040204020203" pitchFamily="34" charset="0"/>
              <a:sym typeface="Roboto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59E3AC-3EDE-73F3-42AD-9FF62E3472B0}"/>
              </a:ext>
            </a:extLst>
          </p:cNvPr>
          <p:cNvSpPr txBox="1"/>
          <p:nvPr/>
        </p:nvSpPr>
        <p:spPr>
          <a:xfrm>
            <a:off x="319345" y="5834837"/>
            <a:ext cx="4114800" cy="430887"/>
          </a:xfrm>
          <a:prstGeom prst="rect">
            <a:avLst/>
          </a:prstGeom>
          <a:solidFill>
            <a:srgbClr val="C2CFFF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100" b="1" i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Nota : hors les besoins propres au réassort magasins,</a:t>
            </a:r>
            <a:br>
              <a:rPr lang="fr-FR" sz="1100" b="1" i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</a:br>
            <a:r>
              <a:rPr lang="fr-FR" sz="1100" b="1" i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les besoins Aval recensés ici s’appliquent au </a:t>
            </a:r>
            <a:r>
              <a:rPr lang="fr-FR" sz="1100" b="1" i="1" dirty="0" err="1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Wholesale</a:t>
            </a:r>
            <a:r>
              <a:rPr lang="fr-FR" sz="1100" b="1" i="1" dirty="0">
                <a:latin typeface="Segoe UI" panose="020B0502040204020203" pitchFamily="34" charset="0"/>
                <a:cs typeface="Segoe UI" panose="020B0502040204020203" pitchFamily="34" charset="0"/>
                <a:sym typeface="Roboto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85023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AC7D-8D03-4656-7BDE-1E629BE8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65EC8481-36A5-A8E4-E478-66DA74F55F29}"/>
              </a:ext>
            </a:extLst>
          </p:cNvPr>
          <p:cNvGrpSpPr/>
          <p:nvPr/>
        </p:nvGrpSpPr>
        <p:grpSpPr>
          <a:xfrm>
            <a:off x="319346" y="231019"/>
            <a:ext cx="11621798" cy="744564"/>
            <a:chOff x="1017950" y="3859398"/>
            <a:chExt cx="10048757" cy="1044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64DBF8-9BAA-2A4E-8C79-F41D650B510A}"/>
                </a:ext>
              </a:extLst>
            </p:cNvPr>
            <p:cNvSpPr/>
            <p:nvPr/>
          </p:nvSpPr>
          <p:spPr>
            <a:xfrm>
              <a:off x="1242780" y="4075255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PLANNING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877DD69-B972-CED7-A202-5B362AECA1E6}"/>
                </a:ext>
              </a:extLst>
            </p:cNvPr>
            <p:cNvSpPr/>
            <p:nvPr/>
          </p:nvSpPr>
          <p:spPr>
            <a:xfrm>
              <a:off x="285192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PROCUREMENT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CF6316C-C44C-CB4E-F7BC-8F3727A5402A}"/>
                </a:ext>
              </a:extLst>
            </p:cNvPr>
            <p:cNvSpPr/>
            <p:nvPr/>
          </p:nvSpPr>
          <p:spPr>
            <a:xfrm>
              <a:off x="446106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PRODUCTION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F40908D-70D6-F0CF-C3CD-3D28E7ED44DD}"/>
                </a:ext>
              </a:extLst>
            </p:cNvPr>
            <p:cNvSpPr/>
            <p:nvPr/>
          </p:nvSpPr>
          <p:spPr>
            <a:xfrm>
              <a:off x="607020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INVENTORY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DD91C6-F0DE-1C42-156E-B2FFF2DFCCA8}"/>
                </a:ext>
              </a:extLst>
            </p:cNvPr>
            <p:cNvSpPr/>
            <p:nvPr/>
          </p:nvSpPr>
          <p:spPr>
            <a:xfrm>
              <a:off x="7679340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AVAL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EC9CE03-7E85-258E-D6AD-03436F41A3F8}"/>
                </a:ext>
              </a:extLst>
            </p:cNvPr>
            <p:cNvSpPr/>
            <p:nvPr/>
          </p:nvSpPr>
          <p:spPr>
            <a:xfrm>
              <a:off x="1017950" y="3859398"/>
              <a:ext cx="10048757" cy="10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fr-FR" sz="1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45FB511-A83F-4337-1E84-F8AC38F1E02F}"/>
                </a:ext>
              </a:extLst>
            </p:cNvPr>
            <p:cNvSpPr/>
            <p:nvPr/>
          </p:nvSpPr>
          <p:spPr>
            <a:xfrm>
              <a:off x="9288479" y="4075256"/>
              <a:ext cx="1546308" cy="6122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fr-FR" sz="10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WHOLESALE</a:t>
              </a: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7CB-F8A3-3E44-2087-9C40931C972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fr-FR" dirty="0"/>
              <a:t>Confidentiel</a:t>
            </a:r>
          </a:p>
        </p:txBody>
      </p:sp>
      <p:sp>
        <p:nvSpPr>
          <p:cNvPr id="50" name="Google Shape;6383;g1e9637bbf18_0_469">
            <a:extLst>
              <a:ext uri="{FF2B5EF4-FFF2-40B4-BE49-F238E27FC236}">
                <a16:creationId xmlns:a16="http://schemas.microsoft.com/office/drawing/2014/main" id="{4D76D17F-3F81-6E5B-4ED4-E3C9F975F3A5}"/>
              </a:ext>
            </a:extLst>
          </p:cNvPr>
          <p:cNvSpPr/>
          <p:nvPr/>
        </p:nvSpPr>
        <p:spPr>
          <a:xfrm>
            <a:off x="319345" y="1161190"/>
            <a:ext cx="5760000" cy="3690682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DEFCBD">
                    <a:lumMod val="25000"/>
                  </a:srgbClr>
                </a:solidFill>
                <a:latin typeface="Segoe UI"/>
                <a:ea typeface="Roboto"/>
                <a:cs typeface="Roboto"/>
                <a:sym typeface="Roboto"/>
              </a:rPr>
              <a:t>Principaux besoins à reconduire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d’une organisation FDV (interne / externe, transverse / exclusive ), dont territoires commerciaux.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d’une hiérarchie clients multi-niveaux et multi-vues, en lien avec l’organisation FDV.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Gestion des assortiments et catalogues par client (en lien avec PLM / PIM) : unique, segment.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conditions contractuelles et de conditions de remises :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sur devis / commande,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sur facture ou pied de facture,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immédiates ou différées (progression CA, RFA) =&gt; automatique, ou simplifiée via des rapports.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pré-commandes et de règles d’allocation dédiées : allocation potentielle visible (dans le cockpit de suivi / simulation des allocations) mais non confirmée jusqu’à validation de la commande.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des commandes ouvertes (« contrats ») : quantité totale pré-allouée (priorité paramétrable) mise à jour avec commandes fermes.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Prise en charge des flux retours clients, avec critères de traitement en réception / stock.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« Commande de retour », enlèvement et réception en entrepôt.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Valorisation spécifique / décote.</a:t>
            </a:r>
          </a:p>
          <a:p>
            <a:pPr marL="0" lvl="1" indent="-136525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Roboto"/>
              <a:cs typeface="Roboto"/>
              <a:sym typeface="Roboto"/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79F03FEF-FA85-8B8E-1422-E07D7C5DC1F6}"/>
              </a:ext>
            </a:extLst>
          </p:cNvPr>
          <p:cNvGrpSpPr/>
          <p:nvPr/>
        </p:nvGrpSpPr>
        <p:grpSpPr>
          <a:xfrm>
            <a:off x="970856" y="5027230"/>
            <a:ext cx="2983154" cy="942429"/>
            <a:chOff x="970856" y="5248423"/>
            <a:chExt cx="2983154" cy="942429"/>
          </a:xfrm>
        </p:grpSpPr>
        <p:sp>
          <p:nvSpPr>
            <p:cNvPr id="52" name="ZoneTexte 79">
              <a:extLst>
                <a:ext uri="{FF2B5EF4-FFF2-40B4-BE49-F238E27FC236}">
                  <a16:creationId xmlns:a16="http://schemas.microsoft.com/office/drawing/2014/main" id="{C9612EBD-1D81-8AA6-627A-55D2DA18B710}"/>
                </a:ext>
              </a:extLst>
            </p:cNvPr>
            <p:cNvSpPr txBox="1"/>
            <p:nvPr/>
          </p:nvSpPr>
          <p:spPr>
            <a:xfrm>
              <a:off x="970856" y="5248423"/>
              <a:ext cx="281698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spcBef>
                  <a:spcPts val="0"/>
                </a:spcBef>
                <a:spcAft>
                  <a:spcPts val="600"/>
                </a:spcAft>
              </a:pPr>
              <a:r>
                <a:rPr lang="fr-FR" sz="1100" b="1" dirty="0">
                  <a:solidFill>
                    <a:schemeClr val="accent1"/>
                  </a:solidFill>
                  <a:effectLst/>
                </a:rPr>
                <a:t>OUTILS UTILISÉS</a:t>
              </a:r>
              <a:endParaRPr lang="fr-FR" sz="1100" b="0" dirty="0">
                <a:solidFill>
                  <a:schemeClr val="accent1"/>
                </a:solidFill>
                <a:effectLst/>
              </a:endParaRPr>
            </a:p>
            <a:p>
              <a:pPr marL="627062" lvl="1" algn="just">
                <a:spcBef>
                  <a:spcPts val="0"/>
                </a:spcBef>
              </a:pPr>
              <a:endParaRPr kumimoji="0" lang="fr-FR" sz="1000" u="none" strike="noStrike" kern="0" cap="none" spc="0" normalizeH="0" baseline="0" noProof="0" dirty="0">
                <a:ln>
                  <a:noFill/>
                </a:ln>
                <a:solidFill>
                  <a:srgbClr val="242424"/>
                </a:solidFill>
                <a:uLnTx/>
                <a:uFillTx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" name="Image 52">
              <a:extLst>
                <a:ext uri="{FF2B5EF4-FFF2-40B4-BE49-F238E27FC236}">
                  <a16:creationId xmlns:a16="http://schemas.microsoft.com/office/drawing/2014/main" id="{219CF05D-8718-2A52-5E32-807BFD9CF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3794" y="5541930"/>
              <a:ext cx="435744" cy="435744"/>
            </a:xfrm>
            <a:prstGeom prst="rect">
              <a:avLst/>
            </a:prstGeom>
          </p:spPr>
        </p:pic>
        <p:sp>
          <p:nvSpPr>
            <p:cNvPr id="54" name="ZoneTexte 81">
              <a:extLst>
                <a:ext uri="{FF2B5EF4-FFF2-40B4-BE49-F238E27FC236}">
                  <a16:creationId xmlns:a16="http://schemas.microsoft.com/office/drawing/2014/main" id="{F252D856-BD65-2760-EE3D-B20B27C33CEC}"/>
                </a:ext>
              </a:extLst>
            </p:cNvPr>
            <p:cNvSpPr txBox="1"/>
            <p:nvPr/>
          </p:nvSpPr>
          <p:spPr>
            <a:xfrm>
              <a:off x="1403279" y="5482966"/>
              <a:ext cx="150932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 err="1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Boardriders</a:t>
              </a:r>
              <a:endParaRPr lang="fr-FR" sz="1000" b="1" kern="0" dirty="0">
                <a:solidFill>
                  <a:srgbClr val="242424"/>
                </a:solidFill>
                <a:ea typeface="Roboto"/>
                <a:cs typeface="Roboto"/>
                <a:sym typeface="Roboto"/>
              </a:endParaRP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SAP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ELASTIC</a:t>
              </a:r>
            </a:p>
          </p:txBody>
        </p:sp>
        <p:sp>
          <p:nvSpPr>
            <p:cNvPr id="55" name="ZoneTexte 81">
              <a:extLst>
                <a:ext uri="{FF2B5EF4-FFF2-40B4-BE49-F238E27FC236}">
                  <a16:creationId xmlns:a16="http://schemas.microsoft.com/office/drawing/2014/main" id="{2D6E35F1-253E-C133-225D-56FCDA08E4B5}"/>
                </a:ext>
              </a:extLst>
            </p:cNvPr>
            <p:cNvSpPr txBox="1"/>
            <p:nvPr/>
          </p:nvSpPr>
          <p:spPr>
            <a:xfrm>
              <a:off x="2444681" y="5482966"/>
              <a:ext cx="150932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862"/>
              <a:r>
                <a:rPr lang="fr-FR" sz="1000" b="1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Beaumanoir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STORELAND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ZOHO</a:t>
              </a:r>
            </a:p>
            <a:p>
              <a:pPr marL="349250" indent="-179388">
                <a:buFont typeface="Wingdings" panose="05000000000000000000" pitchFamily="2" charset="2"/>
                <a:buChar char="ü"/>
              </a:pPr>
              <a:r>
                <a:rPr lang="fr-FR" sz="1000" kern="0" dirty="0">
                  <a:solidFill>
                    <a:srgbClr val="242424"/>
                  </a:solidFill>
                  <a:ea typeface="Roboto"/>
                  <a:cs typeface="Roboto"/>
                  <a:sym typeface="Roboto"/>
                </a:rPr>
                <a:t>ELASTIC</a:t>
              </a:r>
              <a:endParaRPr lang="fr-FR" sz="1000" kern="0" dirty="0">
                <a:solidFill>
                  <a:srgbClr val="242424"/>
                </a:solidFill>
                <a:ea typeface="Roboto"/>
                <a:cs typeface="Roboto"/>
              </a:endParaRPr>
            </a:p>
          </p:txBody>
        </p:sp>
      </p:grpSp>
      <p:sp>
        <p:nvSpPr>
          <p:cNvPr id="4" name="Google Shape;6383;g1e9637bbf18_0_469">
            <a:extLst>
              <a:ext uri="{FF2B5EF4-FFF2-40B4-BE49-F238E27FC236}">
                <a16:creationId xmlns:a16="http://schemas.microsoft.com/office/drawing/2014/main" id="{7E3AC5F8-FFDB-3789-F189-D88E15CE26D2}"/>
              </a:ext>
            </a:extLst>
          </p:cNvPr>
          <p:cNvSpPr/>
          <p:nvPr/>
        </p:nvSpPr>
        <p:spPr>
          <a:xfrm>
            <a:off x="6181144" y="4958088"/>
            <a:ext cx="5760000" cy="1471287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002060"/>
                </a:solidFill>
                <a:latin typeface="Segoe UI"/>
                <a:ea typeface="Roboto"/>
                <a:cs typeface="Roboto"/>
                <a:sym typeface="Roboto"/>
              </a:rPr>
              <a:t>Spécificités et points d’attention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</a:rPr>
              <a:t>Modèle de MDM Client (ERP / CRM) à clarifier.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flexible des commandes et des clients (changement de SIRET, changement de lieu de livraison) pour permettre certaines modifications sans recalcul / annulation des allocations.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Calcul des commissions dans l’ERP, en lien avec l’organisation FDV =&gt; opportunité à étudie.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C00000"/>
                </a:solidFill>
                <a:latin typeface="Segoe UI"/>
                <a:ea typeface="Roboto"/>
                <a:cs typeface="Roboto"/>
              </a:rPr>
              <a:t>[BMN] Intégration et suivi des ventes clients dans l’ERP, pour analyse des performances et propositions de réassort / articles complémentaires. =&gt; à valider : l’ERP doit-il porter cette fonctionnalité ?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endParaRPr lang="fr-FR" sz="900" kern="0" dirty="0">
              <a:solidFill>
                <a:srgbClr val="000000"/>
              </a:solidFill>
              <a:latin typeface="Segoe UI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6383;g1e9637bbf18_0_469">
            <a:extLst>
              <a:ext uri="{FF2B5EF4-FFF2-40B4-BE49-F238E27FC236}">
                <a16:creationId xmlns:a16="http://schemas.microsoft.com/office/drawing/2014/main" id="{42AACB04-8BDE-B311-4283-80CBDD58A652}"/>
              </a:ext>
            </a:extLst>
          </p:cNvPr>
          <p:cNvSpPr/>
          <p:nvPr/>
        </p:nvSpPr>
        <p:spPr>
          <a:xfrm>
            <a:off x="6181144" y="1164614"/>
            <a:ext cx="5760000" cy="3690682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80975" defTabSz="91440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defRPr/>
            </a:pPr>
            <a:r>
              <a:rPr lang="fr-FR" sz="1000" b="1" kern="0" dirty="0">
                <a:solidFill>
                  <a:srgbClr val="F6A70A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rPr>
              <a:t>Pistes d’amélioration et de réponse aux principaux irritants : 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d’un 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scoring</a:t>
            </a:r>
            <a:r>
              <a:rPr lang="fr-FR" sz="900" i="1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client multicritère (avec pondération) calculé automatiquement</a:t>
            </a:r>
            <a:r>
              <a:rPr lang="fr-FR" sz="900" kern="0" dirty="0">
                <a:solidFill>
                  <a:srgbClr val="C00000"/>
                </a:solidFill>
                <a:latin typeface="Segoe UI"/>
                <a:ea typeface="Roboto"/>
                <a:cs typeface="Roboto"/>
                <a:sym typeface="Roboto"/>
              </a:rPr>
              <a:t> =&gt; ERP ou CRM ?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simplifiée des flux de « retour et revente », qui permettent le transfert direct vers un autre client livré.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Lien entre mouvement / commande retour et commande client à livrer </a:t>
            </a:r>
            <a:r>
              <a:rPr lang="fr-FR" sz="900" kern="0" dirty="0">
                <a:solidFill>
                  <a:srgbClr val="C00000"/>
                </a:solidFill>
                <a:latin typeface="Segoe UI"/>
                <a:ea typeface="Roboto"/>
                <a:cs typeface="Roboto"/>
                <a:sym typeface="Roboto"/>
              </a:rPr>
              <a:t>=&gt; s’inspirer du cross dock ?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« Cockpit de commande » à destination des clients, avec vue sur les quantités et le cadencement.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Dont dates de livraison estimée sur les différentes quantités (disponible, en transit) et basée sur un calcul / une simulation d’allocation (elle-même basée sur le 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scoring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). 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Dont possibilité de demander / gérer / valider des expéditions partielles.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règles de blocage des commandes clients, multicritère (client, marque, pays, période, etc.) et basées notamment sur le 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scoring</a:t>
            </a:r>
            <a:r>
              <a:rPr lang="fr-FR" sz="900" i="1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client (global) ou des critères spécifiques (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credit</a:t>
            </a:r>
            <a:r>
              <a:rPr lang="fr-FR" sz="900" i="1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check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, solvabilité).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Dont blocage total (commandes en cours et futures) ou partiel / unitaire.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d’</a:t>
            </a:r>
            <a:r>
              <a:rPr lang="fr-FR" sz="900" i="1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upcharge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et de prestations complémentaires, automatiques (sous conditions) ou ajoutées manuellement aux commandes clients.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Edition et signature électronique de documents, dont devis et CGV (en lien avec CRM et portails clients).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000"/>
              <a:buFont typeface="Wingdings" panose="05000000000000000000" pitchFamily="2" charset="2"/>
              <a:buChar char="§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Gestion automatisée des émissions de factures, et stockage des documents (électronique et PDF).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Édition de factures proforma (pour dédouanement, notamment), à la demande ou automatiques.</a:t>
            </a:r>
          </a:p>
          <a:p>
            <a:pPr marL="446088" lvl="2" indent="-125413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Prise en charge de </a:t>
            </a:r>
            <a:r>
              <a:rPr lang="fr-FR" sz="900" kern="0" dirty="0" err="1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templates</a:t>
            </a:r>
            <a:r>
              <a:rPr lang="fr-FR" sz="900" kern="0" dirty="0">
                <a:solidFill>
                  <a:srgbClr val="000000"/>
                </a:solidFill>
                <a:latin typeface="Segoe UI"/>
                <a:ea typeface="Roboto"/>
                <a:cs typeface="Roboto"/>
                <a:sym typeface="Roboto"/>
              </a:rPr>
              <a:t> / format spécifiques (en lien avec partenaires d’éditique).</a:t>
            </a:r>
            <a:endParaRPr lang="fr-FR" sz="900" kern="0" dirty="0">
              <a:solidFill>
                <a:srgbClr val="FF0000"/>
              </a:solidFill>
              <a:latin typeface="Segoe UI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418190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0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theme1.xml><?xml version="1.0" encoding="utf-8"?>
<a:theme xmlns:a="http://schemas.openxmlformats.org/drawingml/2006/main" name="Synvance">
  <a:themeElements>
    <a:clrScheme name="Synvance 2">
      <a:dk1>
        <a:srgbClr val="252525"/>
      </a:dk1>
      <a:lt1>
        <a:srgbClr val="FFFFFF"/>
      </a:lt1>
      <a:dk2>
        <a:srgbClr val="464554"/>
      </a:dk2>
      <a:lt2>
        <a:srgbClr val="ABA8BA"/>
      </a:lt2>
      <a:accent1>
        <a:srgbClr val="6E8DFF"/>
      </a:accent1>
      <a:accent2>
        <a:srgbClr val="19094C"/>
      </a:accent2>
      <a:accent3>
        <a:srgbClr val="C46D70"/>
      </a:accent3>
      <a:accent4>
        <a:srgbClr val="5B0236"/>
      </a:accent4>
      <a:accent5>
        <a:srgbClr val="07B096"/>
      </a:accent5>
      <a:accent6>
        <a:srgbClr val="0C474E"/>
      </a:accent6>
      <a:hlink>
        <a:srgbClr val="AAB8F9"/>
      </a:hlink>
      <a:folHlink>
        <a:srgbClr val="4168FF"/>
      </a:folHlink>
    </a:clrScheme>
    <a:fontScheme name="Synvance">
      <a:majorFont>
        <a:latin typeface="Plus Jakarta Sans ExtraBold"/>
        <a:ea typeface=""/>
        <a:cs typeface=""/>
      </a:majorFont>
      <a:minorFont>
        <a:latin typeface="Noto San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marL="171450" indent="-171450" algn="l">
          <a:spcAft>
            <a:spcPts val="600"/>
          </a:spcAft>
          <a:buFont typeface="Arial" panose="020B0604020202020204" pitchFamily="34" charset="0"/>
          <a:buChar char="•"/>
          <a:defRPr sz="1000" b="1" dirty="0">
            <a:solidFill>
              <a:srgbClr val="1A1C30"/>
            </a:solidFill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Synvance" id="{075BF9B7-20BB-5D42-A70B-80D911AB02C8}" vid="{2F837936-2802-C644-B0EB-A5EF0CDCE7DF}"/>
    </a:ext>
  </a:extLst>
</a:theme>
</file>

<file path=ppt/theme/theme2.xml><?xml version="1.0" encoding="utf-8"?>
<a:theme xmlns:a="http://schemas.openxmlformats.org/drawingml/2006/main" name="Custom Design">
  <a:themeElements>
    <a:clrScheme name="SYNVANCE">
      <a:dk1>
        <a:srgbClr val="221F20"/>
      </a:dk1>
      <a:lt1>
        <a:srgbClr val="FFFFFF"/>
      </a:lt1>
      <a:dk2>
        <a:srgbClr val="221F20"/>
      </a:dk2>
      <a:lt2>
        <a:srgbClr val="E9E7E8"/>
      </a:lt2>
      <a:accent1>
        <a:srgbClr val="00AABA"/>
      </a:accent1>
      <a:accent2>
        <a:srgbClr val="1A1C30"/>
      </a:accent2>
      <a:accent3>
        <a:srgbClr val="C3E354"/>
      </a:accent3>
      <a:accent4>
        <a:srgbClr val="28ABEB"/>
      </a:accent4>
      <a:accent5>
        <a:srgbClr val="DEFCBD"/>
      </a:accent5>
      <a:accent6>
        <a:srgbClr val="5EC380"/>
      </a:accent6>
      <a:hlink>
        <a:srgbClr val="96ADE3"/>
      </a:hlink>
      <a:folHlink>
        <a:srgbClr val="000000"/>
      </a:folHlink>
    </a:clrScheme>
    <a:fontScheme name="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17DD25454FB4695523AD6FA678BBB" ma:contentTypeVersion="3" ma:contentTypeDescription="Crée un document." ma:contentTypeScope="" ma:versionID="5bcb89fef6812fe6719aed61a50240c2">
  <xsd:schema xmlns:xsd="http://www.w3.org/2001/XMLSchema" xmlns:xs="http://www.w3.org/2001/XMLSchema" xmlns:p="http://schemas.microsoft.com/office/2006/metadata/properties" xmlns:ns2="b152b8e2-9a73-4d1a-bc18-96b00c72b20e" targetNamespace="http://schemas.microsoft.com/office/2006/metadata/properties" ma:root="true" ma:fieldsID="4eba6ec78bc86a3a6262e0cef8282375" ns2:_="">
    <xsd:import namespace="b152b8e2-9a73-4d1a-bc18-96b00c72b2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52b8e2-9a73-4d1a-bc18-96b00c72b2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6B1AA3-C0E6-45FD-9297-EBC5DF9E87B9}"/>
</file>

<file path=customXml/itemProps2.xml><?xml version="1.0" encoding="utf-8"?>
<ds:datastoreItem xmlns:ds="http://schemas.openxmlformats.org/officeDocument/2006/customXml" ds:itemID="{85FBE15E-1F0F-45B5-8C23-0E4037C5660F}">
  <ds:schemaRefs>
    <ds:schemaRef ds:uri="http://purl.org/dc/elements/1.1/"/>
    <ds:schemaRef ds:uri="http://purl.org/dc/terms/"/>
    <ds:schemaRef ds:uri="http://purl.org/dc/dcmitype/"/>
    <ds:schemaRef ds:uri="http://www.w3.org/XML/1998/namespace"/>
    <ds:schemaRef ds:uri="ef35b7e4-7e0c-40ce-9e68-e13b8d4c454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DB1EF71-3776-4C2E-8F1E-448E98247C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5950</Words>
  <Application>Microsoft Office PowerPoint</Application>
  <PresentationFormat>Grand écran</PresentationFormat>
  <Paragraphs>758</Paragraphs>
  <Slides>21</Slides>
  <Notes>9</Notes>
  <HiddenSlides>0</HiddenSlides>
  <MMClips>0</MMClips>
  <ScaleCrop>false</ScaleCrop>
  <HeadingPairs>
    <vt:vector size="8" baseType="variant">
      <vt:variant>
        <vt:lpstr>Polices utilisées</vt:lpstr>
      </vt:variant>
      <vt:variant>
        <vt:i4>16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40" baseType="lpstr">
      <vt:lpstr>Arial</vt:lpstr>
      <vt:lpstr>Calibri</vt:lpstr>
      <vt:lpstr>Cera Pro</vt:lpstr>
      <vt:lpstr>Courier New</vt:lpstr>
      <vt:lpstr>Galano Grotesque</vt:lpstr>
      <vt:lpstr>Montserrat</vt:lpstr>
      <vt:lpstr>Montserrat Light</vt:lpstr>
      <vt:lpstr>Noto Sans</vt:lpstr>
      <vt:lpstr>Plus Jakarta Sans</vt:lpstr>
      <vt:lpstr>Plus Jakarta Sans ExtraBold</vt:lpstr>
      <vt:lpstr>Plus Jakarta Sans SemiBold</vt:lpstr>
      <vt:lpstr>Roboto</vt:lpstr>
      <vt:lpstr>Segoe UI</vt:lpstr>
      <vt:lpstr>Segoe UI Semibold</vt:lpstr>
      <vt:lpstr>Verdana</vt:lpstr>
      <vt:lpstr>Wingdings</vt:lpstr>
      <vt:lpstr>Synvance</vt:lpstr>
      <vt:lpstr>Custom Design</vt:lpstr>
      <vt:lpstr>Diapositive think-cell</vt:lpstr>
      <vt:lpstr>CADRAGE ERP Achat / VENTE </vt:lpstr>
      <vt:lpstr>OBJECTIF DE L’ÉTUDE | Proposer des scénarios applicatifs adaptés aux besoins des métiers</vt:lpstr>
      <vt:lpstr>Présentation PowerPoint</vt:lpstr>
      <vt:lpstr>ETAPE 1 | Les premiers ateliers ont permis de recenser les besoins clés pour chaque processus</vt:lpstr>
      <vt:lpstr>Les PREMIERS CONSTATS | Des besoins qui convergent</vt:lpstr>
      <vt:lpstr>Le terrain de jeu de l’étude | Une couverture comparable à l’existant</vt:lpstr>
      <vt:lpstr>Les principaux points d’attention</vt:lpstr>
      <vt:lpstr>Les limites de l’étude | Les besoins hors périmètre de l’ERP</vt:lpstr>
      <vt:lpstr>Les limites de l’étude | Des opportunités d’études complémentaires</vt:lpstr>
      <vt:lpstr>Présentation PowerPoint</vt:lpstr>
      <vt:lpstr>Lancement de l’étape 2| Les prochaines activités</vt:lpstr>
      <vt:lpstr>Lancement de l’étape 2| Les prochaines activités</vt:lpstr>
      <vt:lpstr>Le calendrier | Nous prévoyons de terminer l’étape 2 à l’horizon fin avril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Colin Heridel</dc:creator>
  <cp:lastModifiedBy>Jimmy DOWSE</cp:lastModifiedBy>
  <cp:revision>43</cp:revision>
  <cp:lastPrinted>2024-03-18T17:38:23Z</cp:lastPrinted>
  <dcterms:created xsi:type="dcterms:W3CDTF">2024-02-07T18:41:02Z</dcterms:created>
  <dcterms:modified xsi:type="dcterms:W3CDTF">2025-04-01T13:57:37Z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800</vt:r8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ntentTypeId">
    <vt:lpwstr>0x01010036717DD25454FB4695523AD6FA678BBB</vt:lpwstr>
  </property>
  <property fmtid="{D5CDD505-2E9C-101B-9397-08002B2CF9AE}" pid="10" name="_SourceUrl">
    <vt:lpwstr/>
  </property>
  <property fmtid="{D5CDD505-2E9C-101B-9397-08002B2CF9AE}" pid="11" name="_SharedFileIndex">
    <vt:lpwstr/>
  </property>
</Properties>
</file>