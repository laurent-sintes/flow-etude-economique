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  <p:sldMasterId id="2147483842" r:id="rId5"/>
  </p:sldMasterIdLst>
  <p:notesMasterIdLst>
    <p:notesMasterId r:id="rId51"/>
  </p:notesMasterIdLst>
  <p:handoutMasterIdLst>
    <p:handoutMasterId r:id="rId52"/>
  </p:handoutMasterIdLst>
  <p:sldIdLst>
    <p:sldId id="2147479611" r:id="rId6"/>
    <p:sldId id="2147482770" r:id="rId7"/>
    <p:sldId id="2147482874" r:id="rId8"/>
    <p:sldId id="2147482786" r:id="rId9"/>
    <p:sldId id="2147482868" r:id="rId10"/>
    <p:sldId id="2147482863" r:id="rId11"/>
    <p:sldId id="2147482841" r:id="rId12"/>
    <p:sldId id="2147482875" r:id="rId13"/>
    <p:sldId id="2147482867" r:id="rId14"/>
    <p:sldId id="2147482876" r:id="rId15"/>
    <p:sldId id="2147482829" r:id="rId16"/>
    <p:sldId id="2147482814" r:id="rId17"/>
    <p:sldId id="2147482827" r:id="rId18"/>
    <p:sldId id="2147482828" r:id="rId19"/>
    <p:sldId id="2147482833" r:id="rId20"/>
    <p:sldId id="2147482831" r:id="rId21"/>
    <p:sldId id="2147482802" r:id="rId22"/>
    <p:sldId id="2147482859" r:id="rId23"/>
    <p:sldId id="2147482865" r:id="rId24"/>
    <p:sldId id="2147482854" r:id="rId25"/>
    <p:sldId id="2147482835" r:id="rId26"/>
    <p:sldId id="2147482866" r:id="rId27"/>
    <p:sldId id="2147482855" r:id="rId28"/>
    <p:sldId id="2147482843" r:id="rId29"/>
    <p:sldId id="2147482844" r:id="rId30"/>
    <p:sldId id="2147482822" r:id="rId31"/>
    <p:sldId id="2147482823" r:id="rId32"/>
    <p:sldId id="2147482845" r:id="rId33"/>
    <p:sldId id="2147482846" r:id="rId34"/>
    <p:sldId id="2147482847" r:id="rId35"/>
    <p:sldId id="2147482817" r:id="rId36"/>
    <p:sldId id="2147482848" r:id="rId37"/>
    <p:sldId id="2147482825" r:id="rId38"/>
    <p:sldId id="2147482832" r:id="rId39"/>
    <p:sldId id="2147482857" r:id="rId40"/>
    <p:sldId id="2147482837" r:id="rId41"/>
    <p:sldId id="2147482871" r:id="rId42"/>
    <p:sldId id="2147482858" r:id="rId43"/>
    <p:sldId id="2147482838" r:id="rId44"/>
    <p:sldId id="2147482839" r:id="rId45"/>
    <p:sldId id="2147482861" r:id="rId46"/>
    <p:sldId id="2147482860" r:id="rId47"/>
    <p:sldId id="2147482870" r:id="rId48"/>
    <p:sldId id="2147482872" r:id="rId49"/>
    <p:sldId id="2147482873" r:id="rId50"/>
  </p:sldIdLst>
  <p:sldSz cx="12192000" cy="6858000"/>
  <p:notesSz cx="6808788" cy="9940925"/>
  <p:custDataLst>
    <p:tags r:id="rId5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ADAFB8-FE96-45C0-9C72-2BB21CCD091B}">
          <p14:sldIdLst>
            <p14:sldId id="2147479611"/>
            <p14:sldId id="2147482770"/>
            <p14:sldId id="2147482874"/>
            <p14:sldId id="2147482786"/>
            <p14:sldId id="2147482868"/>
          </p14:sldIdLst>
        </p14:section>
        <p14:section name="LES BESOINS CIBLES" id="{83F6FE4B-C6CC-48C1-8F75-BC1A8F7E071C}">
          <p14:sldIdLst>
            <p14:sldId id="2147482863"/>
            <p14:sldId id="2147482841"/>
            <p14:sldId id="2147482875"/>
            <p14:sldId id="2147482867"/>
            <p14:sldId id="2147482876"/>
            <p14:sldId id="2147482829"/>
            <p14:sldId id="2147482814"/>
            <p14:sldId id="2147482827"/>
            <p14:sldId id="2147482828"/>
            <p14:sldId id="2147482833"/>
            <p14:sldId id="2147482831"/>
            <p14:sldId id="2147482802"/>
            <p14:sldId id="2147482859"/>
            <p14:sldId id="2147482865"/>
            <p14:sldId id="2147482854"/>
            <p14:sldId id="2147482835"/>
            <p14:sldId id="2147482866"/>
            <p14:sldId id="2147482855"/>
            <p14:sldId id="2147482843"/>
            <p14:sldId id="2147482844"/>
            <p14:sldId id="2147482822"/>
            <p14:sldId id="2147482823"/>
            <p14:sldId id="2147482845"/>
            <p14:sldId id="2147482846"/>
            <p14:sldId id="2147482847"/>
            <p14:sldId id="2147482817"/>
            <p14:sldId id="2147482848"/>
            <p14:sldId id="2147482825"/>
            <p14:sldId id="2147482832"/>
            <p14:sldId id="2147482857"/>
            <p14:sldId id="2147482837"/>
            <p14:sldId id="2147482871"/>
            <p14:sldId id="2147482858"/>
            <p14:sldId id="2147482838"/>
            <p14:sldId id="2147482839"/>
            <p14:sldId id="2147482861"/>
            <p14:sldId id="2147482860"/>
            <p14:sldId id="2147482870"/>
            <p14:sldId id="2147482872"/>
            <p14:sldId id="21474828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8" userDrawn="1">
          <p15:clr>
            <a:srgbClr val="A4A3A4"/>
          </p15:clr>
        </p15:guide>
        <p15:guide id="2" pos="67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099A00-3D5C-7C4B-2329-745801878CCF}" name="Jerome Chonez 1241" initials="JC" userId="S::jchonez@cache-cache.fr::8c9fce24-6026-4965-b193-b654e391e19b" providerId="AD"/>
  <p188:author id="{3A7DAC24-122A-338A-05A8-40E680E08625}" name="Barthélemy DULAUROY" initials="BD" userId="S::bdulauroy@synvance.com::97003c72-3e71-41b7-91d9-2ba56b078cd1" providerId="AD"/>
  <p188:author id="{0FC8724E-B07F-A3A0-F87B-E80D6328CB8C}" name="Damien CHAPELET" initials="DC" userId="S::dchapelet@synvance.com::4a31c921-710a-4960-8c09-91662a8659ea" providerId="AD"/>
  <p188:author id="{9672774F-2A0D-F1EF-B7BE-75A1D7E78E08}" name="Amal BARRIT" initials="AB" userId="S::abarrit@synvance.com::fc017c0c-6781-4a42-9116-2b22f9d03001" providerId="AD"/>
  <p188:author id="{A5255E94-0A83-0162-61C1-532F35D5F04B}" name="Ilyes TAZARKI" initials="" userId="S::ilyes.tazarki@synvance.com::6d7d44ed-85c0-4e6c-8e7f-dd64e9d2b858" providerId="AD"/>
  <p188:author id="{99E33F97-14BB-AE81-76D0-D462507DE0A4}" name="Pascal-Pierre COULON" initials="PPC" userId="Pascal-Pierre COULON" providerId="None"/>
  <p188:author id="{D5CB8BA1-E5F0-B9AE-EEE1-90CDBE336300}" name="Emilie REMBLIN" initials="ER" userId="S::eremblin@synvance.com::d039e63b-252a-467f-af85-c285ac2ba24f" providerId="AD"/>
  <p188:author id="{0AEC95A5-6315-A484-F616-C2AB996C23E5}" name="Alexandra Bardiot" initials="AB" userId="S::alexandra.bardiot@viseo.com::ce9fba8b-807e-4c1a-a2a3-c3431df64e3d" providerId="AD"/>
  <p188:author id="{86618ACF-613E-0B51-BAEF-3B9E262CC239}" name="Lilia MRAD" initials="LM" userId="S::lmrad@synvance.com::60793225-3a8c-4dcc-97d1-e4451d4cd8db" providerId="AD"/>
  <p188:author id="{1EB536D5-B59C-3E19-B018-CCF387AD8A1A}" name="Elise MARCHAND" initials="EM" userId="S::emarchand@synvance.com::a76ac0ed-5caa-4c57-bbbb-6765776c7c27" providerId="AD"/>
  <p188:author id="{7B5222DF-BC49-CC4A-F41E-227AAF890417}" name="François BOSSARD" initials="FB" userId="S::fbossard@synvance.com::6a85d292-1e20-4ddb-b216-ec694300e7d0" providerId="AD"/>
  <p188:author id="{1DBE04FD-43B2-B15A-4E41-53717DD1BCED}" name="Jimmy DOWSE" initials="JD" userId="S::jdowse@synvance.com::f054f132-4d05-4a6d-9e19-00dbab8411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60B12"/>
    <a:srgbClr val="6E8DFF"/>
    <a:srgbClr val="A8BBFF"/>
    <a:srgbClr val="FFFFFF"/>
    <a:srgbClr val="A6A6A6"/>
    <a:srgbClr val="1345FF"/>
    <a:srgbClr val="BFBFBF"/>
    <a:srgbClr val="C5D1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1D7D2C-4FAB-7DAC-83D4-082242F64646}" v="1" dt="2026-03-16T08:59:50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>
        <p:guide orient="horz" pos="4178"/>
        <p:guide pos="67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gs" Target="tags/tag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handoutMaster" Target="handoutMasters/handoutMaster1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aria DAHMANI - External" userId="S::zdahmani.ext@groupe-beaumanoir.fr::38c7883e-664b-4b98-b39b-249459bb2a60" providerId="AD" clId="Web-{E11D7D2C-4FAB-7DAC-83D4-082242F64646}"/>
    <pc:docChg chg="sldOrd">
      <pc:chgData name="Zacaria DAHMANI - External" userId="S::zdahmani.ext@groupe-beaumanoir.fr::38c7883e-664b-4b98-b39b-249459bb2a60" providerId="AD" clId="Web-{E11D7D2C-4FAB-7DAC-83D4-082242F64646}" dt="2026-03-16T08:59:50.866" v="0"/>
      <pc:docMkLst>
        <pc:docMk/>
      </pc:docMkLst>
      <pc:sldChg chg="ord">
        <pc:chgData name="Zacaria DAHMANI - External" userId="S::zdahmani.ext@groupe-beaumanoir.fr::38c7883e-664b-4b98-b39b-249459bb2a60" providerId="AD" clId="Web-{E11D7D2C-4FAB-7DAC-83D4-082242F64646}" dt="2026-03-16T08:59:50.866" v="0"/>
        <pc:sldMkLst>
          <pc:docMk/>
          <pc:sldMk cId="1772246669" sldId="21474827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9C4400F-F943-A399-5B80-C16F75B7B9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475" cy="49877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CCCF9-E66B-0415-207D-2F781213E8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738" y="1"/>
            <a:ext cx="2950475" cy="49877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FAA1E2C1-C4FB-7A4A-B024-1D058918BFD7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7B80AB-7C1E-DDFA-302C-A5AA2551B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2154"/>
            <a:ext cx="2950475" cy="49877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19A2B7-366F-228B-A0FF-A837E2DF9C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738" y="9442154"/>
            <a:ext cx="2950475" cy="49877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CAB47D5B-9F4E-ED49-9E63-20A33D9C17E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945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475" cy="49877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6738" y="1"/>
            <a:ext cx="2950475" cy="498773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65130E4D-4536-0347-A037-F27A7B0AE2F2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879" y="4784071"/>
            <a:ext cx="5447030" cy="3914239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42154"/>
            <a:ext cx="2950475" cy="49877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6738" y="9442154"/>
            <a:ext cx="2950475" cy="49877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CB0CB572-A526-994D-9F24-8144F6FD4F4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26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893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78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5686-72C0-698F-3930-B7CD0A4D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96A890-9416-F616-9E87-2D73C2460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2EAA46D-A8AE-1F28-2E08-69D10FDB5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F0D62B-1018-2343-B3F7-A33851E78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39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0DCA-D128-3900-F1B5-6A3770AC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3D81BE3-BC9A-3A54-00B0-6BEF6E7C4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197F85-23A3-156E-0E6F-E3CDD3E53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0100A3-8F79-40E1-426C-F5D640281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27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995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565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16" indent="-171416">
              <a:buFont typeface="Arial" panose="020B0604020202020204" pitchFamily="34" charset="0"/>
              <a:buChar char="•"/>
            </a:pPr>
            <a:endParaRPr lang="fr-FR" sz="10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462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16" indent="-171416" defTabSz="914217">
              <a:buFont typeface="Arial" panose="020B0604020202020204" pitchFamily="34" charset="0"/>
              <a:buChar char="•"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855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441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F185-2204-0A32-0589-578BAFC7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8A9BBE-0A99-D239-740C-5247F6F44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954EC5D-8C60-C01C-95F3-CD55B6BF2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16" indent="-171416">
              <a:buFont typeface="Arial" panose="020B0604020202020204" pitchFamily="34" charset="0"/>
              <a:buChar char="•"/>
            </a:pP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F4E1EA-50B3-D3D1-E961-F45E0E781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732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651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7ED9-FCC9-8FDB-70B0-ADEFA77E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757E4C-FB80-4948-8089-F8C4C5F71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A4D4AD-54A8-0854-55C7-8A6E48F48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8FC70D-3067-7A58-E9DA-B9CC21371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2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16" indent="-171416">
              <a:buFont typeface="Arial" panose="020B0604020202020204" pitchFamily="34" charset="0"/>
              <a:buChar char="•"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22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emf"/><Relationship Id="rId11" Type="http://schemas.openxmlformats.org/officeDocument/2006/relationships/image" Target="../media/image16.svg"/><Relationship Id="rId24" Type="http://schemas.openxmlformats.org/officeDocument/2006/relationships/image" Target="../media/image5.svg"/><Relationship Id="rId5" Type="http://schemas.openxmlformats.org/officeDocument/2006/relationships/image" Target="../media/image10.pn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jpeg"/><Relationship Id="rId14" Type="http://schemas.openxmlformats.org/officeDocument/2006/relationships/image" Target="../media/image19.svg"/><Relationship Id="rId22" Type="http://schemas.openxmlformats.org/officeDocument/2006/relationships/image" Target="../media/image27.sv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jpe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0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(old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  <p:pic>
        <p:nvPicPr>
          <p:cNvPr id="2" name="Graphique 18">
            <a:extLst>
              <a:ext uri="{FF2B5EF4-FFF2-40B4-BE49-F238E27FC236}">
                <a16:creationId xmlns:a16="http://schemas.microsoft.com/office/drawing/2014/main" id="{20B6F76C-2746-9C69-AC22-8CDF7C632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66B2E2F-E895-5887-C725-40CF74A8E8A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2596" y="1687089"/>
            <a:ext cx="5330825" cy="134143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06422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(old logo) sans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pic>
        <p:nvPicPr>
          <p:cNvPr id="2" name="Graphique 18">
            <a:extLst>
              <a:ext uri="{FF2B5EF4-FFF2-40B4-BE49-F238E27FC236}">
                <a16:creationId xmlns:a16="http://schemas.microsoft.com/office/drawing/2014/main" id="{D8774CAF-CEB4-19AC-46A5-8A3A049244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AECFF1F7-B916-C16A-44B8-25BD4E192E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6EEF997C-8C83-0CD0-ADAB-E337E82FB2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1D399635-64DC-0D8E-D059-5E1E8CFE9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8977B396-8D69-0B95-F48E-EF44DB0E3A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596" y="1816100"/>
            <a:ext cx="5331304" cy="1219200"/>
          </a:xfrm>
        </p:spPr>
        <p:txBody>
          <a:bodyPr anchor="b" anchorCtr="0"/>
          <a:lstStyle>
            <a:lvl1pPr marL="0" indent="0">
              <a:buNone/>
              <a:defRPr b="1" i="0">
                <a:latin typeface="Plus Jakarta Sans" pitchFamily="2" charset="77"/>
                <a:cs typeface="Plus Jakarta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>
                <a:ln>
                  <a:noFill/>
                </a:ln>
                <a:solidFill>
                  <a:srgbClr val="6E8DFF"/>
                </a:solidFill>
                <a:effectLst/>
                <a:uLnTx/>
                <a:uFillTx/>
                <a:latin typeface="Plus Jakarta Sans ExtraBold" pitchFamily="2" charset="77"/>
                <a:ea typeface="Noto Sans" panose="020B0502040504020204" pitchFamily="34" charset="0"/>
                <a:cs typeface="Plus Jakarta Sans ExtraBold" pitchFamily="2" charset="77"/>
              </a:rPr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10248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08085D-A091-AAF0-15AB-7F150712F8E5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bleus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925EBB3-03A8-FA25-9906-7AAF19933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0286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2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grpSp>
        <p:nvGrpSpPr>
          <p:cNvPr id="4" name="Graphique 3">
            <a:extLst>
              <a:ext uri="{FF2B5EF4-FFF2-40B4-BE49-F238E27FC236}">
                <a16:creationId xmlns:a16="http://schemas.microsoft.com/office/drawing/2014/main" id="{A8057DFD-79F4-3274-6C5B-46F90D296C5F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2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84413371-60DA-E714-0221-D55E6D0FB0E4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687FD5A5-D0B6-1DE9-67B2-A1F68C96197C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4131AB6-0BB8-2848-A3E3-46E85CCCD7B2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0341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verts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6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C1E81CD5-827E-939B-673D-ACF7F21DA4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C40B2A5C-FEB3-EB99-9204-C382D3A971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6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74902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rouges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4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8CFB0C61-5752-3657-C119-062DDA01A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48AD976B-BA4D-C1F7-8AE5-CEB2BD764E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4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3895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11022"/>
            <a:ext cx="6096000" cy="68690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rgbClr val="1B09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6F8DFF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E58C2475-B253-93F3-2F9F-C82DF81EA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506" y="3155563"/>
            <a:ext cx="730570" cy="487047"/>
          </a:xfrm>
          <a:prstGeom prst="rect">
            <a:avLst/>
          </a:prstGeom>
        </p:spPr>
      </p:pic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rgbClr val="1B09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texte 11">
            <a:extLst>
              <a:ext uri="{FF2B5EF4-FFF2-40B4-BE49-F238E27FC236}">
                <a16:creationId xmlns:a16="http://schemas.microsoft.com/office/drawing/2014/main" id="{6A7937CE-902F-FEC9-1C45-691ED1B55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DFED1392-64ED-6531-5449-B33589D867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65316F1D-0C52-86BC-D346-114C1AB870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ADB5336A-9386-CACC-11EC-E73BFE0BA0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32" name="Espace réservé du texte 11">
            <a:extLst>
              <a:ext uri="{FF2B5EF4-FFF2-40B4-BE49-F238E27FC236}">
                <a16:creationId xmlns:a16="http://schemas.microsoft.com/office/drawing/2014/main" id="{4E4FC6BC-0A3D-1A08-F97E-AA2C96EF1A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34" name="Espace réservé du texte 11">
            <a:extLst>
              <a:ext uri="{FF2B5EF4-FFF2-40B4-BE49-F238E27FC236}">
                <a16:creationId xmlns:a16="http://schemas.microsoft.com/office/drawing/2014/main" id="{182EF8E4-AF31-3ADB-D846-ECD694B952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‹#›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93542760-8052-81CF-27FF-641B06288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E0BBA2F-DADC-43EA-0D7B-8DDDBD0345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ED751EFE-1C89-FFE3-3327-50C442E8CA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7DA8FA47-1905-3B23-9B81-DC9C06DA37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CE0B523C-5A73-1221-0B7B-7ACD00E0CB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3" name="Espace réservé du texte 13">
            <a:extLst>
              <a:ext uri="{FF2B5EF4-FFF2-40B4-BE49-F238E27FC236}">
                <a16:creationId xmlns:a16="http://schemas.microsoft.com/office/drawing/2014/main" id="{72E624F7-D608-9E70-6634-67331CB061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81109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‹#›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E4D3C9A-B046-CFC5-B4B5-408B7C185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5DCB78D4-1003-49F9-ACE3-294F388454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09F8D23B-437B-B9CD-4C46-E21C43B3B5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7C7DC363-0408-B184-2CE8-538FDCB072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68FBBC33-8A2A-7815-A86E-020CBD6E8C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DC5A428-8ED5-D3B4-6C4E-C088B03447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D80A8CA0-2ED4-B0E9-7AC6-FDBE13419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63F46625-9D0F-742D-0006-AC809F8ED4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F2559124-D4A5-23E1-41B4-DAF93355B6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07D521EC-F1F8-AE59-12AC-6B851BC1EC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8FAE4EC-0D1F-CEA4-43B8-D73979F208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7404A6EB-ABC3-A637-7440-EE7DA9EE00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2060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4697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3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‹#›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888CD31-D8F8-79CB-32BC-396B417A55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3E5E9E2-004B-2EBE-18FC-FFDA2E49A7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CB13172A-C87D-5D96-DEB2-BE1594216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8B5CAA73-A0BC-BBD1-48C9-138DC53435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0CC7159F-33D6-E496-759E-6330FCEA3A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A03ADBDF-EE13-554A-E45D-02DA02E30F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1F650689-D9E8-1929-7BD7-0D2ADDE60B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E33DB651-F829-BDD1-7EB1-E5114BEA58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72C12F95-4518-C449-2BF6-9AABFF59C8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C4D5DDB2-8477-C611-71B5-B926BB27D0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F323779-AA12-E626-4A55-818CC6AE7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A1524D47-BCC5-66F3-C663-38D79F4C20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372232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5777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ement +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4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900" y="1764253"/>
            <a:ext cx="10998200" cy="4552409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Ajouter du texte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108D5AD-F7A3-3DAA-999E-A809992326C3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E178D58-7437-56CD-07E1-0B72ACCBDFE7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9A20A858-7D11-D557-18E3-9EF7098D84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2870B9BA-3143-7AED-45D7-DEE04E27072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975F53E-B68D-3C78-1259-D2CBE00F7CB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41F737B-E02F-44DF-CE14-C3DE7D78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07788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re + 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0C348B5-787C-DCCE-8867-191697024A8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D896EFF5-795A-0838-FA4F-561A2BDF257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E1D1BA10-296B-FB8E-7CDC-52F77B2A048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6D504448-4EFB-90AA-EC2F-B818B282E0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DF8545C-0A46-1B55-B28F-E541664116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803149AA-E9B7-6918-3439-8E4BBD3F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5022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itr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538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2C3CC083-8521-8256-0FA1-067D612663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7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BD96FA5-431A-770C-8BC7-106C3BCC8AD5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6A691F9-FBCF-49E8-BFDF-908E68EB486D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E8725499-01BC-6785-97DD-B1E70771163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FD6C28E0-0550-9454-30D5-8B9C0130BA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0682556-1B05-472E-3105-CDA17F037E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974F51D9-B4FB-FA81-066F-D6007CC0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85991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94E57A7-EE0C-1C84-2C93-F2B18B49DF2E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051505E-BBB7-01C4-B6F8-945FBEB955E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7D950580-4926-6EB6-4F84-B2B747955D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F4E08F75-B95E-14EB-AD2B-417DDCE47C8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83D38F0-4589-E23D-64B7-957A62B7B01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2AD415B-1129-5F21-427A-D67460C6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187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5CAC0CC1-804B-F094-F94E-C6E3B2FD76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6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A525F95-00DD-8B20-1D5D-C4521445DC8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F9B7A656-E4C0-03C1-F577-A056E4CD072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35F50AFE-5226-FD74-6165-DCE70A561E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E6FC1E7F-A0E1-1AEB-D3C8-5A47990D48A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FC84EA64-76A5-2CAE-7E39-E833A25154E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56726840-999C-DA95-46A0-C993EA61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441719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85282-1A22-9C1A-882B-84A8773A840D}"/>
              </a:ext>
            </a:extLst>
          </p:cNvPr>
          <p:cNvSpPr/>
          <p:nvPr/>
        </p:nvSpPr>
        <p:spPr>
          <a:xfrm>
            <a:off x="593558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F8295FD-07BC-3EC2-AC74-6F94F4B769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8697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848083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2D130-7062-E76E-C876-BE32719C5BE5}"/>
              </a:ext>
            </a:extLst>
          </p:cNvPr>
          <p:cNvSpPr/>
          <p:nvPr/>
        </p:nvSpPr>
        <p:spPr>
          <a:xfrm>
            <a:off x="6337865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C6ED7034-E65B-C01B-356A-F97F377DC1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3004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0" name="Espace réservé du contenu 25">
            <a:extLst>
              <a:ext uri="{FF2B5EF4-FFF2-40B4-BE49-F238E27FC236}">
                <a16:creationId xmlns:a16="http://schemas.microsoft.com/office/drawing/2014/main" id="{755AD89F-1B66-E429-0FC1-EBFB7D4AD10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592390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418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4003062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4835488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8694" y="1434079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contenu 25">
            <a:extLst>
              <a:ext uri="{FF2B5EF4-FFF2-40B4-BE49-F238E27FC236}">
                <a16:creationId xmlns:a16="http://schemas.microsoft.com/office/drawing/2014/main" id="{3EF87B23-09EE-46ED-EB0C-D659D6809D7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37864" y="1447730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5BDD7845-4C9E-B7D1-4BBF-32E1D3C480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932" y="4825452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854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res + 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1BD4CAC6-7ECD-9188-0AB5-67D344A3A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3A0164D9-8E5A-F9AB-EF85-98844CA44F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5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3D3CDDF1-EBC8-7401-1782-B8628EE704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B272A987-8628-9470-EAB5-56681A85CA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21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8A5379F-EDA8-00C2-CFEA-96454C73901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C92F72C-F01B-BAAD-7467-2B5B1AE9739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6056C20B-3ACE-D90A-231D-5A96EC3621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E6E521B-A15F-1ED0-EB38-1321AE3E99E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FC5E108E-8420-0277-1ED9-04AE1335D9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8A0E1A0D-398D-AC6C-AB10-903F1ABA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430161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BC48111D-7D4B-68F3-DF0B-FB727426CC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72D0A29-2A81-1222-243B-358506C0803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6250A2D-767D-3878-8C12-529E1FBC275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42B30E9B-D413-F895-BC80-DBEE0696C3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8703ABED-D973-D6FE-6E1F-336188E4CF9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522E65A-1D6C-11F0-C7CE-27D6DDEAC3C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20C84E48-15AC-4990-59FE-774165A4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7345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1"/>
            <a:ext cx="0" cy="388800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4D019D9-6800-A2C7-9EDF-3C01542FD0A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4894DD9-5B94-55D5-E2DC-8266B901604C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62343BC5-2F9F-57C1-C9F2-1BC4272E192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3EA91823-2F57-C619-DC7A-BD4C88577A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C0929161-7E83-FAE6-59FD-4E17151C79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49136422-14EB-B7E7-6605-691C32C7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94806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itr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0CDACC7-FD41-1D12-DF55-E0CCFB995C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6AC08038-AF60-292E-E610-1F724C4CFA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15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CDAD8012-BBE3-BBEC-E71C-D568BA5418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542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48241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FE73CC8-61DF-7741-2AF4-379414529F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427538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0" name="Espace réservé pour une image  8">
            <a:extLst>
              <a:ext uri="{FF2B5EF4-FFF2-40B4-BE49-F238E27FC236}">
                <a16:creationId xmlns:a16="http://schemas.microsoft.com/office/drawing/2014/main" id="{13E0C86F-62FC-F17A-1AA1-B46F3BB6CD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48424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4" name="Espace réservé pour une image  8">
            <a:extLst>
              <a:ext uri="{FF2B5EF4-FFF2-40B4-BE49-F238E27FC236}">
                <a16:creationId xmlns:a16="http://schemas.microsoft.com/office/drawing/2014/main" id="{47CD1336-F383-07B7-AF44-8FC0712880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9755" y="1756328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308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DF1BF75-72D3-9F2F-653F-90CD22CEB8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552" y="1765829"/>
            <a:ext cx="3353922" cy="455080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181AFECA-AA25-73EC-AD5D-CFC52C53F5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19039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76E35219-9A49-5BAA-BF72-2360BAAA2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9193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E2D4E07-4E51-417C-E5FB-1AEBE822BCC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D96A097-906B-C6EF-36BE-FEBF08766A8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BC90BDC5-6AE4-369F-CA2F-500666692B2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AA04FD6-B356-AECB-12E3-4568FDF9B2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5FF173E9-3BD4-CAC5-1E71-BB9E4E3D3D0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0F1483C0-1D33-DC9E-BF91-9713BA13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85109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D208F8B-0F7A-225D-A872-7D19654EA7D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EDC7974-B935-79FF-3D74-9689E478409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4E17154A-080C-75DC-759F-925545500F8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6A6447A5-1FBD-B7AC-1F25-61708ADC16E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9630943-6655-7219-6930-6F7FE0367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2626659-2047-9772-7DDB-1C55C4BB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27900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552" y="3365227"/>
            <a:ext cx="3353922" cy="295140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62632C4D-13B9-BEEA-986C-6EBEB7D33D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9039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7395A5B-F130-E642-5A9F-64AC28B02A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9193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0504A56B-AE8A-BF31-C214-49FCB86A04B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884464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1D7EA426-A86C-0278-15F5-F8341F9BAD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3362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1" name="Espace réservé du contenu 25">
            <a:extLst>
              <a:ext uri="{FF2B5EF4-FFF2-40B4-BE49-F238E27FC236}">
                <a16:creationId xmlns:a16="http://schemas.microsoft.com/office/drawing/2014/main" id="{4C10C506-7890-A9F0-F9C2-1F5BB61F01D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719952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2" name="Espace réservé du texte 28">
            <a:extLst>
              <a:ext uri="{FF2B5EF4-FFF2-40B4-BE49-F238E27FC236}">
                <a16:creationId xmlns:a16="http://schemas.microsoft.com/office/drawing/2014/main" id="{DA84ED17-7BE1-8384-1A4D-988007F6A7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68850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contenu 25">
            <a:extLst>
              <a:ext uri="{FF2B5EF4-FFF2-40B4-BE49-F238E27FC236}">
                <a16:creationId xmlns:a16="http://schemas.microsoft.com/office/drawing/2014/main" id="{1188EF79-413C-AF9C-BBA1-D654CBC1E430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555106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5" name="Espace réservé du texte 28">
            <a:extLst>
              <a:ext uri="{FF2B5EF4-FFF2-40B4-BE49-F238E27FC236}">
                <a16:creationId xmlns:a16="http://schemas.microsoft.com/office/drawing/2014/main" id="{2AA2318D-E1BA-8A57-5408-5420750115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4004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A82CF64-4BD0-2FD7-D313-2434FB791BEB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1ABFBBD-A4E2-A859-A8A2-1B055AF948E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1C6B30C8-A7BD-36EC-5E87-AD2C08DF00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0ABF63AB-C871-4C41-D251-80BEE98A32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65EAAE0-9135-091B-56F6-E29A507CF7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022A0C8-C1E6-BDFC-4492-3078B80A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09465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10C45F0B-0698-34F1-9C6F-67420E3FEC4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48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478D6787-7E01-D2AF-3290-B6AC79DA096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48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3EF04D55-99B6-6260-6E5C-E6F5550961C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48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7E9BDC09-5094-2B94-7253-07F8D4ECBF1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079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D2275F22-67A5-44D4-0D14-979374F8C60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079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5718FAD-5541-CCA0-FDC3-90D60B289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79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7EE8819D-9707-593E-B882-D21D36A354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22361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4" name="Espace réservé du texte 32">
            <a:extLst>
              <a:ext uri="{FF2B5EF4-FFF2-40B4-BE49-F238E27FC236}">
                <a16:creationId xmlns:a16="http://schemas.microsoft.com/office/drawing/2014/main" id="{08B8CC02-EE99-95FA-BBC9-C1124DCC1C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22361" y="3594835"/>
            <a:ext cx="3831771" cy="88409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5" name="Espace réservé du texte 32">
            <a:extLst>
              <a:ext uri="{FF2B5EF4-FFF2-40B4-BE49-F238E27FC236}">
                <a16:creationId xmlns:a16="http://schemas.microsoft.com/office/drawing/2014/main" id="{86E3972E-B52F-1AB3-35DD-C021DE4B8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22361" y="5160088"/>
            <a:ext cx="3831771" cy="9370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6" name="Espace réservé du texte 32">
            <a:extLst>
              <a:ext uri="{FF2B5EF4-FFF2-40B4-BE49-F238E27FC236}">
                <a16:creationId xmlns:a16="http://schemas.microsoft.com/office/drawing/2014/main" id="{3FE9A64A-4CCF-DEDC-752E-78ED91D0A1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3788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7" name="Espace réservé du texte 32">
            <a:extLst>
              <a:ext uri="{FF2B5EF4-FFF2-40B4-BE49-F238E27FC236}">
                <a16:creationId xmlns:a16="http://schemas.microsoft.com/office/drawing/2014/main" id="{7FF1668E-7B8D-67AF-0951-530E60B39C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3788" y="3581405"/>
            <a:ext cx="3831771" cy="9109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8" name="Espace réservé du texte 32">
            <a:extLst>
              <a:ext uri="{FF2B5EF4-FFF2-40B4-BE49-F238E27FC236}">
                <a16:creationId xmlns:a16="http://schemas.microsoft.com/office/drawing/2014/main" id="{A18371FB-E00A-B7F2-CF77-3A36BB49AC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3788" y="5167038"/>
            <a:ext cx="3831771" cy="9231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C483E41-4218-4714-A11B-77B5EB42515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F655B6-52D0-1962-1870-FEBF23478F4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2" name="Espace réservé du pied de page 9">
            <a:extLst>
              <a:ext uri="{FF2B5EF4-FFF2-40B4-BE49-F238E27FC236}">
                <a16:creationId xmlns:a16="http://schemas.microsoft.com/office/drawing/2014/main" id="{F5F4C28A-2B39-3166-7029-B4D163ADB83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E33809B8-1304-390E-5B30-8A85CB2A953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376E5E1F-DD41-1FC5-5145-1140DBFFA6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5" name="Titre 14">
            <a:extLst>
              <a:ext uri="{FF2B5EF4-FFF2-40B4-BE49-F238E27FC236}">
                <a16:creationId xmlns:a16="http://schemas.microsoft.com/office/drawing/2014/main" id="{F228E636-4E00-E524-26CD-D2D7A0C2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02253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8B27E2F-1ACB-60D8-0F28-55360E3BB4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6332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1D70E975-CD65-D489-CBB3-919E02BAC6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6332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5BD3B682-F1D5-A6FB-B07C-B0C958C40F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59517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7FF2E9D3-89E1-AB93-6527-DFAB6A7F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373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CC7A9A66-4639-6E5F-ABF3-C19CD09513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703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6501984C-6526-1650-C964-E3B0D68FA1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703" y="3568989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C3BE79D3-957B-5BA5-889C-97B856A8B2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5889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9999C88C-B9A8-81E2-C8B4-5352ABAD0D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588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ACCEA465-5500-345D-2811-9A10EE6DB5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16332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7" name="Espace réservé du texte 10">
            <a:extLst>
              <a:ext uri="{FF2B5EF4-FFF2-40B4-BE49-F238E27FC236}">
                <a16:creationId xmlns:a16="http://schemas.microsoft.com/office/drawing/2014/main" id="{46021353-6E4E-7EE9-B1C0-334586504A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6332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8" name="Espace réservé du texte 10">
            <a:extLst>
              <a:ext uri="{FF2B5EF4-FFF2-40B4-BE49-F238E27FC236}">
                <a16:creationId xmlns:a16="http://schemas.microsoft.com/office/drawing/2014/main" id="{821DBFAB-ACFB-35C3-FC85-EE12D3066D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9517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9" name="Espace réservé du texte 10">
            <a:extLst>
              <a:ext uri="{FF2B5EF4-FFF2-40B4-BE49-F238E27FC236}">
                <a16:creationId xmlns:a16="http://schemas.microsoft.com/office/drawing/2014/main" id="{DFAD602D-0CF2-3F8B-7649-13EF004B0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63739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0" name="Espace réservé du texte 10">
            <a:extLst>
              <a:ext uri="{FF2B5EF4-FFF2-40B4-BE49-F238E27FC236}">
                <a16:creationId xmlns:a16="http://schemas.microsoft.com/office/drawing/2014/main" id="{7E999209-7481-95C6-FC06-D9F5EF73B7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2703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1" name="Espace réservé du texte 10">
            <a:extLst>
              <a:ext uri="{FF2B5EF4-FFF2-40B4-BE49-F238E27FC236}">
                <a16:creationId xmlns:a16="http://schemas.microsoft.com/office/drawing/2014/main" id="{DE252284-FCCD-1E4C-462B-9864B384A7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02703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2" name="Espace réservé du texte 10">
            <a:extLst>
              <a:ext uri="{FF2B5EF4-FFF2-40B4-BE49-F238E27FC236}">
                <a16:creationId xmlns:a16="http://schemas.microsoft.com/office/drawing/2014/main" id="{5C4E80B6-C3EF-69AD-FD4F-C31AE6DB0C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45889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3" name="Espace réservé du texte 10">
            <a:extLst>
              <a:ext uri="{FF2B5EF4-FFF2-40B4-BE49-F238E27FC236}">
                <a16:creationId xmlns:a16="http://schemas.microsoft.com/office/drawing/2014/main" id="{0FBF36B6-61B8-3B2D-FF5D-8728901DCE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45889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5" name="Espace réservé pour une image  44">
            <a:extLst>
              <a:ext uri="{FF2B5EF4-FFF2-40B4-BE49-F238E27FC236}">
                <a16:creationId xmlns:a16="http://schemas.microsoft.com/office/drawing/2014/main" id="{C5B8CF65-4727-21ED-4178-5DF4D80F03E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664588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6" name="Espace réservé pour une image  44">
            <a:extLst>
              <a:ext uri="{FF2B5EF4-FFF2-40B4-BE49-F238E27FC236}">
                <a16:creationId xmlns:a16="http://schemas.microsoft.com/office/drawing/2014/main" id="{B9478C6C-B663-5083-F076-BB0C82B69CC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21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7" name="Espace réservé pour une image  44">
            <a:extLst>
              <a:ext uri="{FF2B5EF4-FFF2-40B4-BE49-F238E27FC236}">
                <a16:creationId xmlns:a16="http://schemas.microsoft.com/office/drawing/2014/main" id="{74396AAD-2217-4245-5769-3CD5D43224F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75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8" name="Espace réservé pour une image  44">
            <a:extLst>
              <a:ext uri="{FF2B5EF4-FFF2-40B4-BE49-F238E27FC236}">
                <a16:creationId xmlns:a16="http://schemas.microsoft.com/office/drawing/2014/main" id="{45FF0A3C-46BD-260A-AFDF-C143183764D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9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9" name="Espace réservé pour une image  44">
            <a:extLst>
              <a:ext uri="{FF2B5EF4-FFF2-40B4-BE49-F238E27FC236}">
                <a16:creationId xmlns:a16="http://schemas.microsoft.com/office/drawing/2014/main" id="{D3F10F35-0C2F-36F6-8D01-5C90A08379A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664588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0" name="Espace réservé pour une image  44">
            <a:extLst>
              <a:ext uri="{FF2B5EF4-FFF2-40B4-BE49-F238E27FC236}">
                <a16:creationId xmlns:a16="http://schemas.microsoft.com/office/drawing/2014/main" id="{2673D2B1-6E06-D01C-C88C-A2D773A3DF6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21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1" name="Espace réservé pour une image  44">
            <a:extLst>
              <a:ext uri="{FF2B5EF4-FFF2-40B4-BE49-F238E27FC236}">
                <a16:creationId xmlns:a16="http://schemas.microsoft.com/office/drawing/2014/main" id="{ADB24ED6-F9BA-AF04-0E2F-7774BD4F3CD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75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2" name="Espace réservé pour une image  44">
            <a:extLst>
              <a:ext uri="{FF2B5EF4-FFF2-40B4-BE49-F238E27FC236}">
                <a16:creationId xmlns:a16="http://schemas.microsoft.com/office/drawing/2014/main" id="{5555D964-3E94-94D0-E08F-7307473118C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9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6A123EC-5297-FA91-E86A-DBCE9617E4A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1A0D689-BA0B-8FDB-8996-3DAF642B38C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0F30FA4F-9EF6-FEEF-8617-43BE435F00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5A9463E3-D888-6823-5F74-146141F4591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092BCE15-4767-4572-4297-254A484908D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3874C391-18E4-8497-D595-E2BE66FB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78901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e VIS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ZoneTexte 52">
            <a:extLst>
              <a:ext uri="{FF2B5EF4-FFF2-40B4-BE49-F238E27FC236}">
                <a16:creationId xmlns:a16="http://schemas.microsoft.com/office/drawing/2014/main" id="{D474D3CF-AA1D-B975-CC4D-777D37F67294}"/>
              </a:ext>
            </a:extLst>
          </p:cNvPr>
          <p:cNvSpPr txBox="1"/>
          <p:nvPr/>
        </p:nvSpPr>
        <p:spPr>
          <a:xfrm>
            <a:off x="8261990" y="4662932"/>
            <a:ext cx="1167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IMAGINE</a:t>
            </a:r>
          </a:p>
          <a:p>
            <a:pPr algn="ctr" defTabSz="544213">
              <a:lnSpc>
                <a:spcPct val="150000"/>
              </a:lnSpc>
            </a:pPr>
            <a:endParaRPr lang="en-US" sz="1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Advisory
Ideation
Architecture 
</a:t>
            </a:r>
            <a:endParaRPr lang="en-US" sz="11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E49F29F2-62D4-D5B0-224D-BC30E05F6B17}"/>
              </a:ext>
            </a:extLst>
          </p:cNvPr>
          <p:cNvSpPr txBox="1"/>
          <p:nvPr/>
        </p:nvSpPr>
        <p:spPr>
          <a:xfrm>
            <a:off x="9298209" y="4662932"/>
            <a:ext cx="123713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BUILD</a:t>
            </a:r>
          </a:p>
          <a:p>
            <a:pPr algn="ctr" defTabSz="544213">
              <a:lnSpc>
                <a:spcPct val="150000"/>
              </a:lnSpc>
            </a:pPr>
            <a:endParaRPr lang="en-US" sz="12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
Development
Implementation</a:t>
            </a: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Integration
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F276EEA-251A-D409-CD46-BB2384272578}"/>
              </a:ext>
            </a:extLst>
          </p:cNvPr>
          <p:cNvSpPr txBox="1"/>
          <p:nvPr/>
        </p:nvSpPr>
        <p:spPr>
          <a:xfrm>
            <a:off x="10416905" y="4662932"/>
            <a:ext cx="11628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PERFORM</a:t>
            </a:r>
          </a:p>
          <a:p>
            <a:pPr algn="ctr" defTabSz="544213">
              <a:lnSpc>
                <a:spcPct val="150000"/>
              </a:lnSpc>
            </a:pPr>
            <a:endParaRPr lang="en-US" sz="11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Deployment  
Change management
Maintenance &amp; monitoring
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0D9AB4-C134-941A-B367-5C6BB0A83062}"/>
              </a:ext>
            </a:extLst>
          </p:cNvPr>
          <p:cNvSpPr/>
          <p:nvPr/>
        </p:nvSpPr>
        <p:spPr>
          <a:xfrm>
            <a:off x="8633237" y="499403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717289-732D-08E5-F11C-C3F70F3AE433}"/>
              </a:ext>
            </a:extLst>
          </p:cNvPr>
          <p:cNvSpPr/>
          <p:nvPr/>
        </p:nvSpPr>
        <p:spPr>
          <a:xfrm>
            <a:off x="9704155" y="5001398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B88B8D2-D387-3810-F6E7-2865963898F8}"/>
              </a:ext>
            </a:extLst>
          </p:cNvPr>
          <p:cNvSpPr/>
          <p:nvPr/>
        </p:nvSpPr>
        <p:spPr>
          <a:xfrm>
            <a:off x="10784407" y="4991565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9CA750F4-25B7-69E5-43E6-E8BC39723FFF}"/>
              </a:ext>
            </a:extLst>
          </p:cNvPr>
          <p:cNvSpPr txBox="1"/>
          <p:nvPr/>
        </p:nvSpPr>
        <p:spPr>
          <a:xfrm>
            <a:off x="2508858" y="4697765"/>
            <a:ext cx="1445344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TRANSFORMATION</a:t>
            </a:r>
          </a:p>
          <a:p>
            <a:pPr marL="0" lvl="1" algn="ctr" defTabSz="544213">
              <a:lnSpc>
                <a:spcPct val="150000"/>
              </a:lnSpc>
              <a:spcBef>
                <a:spcPct val="20000"/>
              </a:spcBef>
            </a:pPr>
            <a:endParaRPr lang="en-US" sz="9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Reinvent your customer experience, distribution, offer or business model to meet new customer expectations 
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5DA34CD-DB3C-6E1E-5261-2DFC9603A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9246" y="3142785"/>
            <a:ext cx="646664" cy="14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823CC3B-EBB8-4386-286D-9C913512CA64}"/>
              </a:ext>
            </a:extLst>
          </p:cNvPr>
          <p:cNvSpPr/>
          <p:nvPr/>
        </p:nvSpPr>
        <p:spPr>
          <a:xfrm rot="20725521">
            <a:off x="4550324" y="4198210"/>
            <a:ext cx="3004226" cy="12867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endParaRPr lang="en-US" sz="14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4A4A26-77B5-87D3-699F-B77A4CAFBC9D}"/>
              </a:ext>
            </a:extLst>
          </p:cNvPr>
          <p:cNvSpPr txBox="1"/>
          <p:nvPr/>
        </p:nvSpPr>
        <p:spPr>
          <a:xfrm>
            <a:off x="605525" y="2592934"/>
            <a:ext cx="1410252" cy="719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300 M€</a:t>
            </a:r>
          </a:p>
          <a:p>
            <a:pPr algn="ctr" defTabSz="544213">
              <a:lnSpc>
                <a:spcPct val="150000"/>
              </a:lnSpc>
            </a:pPr>
            <a:endParaRPr lang="en-US" sz="1050" b="1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2022 REVENUE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15DA12-52A7-D445-B154-F16241B6FF6D}"/>
              </a:ext>
            </a:extLst>
          </p:cNvPr>
          <p:cNvSpPr txBox="1"/>
          <p:nvPr/>
        </p:nvSpPr>
        <p:spPr>
          <a:xfrm>
            <a:off x="2520667" y="2592934"/>
            <a:ext cx="142172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2 700</a:t>
            </a:r>
          </a:p>
          <a:p>
            <a:pPr algn="ctr" defTabSz="544213"/>
            <a:endParaRPr lang="en-US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HEADCOUNT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B8AF2-F733-A347-14A3-90B473C05E7C}"/>
              </a:ext>
            </a:extLst>
          </p:cNvPr>
          <p:cNvSpPr/>
          <p:nvPr/>
        </p:nvSpPr>
        <p:spPr>
          <a:xfrm>
            <a:off x="1098032" y="2949101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4259D3-6062-B4C6-F790-E0DBDC8119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2658" y="2568420"/>
            <a:ext cx="599841" cy="314917"/>
          </a:xfrm>
          <a:prstGeom prst="rect">
            <a:avLst/>
          </a:prstGeom>
        </p:spPr>
      </p:pic>
      <p:pic>
        <p:nvPicPr>
          <p:cNvPr id="12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25E0E77-8336-B8E2-26E1-71B0298BFC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525" y="1917253"/>
            <a:ext cx="704499" cy="468812"/>
          </a:xfrm>
          <a:prstGeom prst="rect">
            <a:avLst/>
          </a:prstGeom>
        </p:spPr>
      </p:pic>
      <p:pic>
        <p:nvPicPr>
          <p:cNvPr id="14" name="Picture 2" descr="Image result for microsoft azure">
            <a:extLst>
              <a:ext uri="{FF2B5EF4-FFF2-40B4-BE49-F238E27FC236}">
                <a16:creationId xmlns:a16="http://schemas.microsoft.com/office/drawing/2014/main" id="{78220938-8488-4334-ACFC-F1A7709C0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9458" y="2572219"/>
            <a:ext cx="614633" cy="3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58B6C7-8161-42B0-8CEF-53E83AF5B2FF}"/>
              </a:ext>
            </a:extLst>
          </p:cNvPr>
          <p:cNvSpPr/>
          <p:nvPr/>
        </p:nvSpPr>
        <p:spPr>
          <a:xfrm>
            <a:off x="3018911" y="2948754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1F07EBD-5F56-936D-39B2-4DAB784E6939}"/>
              </a:ext>
            </a:extLst>
          </p:cNvPr>
          <p:cNvSpPr txBox="1"/>
          <p:nvPr/>
        </p:nvSpPr>
        <p:spPr>
          <a:xfrm>
            <a:off x="605525" y="4699887"/>
            <a:ext cx="141025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OPTIMIZATION</a:t>
            </a:r>
          </a:p>
          <a:p>
            <a:pPr algn="ctr" defTabSz="544213">
              <a:lnSpc>
                <a:spcPct val="150000"/>
              </a:lnSpc>
            </a:pPr>
            <a:endParaRPr lang="en-US" sz="9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Make your business more resilient, more efficient and able to win digital competition
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8FA2F-30C3-4911-B996-1337EAA613DB}"/>
              </a:ext>
            </a:extLst>
          </p:cNvPr>
          <p:cNvSpPr/>
          <p:nvPr/>
        </p:nvSpPr>
        <p:spPr>
          <a:xfrm>
            <a:off x="1098032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EE963-F232-9B7F-9FE8-F97B079A981B}"/>
              </a:ext>
            </a:extLst>
          </p:cNvPr>
          <p:cNvSpPr/>
          <p:nvPr/>
        </p:nvSpPr>
        <p:spPr>
          <a:xfrm>
            <a:off x="3018911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3AB7B71-519F-2B7D-50A0-D4B7BB21AE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2480" y="1952251"/>
            <a:ext cx="2747040" cy="1386525"/>
          </a:xfrm>
          <a:prstGeom prst="rect">
            <a:avLst/>
          </a:prstGeom>
        </p:spPr>
      </p:pic>
      <p:pic>
        <p:nvPicPr>
          <p:cNvPr id="20" name="Graphique 19" descr="Repère">
            <a:extLst>
              <a:ext uri="{FF2B5EF4-FFF2-40B4-BE49-F238E27FC236}">
                <a16:creationId xmlns:a16="http://schemas.microsoft.com/office/drawing/2014/main" id="{FE7CC943-DD9C-6845-9D01-EBFA50FDEE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5491" y="2411405"/>
            <a:ext cx="98888" cy="93094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AEADC8BE-DFC0-F1A5-E908-B6F06F0781ED}"/>
              </a:ext>
            </a:extLst>
          </p:cNvPr>
          <p:cNvGrpSpPr/>
          <p:nvPr/>
        </p:nvGrpSpPr>
        <p:grpSpPr>
          <a:xfrm>
            <a:off x="5528571" y="1931667"/>
            <a:ext cx="682696" cy="642692"/>
            <a:chOff x="-3696571" y="1356702"/>
            <a:chExt cx="2768600" cy="27686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73246B8-E619-26B5-36AE-F013D7E206A7}"/>
                </a:ext>
              </a:extLst>
            </p:cNvPr>
            <p:cNvSpPr/>
            <p:nvPr/>
          </p:nvSpPr>
          <p:spPr>
            <a:xfrm>
              <a:off x="-3696571" y="1356702"/>
              <a:ext cx="2768600" cy="2768600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5E537737-3C2E-CBFC-BB79-ACAC3E1A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766" t="30878" r="48771" b="57067"/>
            <a:stretch>
              <a:fillRect/>
            </a:stretch>
          </p:blipFill>
          <p:spPr>
            <a:xfrm>
              <a:off x="-3696571" y="1356702"/>
              <a:ext cx="2768600" cy="2768600"/>
            </a:xfrm>
            <a:custGeom>
              <a:avLst/>
              <a:gdLst>
                <a:gd name="connsiteX0" fmla="*/ 360000 w 720000"/>
                <a:gd name="connsiteY0" fmla="*/ 0 h 720000"/>
                <a:gd name="connsiteX1" fmla="*/ 720000 w 720000"/>
                <a:gd name="connsiteY1" fmla="*/ 360000 h 720000"/>
                <a:gd name="connsiteX2" fmla="*/ 360000 w 720000"/>
                <a:gd name="connsiteY2" fmla="*/ 720000 h 720000"/>
                <a:gd name="connsiteX3" fmla="*/ 0 w 720000"/>
                <a:gd name="connsiteY3" fmla="*/ 360000 h 720000"/>
                <a:gd name="connsiteX4" fmla="*/ 360000 w 72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720000">
                  <a:moveTo>
                    <a:pt x="360000" y="0"/>
                  </a:moveTo>
                  <a:cubicBezTo>
                    <a:pt x="558823" y="0"/>
                    <a:pt x="720000" y="161177"/>
                    <a:pt x="720000" y="360000"/>
                  </a:cubicBezTo>
                  <a:cubicBezTo>
                    <a:pt x="720000" y="558823"/>
                    <a:pt x="558823" y="720000"/>
                    <a:pt x="360000" y="720000"/>
                  </a:cubicBezTo>
                  <a:cubicBezTo>
                    <a:pt x="161177" y="720000"/>
                    <a:pt x="0" y="558823"/>
                    <a:pt x="0" y="360000"/>
                  </a:cubicBezTo>
                  <a:cubicBezTo>
                    <a:pt x="0" y="161177"/>
                    <a:pt x="161177" y="0"/>
                    <a:pt x="360000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</p:pic>
      </p:grpSp>
      <p:pic>
        <p:nvPicPr>
          <p:cNvPr id="24" name="Graphique 23" descr="Repère">
            <a:extLst>
              <a:ext uri="{FF2B5EF4-FFF2-40B4-BE49-F238E27FC236}">
                <a16:creationId xmlns:a16="http://schemas.microsoft.com/office/drawing/2014/main" id="{13B38997-DA1C-C7DD-0F65-7D702C5EAC3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7147" y="1989598"/>
            <a:ext cx="104654" cy="98522"/>
          </a:xfrm>
          <a:prstGeom prst="rect">
            <a:avLst/>
          </a:prstGeom>
        </p:spPr>
      </p:pic>
      <p:pic>
        <p:nvPicPr>
          <p:cNvPr id="25" name="Graphique 24" descr="Repère">
            <a:extLst>
              <a:ext uri="{FF2B5EF4-FFF2-40B4-BE49-F238E27FC236}">
                <a16:creationId xmlns:a16="http://schemas.microsoft.com/office/drawing/2014/main" id="{129D43B0-FBB8-BF9B-F682-09BD3E4E63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9934" y="2000831"/>
            <a:ext cx="104654" cy="98522"/>
          </a:xfrm>
          <a:prstGeom prst="rect">
            <a:avLst/>
          </a:prstGeom>
        </p:spPr>
      </p:pic>
      <p:pic>
        <p:nvPicPr>
          <p:cNvPr id="26" name="Graphique 25" descr="Repère">
            <a:extLst>
              <a:ext uri="{FF2B5EF4-FFF2-40B4-BE49-F238E27FC236}">
                <a16:creationId xmlns:a16="http://schemas.microsoft.com/office/drawing/2014/main" id="{F3F6D81D-7515-00B9-0472-ED2023D236B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0204" y="2194697"/>
            <a:ext cx="104654" cy="98522"/>
          </a:xfrm>
          <a:prstGeom prst="rect">
            <a:avLst/>
          </a:prstGeom>
        </p:spPr>
      </p:pic>
      <p:pic>
        <p:nvPicPr>
          <p:cNvPr id="27" name="Graphique 26" descr="Repère">
            <a:extLst>
              <a:ext uri="{FF2B5EF4-FFF2-40B4-BE49-F238E27FC236}">
                <a16:creationId xmlns:a16="http://schemas.microsoft.com/office/drawing/2014/main" id="{3048EF52-488F-D9B1-0CE1-33F984491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8617" y="2106735"/>
            <a:ext cx="104654" cy="98522"/>
          </a:xfrm>
          <a:prstGeom prst="rect">
            <a:avLst/>
          </a:prstGeom>
        </p:spPr>
      </p:pic>
      <p:pic>
        <p:nvPicPr>
          <p:cNvPr id="28" name="Graphique 27" descr="Repère">
            <a:extLst>
              <a:ext uri="{FF2B5EF4-FFF2-40B4-BE49-F238E27FC236}">
                <a16:creationId xmlns:a16="http://schemas.microsoft.com/office/drawing/2014/main" id="{5A0000A1-90EE-7433-D8D8-C648441868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0853" y="2124005"/>
            <a:ext cx="104654" cy="98522"/>
          </a:xfrm>
          <a:prstGeom prst="rect">
            <a:avLst/>
          </a:prstGeom>
        </p:spPr>
      </p:pic>
      <p:pic>
        <p:nvPicPr>
          <p:cNvPr id="29" name="Graphique 28" descr="Repère">
            <a:extLst>
              <a:ext uri="{FF2B5EF4-FFF2-40B4-BE49-F238E27FC236}">
                <a16:creationId xmlns:a16="http://schemas.microsoft.com/office/drawing/2014/main" id="{1A689664-F567-E3E8-A44D-D9E5CE7B67F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3934" y="2187551"/>
            <a:ext cx="104654" cy="98522"/>
          </a:xfrm>
          <a:prstGeom prst="rect">
            <a:avLst/>
          </a:prstGeom>
        </p:spPr>
      </p:pic>
      <p:pic>
        <p:nvPicPr>
          <p:cNvPr id="30" name="Graphique 29" descr="Repère">
            <a:extLst>
              <a:ext uri="{FF2B5EF4-FFF2-40B4-BE49-F238E27FC236}">
                <a16:creationId xmlns:a16="http://schemas.microsoft.com/office/drawing/2014/main" id="{9DBDB8A9-300E-9DAD-3BB9-6E30749566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7784" y="2264279"/>
            <a:ext cx="104654" cy="98522"/>
          </a:xfrm>
          <a:prstGeom prst="rect">
            <a:avLst/>
          </a:prstGeom>
        </p:spPr>
      </p:pic>
      <p:pic>
        <p:nvPicPr>
          <p:cNvPr id="31" name="Graphique 30" descr="Repère">
            <a:extLst>
              <a:ext uri="{FF2B5EF4-FFF2-40B4-BE49-F238E27FC236}">
                <a16:creationId xmlns:a16="http://schemas.microsoft.com/office/drawing/2014/main" id="{560DC012-7035-3C0E-645B-A78FA3E732E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6984" y="2309716"/>
            <a:ext cx="104654" cy="98522"/>
          </a:xfrm>
          <a:prstGeom prst="rect">
            <a:avLst/>
          </a:prstGeom>
        </p:spPr>
      </p:pic>
      <p:pic>
        <p:nvPicPr>
          <p:cNvPr id="32" name="Graphique 31" descr="Repère">
            <a:extLst>
              <a:ext uri="{FF2B5EF4-FFF2-40B4-BE49-F238E27FC236}">
                <a16:creationId xmlns:a16="http://schemas.microsoft.com/office/drawing/2014/main" id="{F81B6233-0A39-C785-E6C5-2DDE4FB648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2415" y="2522333"/>
            <a:ext cx="98888" cy="93094"/>
          </a:xfrm>
          <a:prstGeom prst="rect">
            <a:avLst/>
          </a:prstGeom>
        </p:spPr>
      </p:pic>
      <p:pic>
        <p:nvPicPr>
          <p:cNvPr id="33" name="Graphique 32" descr="Repère">
            <a:extLst>
              <a:ext uri="{FF2B5EF4-FFF2-40B4-BE49-F238E27FC236}">
                <a16:creationId xmlns:a16="http://schemas.microsoft.com/office/drawing/2014/main" id="{2E8D4DDC-6B4D-CA45-C8D5-D2249F98D6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1073" y="2737784"/>
            <a:ext cx="98888" cy="93094"/>
          </a:xfrm>
          <a:prstGeom prst="rect">
            <a:avLst/>
          </a:prstGeom>
        </p:spPr>
      </p:pic>
      <p:pic>
        <p:nvPicPr>
          <p:cNvPr id="34" name="Graphique 33" descr="Repère">
            <a:extLst>
              <a:ext uri="{FF2B5EF4-FFF2-40B4-BE49-F238E27FC236}">
                <a16:creationId xmlns:a16="http://schemas.microsoft.com/office/drawing/2014/main" id="{7E3085B1-DCB0-B764-DBF8-18B01085F4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7651" y="2668538"/>
            <a:ext cx="98888" cy="93094"/>
          </a:xfrm>
          <a:prstGeom prst="rect">
            <a:avLst/>
          </a:prstGeom>
        </p:spPr>
      </p:pic>
      <p:pic>
        <p:nvPicPr>
          <p:cNvPr id="35" name="Graphique 34" descr="Repère">
            <a:extLst>
              <a:ext uri="{FF2B5EF4-FFF2-40B4-BE49-F238E27FC236}">
                <a16:creationId xmlns:a16="http://schemas.microsoft.com/office/drawing/2014/main" id="{75E79F64-5568-64C5-83C4-E2F3D4F881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5850" y="2568880"/>
            <a:ext cx="98888" cy="93094"/>
          </a:xfrm>
          <a:prstGeom prst="rect">
            <a:avLst/>
          </a:prstGeom>
        </p:spPr>
      </p:pic>
      <p:pic>
        <p:nvPicPr>
          <p:cNvPr id="36" name="Graphique 35" descr="Repère">
            <a:extLst>
              <a:ext uri="{FF2B5EF4-FFF2-40B4-BE49-F238E27FC236}">
                <a16:creationId xmlns:a16="http://schemas.microsoft.com/office/drawing/2014/main" id="{770EF5E4-132F-55D4-906D-1553C469E0A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1092" y="3016150"/>
            <a:ext cx="98888" cy="93094"/>
          </a:xfrm>
          <a:prstGeom prst="rect">
            <a:avLst/>
          </a:prstGeom>
        </p:spPr>
      </p:pic>
      <p:pic>
        <p:nvPicPr>
          <p:cNvPr id="37" name="Graphique 36" descr="Repère">
            <a:extLst>
              <a:ext uri="{FF2B5EF4-FFF2-40B4-BE49-F238E27FC236}">
                <a16:creationId xmlns:a16="http://schemas.microsoft.com/office/drawing/2014/main" id="{FF64F579-861D-DD0B-251A-34969CE48C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5368" y="2805354"/>
            <a:ext cx="98888" cy="93094"/>
          </a:xfrm>
          <a:prstGeom prst="rect">
            <a:avLst/>
          </a:prstGeom>
        </p:spPr>
      </p:pic>
      <p:pic>
        <p:nvPicPr>
          <p:cNvPr id="38" name="Graphique 37" descr="Repère">
            <a:extLst>
              <a:ext uri="{FF2B5EF4-FFF2-40B4-BE49-F238E27FC236}">
                <a16:creationId xmlns:a16="http://schemas.microsoft.com/office/drawing/2014/main" id="{35006E11-0111-DC61-4598-A9F0B9BE21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1315" y="2605730"/>
            <a:ext cx="98888" cy="93094"/>
          </a:xfrm>
          <a:prstGeom prst="rect">
            <a:avLst/>
          </a:prstGeom>
        </p:spPr>
      </p:pic>
      <p:pic>
        <p:nvPicPr>
          <p:cNvPr id="39" name="Graphique 38" descr="Repère">
            <a:extLst>
              <a:ext uri="{FF2B5EF4-FFF2-40B4-BE49-F238E27FC236}">
                <a16:creationId xmlns:a16="http://schemas.microsoft.com/office/drawing/2014/main" id="{F039D916-30C5-E203-C6D6-307DD0A1FF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3378" y="2680174"/>
            <a:ext cx="98888" cy="93094"/>
          </a:xfrm>
          <a:prstGeom prst="rect">
            <a:avLst/>
          </a:prstGeom>
        </p:spPr>
      </p:pic>
      <p:pic>
        <p:nvPicPr>
          <p:cNvPr id="40" name="Graphique 39" descr="Repère">
            <a:extLst>
              <a:ext uri="{FF2B5EF4-FFF2-40B4-BE49-F238E27FC236}">
                <a16:creationId xmlns:a16="http://schemas.microsoft.com/office/drawing/2014/main" id="{EE147828-6506-8648-B2D3-05CBE63057B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2948" y="2660221"/>
            <a:ext cx="98888" cy="93094"/>
          </a:xfrm>
          <a:prstGeom prst="rect">
            <a:avLst/>
          </a:prstGeom>
        </p:spPr>
      </p:pic>
      <p:pic>
        <p:nvPicPr>
          <p:cNvPr id="41" name="Graphique 40" descr="Repère">
            <a:extLst>
              <a:ext uri="{FF2B5EF4-FFF2-40B4-BE49-F238E27FC236}">
                <a16:creationId xmlns:a16="http://schemas.microsoft.com/office/drawing/2014/main" id="{39BD0718-588F-07C4-12D5-BEC48982BE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0783" y="2050359"/>
            <a:ext cx="104655" cy="98522"/>
          </a:xfrm>
          <a:prstGeom prst="rect">
            <a:avLst/>
          </a:prstGeom>
        </p:spPr>
      </p:pic>
      <p:pic>
        <p:nvPicPr>
          <p:cNvPr id="42" name="Graphique 41" descr="Repère">
            <a:extLst>
              <a:ext uri="{FF2B5EF4-FFF2-40B4-BE49-F238E27FC236}">
                <a16:creationId xmlns:a16="http://schemas.microsoft.com/office/drawing/2014/main" id="{1C511C84-24F0-863C-B9DC-30EDC58C3B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4416" y="3057987"/>
            <a:ext cx="98889" cy="93094"/>
          </a:xfrm>
          <a:prstGeom prst="rect">
            <a:avLst/>
          </a:prstGeom>
        </p:spPr>
      </p:pic>
      <p:pic>
        <p:nvPicPr>
          <p:cNvPr id="43" name="Graphique 42" descr="Repère">
            <a:extLst>
              <a:ext uri="{FF2B5EF4-FFF2-40B4-BE49-F238E27FC236}">
                <a16:creationId xmlns:a16="http://schemas.microsoft.com/office/drawing/2014/main" id="{E101F249-D83F-964A-4B5E-4A7F44FBC6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4888" y="2408238"/>
            <a:ext cx="104654" cy="9852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736556A-A3E6-A3E6-D5ED-0A03B2E611AB}"/>
              </a:ext>
            </a:extLst>
          </p:cNvPr>
          <p:cNvSpPr/>
          <p:nvPr/>
        </p:nvSpPr>
        <p:spPr>
          <a:xfrm>
            <a:off x="5149582" y="1508987"/>
            <a:ext cx="18877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global footprint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D92E55-1355-94E1-F355-5A90661670B3}"/>
              </a:ext>
            </a:extLst>
          </p:cNvPr>
          <p:cNvSpPr/>
          <p:nvPr/>
        </p:nvSpPr>
        <p:spPr>
          <a:xfrm>
            <a:off x="8248376" y="1349476"/>
            <a:ext cx="333679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Partnerships with leading vendors in the digital transformation of companies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42E2D7-759F-F923-B6F6-E87FECE0988D}"/>
              </a:ext>
            </a:extLst>
          </p:cNvPr>
          <p:cNvSpPr/>
          <p:nvPr/>
        </p:nvSpPr>
        <p:spPr>
          <a:xfrm>
            <a:off x="6270275" y="5157762"/>
            <a:ext cx="1534025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&amp; DEVELOPMENT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Initiating and scaling innovation through digital 
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E3014-C386-27DF-1CF5-BF1E3A026D2E}"/>
              </a:ext>
            </a:extLst>
          </p:cNvPr>
          <p:cNvSpPr/>
          <p:nvPr/>
        </p:nvSpPr>
        <p:spPr>
          <a:xfrm>
            <a:off x="4651441" y="5762254"/>
            <a:ext cx="2818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&amp; ANALYTICS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 smart business and data-driven strategies  
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C5DF2E-5BBB-D4E8-EAA8-1E249D4BFD46}"/>
              </a:ext>
            </a:extLst>
          </p:cNvPr>
          <p:cNvSpPr/>
          <p:nvPr/>
        </p:nvSpPr>
        <p:spPr>
          <a:xfrm>
            <a:off x="4952822" y="4667446"/>
            <a:ext cx="1705269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BUSINESS APPLICATIONS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Accompanying the digitalization of your lines of business 
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59B2AC-051F-75D4-2150-9E4B21C4B4B1}"/>
              </a:ext>
            </a:extLst>
          </p:cNvPr>
          <p:cNvSpPr/>
          <p:nvPr/>
        </p:nvSpPr>
        <p:spPr>
          <a:xfrm>
            <a:off x="4513915" y="3885311"/>
            <a:ext cx="2053688" cy="723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INTELLIGENT ERP </a:t>
            </a:r>
          </a:p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CORE PLATFORMS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Deploying next-gen ERPs and enterprise platforms 
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D1283C-04B7-81CE-CD69-BF5882637CFF}"/>
              </a:ext>
            </a:extLst>
          </p:cNvPr>
          <p:cNvSpPr/>
          <p:nvPr/>
        </p:nvSpPr>
        <p:spPr>
          <a:xfrm>
            <a:off x="690735" y="1509503"/>
            <a:ext cx="316538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 independent and solid company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4880C0-3C92-46E8-0DAB-2592733B6D75}"/>
              </a:ext>
            </a:extLst>
          </p:cNvPr>
          <p:cNvSpPr/>
          <p:nvPr/>
        </p:nvSpPr>
        <p:spPr>
          <a:xfrm>
            <a:off x="797998" y="3361169"/>
            <a:ext cx="2933032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 the heart of digital strategies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5CBF2D-66BC-30B3-E3B8-8410B6CB00F1}"/>
              </a:ext>
            </a:extLst>
          </p:cNvPr>
          <p:cNvSpPr/>
          <p:nvPr/>
        </p:nvSpPr>
        <p:spPr>
          <a:xfrm>
            <a:off x="4490037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Global expertise on application services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8A7A00-A840-8EAC-3603-4B8FF90BD226}"/>
              </a:ext>
            </a:extLst>
          </p:cNvPr>
          <p:cNvSpPr/>
          <p:nvPr/>
        </p:nvSpPr>
        <p:spPr>
          <a:xfrm>
            <a:off x="8310711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End to end support</a:t>
            </a:r>
          </a:p>
        </p:txBody>
      </p:sp>
      <p:pic>
        <p:nvPicPr>
          <p:cNvPr id="60" name="Graphique 59" descr="Repère">
            <a:extLst>
              <a:ext uri="{FF2B5EF4-FFF2-40B4-BE49-F238E27FC236}">
                <a16:creationId xmlns:a16="http://schemas.microsoft.com/office/drawing/2014/main" id="{73401013-8F64-ACB4-E704-9276DD6342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933" y="2957968"/>
            <a:ext cx="98889" cy="93094"/>
          </a:xfrm>
          <a:prstGeom prst="rect">
            <a:avLst/>
          </a:prstGeom>
        </p:spPr>
      </p:pic>
      <p:pic>
        <p:nvPicPr>
          <p:cNvPr id="61" name="Image 6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1FBB58F-77F6-AA4F-0A04-E5B7D1FCEE8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021" y="1918262"/>
            <a:ext cx="442010" cy="466795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EE6C23D5-9277-CF55-ECD9-A4748EA29F3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62548" y="1981403"/>
            <a:ext cx="580060" cy="340513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609F07BF-96DE-20F0-0E8D-24E7ABEAF0C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7548" y="3158864"/>
            <a:ext cx="758956" cy="110565"/>
          </a:xfrm>
          <a:prstGeom prst="rect">
            <a:avLst/>
          </a:prstGeom>
        </p:spPr>
      </p:pic>
      <p:pic>
        <p:nvPicPr>
          <p:cNvPr id="64" name="Graphique 63">
            <a:extLst>
              <a:ext uri="{FF2B5EF4-FFF2-40B4-BE49-F238E27FC236}">
                <a16:creationId xmlns:a16="http://schemas.microsoft.com/office/drawing/2014/main" id="{0CBACA7C-68D1-6871-86CC-6B6EFA06BF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5486" y="3165155"/>
            <a:ext cx="522576" cy="9798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5C502D2-960B-D3A2-F388-0376BB7B86B1}"/>
              </a:ext>
            </a:extLst>
          </p:cNvPr>
          <p:cNvSpPr/>
          <p:nvPr/>
        </p:nvSpPr>
        <p:spPr>
          <a:xfrm>
            <a:off x="4185488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921F54F-15A2-2FD1-3B8F-6462DE73D101}"/>
              </a:ext>
            </a:extLst>
          </p:cNvPr>
          <p:cNvSpPr/>
          <p:nvPr/>
        </p:nvSpPr>
        <p:spPr>
          <a:xfrm>
            <a:off x="8015039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7" name="Graphique 66" descr="Pièces contour">
            <a:extLst>
              <a:ext uri="{FF2B5EF4-FFF2-40B4-BE49-F238E27FC236}">
                <a16:creationId xmlns:a16="http://schemas.microsoft.com/office/drawing/2014/main" id="{0A43F353-8BA6-2F7D-CE50-5FFA71B73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7365" y="1899678"/>
            <a:ext cx="626572" cy="626572"/>
          </a:xfrm>
          <a:prstGeom prst="rect">
            <a:avLst/>
          </a:prstGeom>
        </p:spPr>
      </p:pic>
      <p:pic>
        <p:nvPicPr>
          <p:cNvPr id="68" name="Graphique 67" descr="Badge d'employé contour">
            <a:extLst>
              <a:ext uri="{FF2B5EF4-FFF2-40B4-BE49-F238E27FC236}">
                <a16:creationId xmlns:a16="http://schemas.microsoft.com/office/drawing/2014/main" id="{AB4D9BD9-8410-44E4-14B2-2EDC3201F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2918244" y="1899678"/>
            <a:ext cx="626572" cy="626572"/>
          </a:xfrm>
          <a:prstGeom prst="rect">
            <a:avLst/>
          </a:prstGeom>
        </p:spPr>
      </p:pic>
      <p:pic>
        <p:nvPicPr>
          <p:cNvPr id="69" name="Graphique 68" descr="Jauge contour">
            <a:extLst>
              <a:ext uri="{FF2B5EF4-FFF2-40B4-BE49-F238E27FC236}">
                <a16:creationId xmlns:a16="http://schemas.microsoft.com/office/drawing/2014/main" id="{ECBC8C69-ADC1-2C6A-4757-181974B5F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97365" y="4010429"/>
            <a:ext cx="626572" cy="626572"/>
          </a:xfrm>
          <a:prstGeom prst="rect">
            <a:avLst/>
          </a:prstGeom>
        </p:spPr>
      </p:pic>
      <p:pic>
        <p:nvPicPr>
          <p:cNvPr id="70" name="Graphique 69" descr="Cercles avec flèches contour">
            <a:extLst>
              <a:ext uri="{FF2B5EF4-FFF2-40B4-BE49-F238E27FC236}">
                <a16:creationId xmlns:a16="http://schemas.microsoft.com/office/drawing/2014/main" id="{A606417B-7E39-2CF2-5AF3-D29D5CBE1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918244" y="4028704"/>
            <a:ext cx="626572" cy="626572"/>
          </a:xfrm>
          <a:prstGeom prst="rect">
            <a:avLst/>
          </a:prstGeom>
        </p:spPr>
      </p:pic>
      <p:pic>
        <p:nvPicPr>
          <p:cNvPr id="71" name="Picture 2" descr="Google Cloud Logo et symbole, sens, histoire, PNG, marque">
            <a:extLst>
              <a:ext uri="{FF2B5EF4-FFF2-40B4-BE49-F238E27FC236}">
                <a16:creationId xmlns:a16="http://schemas.microsoft.com/office/drawing/2014/main" id="{B7509D95-F493-8DC9-AA1A-582C6F277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45017" y="2644685"/>
            <a:ext cx="904018" cy="16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Ellipse 71">
            <a:extLst>
              <a:ext uri="{FF2B5EF4-FFF2-40B4-BE49-F238E27FC236}">
                <a16:creationId xmlns:a16="http://schemas.microsoft.com/office/drawing/2014/main" id="{E53995E5-E66F-E518-AE17-080EEA988275}"/>
              </a:ext>
            </a:extLst>
          </p:cNvPr>
          <p:cNvSpPr/>
          <p:nvPr/>
        </p:nvSpPr>
        <p:spPr>
          <a:xfrm>
            <a:off x="7152299" y="4601744"/>
            <a:ext cx="454181" cy="454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786AAF1-DF2E-2E55-95CB-E9CA33A07538}"/>
              </a:ext>
            </a:extLst>
          </p:cNvPr>
          <p:cNvSpPr/>
          <p:nvPr/>
        </p:nvSpPr>
        <p:spPr>
          <a:xfrm>
            <a:off x="6494721" y="3890990"/>
            <a:ext cx="454181" cy="4541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D1F6A1D-C4DF-0656-653A-65B820A1FFA0}"/>
              </a:ext>
            </a:extLst>
          </p:cNvPr>
          <p:cNvSpPr/>
          <p:nvPr/>
        </p:nvSpPr>
        <p:spPr>
          <a:xfrm>
            <a:off x="5337288" y="5320364"/>
            <a:ext cx="454181" cy="45418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1A917709-1B4D-7F54-407F-0A9714E0CB2A}"/>
              </a:ext>
            </a:extLst>
          </p:cNvPr>
          <p:cNvSpPr/>
          <p:nvPr/>
        </p:nvSpPr>
        <p:spPr>
          <a:xfrm>
            <a:off x="4433008" y="4662141"/>
            <a:ext cx="454181" cy="4541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6" name="Graphique 75" descr="Flèche en cercle contour">
            <a:extLst>
              <a:ext uri="{FF2B5EF4-FFF2-40B4-BE49-F238E27FC236}">
                <a16:creationId xmlns:a16="http://schemas.microsoft.com/office/drawing/2014/main" id="{C13C5EB7-EA1C-A1CE-ACF4-E8D5BED6EFA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43799" y="4606043"/>
            <a:ext cx="454181" cy="454181"/>
          </a:xfrm>
          <a:prstGeom prst="rect">
            <a:avLst/>
          </a:prstGeom>
        </p:spPr>
      </p:pic>
      <p:pic>
        <p:nvPicPr>
          <p:cNvPr id="77" name="Graphique 76" descr="Recherche contour">
            <a:extLst>
              <a:ext uri="{FF2B5EF4-FFF2-40B4-BE49-F238E27FC236}">
                <a16:creationId xmlns:a16="http://schemas.microsoft.com/office/drawing/2014/main" id="{5726E53C-730D-F838-F3FF-8B712DF926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87344" y="5376751"/>
            <a:ext cx="341405" cy="341405"/>
          </a:xfrm>
          <a:prstGeom prst="rect">
            <a:avLst/>
          </a:prstGeom>
        </p:spPr>
      </p:pic>
      <p:pic>
        <p:nvPicPr>
          <p:cNvPr id="78" name="Graphique 77" descr="Croissance de l'activité contour">
            <a:extLst>
              <a:ext uri="{FF2B5EF4-FFF2-40B4-BE49-F238E27FC236}">
                <a16:creationId xmlns:a16="http://schemas.microsoft.com/office/drawing/2014/main" id="{E4A85766-641C-50A9-EBEE-163D8282592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93782" y="4733047"/>
            <a:ext cx="347938" cy="347938"/>
          </a:xfrm>
          <a:prstGeom prst="rect">
            <a:avLst/>
          </a:prstGeom>
        </p:spPr>
      </p:pic>
      <p:pic>
        <p:nvPicPr>
          <p:cNvPr id="79" name="Graphique 78" descr="Cerveau droit et gauche contour">
            <a:extLst>
              <a:ext uri="{FF2B5EF4-FFF2-40B4-BE49-F238E27FC236}">
                <a16:creationId xmlns:a16="http://schemas.microsoft.com/office/drawing/2014/main" id="{0620A2CD-0520-5649-343C-9C8FFABF80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17933" y="3913404"/>
            <a:ext cx="407756" cy="407756"/>
          </a:xfrm>
          <a:prstGeom prst="rect">
            <a:avLst/>
          </a:prstGeom>
        </p:spPr>
      </p:pic>
      <p:pic>
        <p:nvPicPr>
          <p:cNvPr id="80" name="Graphique 79" descr="Ampoule et crayon contour">
            <a:extLst>
              <a:ext uri="{FF2B5EF4-FFF2-40B4-BE49-F238E27FC236}">
                <a16:creationId xmlns:a16="http://schemas.microsoft.com/office/drawing/2014/main" id="{E03B6286-9CE5-7ECC-D548-5D1371EA7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39292" y="4038530"/>
            <a:ext cx="626572" cy="626572"/>
          </a:xfrm>
          <a:prstGeom prst="rect">
            <a:avLst/>
          </a:prstGeom>
        </p:spPr>
      </p:pic>
      <p:pic>
        <p:nvPicPr>
          <p:cNvPr id="81" name="Graphique 80" descr="Cigogne contour">
            <a:extLst>
              <a:ext uri="{FF2B5EF4-FFF2-40B4-BE49-F238E27FC236}">
                <a16:creationId xmlns:a16="http://schemas.microsoft.com/office/drawing/2014/main" id="{61E4741E-E666-46B8-3404-07CA88D02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603488" y="4028704"/>
            <a:ext cx="626572" cy="626572"/>
          </a:xfrm>
          <a:prstGeom prst="rect">
            <a:avLst/>
          </a:prstGeom>
        </p:spPr>
      </p:pic>
      <p:pic>
        <p:nvPicPr>
          <p:cNvPr id="82" name="Graphique 81" descr="Fusée contour">
            <a:extLst>
              <a:ext uri="{FF2B5EF4-FFF2-40B4-BE49-F238E27FC236}">
                <a16:creationId xmlns:a16="http://schemas.microsoft.com/office/drawing/2014/main" id="{9CCCC3BB-BD88-B185-5B5C-B2E532B83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676282" y="4028704"/>
            <a:ext cx="626572" cy="626572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1B719335-5030-5886-87F0-1EA38488EFF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F99C8465-B289-3C4B-B92A-8A07823887B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89" name="Espace réservé du pied de page 9">
            <a:extLst>
              <a:ext uri="{FF2B5EF4-FFF2-40B4-BE49-F238E27FC236}">
                <a16:creationId xmlns:a16="http://schemas.microsoft.com/office/drawing/2014/main" id="{D999CB2C-0BA3-128C-23A1-43AA473DCF9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90" name="Image 3">
            <a:extLst>
              <a:ext uri="{FF2B5EF4-FFF2-40B4-BE49-F238E27FC236}">
                <a16:creationId xmlns:a16="http://schemas.microsoft.com/office/drawing/2014/main" id="{A0A3F8DC-A29E-DA76-C8F2-696F850E91E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91" name="Image 3">
            <a:extLst>
              <a:ext uri="{FF2B5EF4-FFF2-40B4-BE49-F238E27FC236}">
                <a16:creationId xmlns:a16="http://schemas.microsoft.com/office/drawing/2014/main" id="{3990919B-84DF-AA59-2DEE-228F1661A6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92" name="Titre 91">
            <a:extLst>
              <a:ext uri="{FF2B5EF4-FFF2-40B4-BE49-F238E27FC236}">
                <a16:creationId xmlns:a16="http://schemas.microsoft.com/office/drawing/2014/main" id="{A5B1AF85-B619-C93B-D855-2ED8E0B9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882688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A51DA44-23BC-DFF7-1FB5-72F5E6B6898E}"/>
              </a:ext>
            </a:extLst>
          </p:cNvPr>
          <p:cNvSpPr txBox="1"/>
          <p:nvPr/>
        </p:nvSpPr>
        <p:spPr>
          <a:xfrm>
            <a:off x="513480" y="2163634"/>
            <a:ext cx="1698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accent1"/>
                </a:solidFill>
                <a:latin typeface="Plus Jakarta Sans" pitchFamily="2" charset="77"/>
                <a:ea typeface="Geist Medium" pitchFamily="2" charset="77"/>
                <a:cs typeface="Plus Jakarta Sans" pitchFamily="2" charset="77"/>
              </a:rPr>
              <a:t>Contacts :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385B8FFB-DEC2-0DC6-21E9-869B0CBB9A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2C99CA61-88B9-E2C2-0B5D-94D4B351D3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245" y="3377608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55EB462D-C822-DC72-DA56-F818AC8A5D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245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8F3BC47A-675E-38C5-8CE1-588232B08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927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125B4CBA-0B56-9B25-F629-019D11F649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3927" y="3375001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9EB17E02-A3F2-8ED4-8F57-034A3D709A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927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A4960EB4-08B3-BB66-FB20-D37EAAA1CA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BF8A71-33DE-5D19-1C44-F9BEE14E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88423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contenu 19">
            <a:extLst>
              <a:ext uri="{FF2B5EF4-FFF2-40B4-BE49-F238E27FC236}">
                <a16:creationId xmlns:a16="http://schemas.microsoft.com/office/drawing/2014/main" id="{4CAA9C9E-A5D3-6987-3F83-6586A31344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6107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8" name="Espace réservé du contenu 19">
            <a:extLst>
              <a:ext uri="{FF2B5EF4-FFF2-40B4-BE49-F238E27FC236}">
                <a16:creationId xmlns:a16="http://schemas.microsoft.com/office/drawing/2014/main" id="{229DB150-5E69-9256-C261-000F66FF0F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044965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9" name="Espace réservé du contenu 19">
            <a:extLst>
              <a:ext uri="{FF2B5EF4-FFF2-40B4-BE49-F238E27FC236}">
                <a16:creationId xmlns:a16="http://schemas.microsoft.com/office/drawing/2014/main" id="{4B63A64F-A48C-F8BF-5DE9-02751D61C69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93823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1" name="Espace réservé du contenu 19">
            <a:extLst>
              <a:ext uri="{FF2B5EF4-FFF2-40B4-BE49-F238E27FC236}">
                <a16:creationId xmlns:a16="http://schemas.microsoft.com/office/drawing/2014/main" id="{1FA04820-2D82-73AF-A72B-7CFC14F902E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42681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2" name="Espace réservé du contenu 19">
            <a:extLst>
              <a:ext uri="{FF2B5EF4-FFF2-40B4-BE49-F238E27FC236}">
                <a16:creationId xmlns:a16="http://schemas.microsoft.com/office/drawing/2014/main" id="{35BEFBD6-FF1C-5848-52C2-C5A06A16C61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341125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4" name="Espace réservé du contenu 19">
            <a:extLst>
              <a:ext uri="{FF2B5EF4-FFF2-40B4-BE49-F238E27FC236}">
                <a16:creationId xmlns:a16="http://schemas.microsoft.com/office/drawing/2014/main" id="{540E672E-C6A7-6505-E295-66C57832F6C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789983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5" name="Espace réservé du contenu 19">
            <a:extLst>
              <a:ext uri="{FF2B5EF4-FFF2-40B4-BE49-F238E27FC236}">
                <a16:creationId xmlns:a16="http://schemas.microsoft.com/office/drawing/2014/main" id="{9905A2A8-89C6-E6B7-1FC4-4E53A91FAB4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38841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6" name="Espace réservé du contenu 19">
            <a:extLst>
              <a:ext uri="{FF2B5EF4-FFF2-40B4-BE49-F238E27FC236}">
                <a16:creationId xmlns:a16="http://schemas.microsoft.com/office/drawing/2014/main" id="{24A5716C-8D01-5061-F201-E782A94A4B4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0687699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7" name="Espace réservé du contenu 19">
            <a:extLst>
              <a:ext uri="{FF2B5EF4-FFF2-40B4-BE49-F238E27FC236}">
                <a16:creationId xmlns:a16="http://schemas.microsoft.com/office/drawing/2014/main" id="{BDBA3240-47A2-02EF-B9ED-29AF175555C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96107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8" name="Espace réservé du contenu 19">
            <a:extLst>
              <a:ext uri="{FF2B5EF4-FFF2-40B4-BE49-F238E27FC236}">
                <a16:creationId xmlns:a16="http://schemas.microsoft.com/office/drawing/2014/main" id="{108110DF-D6A9-D110-9E2C-9729055C200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44965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9" name="Espace réservé du contenu 19">
            <a:extLst>
              <a:ext uri="{FF2B5EF4-FFF2-40B4-BE49-F238E27FC236}">
                <a16:creationId xmlns:a16="http://schemas.microsoft.com/office/drawing/2014/main" id="{334057C1-DF4A-690A-EF00-2929A4DA732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493823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01ED87E3-3CB4-95C0-5959-F53E16717858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942681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D4A1D210-B96D-398B-D6C1-1C020B51DD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41125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contenu 19">
            <a:extLst>
              <a:ext uri="{FF2B5EF4-FFF2-40B4-BE49-F238E27FC236}">
                <a16:creationId xmlns:a16="http://schemas.microsoft.com/office/drawing/2014/main" id="{6D38B7A8-1ACF-6D9A-536D-8976632314B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89983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7A2D6C5E-3ECA-7A77-CA7C-7ABB9CFE416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238841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contenu 19">
            <a:extLst>
              <a:ext uri="{FF2B5EF4-FFF2-40B4-BE49-F238E27FC236}">
                <a16:creationId xmlns:a16="http://schemas.microsoft.com/office/drawing/2014/main" id="{B58D8633-CE9D-2356-2654-B6405D99F88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0687699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B2A034D9-7A2B-C805-B621-7D155B2EFAB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96107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contenu 19">
            <a:extLst>
              <a:ext uri="{FF2B5EF4-FFF2-40B4-BE49-F238E27FC236}">
                <a16:creationId xmlns:a16="http://schemas.microsoft.com/office/drawing/2014/main" id="{8F7A06E7-28EB-83C1-6DDB-D1C9D8BC78D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044965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7" name="Espace réservé du contenu 19">
            <a:extLst>
              <a:ext uri="{FF2B5EF4-FFF2-40B4-BE49-F238E27FC236}">
                <a16:creationId xmlns:a16="http://schemas.microsoft.com/office/drawing/2014/main" id="{92064CDC-667B-DD84-181A-229F5B9EB84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93823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8" name="Espace réservé du contenu 19">
            <a:extLst>
              <a:ext uri="{FF2B5EF4-FFF2-40B4-BE49-F238E27FC236}">
                <a16:creationId xmlns:a16="http://schemas.microsoft.com/office/drawing/2014/main" id="{87B359BD-15A9-CC4D-1635-305E628C84E4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942681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6A972D19-1BA4-B33A-813C-332F4823FDF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41125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163AAAE4-6949-67C3-696B-FBFB8BA5051A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789983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4D41CF8-4593-621A-F24E-4467285A92D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238841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2" name="Espace réservé du contenu 19">
            <a:extLst>
              <a:ext uri="{FF2B5EF4-FFF2-40B4-BE49-F238E27FC236}">
                <a16:creationId xmlns:a16="http://schemas.microsoft.com/office/drawing/2014/main" id="{FAD070B2-D39D-13E4-FC48-B25C9FE37E3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687699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contenu 19">
            <a:extLst>
              <a:ext uri="{FF2B5EF4-FFF2-40B4-BE49-F238E27FC236}">
                <a16:creationId xmlns:a16="http://schemas.microsoft.com/office/drawing/2014/main" id="{668DB583-6117-A18E-6EDD-89324DBAE84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96107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4" name="Espace réservé du contenu 19">
            <a:extLst>
              <a:ext uri="{FF2B5EF4-FFF2-40B4-BE49-F238E27FC236}">
                <a16:creationId xmlns:a16="http://schemas.microsoft.com/office/drawing/2014/main" id="{5C879017-7F44-45C4-8FC5-B235F2C5561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044965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5" name="Espace réservé du contenu 19">
            <a:extLst>
              <a:ext uri="{FF2B5EF4-FFF2-40B4-BE49-F238E27FC236}">
                <a16:creationId xmlns:a16="http://schemas.microsoft.com/office/drawing/2014/main" id="{978FB932-4FC1-919C-4B1E-5BFF8FA0D47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3493823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6" name="Espace réservé du contenu 19">
            <a:extLst>
              <a:ext uri="{FF2B5EF4-FFF2-40B4-BE49-F238E27FC236}">
                <a16:creationId xmlns:a16="http://schemas.microsoft.com/office/drawing/2014/main" id="{FCE2ED05-9114-A609-BE9F-622AE3C3B72E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942681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7" name="Espace réservé du contenu 19">
            <a:extLst>
              <a:ext uri="{FF2B5EF4-FFF2-40B4-BE49-F238E27FC236}">
                <a16:creationId xmlns:a16="http://schemas.microsoft.com/office/drawing/2014/main" id="{8F4129B2-970D-9208-49A5-EA3307E3EE50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6341125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8" name="Espace réservé du contenu 19">
            <a:extLst>
              <a:ext uri="{FF2B5EF4-FFF2-40B4-BE49-F238E27FC236}">
                <a16:creationId xmlns:a16="http://schemas.microsoft.com/office/drawing/2014/main" id="{701257A4-4686-2B47-FC25-B37B07A1D5D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7789983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9" name="Espace réservé du contenu 19">
            <a:extLst>
              <a:ext uri="{FF2B5EF4-FFF2-40B4-BE49-F238E27FC236}">
                <a16:creationId xmlns:a16="http://schemas.microsoft.com/office/drawing/2014/main" id="{E38E7CA3-3969-2D2E-87B1-6474FBD51887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9238841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40" name="Espace réservé du contenu 19">
            <a:extLst>
              <a:ext uri="{FF2B5EF4-FFF2-40B4-BE49-F238E27FC236}">
                <a16:creationId xmlns:a16="http://schemas.microsoft.com/office/drawing/2014/main" id="{2D40E718-9AE0-A47E-EDDB-E982E8D1BC1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10687699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831E8E5-0CC4-907E-80E9-120F6C2A639B}"/>
              </a:ext>
            </a:extLst>
          </p:cNvPr>
          <p:cNvCxnSpPr>
            <a:cxnSpLocks/>
          </p:cNvCxnSpPr>
          <p:nvPr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3E79E31-23AF-D576-24DD-1FF752850491}"/>
              </a:ext>
            </a:extLst>
          </p:cNvPr>
          <p:cNvSpPr txBox="1"/>
          <p:nvPr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sp>
        <p:nvSpPr>
          <p:cNvPr id="5" name="Espace réservé du pied de page 9">
            <a:extLst>
              <a:ext uri="{FF2B5EF4-FFF2-40B4-BE49-F238E27FC236}">
                <a16:creationId xmlns:a16="http://schemas.microsoft.com/office/drawing/2014/main" id="{194A28FC-6597-E76C-F88B-ED569D2FBF2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4038600" y="6559960"/>
            <a:ext cx="4114800" cy="225655"/>
          </a:xfrm>
        </p:spPr>
        <p:txBody>
          <a:bodyPr anchor="t"/>
          <a:lstStyle/>
          <a:p>
            <a:r>
              <a:rPr lang="fr-FR"/>
              <a:t>Confidentiel</a:t>
            </a:r>
          </a:p>
        </p:txBody>
      </p:sp>
      <p:pic>
        <p:nvPicPr>
          <p:cNvPr id="6" name="Image 3">
            <a:extLst>
              <a:ext uri="{FF2B5EF4-FFF2-40B4-BE49-F238E27FC236}">
                <a16:creationId xmlns:a16="http://schemas.microsoft.com/office/drawing/2014/main" id="{CFE4583F-3AE6-354C-2466-EFEC46CF7D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C5CE677-C01D-1BE3-955A-E2EAF1B0F2D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‹#›</a:t>
            </a:fld>
            <a:endParaRPr lang="fr-FR"/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0AA16F35-4C81-86F2-3CB6-E13FDC6C489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3" name="Titre 12">
            <a:extLst>
              <a:ext uri="{FF2B5EF4-FFF2-40B4-BE49-F238E27FC236}">
                <a16:creationId xmlns:a16="http://schemas.microsoft.com/office/drawing/2014/main" id="{44416686-482F-9867-3F21-FAC9DD41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169481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fin">
    <p:bg>
      <p:bgPr>
        <a:solidFill>
          <a:srgbClr val="1B0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53C49729-F7C2-64AE-792A-AA81E248A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17B9542E-6D22-4B28-DA74-AA26B30C76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55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575" y="5955450"/>
            <a:ext cx="2260600" cy="35164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698" y="4468758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698" y="4122547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5111AB-F5AF-9FEB-4238-A73D9A9C9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146" y="2082538"/>
            <a:ext cx="5329554" cy="120464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 b="1" i="0">
                <a:solidFill>
                  <a:schemeClr val="accent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698" y="3375892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</p:spTree>
    <p:extLst>
      <p:ext uri="{BB962C8B-B14F-4D97-AF65-F5344CB8AC3E}">
        <p14:creationId xmlns:p14="http://schemas.microsoft.com/office/powerpoint/2010/main" val="36599235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#2 - TITRE - SECTION -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A3E18104-64BE-4D18-973A-2929B10C3D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3200" y="337820"/>
            <a:ext cx="9245600" cy="304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Section</a:t>
            </a:r>
            <a:endParaRPr lang="en-GB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F7EE538C-C044-4F7E-8AC3-BE0DC6FEB7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200" y="12700"/>
            <a:ext cx="9245600" cy="48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7DE3AF05-0AB0-49E0-9D71-7AFA0D7A0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700" y="1130300"/>
            <a:ext cx="11658600" cy="5207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100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seul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>
                <a:solidFill>
                  <a:srgbClr val="0099FF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90FC5E46-93AC-4EA0-AA4F-3E7BBD85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CB47DF1-00C0-4BF7-AE3A-CF49EB00A9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49" y="-479"/>
            <a:ext cx="671999" cy="1022607"/>
          </a:xfrm>
          <a:prstGeom prst="rect">
            <a:avLst/>
          </a:prstGeom>
        </p:spPr>
      </p:pic>
      <p:pic>
        <p:nvPicPr>
          <p:cNvPr id="2" name="Picture 2" descr="confidential stamp. confidential square grunge sign. confidential  Illustration , #Ad, #square, #stamp, #confidential, #Illustration, #sign">
            <a:extLst>
              <a:ext uri="{FF2B5EF4-FFF2-40B4-BE49-F238E27FC236}">
                <a16:creationId xmlns:a16="http://schemas.microsoft.com/office/drawing/2014/main" id="{71C9D751-73FC-1480-B9CE-3B382D3430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1120">
            <a:off x="10348145" y="317614"/>
            <a:ext cx="1074982" cy="5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96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haîne&#10;&#10;Description générée automatiquement">
            <a:extLst>
              <a:ext uri="{FF2B5EF4-FFF2-40B4-BE49-F238E27FC236}">
                <a16:creationId xmlns:a16="http://schemas.microsoft.com/office/drawing/2014/main" id="{CA0F44A9-23AE-4CB5-AAF8-840F33D77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" y="0"/>
            <a:ext cx="705916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7060497" y="-10690"/>
            <a:ext cx="5194852" cy="686869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8715" y="5965012"/>
            <a:ext cx="4483429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bg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8716" y="4856580"/>
            <a:ext cx="4483429" cy="923329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8B288821-CED7-4C6E-958E-0AF6FA3983D4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D81FA7-00AB-4505-A4FA-0A95AA9FF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4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A352D1-00DA-5540-949E-A72B4B902C40}"/>
              </a:ext>
            </a:extLst>
          </p:cNvPr>
          <p:cNvSpPr/>
          <p:nvPr userDrawn="1"/>
        </p:nvSpPr>
        <p:spPr>
          <a:xfrm>
            <a:off x="0" y="0"/>
            <a:ext cx="6022224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F0867B5-94D7-0141-A647-A9A5A78664D1}"/>
              </a:ext>
            </a:extLst>
          </p:cNvPr>
          <p:cNvCxnSpPr>
            <a:cxnSpLocks/>
          </p:cNvCxnSpPr>
          <p:nvPr userDrawn="1"/>
        </p:nvCxnSpPr>
        <p:spPr>
          <a:xfrm>
            <a:off x="597446" y="5339720"/>
            <a:ext cx="945515" cy="0"/>
          </a:xfrm>
          <a:prstGeom prst="line">
            <a:avLst/>
          </a:prstGeom>
          <a:ln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CB9BD3-168E-4BBA-9B83-2D2465290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6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D24BE4BE-8476-48A5-9C82-43A6F56F5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AC9F52-73BA-4CE9-92C0-4878021B63B3}"/>
              </a:ext>
            </a:extLst>
          </p:cNvPr>
          <p:cNvSpPr/>
          <p:nvPr userDrawn="1"/>
        </p:nvSpPr>
        <p:spPr>
          <a:xfrm>
            <a:off x="0" y="0"/>
            <a:ext cx="590702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</p:spTree>
    <p:extLst>
      <p:ext uri="{BB962C8B-B14F-4D97-AF65-F5344CB8AC3E}">
        <p14:creationId xmlns:p14="http://schemas.microsoft.com/office/powerpoint/2010/main" val="3552551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arbre, plante, fermer, brocoli&#10;&#10;Description générée automatiquement">
            <a:extLst>
              <a:ext uri="{FF2B5EF4-FFF2-40B4-BE49-F238E27FC236}">
                <a16:creationId xmlns:a16="http://schemas.microsoft.com/office/drawing/2014/main" id="{C199DBBE-8D06-4717-9C9C-4872DAB62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0" y="0"/>
            <a:ext cx="69982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FDC169-8B61-1B41-BD0F-3C0D0D94CC1D}"/>
              </a:ext>
            </a:extLst>
          </p:cNvPr>
          <p:cNvSpPr/>
          <p:nvPr userDrawn="1"/>
        </p:nvSpPr>
        <p:spPr>
          <a:xfrm>
            <a:off x="6997148" y="0"/>
            <a:ext cx="5194852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86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B22B11-2CE9-444C-AEEC-0095F8919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64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884F4-1562-4764-9171-67B9C946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C61908B7-4E0F-48ED-A615-319914B02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604493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D3B74-2550-4470-981D-95AB454B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9C3AA63-39F2-415D-B7E5-2336927EF8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85566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70527-FFEB-4359-8284-A2338FED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193429"/>
            <a:ext cx="10297357" cy="492626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07090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550644D9-C3AF-7E40-82DA-EE8EC77727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67725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18" name="Espace réservé pour une image  2">
            <a:extLst>
              <a:ext uri="{FF2B5EF4-FFF2-40B4-BE49-F238E27FC236}">
                <a16:creationId xmlns:a16="http://schemas.microsoft.com/office/drawing/2014/main" id="{CA2AD629-1296-2044-9851-9D694F84AE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33570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DFA81E-E1F0-4E1A-BD2C-E2DF7E8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E1CF3AF-126A-4615-81E0-7B32E25BAC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D3FE12-5BDF-4439-B7B9-232D0B04D9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7675" y="1344613"/>
            <a:ext cx="3838575" cy="52816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34931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93CAD2-92F9-2146-AD04-972AEBC7E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8529" y="1469572"/>
            <a:ext cx="2745750" cy="3918857"/>
          </a:xfrm>
          <a:prstGeom prst="rect">
            <a:avLst/>
          </a:prstGeom>
        </p:spPr>
      </p:pic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AE29D890-7EA6-1E4C-893D-C0CE3B8612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58321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50CD2-EC2A-488C-81FE-F087BB5F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57D727-14D7-4D5D-AE6D-92ABF959988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15E6BC-649C-4E51-9277-817A7C873E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E0F3895C-02BA-4B1C-BB95-DDB4F26675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58321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205815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7EAAA77C-E7FF-4619-9906-AB480792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898014-DB29-480F-A864-C19579FF85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6EFF690-52D9-41AC-8B63-062D279E52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570AF3F0-7E62-4D22-91DF-0E90762C91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1651449"/>
            <a:ext cx="6616513" cy="443661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56424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DD0971-C8A7-B44B-BDCC-3E8A05C0453B}"/>
              </a:ext>
            </a:extLst>
          </p:cNvPr>
          <p:cNvSpPr/>
          <p:nvPr userDrawn="1"/>
        </p:nvSpPr>
        <p:spPr>
          <a:xfrm>
            <a:off x="9327598" y="0"/>
            <a:ext cx="2880000" cy="6858000"/>
          </a:xfrm>
          <a:prstGeom prst="rect">
            <a:avLst/>
          </a:prstGeom>
          <a:solidFill>
            <a:srgbClr val="96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031BCE4-A106-C746-BCE3-8BD4373DF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9579" y="2549742"/>
            <a:ext cx="2276039" cy="175851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8B369A5-6CF3-46BF-AE80-46E4597A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81542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216937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569355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F2A976EE-5A7B-754E-BFA2-6192A42FD1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2138159"/>
            <a:ext cx="661710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946376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rgbClr val="DEFCBD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1"/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4276CC62-3150-B140-86AD-FD878A5B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7084" y="984786"/>
            <a:ext cx="6617104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100" b="0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Nom porteur de l’offre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66075C-5B39-421A-8329-56B62117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CD8F3E-4599-43A4-8918-7F2E3999D6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3F1CD7DD-D181-49CC-AB23-044798C256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7D1D7BFA-E030-42C2-BA65-D77EBDBBED1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675" y="2422269"/>
            <a:ext cx="6616513" cy="366579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691501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E9DDA93C-1418-B04A-81F3-105CC3DCE5F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24400" y="0"/>
            <a:ext cx="7467600" cy="4140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1BFC47-769E-BC49-AD97-190E89AD13B7}"/>
              </a:ext>
            </a:extLst>
          </p:cNvPr>
          <p:cNvSpPr/>
          <p:nvPr userDrawn="1"/>
        </p:nvSpPr>
        <p:spPr>
          <a:xfrm>
            <a:off x="7472844" y="4140200"/>
            <a:ext cx="4719155" cy="27178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E77B4-5F63-4B46-9B56-BD4C29DD90F6}"/>
              </a:ext>
            </a:extLst>
          </p:cNvPr>
          <p:cNvSpPr/>
          <p:nvPr userDrawn="1"/>
        </p:nvSpPr>
        <p:spPr>
          <a:xfrm>
            <a:off x="4723691" y="4140200"/>
            <a:ext cx="2749154" cy="27178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8FFA51-F643-6A41-B9D4-2C9AE2032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081" y="4788913"/>
            <a:ext cx="1420374" cy="1420374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75BB8309-E14D-DC4E-96FC-D3742210C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207891"/>
            <a:ext cx="405109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62FB8F45-1942-4541-AE15-2132F3280B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1776695"/>
            <a:ext cx="405109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A11694EB-EA2A-B844-9CF5-9DAFAD1CC12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584912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81886FDF-1E12-4442-B593-C70319D883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4909428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BE3B5E-CE60-408B-9394-08AF7CA070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2E58B78-2A38-4B0E-ADEC-683FE04E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35666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88CC628-AA0E-46CE-8193-3A8D301547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084" y="2069087"/>
            <a:ext cx="4051100" cy="4018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967559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06DD300C-737C-9E4C-A050-BA0E513072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0488" y="1018048"/>
            <a:ext cx="3519913" cy="26399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87FFFE-7450-974F-886B-67302EAC68E8}"/>
              </a:ext>
            </a:extLst>
          </p:cNvPr>
          <p:cNvSpPr/>
          <p:nvPr userDrawn="1"/>
        </p:nvSpPr>
        <p:spPr>
          <a:xfrm>
            <a:off x="0" y="1018047"/>
            <a:ext cx="6100488" cy="2639936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DEFCB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35B34-3AD4-5B47-86AD-FA6BD9A128ED}"/>
              </a:ext>
            </a:extLst>
          </p:cNvPr>
          <p:cNvSpPr/>
          <p:nvPr userDrawn="1"/>
        </p:nvSpPr>
        <p:spPr>
          <a:xfrm>
            <a:off x="9207601" y="1018048"/>
            <a:ext cx="2984399" cy="2639935"/>
          </a:xfrm>
          <a:prstGeom prst="rect">
            <a:avLst/>
          </a:prstGeom>
          <a:solidFill>
            <a:srgbClr val="5EC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EC48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2595C3-9637-194D-8E12-7BC57FB848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2266" y="1591192"/>
            <a:ext cx="2215068" cy="1493647"/>
          </a:xfrm>
          <a:prstGeom prst="rect">
            <a:avLst/>
          </a:prstGeom>
        </p:spPr>
      </p:pic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C2E77850-DAAD-5D48-B044-B502ADC56371}"/>
              </a:ext>
            </a:extLst>
          </p:cNvPr>
          <p:cNvCxnSpPr>
            <a:cxnSpLocks/>
          </p:cNvCxnSpPr>
          <p:nvPr userDrawn="1"/>
        </p:nvCxnSpPr>
        <p:spPr>
          <a:xfrm>
            <a:off x="447038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1">
            <a:extLst>
              <a:ext uri="{FF2B5EF4-FFF2-40B4-BE49-F238E27FC236}">
                <a16:creationId xmlns:a16="http://schemas.microsoft.com/office/drawing/2014/main" id="{9B330407-CD74-244B-A533-16B89A20E6E7}"/>
              </a:ext>
            </a:extLst>
          </p:cNvPr>
          <p:cNvCxnSpPr>
            <a:cxnSpLocks/>
          </p:cNvCxnSpPr>
          <p:nvPr userDrawn="1"/>
        </p:nvCxnSpPr>
        <p:spPr>
          <a:xfrm>
            <a:off x="9267545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51801828-BA18-F641-B0C1-A0877BAD9A0B}"/>
              </a:ext>
            </a:extLst>
          </p:cNvPr>
          <p:cNvCxnSpPr>
            <a:cxnSpLocks/>
          </p:cNvCxnSpPr>
          <p:nvPr userDrawn="1"/>
        </p:nvCxnSpPr>
        <p:spPr>
          <a:xfrm>
            <a:off x="6320971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5F1D6481-6A68-4242-A3D7-DE173271D2DC}"/>
              </a:ext>
            </a:extLst>
          </p:cNvPr>
          <p:cNvCxnSpPr>
            <a:cxnSpLocks/>
          </p:cNvCxnSpPr>
          <p:nvPr userDrawn="1"/>
        </p:nvCxnSpPr>
        <p:spPr>
          <a:xfrm>
            <a:off x="3381567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619DA1-4643-4F43-A307-BEE330F5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03278-D8D0-4B08-98E8-4BBF29EBE8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4190BDC-F4BD-4529-A9C1-B02967E61A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038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1EDBC576-090C-411C-A8DF-3D2A093AA01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93612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93873087-569A-405D-8FC9-5B7635EC183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20971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F83228CB-B107-4D91-AA2F-1488885DAA8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67545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1DACC32F-CC2A-4907-A606-A73154BE41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7038" y="3847641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1A1C3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Conseil &amp; AMOA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8FDF18CD-F3CB-418D-9BD2-D170927F9D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3612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96ADE3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CFO solutions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87965A3B-8E7F-4D7F-B2AE-9E7E89DD6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0186" y="3842542"/>
            <a:ext cx="2572785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01ABBD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Digital transformation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649A259A-5A5E-468E-8DAC-C6FED8A888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7545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5EC48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Smart ERP</a:t>
            </a:r>
          </a:p>
        </p:txBody>
      </p:sp>
    </p:spTree>
    <p:extLst>
      <p:ext uri="{BB962C8B-B14F-4D97-AF65-F5344CB8AC3E}">
        <p14:creationId xmlns:p14="http://schemas.microsoft.com/office/powerpoint/2010/main" val="16482815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184832E-6E5A-8845-8C7A-E2FAF4643F5F}"/>
              </a:ext>
            </a:extLst>
          </p:cNvPr>
          <p:cNvSpPr/>
          <p:nvPr userDrawn="1"/>
        </p:nvSpPr>
        <p:spPr>
          <a:xfrm>
            <a:off x="7468310" y="3811469"/>
            <a:ext cx="4723690" cy="30465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956DF-9DFB-CE4F-9784-4695E7615FF1}"/>
              </a:ext>
            </a:extLst>
          </p:cNvPr>
          <p:cNvSpPr/>
          <p:nvPr userDrawn="1"/>
        </p:nvSpPr>
        <p:spPr>
          <a:xfrm>
            <a:off x="7468310" y="769470"/>
            <a:ext cx="4723690" cy="3041999"/>
          </a:xfrm>
          <a:prstGeom prst="rect">
            <a:avLst/>
          </a:prstGeom>
          <a:solidFill>
            <a:srgbClr val="DEF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668571-B0FD-6341-BB6D-70EE11DE39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5933" y="4001142"/>
            <a:ext cx="828444" cy="1084509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1CE3AD9B-B34A-9E4F-975F-F6E522A5886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AAEAB3C7-4C9D-7243-8699-06482352E1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4628ECAA-4998-C944-9CC4-289FE183D47F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B7D4737F-E801-F044-9541-FF73289C27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5337000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E3A677-A8EE-4121-B02D-5F95B6AB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6375DC3-FC76-4A9C-AF13-0858147AD42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D5F08F8C-6298-434A-8877-82D05BA115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209834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buClrTx/>
              <a:defRPr sz="1200">
                <a:solidFill>
                  <a:schemeClr val="tx1"/>
                </a:solidFill>
              </a:defRPr>
            </a:lvl2pPr>
            <a:lvl3pPr>
              <a:buClrTx/>
              <a:defRPr sz="1100">
                <a:solidFill>
                  <a:schemeClr val="tx1"/>
                </a:solidFill>
              </a:defRPr>
            </a:lvl3pPr>
            <a:lvl4pPr>
              <a:buClrTx/>
              <a:defRPr sz="1050">
                <a:solidFill>
                  <a:schemeClr val="tx1"/>
                </a:solidFill>
              </a:defRPr>
            </a:lvl4pPr>
            <a:lvl5pPr>
              <a:buClrTx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8088F9B9-F1A5-48D3-80A2-D332F8B313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5" y="1697529"/>
            <a:ext cx="6616513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036729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1BD326-7117-7043-8428-9777637733A9}"/>
              </a:ext>
            </a:extLst>
          </p:cNvPr>
          <p:cNvSpPr/>
          <p:nvPr userDrawn="1"/>
        </p:nvSpPr>
        <p:spPr>
          <a:xfrm>
            <a:off x="5908280" y="-10691"/>
            <a:ext cx="6283720" cy="3446221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320D5-0F2C-FD4C-934A-2DB91617EC33}"/>
              </a:ext>
            </a:extLst>
          </p:cNvPr>
          <p:cNvSpPr/>
          <p:nvPr userDrawn="1"/>
        </p:nvSpPr>
        <p:spPr>
          <a:xfrm>
            <a:off x="5908280" y="3418309"/>
            <a:ext cx="6283720" cy="3446221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510270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9FA0F18-F71D-6049-82B1-6C61669B3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866" y="495188"/>
            <a:ext cx="2266548" cy="24298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6D492CA-CA1A-4C08-BF82-39D44385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475048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B8BE813-54EB-40BC-907A-8271D9EB5F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485A6BC-6470-4D2F-9E2C-4B292A0392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6" y="1697529"/>
            <a:ext cx="5102118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347048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E3AF64-8D33-2444-B35B-BBF3EDE4BE09}"/>
              </a:ext>
            </a:extLst>
          </p:cNvPr>
          <p:cNvSpPr/>
          <p:nvPr userDrawn="1"/>
        </p:nvSpPr>
        <p:spPr>
          <a:xfrm>
            <a:off x="-1488" y="1003176"/>
            <a:ext cx="2880000" cy="5854823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71928-2725-0145-A721-1A00AB1C5C5A}"/>
              </a:ext>
            </a:extLst>
          </p:cNvPr>
          <p:cNvSpPr/>
          <p:nvPr userDrawn="1"/>
        </p:nvSpPr>
        <p:spPr>
          <a:xfrm>
            <a:off x="9327598" y="1003176"/>
            <a:ext cx="2880000" cy="58548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B18F7F-A819-47FA-B648-C21DD52B8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Consultant 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D4397C-16F9-4A84-BDB8-04C72C82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‹#›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3F90FC-E2E6-4970-811B-0A01B631DC96}"/>
              </a:ext>
            </a:extLst>
          </p:cNvPr>
          <p:cNvSpPr txBox="1"/>
          <p:nvPr userDrawn="1"/>
        </p:nvSpPr>
        <p:spPr>
          <a:xfrm>
            <a:off x="9528436" y="221816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métier</a:t>
            </a:r>
          </a:p>
        </p:txBody>
      </p:sp>
      <p:sp>
        <p:nvSpPr>
          <p:cNvPr id="12" name="ZoneTexte 15">
            <a:extLst>
              <a:ext uri="{FF2B5EF4-FFF2-40B4-BE49-F238E27FC236}">
                <a16:creationId xmlns:a16="http://schemas.microsoft.com/office/drawing/2014/main" id="{869B7699-069D-4FD0-94FE-2D69E9EA06D5}"/>
              </a:ext>
            </a:extLst>
          </p:cNvPr>
          <p:cNvSpPr txBox="1"/>
          <p:nvPr userDrawn="1"/>
        </p:nvSpPr>
        <p:spPr>
          <a:xfrm>
            <a:off x="3239673" y="952982"/>
            <a:ext cx="394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Expérience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EE811E-6C44-4A01-8DB3-BA4C3A2D7A2D}"/>
              </a:ext>
            </a:extLst>
          </p:cNvPr>
          <p:cNvSpPr txBox="1"/>
          <p:nvPr userDrawn="1"/>
        </p:nvSpPr>
        <p:spPr>
          <a:xfrm>
            <a:off x="142242" y="4547787"/>
            <a:ext cx="270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C4E453"/>
                </a:solidFill>
                <a:latin typeface="+mj-lt"/>
              </a:rPr>
              <a:t>Certifications et formations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C9BEDF-DB44-4915-BF63-3693CC267DB8}"/>
              </a:ext>
            </a:extLst>
          </p:cNvPr>
          <p:cNvSpPr txBox="1"/>
          <p:nvPr userDrawn="1"/>
        </p:nvSpPr>
        <p:spPr>
          <a:xfrm>
            <a:off x="128359" y="3056451"/>
            <a:ext cx="2404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1"/>
                </a:solidFill>
              </a:defRPr>
            </a:lvl1pPr>
          </a:lstStyle>
          <a:p>
            <a:pPr algn="l"/>
            <a:r>
              <a:rPr lang="fr-FR">
                <a:solidFill>
                  <a:srgbClr val="C4E453"/>
                </a:solidFill>
                <a:latin typeface="+mj-lt"/>
              </a:rPr>
              <a:t>Expertises/outils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6C7016E-898D-4BCF-9ACA-24ABF7B9947A}"/>
              </a:ext>
            </a:extLst>
          </p:cNvPr>
          <p:cNvSpPr txBox="1"/>
          <p:nvPr userDrawn="1"/>
        </p:nvSpPr>
        <p:spPr>
          <a:xfrm>
            <a:off x="9519224" y="964511"/>
            <a:ext cx="2592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Secteurs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C6E1714-767C-4564-91C1-8151B95C6159}"/>
              </a:ext>
            </a:extLst>
          </p:cNvPr>
          <p:cNvSpPr txBox="1"/>
          <p:nvPr userDrawn="1"/>
        </p:nvSpPr>
        <p:spPr>
          <a:xfrm>
            <a:off x="9535363" y="367333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outils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FC2B900A-4C5F-441E-AA7A-A3329646BB21}"/>
              </a:ext>
            </a:extLst>
          </p:cNvPr>
          <p:cNvSpPr txBox="1"/>
          <p:nvPr userDrawn="1"/>
        </p:nvSpPr>
        <p:spPr>
          <a:xfrm>
            <a:off x="9535363" y="5402639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Langues</a:t>
            </a:r>
          </a:p>
        </p:txBody>
      </p:sp>
    </p:spTree>
    <p:extLst>
      <p:ext uri="{BB962C8B-B14F-4D97-AF65-F5344CB8AC3E}">
        <p14:creationId xmlns:p14="http://schemas.microsoft.com/office/powerpoint/2010/main" val="40406169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1E151C-CE04-134F-909C-E48D2DD4A9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B1DA13-281E-47F0-86B6-C285D2990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79" y="245279"/>
            <a:ext cx="67500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281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5C5830C-1250-2E4D-B5E4-0FE1735E3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971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6997148" y="-10690"/>
            <a:ext cx="5194852" cy="34416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2E346-7830-A746-AF02-5EA5D6AD681A}"/>
              </a:ext>
            </a:extLst>
          </p:cNvPr>
          <p:cNvSpPr/>
          <p:nvPr userDrawn="1"/>
        </p:nvSpPr>
        <p:spPr>
          <a:xfrm>
            <a:off x="6997148" y="3418310"/>
            <a:ext cx="5194852" cy="34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31B91A9-E8C2-4083-BA02-9A04A5857051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22EC9D2-4CBB-4667-875F-67CC1D3F4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91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066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541902" y="-18333"/>
            <a:ext cx="671999" cy="1032597"/>
          </a:xfrm>
          <a:prstGeom prst="rect">
            <a:avLst/>
          </a:prstGeom>
        </p:spPr>
      </p:pic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 dirty="0">
                <a:solidFill>
                  <a:srgbClr val="00A9E0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9B11AB-E766-448B-AB3D-6111471C5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415" y="1014265"/>
            <a:ext cx="11233297" cy="5278586"/>
          </a:xfrm>
          <a:prstGeom prst="rect">
            <a:avLst/>
          </a:prstGeom>
        </p:spPr>
        <p:txBody>
          <a:bodyPr/>
          <a:lstStyle>
            <a:lvl1pPr marL="217717" indent="-217717">
              <a:spcAft>
                <a:spcPts val="600"/>
              </a:spcAft>
              <a:buFontTx/>
              <a:buBlip>
                <a:blip r:embed="rId3"/>
              </a:buBlip>
              <a:defRPr lang="fr-FR" sz="16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1pPr>
            <a:lvl2pPr marL="471722" indent="-181431">
              <a:spcAft>
                <a:spcPts val="600"/>
              </a:spcAft>
              <a:buFont typeface="Arial" panose="020B0604020202020204" pitchFamily="34" charset="0"/>
              <a:buChar char="•"/>
              <a:defRPr lang="fr-FR" sz="14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2pPr>
            <a:lvl3pPr marL="725726" indent="-145144">
              <a:spcAft>
                <a:spcPts val="600"/>
              </a:spcAft>
              <a:buFont typeface="Wingdings" panose="05000000000000000000" pitchFamily="2" charset="2"/>
              <a:buChar char="ü"/>
              <a:defRPr lang="fr-FR" sz="12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3pPr>
            <a:lvl4pPr>
              <a:spcAft>
                <a:spcPts val="600"/>
              </a:spcAft>
              <a:defRPr lang="fr-FR" sz="11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4pPr>
            <a:lvl5pPr>
              <a:spcAft>
                <a:spcPts val="600"/>
              </a:spcAft>
              <a:defRPr lang="fr-FR" sz="105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5pPr>
            <a:lvl6pPr>
              <a:spcAft>
                <a:spcPts val="600"/>
              </a:spcAft>
              <a:defRPr sz="1000">
                <a:solidFill>
                  <a:schemeClr val="tx1">
                    <a:lumMod val="75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>
                <a:latin typeface="Montserrat Light"/>
              </a:rPr>
              <a:t>Sixième niveau 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E8557CB-1C44-421F-9C4B-2844C4501B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440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7BD1033-77AD-9642-9C24-EF13B3DBBC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" b="4469"/>
          <a:stretch/>
        </p:blipFill>
        <p:spPr>
          <a:xfrm>
            <a:off x="0" y="-10690"/>
            <a:ext cx="10190386" cy="68686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9DA06F-9D04-8A4E-B78D-1D8B3A64FA3B}"/>
              </a:ext>
            </a:extLst>
          </p:cNvPr>
          <p:cNvSpPr/>
          <p:nvPr userDrawn="1"/>
        </p:nvSpPr>
        <p:spPr>
          <a:xfrm>
            <a:off x="8125425" y="-10690"/>
            <a:ext cx="4129923" cy="6868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39589-FE30-0E4E-B28C-3928581E0F93}"/>
              </a:ext>
            </a:extLst>
          </p:cNvPr>
          <p:cNvSpPr/>
          <p:nvPr userDrawn="1"/>
        </p:nvSpPr>
        <p:spPr>
          <a:xfrm>
            <a:off x="0" y="-10690"/>
            <a:ext cx="8125425" cy="686869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A908F3-385E-9443-A6C5-48445A508C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0446" y="646767"/>
            <a:ext cx="2697807" cy="1411161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6556" y="5965012"/>
            <a:ext cx="3515588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tx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6557" y="4856580"/>
            <a:ext cx="3515588" cy="923329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1B4587-8085-9A4F-8B97-75DF14EEEB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174" y="-149289"/>
            <a:ext cx="2610402" cy="13654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DE3676-B90F-D84F-A877-1CA71121DBCD}"/>
              </a:ext>
            </a:extLst>
          </p:cNvPr>
          <p:cNvSpPr txBox="1"/>
          <p:nvPr userDrawn="1"/>
        </p:nvSpPr>
        <p:spPr>
          <a:xfrm>
            <a:off x="289379" y="928209"/>
            <a:ext cx="359114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200" b="0" i="0" err="1">
                <a:solidFill>
                  <a:schemeClr val="bg1"/>
                </a:solidFill>
                <a:latin typeface="+mj-lt"/>
              </a:rPr>
              <a:t>Enhance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your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Present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,</a:t>
            </a:r>
          </a:p>
          <a:p>
            <a:pPr lvl="0"/>
            <a:r>
              <a:rPr lang="fr-FR" sz="2200" b="0" i="0">
                <a:solidFill>
                  <a:srgbClr val="DEFCBD"/>
                </a:solidFill>
                <a:latin typeface="+mj-lt"/>
              </a:rPr>
              <a:t>Inspire </a:t>
            </a:r>
            <a:r>
              <a:rPr lang="fr-FR" sz="2200" b="0" i="0" err="1">
                <a:solidFill>
                  <a:srgbClr val="DEFCBD"/>
                </a:solidFill>
                <a:latin typeface="+mj-lt"/>
              </a:rPr>
              <a:t>Your</a:t>
            </a:r>
            <a:r>
              <a:rPr lang="fr-FR" sz="2200" b="0" i="0">
                <a:solidFill>
                  <a:srgbClr val="DEFCBD"/>
                </a:solidFill>
                <a:latin typeface="+mj-lt"/>
              </a:rPr>
              <a:t> Future</a:t>
            </a:r>
          </a:p>
        </p:txBody>
      </p:sp>
    </p:spTree>
    <p:extLst>
      <p:ext uri="{BB962C8B-B14F-4D97-AF65-F5344CB8AC3E}">
        <p14:creationId xmlns:p14="http://schemas.microsoft.com/office/powerpoint/2010/main" val="6178010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Disposition personnalisé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B6A8D-3CDE-D8A1-050F-80F2A0F4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50A35DE-8013-C8F8-B517-13302BD0C52E}"/>
              </a:ext>
            </a:extLst>
          </p:cNvPr>
          <p:cNvSpPr txBox="1"/>
          <p:nvPr userDrawn="1"/>
        </p:nvSpPr>
        <p:spPr>
          <a:xfrm>
            <a:off x="5872422" y="6458427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Synvance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0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image" Target="../media/image34.emf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oleObject" Target="../embeddings/oleObject2.bin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image" Target="../media/image3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6AABE-890E-C3DC-BDDB-604E9EB9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642054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7" imgW="473" imgH="473" progId="TCLayout.ActiveDocument.1">
                  <p:embed/>
                </p:oleObj>
              </mc:Choice>
              <mc:Fallback>
                <p:oleObj name="Diapositive think-cell" r:id="rId3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6AABE-890E-C3DC-BDDB-604E9EB9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0EEB7A-8ADD-9BCC-F6F4-966F14B2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3712798C-C2F9-F846-3C72-56B85DD1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427028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58BC0E-F202-A7D0-A59D-1BB4144B6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0894"/>
            <a:ext cx="4114800" cy="251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Confidentiel</a:t>
            </a:r>
          </a:p>
        </p:txBody>
      </p:sp>
    </p:spTree>
    <p:extLst>
      <p:ext uri="{BB962C8B-B14F-4D97-AF65-F5344CB8AC3E}">
        <p14:creationId xmlns:p14="http://schemas.microsoft.com/office/powerpoint/2010/main" val="142820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836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58" r:id="rId17"/>
    <p:sldLayoutId id="2147483742" r:id="rId18"/>
    <p:sldLayoutId id="2147483743" r:id="rId19"/>
    <p:sldLayoutId id="2147483744" r:id="rId20"/>
    <p:sldLayoutId id="2147483745" r:id="rId21"/>
    <p:sldLayoutId id="2147483757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5" r:id="rId30"/>
    <p:sldLayoutId id="2147483756" r:id="rId31"/>
    <p:sldLayoutId id="2147483763" r:id="rId32"/>
    <p:sldLayoutId id="2147483839" r:id="rId33"/>
    <p:sldLayoutId id="2147483841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i="0" kern="1200" cap="all" baseline="0">
          <a:solidFill>
            <a:schemeClr val="accent1"/>
          </a:solidFill>
          <a:latin typeface="Plus Jakarta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9"/>
        </a:buBlip>
        <a:defRPr sz="12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1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5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iseaux&#10;&#10;Description générée automatiquement">
            <a:extLst>
              <a:ext uri="{FF2B5EF4-FFF2-40B4-BE49-F238E27FC236}">
                <a16:creationId xmlns:a16="http://schemas.microsoft.com/office/drawing/2014/main" id="{CF8C1638-72A9-44C8-93CF-DF32F1AED0B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11" y="213612"/>
            <a:ext cx="676656" cy="466344"/>
          </a:xfrm>
          <a:prstGeom prst="rect">
            <a:avLst/>
          </a:prstGeom>
        </p:spPr>
      </p:pic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79D176D6-F617-49B9-A130-70E1F0B3F7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290763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8" imgW="416" imgH="416" progId="TCLayout.ActiveDocument.1">
                  <p:embed/>
                </p:oleObj>
              </mc:Choice>
              <mc:Fallback>
                <p:oleObj name="Diapositive think-cell" r:id="rId28" imgW="416" imgH="416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79D176D6-F617-49B9-A130-70E1F0B3F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00C0AD2-69F2-4C27-BF31-F68A3DA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231959"/>
            <a:ext cx="10297357" cy="709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Titre de la diapositive</a:t>
            </a:r>
            <a:br>
              <a:rPr lang="fr-FR"/>
            </a:br>
            <a:br>
              <a:rPr lang="fr-FR"/>
            </a:b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40B33C-B459-457F-9FD0-FE132DED8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14BAB-7084-0D3C-2CA6-EEB7CE9118C4}"/>
              </a:ext>
            </a:extLst>
          </p:cNvPr>
          <p:cNvSpPr/>
          <p:nvPr userDrawn="1"/>
        </p:nvSpPr>
        <p:spPr>
          <a:xfrm>
            <a:off x="3907857" y="6472890"/>
            <a:ext cx="4398745" cy="2714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>
                <a:solidFill>
                  <a:schemeClr val="tx1">
                    <a:lumMod val="50000"/>
                    <a:lumOff val="50000"/>
                  </a:schemeClr>
                </a:solidFill>
              </a:rPr>
              <a:t>CONFIDENTIAL : DO NOT SHARE OR PRINT</a:t>
            </a:r>
            <a:endParaRPr lang="en-GB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92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4" r:id="rId21"/>
    <p:sldLayoutId id="2147483865" r:id="rId22"/>
    <p:sldLayoutId id="2147483866" r:id="rId23"/>
    <p:sldLayoutId id="2147483867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kern="1200" dirty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7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858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525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Verdana" panose="020B060403050404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5.jpeg"/><Relationship Id="rId18" Type="http://schemas.openxmlformats.org/officeDocument/2006/relationships/image" Target="../media/image60.jpeg"/><Relationship Id="rId26" Type="http://schemas.openxmlformats.org/officeDocument/2006/relationships/image" Target="../media/image68.png"/><Relationship Id="rId3" Type="http://schemas.openxmlformats.org/officeDocument/2006/relationships/tags" Target="../tags/tag6.xml"/><Relationship Id="rId21" Type="http://schemas.openxmlformats.org/officeDocument/2006/relationships/image" Target="../media/image63.jpeg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2" Type="http://schemas.openxmlformats.org/officeDocument/2006/relationships/tags" Target="../tags/tag5.xml"/><Relationship Id="rId16" Type="http://schemas.openxmlformats.org/officeDocument/2006/relationships/image" Target="../media/image58.jpeg"/><Relationship Id="rId20" Type="http://schemas.openxmlformats.org/officeDocument/2006/relationships/image" Target="../media/image62.jpeg"/><Relationship Id="rId29" Type="http://schemas.openxmlformats.org/officeDocument/2006/relationships/image" Target="../media/image71.png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5" Type="http://schemas.openxmlformats.org/officeDocument/2006/relationships/tags" Target="../tags/tag8.xml"/><Relationship Id="rId15" Type="http://schemas.openxmlformats.org/officeDocument/2006/relationships/image" Target="../media/image57.jpe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10" Type="http://schemas.openxmlformats.org/officeDocument/2006/relationships/image" Target="../media/image2.png"/><Relationship Id="rId19" Type="http://schemas.openxmlformats.org/officeDocument/2006/relationships/image" Target="../media/image61.png"/><Relationship Id="rId4" Type="http://schemas.openxmlformats.org/officeDocument/2006/relationships/tags" Target="../tags/tag7.xml"/><Relationship Id="rId9" Type="http://schemas.openxmlformats.org/officeDocument/2006/relationships/image" Target="../media/image1.emf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46C04F-7AC8-7241-E4FD-2DFDBDA83B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8" imgW="473" imgH="473" progId="TCLayout.ActiveDocument.1">
                  <p:embed/>
                </p:oleObj>
              </mc:Choice>
              <mc:Fallback>
                <p:oleObj name="Diapositive think-cell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46C04F-7AC8-7241-E4FD-2DFDBDA8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264EF73-B973-C036-212B-8269DF44A352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577698" y="4444015"/>
            <a:ext cx="4460798" cy="321468"/>
          </a:xfrm>
        </p:spPr>
        <p:txBody>
          <a:bodyPr/>
          <a:lstStyle/>
          <a:p>
            <a:r>
              <a:rPr lang="fr-FR" sz="1200" i="1"/>
              <a:t>Version du 29/04/2025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99B7583-1649-F38C-094F-8E9DE081492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5146" y="2082538"/>
            <a:ext cx="5329554" cy="1204641"/>
          </a:xfrm>
        </p:spPr>
        <p:txBody>
          <a:bodyPr vert="horz" anchor="b">
            <a:noAutofit/>
          </a:bodyPr>
          <a:lstStyle/>
          <a:p>
            <a:r>
              <a:rPr lang="fr-FR" sz="2400"/>
              <a:t>CADRAGE ERP Achat / VENTE</a:t>
            </a:r>
            <a:br>
              <a:rPr lang="fr-FR" sz="2400"/>
            </a:br>
            <a:endParaRPr lang="fr-FR" sz="240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138881-BD77-F32F-CB95-06540A67F850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25146" y="2864086"/>
            <a:ext cx="4460798" cy="321468"/>
          </a:xfrm>
        </p:spPr>
        <p:txBody>
          <a:bodyPr anchor="ctr">
            <a:normAutofit lnSpcReduction="10000"/>
          </a:bodyPr>
          <a:lstStyle/>
          <a:p>
            <a:r>
              <a:rPr lang="fr-FR" i="1">
                <a:solidFill>
                  <a:schemeClr val="accent1"/>
                </a:solidFill>
              </a:rPr>
              <a:t>Macro-besoins cibles</a:t>
            </a:r>
          </a:p>
        </p:txBody>
      </p:sp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28F7E5A7-19D1-CD14-48BA-6F576E57E24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77698" y="4883700"/>
            <a:ext cx="4460798" cy="32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endParaRPr lang="fr-FR" sz="120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A3CB16F-3EE6-CDFB-83D6-D0074BF392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171" y="486017"/>
            <a:ext cx="2887853" cy="1289908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20E6FEC-5E58-A31A-F8C1-EC15AC722B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/>
              <a:t>Groupe Beaumanoir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3AC9084-E7B3-05D8-23D9-FFD8CF8F8B9B}"/>
              </a:ext>
            </a:extLst>
          </p:cNvPr>
          <p:cNvSpPr txBox="1"/>
          <p:nvPr/>
        </p:nvSpPr>
        <p:spPr>
          <a:xfrm>
            <a:off x="8074616" y="315757"/>
            <a:ext cx="3449978" cy="34051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C00000"/>
                </a:solidFill>
              </a:rPr>
              <a:t>Document de travail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7569130-212C-B095-E555-ABFD09D911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999" y="3646812"/>
            <a:ext cx="5428595" cy="2111120"/>
          </a:xfrm>
          <a:prstGeom prst="rect">
            <a:avLst/>
          </a:prstGeom>
        </p:spPr>
      </p:pic>
      <p:pic>
        <p:nvPicPr>
          <p:cNvPr id="1032" name="Picture 8" descr="Surf – Teiva Tairoa &amp; Aelan Vaast s’offrent la Taapuna Master 2023 ...">
            <a:extLst>
              <a:ext uri="{FF2B5EF4-FFF2-40B4-BE49-F238E27FC236}">
                <a16:creationId xmlns:a16="http://schemas.microsoft.com/office/drawing/2014/main" id="{CAA39C0E-BDD1-48A4-D6AF-72C3C4052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" r="15637"/>
          <a:stretch/>
        </p:blipFill>
        <p:spPr bwMode="auto">
          <a:xfrm>
            <a:off x="9402945" y="3646812"/>
            <a:ext cx="2121649" cy="211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7FFD593-AF56-0F61-7115-4F77B11C05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2047" y="3752957"/>
            <a:ext cx="3837274" cy="1898830"/>
          </a:xfrm>
          <a:prstGeom prst="rect">
            <a:avLst/>
          </a:prstGeom>
        </p:spPr>
      </p:pic>
      <p:pic>
        <p:nvPicPr>
          <p:cNvPr id="1036" name="Picture 12" descr="Quiksilver Logo Wallpaper - WallpaperSafari">
            <a:extLst>
              <a:ext uri="{FF2B5EF4-FFF2-40B4-BE49-F238E27FC236}">
                <a16:creationId xmlns:a16="http://schemas.microsoft.com/office/drawing/2014/main" id="{9DC8DE98-1116-5D1F-F726-70FE6BEA7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3913921"/>
            <a:ext cx="817389" cy="65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llabong">
            <a:extLst>
              <a:ext uri="{FF2B5EF4-FFF2-40B4-BE49-F238E27FC236}">
                <a16:creationId xmlns:a16="http://schemas.microsoft.com/office/drawing/2014/main" id="{5207F572-3963-829A-9E58-229BC77F7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90" y="3804751"/>
            <a:ext cx="831198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ボードライダーズジャパン合同会社 「社員クチコミ」 就職・転職の採用企業リサーチ OpenWork">
            <a:extLst>
              <a:ext uri="{FF2B5EF4-FFF2-40B4-BE49-F238E27FC236}">
                <a16:creationId xmlns:a16="http://schemas.microsoft.com/office/drawing/2014/main" id="{5B0205AB-B73A-6EE0-20C4-500830822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1" r="11330"/>
          <a:stretch/>
        </p:blipFill>
        <p:spPr bwMode="auto">
          <a:xfrm>
            <a:off x="6346977" y="3950200"/>
            <a:ext cx="871119" cy="54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ogo Roxy | Logo de surf, Roxy, Marque surf">
            <a:extLst>
              <a:ext uri="{FF2B5EF4-FFF2-40B4-BE49-F238E27FC236}">
                <a16:creationId xmlns:a16="http://schemas.microsoft.com/office/drawing/2014/main" id="{711D9518-F4F8-70AA-8F96-04E746447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687" y="3960591"/>
            <a:ext cx="914063" cy="57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C Shoes logo transparent PNG 24555547 PNG">
            <a:extLst>
              <a:ext uri="{FF2B5EF4-FFF2-40B4-BE49-F238E27FC236}">
                <a16:creationId xmlns:a16="http://schemas.microsoft.com/office/drawing/2014/main" id="{0C4F82ED-A78B-71BB-F912-5A16F90D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55" y="4640600"/>
            <a:ext cx="1024885" cy="102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378AC75-0DEA-FBA1-8472-78AD43A16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4744258"/>
            <a:ext cx="842812" cy="84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BMX_Y_SKATE: ELEMENT SKATEBOARDS">
            <a:extLst>
              <a:ext uri="{FF2B5EF4-FFF2-40B4-BE49-F238E27FC236}">
                <a16:creationId xmlns:a16="http://schemas.microsoft.com/office/drawing/2014/main" id="{2BCDCF66-8F0B-9334-1182-7DE02986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884" y="4846922"/>
            <a:ext cx="673501" cy="67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Von Zipper Logo">
            <a:extLst>
              <a:ext uri="{FF2B5EF4-FFF2-40B4-BE49-F238E27FC236}">
                <a16:creationId xmlns:a16="http://schemas.microsoft.com/office/drawing/2014/main" id="{AA25B0C8-75A5-CE4B-08E2-74502A6BD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6" t="11705" r="19979" b="14633"/>
          <a:stretch/>
        </p:blipFill>
        <p:spPr bwMode="auto">
          <a:xfrm>
            <a:off x="9225257" y="4755872"/>
            <a:ext cx="914064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F2EB8A54-B5D0-93DD-B612-602B8131782C}"/>
              </a:ext>
            </a:extLst>
          </p:cNvPr>
          <p:cNvPicPr/>
          <p:nvPr/>
        </p:nvPicPr>
        <p:blipFill>
          <a:blip r:embed="rId12"/>
          <a:srcRect l="4147" t="16353" r="78698" b="60545"/>
          <a:stretch/>
        </p:blipFill>
        <p:spPr>
          <a:xfrm>
            <a:off x="6238983" y="3282139"/>
            <a:ext cx="1148127" cy="5689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94572FA-4869-7E18-371E-83BBB21E1C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313128"/>
            <a:ext cx="5428595" cy="211112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3EFD444-36B6-6921-5FEE-0ED43E7CC626}"/>
              </a:ext>
            </a:extLst>
          </p:cNvPr>
          <p:cNvSpPr/>
          <p:nvPr/>
        </p:nvSpPr>
        <p:spPr>
          <a:xfrm>
            <a:off x="6346977" y="1521234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25CFA1-708D-5F2F-A7CA-F2A116915EFC}"/>
              </a:ext>
            </a:extLst>
          </p:cNvPr>
          <p:cNvSpPr/>
          <p:nvPr/>
        </p:nvSpPr>
        <p:spPr>
          <a:xfrm>
            <a:off x="7302839" y="1499527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31F3B8-E8C7-E5D3-8D6A-884080EA28D1}"/>
              </a:ext>
            </a:extLst>
          </p:cNvPr>
          <p:cNvSpPr/>
          <p:nvPr/>
        </p:nvSpPr>
        <p:spPr>
          <a:xfrm>
            <a:off x="8278383" y="1521233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16A2D8-7AE7-B5AF-8BE5-B9DCDC2EB49D}"/>
              </a:ext>
            </a:extLst>
          </p:cNvPr>
          <p:cNvSpPr/>
          <p:nvPr/>
        </p:nvSpPr>
        <p:spPr>
          <a:xfrm>
            <a:off x="9225817" y="1485790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433199-21D9-EEE4-72A0-F9E2BFE99A49}"/>
              </a:ext>
            </a:extLst>
          </p:cNvPr>
          <p:cNvSpPr/>
          <p:nvPr/>
        </p:nvSpPr>
        <p:spPr>
          <a:xfrm>
            <a:off x="6305429" y="24185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A41319-F573-AFCA-097E-DA6ADF07E804}"/>
              </a:ext>
            </a:extLst>
          </p:cNvPr>
          <p:cNvSpPr/>
          <p:nvPr/>
        </p:nvSpPr>
        <p:spPr>
          <a:xfrm>
            <a:off x="7312778" y="24185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8A5D72-C6FA-B771-F3F4-47279C6E80B7}"/>
              </a:ext>
            </a:extLst>
          </p:cNvPr>
          <p:cNvSpPr/>
          <p:nvPr/>
        </p:nvSpPr>
        <p:spPr>
          <a:xfrm>
            <a:off x="8254805" y="2447291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DADF4A-0A08-2847-2ECF-A0D9D6615D7E}"/>
              </a:ext>
            </a:extLst>
          </p:cNvPr>
          <p:cNvSpPr/>
          <p:nvPr/>
        </p:nvSpPr>
        <p:spPr>
          <a:xfrm>
            <a:off x="9237067" y="23902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601952D-AF98-00CA-4FF8-64AC062D725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8494" t="69024" r="26533" b="23369"/>
          <a:stretch/>
        </p:blipFill>
        <p:spPr>
          <a:xfrm>
            <a:off x="9259794" y="2741870"/>
            <a:ext cx="812797" cy="160614"/>
          </a:xfrm>
          <a:prstGeom prst="rect">
            <a:avLst/>
          </a:prstGeom>
        </p:spPr>
      </p:pic>
      <p:pic>
        <p:nvPicPr>
          <p:cNvPr id="19" name="Image 18" descr="Une image contenant Police, Graphique, blanc, logo&#10;&#10;Le contenu généré par l’IA peut être incorrect.">
            <a:extLst>
              <a:ext uri="{FF2B5EF4-FFF2-40B4-BE49-F238E27FC236}">
                <a16:creationId xmlns:a16="http://schemas.microsoft.com/office/drawing/2014/main" id="{F581E855-49EA-4B8B-9DE7-D3E54A2E98F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1998" y="2611474"/>
            <a:ext cx="842812" cy="42140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4370BAB-C011-CDC1-5064-CA3FFE8C8C3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9140" y="1792032"/>
            <a:ext cx="792000" cy="29651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8919268-DAF0-1C6E-E6C4-5EAD3F96BFF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70254" y="1806337"/>
            <a:ext cx="756000" cy="26790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CF8DBA7-7B6F-B6E4-E087-65DEACB81C3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58229" y="1803033"/>
            <a:ext cx="860965" cy="2745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FA88EAA2-EA0F-6ED1-9372-A4F123D58CE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80797" y="1779554"/>
            <a:ext cx="506555" cy="32146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3976726-5F2C-411F-9FB7-2E0CEC3F2CF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21099" y="2687915"/>
            <a:ext cx="730386" cy="26852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CF2D50CE-26EC-2AE1-BBA0-6C05ACA95B0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57277" y="2680683"/>
            <a:ext cx="765264" cy="28298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6DCBE72-2BF8-6FAD-765B-C354B2FA04DE}"/>
              </a:ext>
            </a:extLst>
          </p:cNvPr>
          <p:cNvSpPr txBox="1"/>
          <p:nvPr/>
        </p:nvSpPr>
        <p:spPr>
          <a:xfrm>
            <a:off x="8004905" y="666974"/>
            <a:ext cx="3793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i="1"/>
              <a:t>Cette synthèse est adressée aux référents métiers pour itération et validation</a:t>
            </a:r>
          </a:p>
        </p:txBody>
      </p:sp>
    </p:spTree>
    <p:extLst>
      <p:ext uri="{BB962C8B-B14F-4D97-AF65-F5344CB8AC3E}">
        <p14:creationId xmlns:p14="http://schemas.microsoft.com/office/powerpoint/2010/main" val="234226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A19F-732B-F0F6-7A8A-689C41C8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9AD3B5A-FA1A-7E83-54C8-9AE9597CAAA6}"/>
              </a:ext>
            </a:extLst>
          </p:cNvPr>
          <p:cNvSpPr/>
          <p:nvPr/>
        </p:nvSpPr>
        <p:spPr>
          <a:xfrm>
            <a:off x="2761668" y="1551157"/>
            <a:ext cx="7538779" cy="4618811"/>
          </a:xfrm>
          <a:prstGeom prst="roundRect">
            <a:avLst>
              <a:gd name="adj" fmla="val 14764"/>
            </a:avLst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8000" rIns="108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fr-FR" sz="1400" b="1">
                <a:solidFill>
                  <a:schemeClr val="accent1"/>
                </a:solidFill>
                <a:cs typeface="Calibri" panose="020F0502020204030204" pitchFamily="34" charset="0"/>
              </a:rPr>
              <a:t>DÉFINIR LES PRINCIPES STRUCTURANTS D’UN </a:t>
            </a:r>
            <a:r>
              <a:rPr lang="fr-FR" sz="1400" b="1" i="1">
                <a:solidFill>
                  <a:schemeClr val="accent1"/>
                </a:solidFill>
                <a:cs typeface="Calibri" panose="020F0502020204030204" pitchFamily="34" charset="0"/>
              </a:rPr>
              <a:t>CORE MODEL </a:t>
            </a:r>
            <a:r>
              <a:rPr lang="fr-FR" sz="1400" b="1">
                <a:solidFill>
                  <a:schemeClr val="accent1"/>
                </a:solidFill>
                <a:cs typeface="Calibri" panose="020F0502020204030204" pitchFamily="34" charset="0"/>
              </a:rPr>
              <a:t>POUR LE GROUPE</a:t>
            </a:r>
          </a:p>
          <a:p>
            <a:pPr>
              <a:spcAft>
                <a:spcPts val="600"/>
              </a:spcAft>
            </a:pPr>
            <a:r>
              <a:rPr lang="fr-FR" sz="1400" b="1">
                <a:solidFill>
                  <a:srgbClr val="1A1C30"/>
                </a:solidFill>
                <a:cs typeface="Calibri" panose="020F0502020204030204" pitchFamily="34" charset="0"/>
              </a:rPr>
              <a:t>en comparant les processus et les solutions actuels de chaque entité,</a:t>
            </a:r>
            <a:br>
              <a:rPr lang="fr-FR" sz="14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400" b="1">
                <a:solidFill>
                  <a:srgbClr val="1A1C30"/>
                </a:solidFill>
                <a:cs typeface="Calibri" panose="020F0502020204030204" pitchFamily="34" charset="0"/>
              </a:rPr>
              <a:t>pour en déduire 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/>
              <a:t>les bonnes pratiques et les synergies potentielles</a:t>
            </a:r>
            <a:r>
              <a:rPr lang="fr-FR" sz="1400">
                <a:solidFill>
                  <a:srgbClr val="1A1C30"/>
                </a:solidFill>
                <a:cs typeface="Calibri" panose="020F0502020204030204" pitchFamily="34" charset="0"/>
              </a:rPr>
              <a:t>,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>
                <a:solidFill>
                  <a:srgbClr val="1A1C30"/>
                </a:solidFill>
                <a:cs typeface="Calibri" panose="020F0502020204030204" pitchFamily="34" charset="0"/>
              </a:rPr>
              <a:t>les limites des outils actuels,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>
                <a:solidFill>
                  <a:srgbClr val="1A1C30"/>
                </a:solidFill>
                <a:cs typeface="Calibri" panose="020F0502020204030204" pitchFamily="34" charset="0"/>
              </a:rPr>
              <a:t>les besoins à adresser…</a:t>
            </a:r>
          </a:p>
          <a:p>
            <a:pPr>
              <a:spcAft>
                <a:spcPts val="600"/>
              </a:spcAft>
            </a:pPr>
            <a:endParaRPr lang="fr-FR" sz="14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sz="1400" b="1">
                <a:solidFill>
                  <a:schemeClr val="accent1"/>
                </a:solidFill>
                <a:cs typeface="Calibri" panose="020F0502020204030204" pitchFamily="34" charset="0"/>
              </a:rPr>
              <a:t>IDENTIFIER LES SOLUTIONS ADAPTÉES</a:t>
            </a:r>
          </a:p>
          <a:p>
            <a:pPr>
              <a:spcAft>
                <a:spcPts val="600"/>
              </a:spcAft>
            </a:pPr>
            <a:r>
              <a:rPr lang="fr-FR" sz="1400">
                <a:solidFill>
                  <a:srgbClr val="1A1C30"/>
                </a:solidFill>
                <a:cs typeface="Calibri" panose="020F0502020204030204" pitchFamily="34" charset="0"/>
              </a:rPr>
              <a:t>… et évaluer les solutions ERP du marché sur leur réponse aux principaux enjeux.</a:t>
            </a:r>
          </a:p>
        </p:txBody>
      </p:sp>
      <p:pic>
        <p:nvPicPr>
          <p:cNvPr id="13" name="Image 1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0D0F4A29-EBF0-6655-FCA2-7FF778E33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377" y="1272782"/>
            <a:ext cx="1024227" cy="1024227"/>
          </a:xfrm>
          <a:prstGeom prst="rect">
            <a:avLst/>
          </a:prstGeom>
        </p:spPr>
      </p:pic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7E0296C6-0110-7C88-08D0-9AF59E8AB3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6" name="Titre 2">
            <a:extLst>
              <a:ext uri="{FF2B5EF4-FFF2-40B4-BE49-F238E27FC236}">
                <a16:creationId xmlns:a16="http://schemas.microsoft.com/office/drawing/2014/main" id="{E3F24B27-B8BF-D865-3227-F8C6DA8B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Les objectifs de l’étude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9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6C74-9714-2D85-99E2-A36FD81E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03DCE9E-6477-1203-ED85-3A3B28C76FED}"/>
              </a:ext>
            </a:extLst>
          </p:cNvPr>
          <p:cNvSpPr/>
          <p:nvPr/>
        </p:nvSpPr>
        <p:spPr>
          <a:xfrm>
            <a:off x="886407" y="755780"/>
            <a:ext cx="10982132" cy="5533053"/>
          </a:xfrm>
          <a:prstGeom prst="roundRect">
            <a:avLst>
              <a:gd name="adj" fmla="val 14764"/>
            </a:avLst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8000" rIns="108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/>
              <a:t>Ce document de synthèse recense les principaux besoins collectés lors des ateliers avec les référents métiers de Beaumanoir et </a:t>
            </a:r>
            <a:r>
              <a:rPr lang="fr-FR" sz="1200" err="1"/>
              <a:t>Boardriders</a:t>
            </a:r>
            <a:r>
              <a:rPr lang="fr-FR" sz="1200"/>
              <a:t>, au cours des mois de mars et avril.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/>
              <a:t>Les besoins à reconduire, liés aux processus et aux modes de gestion actuels, couverts par les outils existants.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/>
              <a:t>Les besoins « futurs », liés à des évolutions possibles / souhaitées des processus et des outils (dont des besoins de digitalisation).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Ces besoins fonctionnels doivent permettre d’</a:t>
            </a:r>
            <a:r>
              <a:rPr lang="fr-FR" sz="1200" b="1">
                <a:solidFill>
                  <a:srgbClr val="1A1C30"/>
                </a:solidFill>
                <a:cs typeface="Calibri" panose="020F0502020204030204" pitchFamily="34" charset="0"/>
              </a:rPr>
              <a:t>évaluer les solutions ERP du marché </a:t>
            </a: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à travers une grille de </a:t>
            </a:r>
            <a:r>
              <a:rPr lang="fr-FR" sz="1200" i="1" err="1">
                <a:solidFill>
                  <a:srgbClr val="1A1C30"/>
                </a:solidFill>
                <a:cs typeface="Calibri" panose="020F0502020204030204" pitchFamily="34" charset="0"/>
              </a:rPr>
              <a:t>scoring</a:t>
            </a:r>
            <a:r>
              <a:rPr lang="fr-FR" sz="1200" i="1">
                <a:solidFill>
                  <a:srgbClr val="1A1C30"/>
                </a:solidFill>
                <a:cs typeface="Calibri" panose="020F0502020204030204" pitchFamily="34" charset="0"/>
              </a:rPr>
              <a:t>.</a:t>
            </a:r>
            <a:br>
              <a:rPr lang="fr-FR" sz="1200" i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Cette dernière sera basée sur les attentes recensées dans </a:t>
            </a:r>
            <a:r>
              <a:rPr lang="fr-FR" sz="1200" b="1">
                <a:solidFill>
                  <a:srgbClr val="1A1C30"/>
                </a:solidFill>
                <a:cs typeface="Calibri" panose="020F0502020204030204" pitchFamily="34" charset="0"/>
              </a:rPr>
              <a:t>les tableaux de synthèse de chaque section</a:t>
            </a: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, ci-après.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Ces besoins cible posent également quelques-uns </a:t>
            </a:r>
            <a:r>
              <a:rPr lang="fr-FR" sz="1200" b="1">
                <a:solidFill>
                  <a:srgbClr val="1A1C30"/>
                </a:solidFill>
                <a:cs typeface="Calibri" panose="020F0502020204030204" pitchFamily="34" charset="0"/>
              </a:rPr>
              <a:t>des principes structurants du </a:t>
            </a:r>
            <a:r>
              <a:rPr lang="fr-FR" sz="1200" b="1" i="1" err="1">
                <a:solidFill>
                  <a:srgbClr val="1A1C30"/>
                </a:solidFill>
                <a:cs typeface="Calibri" panose="020F0502020204030204" pitchFamily="34" charset="0"/>
              </a:rPr>
              <a:t>core</a:t>
            </a:r>
            <a:r>
              <a:rPr lang="fr-FR" sz="1200" b="1" i="1">
                <a:solidFill>
                  <a:srgbClr val="1A1C30"/>
                </a:solidFill>
                <a:cs typeface="Calibri" panose="020F0502020204030204" pitchFamily="34" charset="0"/>
              </a:rPr>
              <a:t> model </a:t>
            </a:r>
            <a:r>
              <a:rPr lang="fr-FR" sz="1200" b="1">
                <a:solidFill>
                  <a:srgbClr val="1A1C30"/>
                </a:solidFill>
                <a:cs typeface="Calibri" panose="020F0502020204030204" pitchFamily="34" charset="0"/>
              </a:rPr>
              <a:t>du Groupe</a:t>
            </a: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, à construire dans l’éventualité du déploiement d’une nouvelle solution.</a:t>
            </a:r>
            <a:b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Cette synthèse contient certaines pages explicatives de ces principes (macro), pour partage.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Il est à noter que cette liste ne contient pas le détail / l’exhaustivité des règles de gestion, de calcul, etc.</a:t>
            </a:r>
            <a:b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Les tableaux de synthèse (et la grille de </a:t>
            </a:r>
            <a:r>
              <a:rPr lang="fr-FR" sz="1200" i="1" err="1">
                <a:solidFill>
                  <a:srgbClr val="1A1C30"/>
                </a:solidFill>
                <a:cs typeface="Calibri" panose="020F0502020204030204" pitchFamily="34" charset="0"/>
              </a:rPr>
              <a:t>scoring</a:t>
            </a: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 qui en découle) ont pour but de </a:t>
            </a:r>
            <a:r>
              <a:rPr lang="fr-FR" sz="1200" b="1">
                <a:solidFill>
                  <a:srgbClr val="1A1C30"/>
                </a:solidFill>
                <a:cs typeface="Calibri" panose="020F0502020204030204" pitchFamily="34" charset="0"/>
              </a:rPr>
              <a:t>valider la capacité des ERP à adresser chaque besoin </a:t>
            </a: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avec 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/>
              <a:t>des fonctionnalités, des données, des critères / paramètres adéquats,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/>
              <a:t>un niveau suffisant de finesse et de granularité.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2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Il est à noter également que ces besoins sont limités au périmètre couvert par l’ERP, et présenté dans la cartographie ci-après. Les besoins relatifs à certains processus intervenant en amont, en aval ou en périphérie de ce périmètre, et gérés dans des applications dédiées, ne voient pas leurs besoins recensés ici.</a:t>
            </a:r>
            <a:b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Ils sont, à ce stade de l’étude, considérés reconduits / reconductibles par la reconnexion entre un nouvel ERP et les applications existantes.</a:t>
            </a:r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BD0978B2-AB62-E0CC-8462-263D661674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6" name="Titre 2">
            <a:extLst>
              <a:ext uri="{FF2B5EF4-FFF2-40B4-BE49-F238E27FC236}">
                <a16:creationId xmlns:a16="http://schemas.microsoft.com/office/drawing/2014/main" id="{677B63FB-1558-8FCA-DCD4-A51B820E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INTRODUCTION à la synthèse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2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2A9C-BD74-537D-53F7-34649955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2D5BD4-7641-D547-7A67-05DD894A6FBB}"/>
              </a:ext>
            </a:extLst>
          </p:cNvPr>
          <p:cNvSpPr/>
          <p:nvPr/>
        </p:nvSpPr>
        <p:spPr>
          <a:xfrm>
            <a:off x="4283997" y="797692"/>
            <a:ext cx="3240000" cy="13875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Développement Produits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DA034-0723-6332-0932-117E12A84671}"/>
              </a:ext>
            </a:extLst>
          </p:cNvPr>
          <p:cNvSpPr/>
          <p:nvPr/>
        </p:nvSpPr>
        <p:spPr>
          <a:xfrm>
            <a:off x="989011" y="794163"/>
            <a:ext cx="3240000" cy="13875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Merch</a:t>
            </a: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Planning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22F8751-2DEB-9FA6-4203-0AAE56FC2BF4}"/>
              </a:ext>
            </a:extLst>
          </p:cNvPr>
          <p:cNvSpPr/>
          <p:nvPr/>
        </p:nvSpPr>
        <p:spPr>
          <a:xfrm>
            <a:off x="989011" y="2227633"/>
            <a:ext cx="3240000" cy="13118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A5D550A-BAA4-740D-EE65-0E3999C7092D}"/>
              </a:ext>
            </a:extLst>
          </p:cNvPr>
          <p:cNvSpPr/>
          <p:nvPr/>
        </p:nvSpPr>
        <p:spPr>
          <a:xfrm>
            <a:off x="4283997" y="2227633"/>
            <a:ext cx="3240000" cy="131186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Procurement</a:t>
            </a:r>
            <a:endParaRPr lang="fr-FR" sz="11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508C563-7CB9-6766-ED18-5962A8E05714}"/>
              </a:ext>
            </a:extLst>
          </p:cNvPr>
          <p:cNvSpPr/>
          <p:nvPr/>
        </p:nvSpPr>
        <p:spPr>
          <a:xfrm>
            <a:off x="989011" y="5621915"/>
            <a:ext cx="3240000" cy="973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757F55-EB21-AD7A-0CEF-D034B694B308}"/>
              </a:ext>
            </a:extLst>
          </p:cNvPr>
          <p:cNvSpPr/>
          <p:nvPr/>
        </p:nvSpPr>
        <p:spPr>
          <a:xfrm>
            <a:off x="7571622" y="2227633"/>
            <a:ext cx="3240000" cy="13118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Inventory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1E814DF-B26B-C7DA-74AF-F8ED36841C71}"/>
              </a:ext>
            </a:extLst>
          </p:cNvPr>
          <p:cNvSpPr/>
          <p:nvPr/>
        </p:nvSpPr>
        <p:spPr>
          <a:xfrm>
            <a:off x="989011" y="3579522"/>
            <a:ext cx="3240000" cy="19975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960FA01-EB2B-4671-2B75-D93CAEB3A816}"/>
              </a:ext>
            </a:extLst>
          </p:cNvPr>
          <p:cNvSpPr/>
          <p:nvPr/>
        </p:nvSpPr>
        <p:spPr>
          <a:xfrm>
            <a:off x="4283997" y="3579523"/>
            <a:ext cx="3240000" cy="151712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Wholesale</a:t>
            </a:r>
            <a:endParaRPr lang="fr-FR" sz="11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5211A96-4DED-F137-6B33-67FA1CDAEC84}"/>
              </a:ext>
            </a:extLst>
          </p:cNvPr>
          <p:cNvSpPr/>
          <p:nvPr/>
        </p:nvSpPr>
        <p:spPr>
          <a:xfrm>
            <a:off x="7572388" y="794164"/>
            <a:ext cx="3240000" cy="13875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data Produits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680312F-5499-8B6B-4DB7-84CFD42BB59B}"/>
              </a:ext>
            </a:extLst>
          </p:cNvPr>
          <p:cNvSpPr/>
          <p:nvPr/>
        </p:nvSpPr>
        <p:spPr>
          <a:xfrm>
            <a:off x="7571622" y="3579524"/>
            <a:ext cx="3240000" cy="15171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Commissionnement Force de Vente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67FC91C-1CE8-456D-66A8-45D51952719D}"/>
              </a:ext>
            </a:extLst>
          </p:cNvPr>
          <p:cNvSpPr/>
          <p:nvPr/>
        </p:nvSpPr>
        <p:spPr>
          <a:xfrm>
            <a:off x="4283997" y="5140515"/>
            <a:ext cx="3240000" cy="1464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data clients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AB1660B-2313-A777-6B96-6A79F600DCC6}"/>
              </a:ext>
            </a:extLst>
          </p:cNvPr>
          <p:cNvSpPr/>
          <p:nvPr/>
        </p:nvSpPr>
        <p:spPr>
          <a:xfrm>
            <a:off x="7571622" y="5140515"/>
            <a:ext cx="3240000" cy="1464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 client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9639F54-40B6-CE8C-09D7-65EBA2048D9F}"/>
              </a:ext>
            </a:extLst>
          </p:cNvPr>
          <p:cNvSpPr/>
          <p:nvPr/>
        </p:nvSpPr>
        <p:spPr>
          <a:xfrm>
            <a:off x="1090810" y="1072945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BPC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77B4757-B2AC-9B55-5E51-C46FB0E8E4BE}"/>
              </a:ext>
            </a:extLst>
          </p:cNvPr>
          <p:cNvSpPr/>
          <p:nvPr/>
        </p:nvSpPr>
        <p:spPr>
          <a:xfrm>
            <a:off x="1297979" y="1331770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074C35F-7E82-B506-121F-076B97EA8022}"/>
              </a:ext>
            </a:extLst>
          </p:cNvPr>
          <p:cNvSpPr/>
          <p:nvPr/>
        </p:nvSpPr>
        <p:spPr>
          <a:xfrm>
            <a:off x="7660143" y="1169283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EE52816-2D3F-9C3F-E7F8-6DA8AB364D75}"/>
              </a:ext>
            </a:extLst>
          </p:cNvPr>
          <p:cNvSpPr/>
          <p:nvPr/>
        </p:nvSpPr>
        <p:spPr>
          <a:xfrm>
            <a:off x="7660143" y="1569553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58A3FB0-E304-C8FD-918F-8066AF81D0A9}"/>
              </a:ext>
            </a:extLst>
          </p:cNvPr>
          <p:cNvSpPr/>
          <p:nvPr/>
        </p:nvSpPr>
        <p:spPr>
          <a:xfrm>
            <a:off x="1090810" y="2712058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8DC1993-F5E9-81E1-9A9D-E9940C44F6EE}"/>
              </a:ext>
            </a:extLst>
          </p:cNvPr>
          <p:cNvSpPr/>
          <p:nvPr/>
        </p:nvSpPr>
        <p:spPr>
          <a:xfrm>
            <a:off x="4405511" y="2506792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ED35AC7-214B-E058-6B67-96DA48359D4F}"/>
              </a:ext>
            </a:extLst>
          </p:cNvPr>
          <p:cNvSpPr/>
          <p:nvPr/>
        </p:nvSpPr>
        <p:spPr>
          <a:xfrm>
            <a:off x="7660143" y="2537285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0753C6D-2919-8C11-DF43-C231930AAE94}"/>
              </a:ext>
            </a:extLst>
          </p:cNvPr>
          <p:cNvSpPr/>
          <p:nvPr/>
        </p:nvSpPr>
        <p:spPr>
          <a:xfrm>
            <a:off x="1090810" y="3923774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DC6FEA-480E-090E-65FB-2B81D8A5C19E}"/>
              </a:ext>
            </a:extLst>
          </p:cNvPr>
          <p:cNvSpPr/>
          <p:nvPr/>
        </p:nvSpPr>
        <p:spPr>
          <a:xfrm>
            <a:off x="4405513" y="3964170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D48B3BA-8B8B-6856-8663-814270028490}"/>
              </a:ext>
            </a:extLst>
          </p:cNvPr>
          <p:cNvSpPr/>
          <p:nvPr/>
        </p:nvSpPr>
        <p:spPr>
          <a:xfrm>
            <a:off x="4428450" y="5541957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9DD5CA8-ECF2-4F68-7DEE-25B386C095D1}"/>
              </a:ext>
            </a:extLst>
          </p:cNvPr>
          <p:cNvSpPr/>
          <p:nvPr/>
        </p:nvSpPr>
        <p:spPr>
          <a:xfrm>
            <a:off x="1090810" y="5901806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DB0BA4-60A2-6E54-3CD8-BC3C43789E2E}"/>
              </a:ext>
            </a:extLst>
          </p:cNvPr>
          <p:cNvSpPr/>
          <p:nvPr/>
        </p:nvSpPr>
        <p:spPr>
          <a:xfrm>
            <a:off x="4445706" y="3050113"/>
            <a:ext cx="962025" cy="282771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9B37073-1BDE-93FA-E9E9-A5EE6F95BC2D}"/>
              </a:ext>
            </a:extLst>
          </p:cNvPr>
          <p:cNvSpPr/>
          <p:nvPr/>
        </p:nvSpPr>
        <p:spPr>
          <a:xfrm>
            <a:off x="4607415" y="3231523"/>
            <a:ext cx="962025" cy="282771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SNC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E9D856-1D45-BDED-1874-CE34880541C1}"/>
              </a:ext>
            </a:extLst>
          </p:cNvPr>
          <p:cNvSpPr/>
          <p:nvPr/>
        </p:nvSpPr>
        <p:spPr>
          <a:xfrm>
            <a:off x="7660143" y="3137033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WMS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A6437CF-1ECD-0927-88BD-25338100BCCB}"/>
              </a:ext>
            </a:extLst>
          </p:cNvPr>
          <p:cNvSpPr/>
          <p:nvPr/>
        </p:nvSpPr>
        <p:spPr>
          <a:xfrm>
            <a:off x="1297979" y="6159298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3677789-C453-3934-B9FD-5BAA431C0F6B}"/>
              </a:ext>
            </a:extLst>
          </p:cNvPr>
          <p:cNvSpPr/>
          <p:nvPr/>
        </p:nvSpPr>
        <p:spPr>
          <a:xfrm>
            <a:off x="8622169" y="131503"/>
            <a:ext cx="985585" cy="169101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DE707CD-4AE2-7100-FA12-1678C11350A4}"/>
              </a:ext>
            </a:extLst>
          </p:cNvPr>
          <p:cNvSpPr/>
          <p:nvPr/>
        </p:nvSpPr>
        <p:spPr>
          <a:xfrm>
            <a:off x="8622169" y="338654"/>
            <a:ext cx="985585" cy="169101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3C7567F-8659-587B-6B31-3CA50A4538B3}"/>
              </a:ext>
            </a:extLst>
          </p:cNvPr>
          <p:cNvSpPr/>
          <p:nvPr/>
        </p:nvSpPr>
        <p:spPr>
          <a:xfrm>
            <a:off x="8622168" y="545805"/>
            <a:ext cx="985585" cy="169101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1D5FC08-210A-0307-327D-4F7BE2CF4109}"/>
              </a:ext>
            </a:extLst>
          </p:cNvPr>
          <p:cNvSpPr txBox="1"/>
          <p:nvPr/>
        </p:nvSpPr>
        <p:spPr>
          <a:xfrm>
            <a:off x="9607753" y="120591"/>
            <a:ext cx="13420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/>
              <a:t>Couvert par l’ERP et l’étude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BC2F64A-1882-C921-B071-4EA5C43DE8CC}"/>
              </a:ext>
            </a:extLst>
          </p:cNvPr>
          <p:cNvSpPr txBox="1"/>
          <p:nvPr/>
        </p:nvSpPr>
        <p:spPr>
          <a:xfrm>
            <a:off x="9607752" y="326939"/>
            <a:ext cx="21643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/>
              <a:t>Interactions couvertes dans le cadre de l’étude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EE9CDF6-31C5-E654-C6F1-87EC85DDB996}"/>
              </a:ext>
            </a:extLst>
          </p:cNvPr>
          <p:cNvSpPr txBox="1"/>
          <p:nvPr/>
        </p:nvSpPr>
        <p:spPr>
          <a:xfrm>
            <a:off x="9607751" y="536630"/>
            <a:ext cx="7072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/>
              <a:t>Non couvert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37B3FB0-7FE8-F2DE-2F7F-AB044162556A}"/>
              </a:ext>
            </a:extLst>
          </p:cNvPr>
          <p:cNvSpPr/>
          <p:nvPr/>
        </p:nvSpPr>
        <p:spPr>
          <a:xfrm>
            <a:off x="4354713" y="1200084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PLM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840D8CA-3657-5A0C-DD90-FA5353501318}"/>
              </a:ext>
            </a:extLst>
          </p:cNvPr>
          <p:cNvSpPr/>
          <p:nvPr/>
        </p:nvSpPr>
        <p:spPr>
          <a:xfrm>
            <a:off x="4428450" y="5950002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658C9D-6F37-EDD3-A981-49AC42CD539F}"/>
              </a:ext>
            </a:extLst>
          </p:cNvPr>
          <p:cNvSpPr/>
          <p:nvPr/>
        </p:nvSpPr>
        <p:spPr>
          <a:xfrm>
            <a:off x="4687539" y="6201039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8378CA1-AEC6-9919-3DAC-E9AFD20333CE}"/>
              </a:ext>
            </a:extLst>
          </p:cNvPr>
          <p:cNvSpPr/>
          <p:nvPr/>
        </p:nvSpPr>
        <p:spPr>
          <a:xfrm>
            <a:off x="4405513" y="4415836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932BB9E-096D-EB37-01B3-80956188FF01}"/>
              </a:ext>
            </a:extLst>
          </p:cNvPr>
          <p:cNvSpPr/>
          <p:nvPr/>
        </p:nvSpPr>
        <p:spPr>
          <a:xfrm>
            <a:off x="4687539" y="4648196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9FA5DD4-9DEE-46B5-4773-1954718FC6F0}"/>
              </a:ext>
            </a:extLst>
          </p:cNvPr>
          <p:cNvSpPr/>
          <p:nvPr/>
        </p:nvSpPr>
        <p:spPr>
          <a:xfrm>
            <a:off x="7641114" y="5518965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DD35749-865C-2ACA-5427-24C103087B8D}"/>
              </a:ext>
            </a:extLst>
          </p:cNvPr>
          <p:cNvSpPr/>
          <p:nvPr/>
        </p:nvSpPr>
        <p:spPr>
          <a:xfrm>
            <a:off x="7900203" y="5770002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9E9CCA7A-6F26-E675-C263-FEC69A9756AF}"/>
              </a:ext>
            </a:extLst>
          </p:cNvPr>
          <p:cNvSpPr txBox="1"/>
          <p:nvPr/>
        </p:nvSpPr>
        <p:spPr>
          <a:xfrm>
            <a:off x="2292638" y="1154017"/>
            <a:ext cx="156492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Budget de ventes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Plan de collection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Prévisions de ventes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2C49BCA-9291-1ACC-0863-CF3F3CA18803}"/>
              </a:ext>
            </a:extLst>
          </p:cNvPr>
          <p:cNvSpPr/>
          <p:nvPr/>
        </p:nvSpPr>
        <p:spPr>
          <a:xfrm>
            <a:off x="1090809" y="5068747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SCOR-TEX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77045BF-1000-ED09-AF42-C49A5D3D14F7}"/>
              </a:ext>
            </a:extLst>
          </p:cNvPr>
          <p:cNvSpPr/>
          <p:nvPr/>
        </p:nvSpPr>
        <p:spPr>
          <a:xfrm>
            <a:off x="1090809" y="1731686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OPTIMATE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D0250017-60A2-06DB-15FF-511F745A49E9}"/>
              </a:ext>
            </a:extLst>
          </p:cNvPr>
          <p:cNvSpPr txBox="1"/>
          <p:nvPr/>
        </p:nvSpPr>
        <p:spPr>
          <a:xfrm>
            <a:off x="2292638" y="1751003"/>
            <a:ext cx="156492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Budget d’achats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Planning d’achats</a:t>
            </a: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1E298C7C-0CC2-39DD-F502-70C8164CDF69}"/>
              </a:ext>
            </a:extLst>
          </p:cNvPr>
          <p:cNvSpPr txBox="1"/>
          <p:nvPr/>
        </p:nvSpPr>
        <p:spPr>
          <a:xfrm>
            <a:off x="5316738" y="1215572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Studio et développement produits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Nomenclatures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ADAE9ED-E6A4-B563-E7D6-CF8DA3197E05}"/>
              </a:ext>
            </a:extLst>
          </p:cNvPr>
          <p:cNvSpPr txBox="1"/>
          <p:nvPr/>
        </p:nvSpPr>
        <p:spPr>
          <a:xfrm>
            <a:off x="8649296" y="969352"/>
            <a:ext cx="233859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Articles référencés (attributs, variantes)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Colisage (cross dock, </a:t>
            </a:r>
            <a:r>
              <a:rPr lang="fr-FR" b="0" err="1"/>
              <a:t>bags</a:t>
            </a:r>
            <a:r>
              <a:rPr lang="fr-FR" b="0"/>
              <a:t>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Catalogues et saisons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transactionnelles essentielles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Nomenclatures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Produits marketing, GSS</a:t>
            </a:r>
            <a:endParaRPr lang="fr-FR" b="0">
              <a:highlight>
                <a:srgbClr val="FFFF00"/>
              </a:highlight>
            </a:endParaRP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AB551AE6-336A-CAE4-8B14-D351140D7F14}"/>
              </a:ext>
            </a:extLst>
          </p:cNvPr>
          <p:cNvSpPr txBox="1"/>
          <p:nvPr/>
        </p:nvSpPr>
        <p:spPr>
          <a:xfrm>
            <a:off x="8651031" y="1818300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marketing 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Enrichissement données Articles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4FC8824C-B042-2F30-CFA1-3E14173A6B14}"/>
              </a:ext>
            </a:extLst>
          </p:cNvPr>
          <p:cNvSpPr txBox="1"/>
          <p:nvPr/>
        </p:nvSpPr>
        <p:spPr>
          <a:xfrm>
            <a:off x="2292638" y="2494454"/>
            <a:ext cx="184121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Paramètres d’appro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Commandes d’intrants (matières, </a:t>
            </a:r>
            <a:r>
              <a:rPr lang="fr-FR" b="0" err="1"/>
              <a:t>consom</a:t>
            </a:r>
            <a:r>
              <a:rPr lang="fr-FR" b="0"/>
              <a:t>, semi-finis)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Stocks d’intrants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Réservation et suivi de capacité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PDP global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388F929A-E0BA-2732-5EA0-4EDEF51E2400}"/>
              </a:ext>
            </a:extLst>
          </p:cNvPr>
          <p:cNvSpPr txBox="1"/>
          <p:nvPr/>
        </p:nvSpPr>
        <p:spPr>
          <a:xfrm>
            <a:off x="5367537" y="2257339"/>
            <a:ext cx="203338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Fournisseurs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Prix et conditions de prix d’achat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Paramètres appro et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Commandes d’achats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Etiquetage 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Retours fournisseurs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B8E7AED-62F1-3404-1CB5-4B778A399CD5}"/>
              </a:ext>
            </a:extLst>
          </p:cNvPr>
          <p:cNvSpPr txBox="1"/>
          <p:nvPr/>
        </p:nvSpPr>
        <p:spPr>
          <a:xfrm>
            <a:off x="5569440" y="3062566"/>
            <a:ext cx="18578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Workflow commandes d’achats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Suivi et statut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Relation fournisseur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DB78230D-866C-079D-A3C7-0AD14C8E78F6}"/>
              </a:ext>
            </a:extLst>
          </p:cNvPr>
          <p:cNvSpPr txBox="1"/>
          <p:nvPr/>
        </p:nvSpPr>
        <p:spPr>
          <a:xfrm>
            <a:off x="8660559" y="2301788"/>
            <a:ext cx="203338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Référentiel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Gestion des stocks théoriques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Vue des stocks physiques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Allocations et priorités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>
                <a:highlight>
                  <a:srgbClr val="FFFF00"/>
                </a:highlight>
              </a:rPr>
              <a:t>Valorisation des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>
                <a:highlight>
                  <a:srgbClr val="FFFF00"/>
                </a:highlight>
              </a:rPr>
              <a:t>Opérations de stocks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D5A2097-3026-A0BC-1AA1-AF49DC49D013}"/>
              </a:ext>
            </a:extLst>
          </p:cNvPr>
          <p:cNvSpPr/>
          <p:nvPr/>
        </p:nvSpPr>
        <p:spPr>
          <a:xfrm>
            <a:off x="1222176" y="4211673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CEGID Y2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ABE8F12-5BC3-4902-0BD8-2E2953C0B6CF}"/>
              </a:ext>
            </a:extLst>
          </p:cNvPr>
          <p:cNvSpPr txBox="1"/>
          <p:nvPr/>
        </p:nvSpPr>
        <p:spPr>
          <a:xfrm>
            <a:off x="8671822" y="3156014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Gestion des stocks </a:t>
            </a:r>
            <a:r>
              <a:rPr lang="fr-FR" b="0">
                <a:highlight>
                  <a:srgbClr val="FFFF00"/>
                </a:highlight>
              </a:rPr>
              <a:t>logiques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Opérations de stocks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F2AFA01-C47B-0C63-3019-945C20D6A13C}"/>
              </a:ext>
            </a:extLst>
          </p:cNvPr>
          <p:cNvSpPr/>
          <p:nvPr/>
        </p:nvSpPr>
        <p:spPr>
          <a:xfrm>
            <a:off x="1504202" y="4461139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15BDABEF-5339-F49C-585A-6C25AE478531}"/>
              </a:ext>
            </a:extLst>
          </p:cNvPr>
          <p:cNvSpPr txBox="1"/>
          <p:nvPr/>
        </p:nvSpPr>
        <p:spPr>
          <a:xfrm>
            <a:off x="2514601" y="3620207"/>
            <a:ext cx="161924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magasins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articles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Paramètres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de stocks </a:t>
            </a:r>
            <a:r>
              <a:rPr lang="fr-FR" b="0">
                <a:highlight>
                  <a:srgbClr val="FFFF00"/>
                </a:highlight>
              </a:rPr>
              <a:t>(valeur)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Commandes de réassort </a:t>
            </a:r>
            <a:r>
              <a:rPr lang="fr-FR" b="0">
                <a:highlight>
                  <a:srgbClr val="FFFF00"/>
                </a:highlight>
              </a:rPr>
              <a:t>(stock dépôt -&gt; magasin)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Commandes de vente </a:t>
            </a:r>
            <a:r>
              <a:rPr lang="fr-FR" b="0">
                <a:highlight>
                  <a:srgbClr val="FFFF00"/>
                </a:highlight>
              </a:rPr>
              <a:t>(magasins et B2C)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Retours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4A04BF30-1FFF-DE14-A8DD-C64FCAC1F56D}"/>
              </a:ext>
            </a:extLst>
          </p:cNvPr>
          <p:cNvSpPr txBox="1"/>
          <p:nvPr/>
        </p:nvSpPr>
        <p:spPr>
          <a:xfrm>
            <a:off x="5367536" y="3654417"/>
            <a:ext cx="2033387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clients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articles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prix et conditions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Paramètres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Données de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Commandes de vente </a:t>
            </a:r>
            <a:r>
              <a:rPr lang="fr-FR" b="0">
                <a:highlight>
                  <a:srgbClr val="FFFF00"/>
                </a:highlight>
              </a:rPr>
              <a:t>(B2B)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>
                <a:highlight>
                  <a:srgbClr val="FFFF00"/>
                </a:highlight>
              </a:rPr>
              <a:t>Retours clients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1F1E4163-6022-C5B7-9CE6-C8BFA5D7C430}"/>
              </a:ext>
            </a:extLst>
          </p:cNvPr>
          <p:cNvSpPr txBox="1"/>
          <p:nvPr/>
        </p:nvSpPr>
        <p:spPr>
          <a:xfrm>
            <a:off x="5402513" y="5353108"/>
            <a:ext cx="2065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Organisation et comptes clients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Contacts principaux et coordonnées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Informations financières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err="1"/>
              <a:t>Scoring</a:t>
            </a:r>
            <a:r>
              <a:rPr lang="fr-FR" sz="800"/>
              <a:t> et gestion de risque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Vues et hiérarchies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Conditions </a:t>
            </a:r>
            <a:r>
              <a:rPr lang="fr-FR" sz="800" err="1"/>
              <a:t>comm</a:t>
            </a:r>
            <a:r>
              <a:rPr lang="fr-FR" sz="800"/>
              <a:t>. et </a:t>
            </a:r>
            <a:r>
              <a:rPr lang="fr-FR" sz="800" err="1"/>
              <a:t>contract</a:t>
            </a:r>
            <a:r>
              <a:rPr lang="fr-FR" sz="800"/>
              <a:t>.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634718CB-187F-105A-8FF5-487BFE39BD58}"/>
              </a:ext>
            </a:extLst>
          </p:cNvPr>
          <p:cNvSpPr txBox="1"/>
          <p:nvPr/>
        </p:nvSpPr>
        <p:spPr>
          <a:xfrm>
            <a:off x="5715302" y="6193910"/>
            <a:ext cx="16856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Contacts et coordonnées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Activités commerciales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406BD7B9-FF1C-A388-675C-3D4AB00F4B2D}"/>
              </a:ext>
            </a:extLst>
          </p:cNvPr>
          <p:cNvSpPr txBox="1"/>
          <p:nvPr/>
        </p:nvSpPr>
        <p:spPr>
          <a:xfrm>
            <a:off x="8862228" y="5421441"/>
            <a:ext cx="1997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Portail client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Communication et  inbound and </a:t>
            </a:r>
            <a:r>
              <a:rPr lang="fr-FR" sz="800" err="1"/>
              <a:t>outbound</a:t>
            </a:r>
            <a:endParaRPr lang="fr-FR" sz="80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SAV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/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C5505C01-0070-69AE-2767-E92AD367E14E}"/>
              </a:ext>
            </a:extLst>
          </p:cNvPr>
          <p:cNvSpPr txBox="1"/>
          <p:nvPr/>
        </p:nvSpPr>
        <p:spPr>
          <a:xfrm>
            <a:off x="5654329" y="4589184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Portail client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Opérations promotionnelles</a:t>
            </a:r>
          </a:p>
        </p:txBody>
      </p:sp>
      <p:sp>
        <p:nvSpPr>
          <p:cNvPr id="186" name="ZoneTexte 185">
            <a:extLst>
              <a:ext uri="{FF2B5EF4-FFF2-40B4-BE49-F238E27FC236}">
                <a16:creationId xmlns:a16="http://schemas.microsoft.com/office/drawing/2014/main" id="{38649F6D-C7A6-1B8C-FB90-81816ABDB71B}"/>
              </a:ext>
            </a:extLst>
          </p:cNvPr>
          <p:cNvSpPr txBox="1"/>
          <p:nvPr/>
        </p:nvSpPr>
        <p:spPr>
          <a:xfrm>
            <a:off x="2372126" y="5158805"/>
            <a:ext cx="183295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Calcul de stock </a:t>
            </a:r>
            <a:r>
              <a:rPr lang="fr-FR" b="0"/>
              <a:t>magasin idéal</a:t>
            </a:r>
            <a:endParaRPr lang="fr-FR" b="0" dirty="0"/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405E7710-E496-B48A-8A07-96C006F8B778}"/>
              </a:ext>
            </a:extLst>
          </p:cNvPr>
          <p:cNvSpPr txBox="1"/>
          <p:nvPr/>
        </p:nvSpPr>
        <p:spPr>
          <a:xfrm>
            <a:off x="2371049" y="5865320"/>
            <a:ext cx="1997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Ventes magasins détaillées</a:t>
            </a:r>
            <a:br>
              <a:rPr lang="fr-FR" sz="800"/>
            </a:br>
            <a:r>
              <a:rPr lang="fr-FR" sz="800"/>
              <a:t>(tickets de ventes)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/>
              <a:t>Merchandising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5F7868-CA4D-9249-3A59-5F804ECD01CD}"/>
              </a:ext>
            </a:extLst>
          </p:cNvPr>
          <p:cNvSpPr/>
          <p:nvPr/>
        </p:nvSpPr>
        <p:spPr>
          <a:xfrm>
            <a:off x="7747891" y="1814313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WAYQOOP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7E9A3-EC93-10A0-7FC4-538145669326}"/>
              </a:ext>
            </a:extLst>
          </p:cNvPr>
          <p:cNvSpPr/>
          <p:nvPr/>
        </p:nvSpPr>
        <p:spPr>
          <a:xfrm>
            <a:off x="7660142" y="3964170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VISTEX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BC820B7-9D6A-15D6-4245-D151A40F33EA}"/>
              </a:ext>
            </a:extLst>
          </p:cNvPr>
          <p:cNvSpPr txBox="1"/>
          <p:nvPr/>
        </p:nvSpPr>
        <p:spPr>
          <a:xfrm>
            <a:off x="8669792" y="3918943"/>
            <a:ext cx="203338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Suivi du CA réalisé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Gestion des conditions de commissionnement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Calcul des commissions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/>
              <a:t>Flux paiement (en lien ADV) ?</a:t>
            </a:r>
          </a:p>
        </p:txBody>
      </p:sp>
      <p:sp>
        <p:nvSpPr>
          <p:cNvPr id="11" name="Titre 2">
            <a:extLst>
              <a:ext uri="{FF2B5EF4-FFF2-40B4-BE49-F238E27FC236}">
                <a16:creationId xmlns:a16="http://schemas.microsoft.com/office/drawing/2014/main" id="{525F784A-8578-9435-CC26-6697ADD4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Le périmètre couvert par l’ERP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4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2C9A-CCF7-506F-3819-EE3EDA09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B5A08B7-0FE2-117D-5C3D-21A9E0E0F8F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794878CD-9291-2BD2-F11E-3825120AA763}"/>
              </a:ext>
            </a:extLst>
          </p:cNvPr>
          <p:cNvSpPr txBox="1">
            <a:spLocks/>
          </p:cNvSpPr>
          <p:nvPr/>
        </p:nvSpPr>
        <p:spPr>
          <a:xfrm>
            <a:off x="507245" y="501449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>
                <a:latin typeface="Noto Sans"/>
                <a:ea typeface="Noto Sans"/>
                <a:cs typeface="Noto Sans"/>
              </a:rPr>
              <a:t>Organisation des besoins par section</a:t>
            </a:r>
            <a:endParaRPr lang="fr-FR"/>
          </a:p>
        </p:txBody>
      </p:sp>
      <p:sp>
        <p:nvSpPr>
          <p:cNvPr id="22" name="Titre 2">
            <a:extLst>
              <a:ext uri="{FF2B5EF4-FFF2-40B4-BE49-F238E27FC236}">
                <a16:creationId xmlns:a16="http://schemas.microsoft.com/office/drawing/2014/main" id="{C89013B1-2448-B4B8-6EAB-99301445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Sommaire </a:t>
            </a:r>
            <a:endParaRPr lang="en-US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DDDE854-B94A-CB35-C92D-2C4AA6C822C7}"/>
              </a:ext>
            </a:extLst>
          </p:cNvPr>
          <p:cNvSpPr txBox="1"/>
          <p:nvPr/>
        </p:nvSpPr>
        <p:spPr>
          <a:xfrm>
            <a:off x="507245" y="1249252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B851804-10A9-1829-1A68-13AA164E333C}"/>
              </a:ext>
            </a:extLst>
          </p:cNvPr>
          <p:cNvSpPr txBox="1"/>
          <p:nvPr/>
        </p:nvSpPr>
        <p:spPr>
          <a:xfrm>
            <a:off x="507245" y="2598510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15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C6AE68-E08C-25EC-C607-F28A178FC5C3}"/>
              </a:ext>
            </a:extLst>
          </p:cNvPr>
          <p:cNvSpPr/>
          <p:nvPr/>
        </p:nvSpPr>
        <p:spPr>
          <a:xfrm>
            <a:off x="1284356" y="1722991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Saisons, permanents et carry-over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A5B3946-C132-E78F-0494-07E67F1C651B}"/>
              </a:ext>
            </a:extLst>
          </p:cNvPr>
          <p:cNvSpPr/>
          <p:nvPr/>
        </p:nvSpPr>
        <p:spPr>
          <a:xfrm>
            <a:off x="1284356" y="2397620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Achats et réservations de matière et capacité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07FE9C-3451-63FF-AA8D-C6D3BD1C4633}"/>
              </a:ext>
            </a:extLst>
          </p:cNvPr>
          <p:cNvSpPr/>
          <p:nvPr/>
        </p:nvSpPr>
        <p:spPr>
          <a:xfrm>
            <a:off x="1284356" y="3072249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Commandes d’achats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A30BCA-F32E-1EE5-3FAA-739CE203FA32}"/>
              </a:ext>
            </a:extLst>
          </p:cNvPr>
          <p:cNvSpPr/>
          <p:nvPr/>
        </p:nvSpPr>
        <p:spPr>
          <a:xfrm>
            <a:off x="1284356" y="3746878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Commandes client et allocations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24BD3AF-6418-0B77-C173-D1E85F61488A}"/>
              </a:ext>
            </a:extLst>
          </p:cNvPr>
          <p:cNvSpPr/>
          <p:nvPr/>
        </p:nvSpPr>
        <p:spPr>
          <a:xfrm>
            <a:off x="1284356" y="5096136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Expédition et suivi</a:t>
            </a:r>
            <a:b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Livraisons et retours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0A58530-9768-8CE3-1E42-FBBCFFDC7387}"/>
              </a:ext>
            </a:extLst>
          </p:cNvPr>
          <p:cNvSpPr/>
          <p:nvPr/>
        </p:nvSpPr>
        <p:spPr>
          <a:xfrm>
            <a:off x="1284356" y="4421507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Gestion des stocks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15CE3DD-8AF3-4746-DB44-BEFB5E85A4DB}"/>
              </a:ext>
            </a:extLst>
          </p:cNvPr>
          <p:cNvSpPr/>
          <p:nvPr/>
        </p:nvSpPr>
        <p:spPr>
          <a:xfrm>
            <a:off x="1284356" y="5770765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ADV</a:t>
            </a:r>
            <a:b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Finance et comptabilité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12D510-ABD4-8562-8644-574BCFF35529}"/>
              </a:ext>
            </a:extLst>
          </p:cNvPr>
          <p:cNvSpPr/>
          <p:nvPr/>
        </p:nvSpPr>
        <p:spPr>
          <a:xfrm>
            <a:off x="1284356" y="1048362"/>
            <a:ext cx="3584824" cy="648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Données référentielles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E860B34B-860F-6115-8F96-D7F6BCB6EA2A}"/>
              </a:ext>
            </a:extLst>
          </p:cNvPr>
          <p:cNvSpPr txBox="1"/>
          <p:nvPr/>
        </p:nvSpPr>
        <p:spPr>
          <a:xfrm>
            <a:off x="507245" y="1923881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10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ADC170F3-474E-4B84-61AF-97A976E2C449}"/>
              </a:ext>
            </a:extLst>
          </p:cNvPr>
          <p:cNvSpPr txBox="1"/>
          <p:nvPr/>
        </p:nvSpPr>
        <p:spPr>
          <a:xfrm>
            <a:off x="507245" y="3273139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19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1228ECF2-EAE7-B9FF-AB7F-C5FD38A29328}"/>
              </a:ext>
            </a:extLst>
          </p:cNvPr>
          <p:cNvSpPr txBox="1"/>
          <p:nvPr/>
        </p:nvSpPr>
        <p:spPr>
          <a:xfrm>
            <a:off x="507245" y="3947768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22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4411090D-DE14-7621-2471-15A39D0A6ABD}"/>
              </a:ext>
            </a:extLst>
          </p:cNvPr>
          <p:cNvSpPr txBox="1"/>
          <p:nvPr/>
        </p:nvSpPr>
        <p:spPr>
          <a:xfrm>
            <a:off x="507245" y="4622397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34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A2528788-4C71-2A1F-A98A-219A3006F7FA}"/>
              </a:ext>
            </a:extLst>
          </p:cNvPr>
          <p:cNvSpPr txBox="1"/>
          <p:nvPr/>
        </p:nvSpPr>
        <p:spPr>
          <a:xfrm>
            <a:off x="507245" y="5297026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37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430F1D-3754-198C-8549-8B015871FD7B}"/>
              </a:ext>
            </a:extLst>
          </p:cNvPr>
          <p:cNvSpPr txBox="1"/>
          <p:nvPr/>
        </p:nvSpPr>
        <p:spPr>
          <a:xfrm>
            <a:off x="507245" y="5971655"/>
            <a:ext cx="673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cs typeface="Calibri" panose="020F0502020204030204" pitchFamily="34" charset="0"/>
              </a:rPr>
              <a:t>Page 40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9B061E9B-880F-2B13-1A2E-3799E0ECDA1E}"/>
              </a:ext>
            </a:extLst>
          </p:cNvPr>
          <p:cNvSpPr txBox="1"/>
          <p:nvPr/>
        </p:nvSpPr>
        <p:spPr>
          <a:xfrm>
            <a:off x="4928616" y="876014"/>
            <a:ext cx="525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7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Habilitations (multi-sociétés, multi-entités).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Organisation et réseaux.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Articles.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Tiers (clients, fournisseurs).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Prix et conditions de prix (vente et achats), dont promotions.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Conditions contractuelles et remises.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700" dirty="0"/>
              <a:t>Conditions logistiques (approvisionnement, livraison, transport et colisage).</a:t>
            </a:r>
            <a:endParaRPr lang="fr-FR" sz="700" b="1" dirty="0">
              <a:solidFill>
                <a:schemeClr val="accent1"/>
              </a:solidFill>
            </a:endParaRP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D482B645-0129-05A5-F833-6F7278079CA4}"/>
              </a:ext>
            </a:extLst>
          </p:cNvPr>
          <p:cNvSpPr txBox="1"/>
          <p:nvPr/>
        </p:nvSpPr>
        <p:spPr>
          <a:xfrm>
            <a:off x="4928616" y="1888947"/>
            <a:ext cx="525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Besoins transverses associés à la dimensions « saison »</a:t>
            </a:r>
          </a:p>
          <a:p>
            <a:r>
              <a:rPr lang="fr-FR"/>
              <a:t>Besoins spécifiques aux articles saisonniers, permanents (dont réassort), carry-over.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E813C391-1405-3150-60A0-6ED67FC458AF}"/>
              </a:ext>
            </a:extLst>
          </p:cNvPr>
          <p:cNvSpPr txBox="1"/>
          <p:nvPr/>
        </p:nvSpPr>
        <p:spPr>
          <a:xfrm>
            <a:off x="4928616" y="2460010"/>
            <a:ext cx="52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Calcul des besoins / contingents de capacités à réserver.</a:t>
            </a:r>
          </a:p>
          <a:p>
            <a:r>
              <a:rPr lang="fr-FR"/>
              <a:t>Calcul des besoins matières à partir des emplois.</a:t>
            </a:r>
          </a:p>
          <a:p>
            <a:r>
              <a:rPr lang="fr-FR"/>
              <a:t>Cadencement des achats et approvisionnements de matières par rapport aux commandes d’achats de produits finis.</a:t>
            </a:r>
          </a:p>
          <a:p>
            <a:r>
              <a:rPr lang="fr-FR"/>
              <a:t>Gestion des « stocks » (prévisions, consommations théoriques et réelles, disponible) et des seuils.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4D6032D0-38BC-E155-8494-DA546E7BC1D0}"/>
              </a:ext>
            </a:extLst>
          </p:cNvPr>
          <p:cNvSpPr txBox="1"/>
          <p:nvPr/>
        </p:nvSpPr>
        <p:spPr>
          <a:xfrm>
            <a:off x="4933188" y="3009673"/>
            <a:ext cx="525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Transactions et gestion en masse.</a:t>
            </a:r>
          </a:p>
          <a:p>
            <a:r>
              <a:rPr lang="fr-FR"/>
              <a:t>Calcul automatique des rétroplannings.</a:t>
            </a:r>
          </a:p>
          <a:p>
            <a:r>
              <a:rPr lang="fr-FR"/>
              <a:t>Suivi de commande d’achat.</a:t>
            </a:r>
          </a:p>
          <a:p>
            <a:r>
              <a:rPr lang="fr-FR"/>
              <a:t>Cockpit de pilotage, dont écarts avec commandes de vente.</a:t>
            </a:r>
          </a:p>
          <a:p>
            <a:r>
              <a:rPr lang="fr-FR"/>
              <a:t>Portail fournisseur et workflow intégré.</a:t>
            </a:r>
          </a:p>
          <a:p>
            <a:r>
              <a:rPr lang="fr-FR"/>
              <a:t>Commandes spéciales (TPO, SMU).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C6B9960C-EAA7-B52F-AC9B-D0A6A5A02E20}"/>
              </a:ext>
            </a:extLst>
          </p:cNvPr>
          <p:cNvSpPr txBox="1"/>
          <p:nvPr/>
        </p:nvSpPr>
        <p:spPr>
          <a:xfrm>
            <a:off x="4928616" y="3701546"/>
            <a:ext cx="525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Transactions et gestion en masse.</a:t>
            </a:r>
          </a:p>
          <a:p>
            <a:r>
              <a:rPr lang="fr-FR"/>
              <a:t>Pré-commandes et contrats / commandes ouvertes.</a:t>
            </a:r>
          </a:p>
          <a:p>
            <a:r>
              <a:rPr lang="fr-FR"/>
              <a:t>Calcul automatique des rétroplannings (en lien avec les achats).</a:t>
            </a:r>
          </a:p>
          <a:p>
            <a:r>
              <a:rPr lang="fr-FR"/>
              <a:t>Cockpit de pilotage des commandes, dont changements de planning.</a:t>
            </a:r>
          </a:p>
          <a:p>
            <a:r>
              <a:rPr lang="fr-FR"/>
              <a:t>Optimums logistiques.</a:t>
            </a:r>
          </a:p>
          <a:p>
            <a:r>
              <a:rPr lang="fr-FR"/>
              <a:t>Gestion des allocations.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57F25BEC-F216-38DB-B632-8152EAA82FC5}"/>
              </a:ext>
            </a:extLst>
          </p:cNvPr>
          <p:cNvSpPr txBox="1"/>
          <p:nvPr/>
        </p:nvSpPr>
        <p:spPr>
          <a:xfrm>
            <a:off x="4928616" y="4479576"/>
            <a:ext cx="52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Gestion des stocks logiques.</a:t>
            </a:r>
          </a:p>
          <a:p>
            <a:r>
              <a:rPr lang="fr-FR"/>
              <a:t>Gestion des stocks déportés.</a:t>
            </a:r>
          </a:p>
          <a:p>
            <a:r>
              <a:rPr lang="fr-FR"/>
              <a:t>Règles automatiques de gestion des stocks (seuils, équilibrages).</a:t>
            </a:r>
          </a:p>
          <a:p>
            <a:r>
              <a:rPr lang="fr-FR"/>
              <a:t>Valorisation.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D8B9BBC9-3EAD-9B04-FAA6-609CEA957E84}"/>
              </a:ext>
            </a:extLst>
          </p:cNvPr>
          <p:cNvSpPr txBox="1"/>
          <p:nvPr/>
        </p:nvSpPr>
        <p:spPr>
          <a:xfrm>
            <a:off x="4928616" y="5152776"/>
            <a:ext cx="52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Préparation et expédition.</a:t>
            </a:r>
          </a:p>
          <a:p>
            <a:r>
              <a:rPr lang="fr-FR"/>
              <a:t>Sélection des modes de transport.</a:t>
            </a:r>
          </a:p>
          <a:p>
            <a:r>
              <a:rPr lang="fr-FR"/>
              <a:t>Annonce et prise de rendez-vous.</a:t>
            </a:r>
          </a:p>
          <a:p>
            <a:r>
              <a:rPr lang="fr-FR" err="1"/>
              <a:t>Tracking</a:t>
            </a:r>
            <a:r>
              <a:rPr lang="fr-FR"/>
              <a:t> et suivi de commande.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7E81F25B-4A9F-BDB5-E582-D095DB6D41F2}"/>
              </a:ext>
            </a:extLst>
          </p:cNvPr>
          <p:cNvSpPr txBox="1"/>
          <p:nvPr/>
        </p:nvSpPr>
        <p:spPr>
          <a:xfrm>
            <a:off x="4928616" y="5737890"/>
            <a:ext cx="525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fr-FR"/>
              <a:t>Facturation automatique. </a:t>
            </a:r>
          </a:p>
          <a:p>
            <a:r>
              <a:rPr lang="fr-FR"/>
              <a:t>Proforma et </a:t>
            </a:r>
            <a:r>
              <a:rPr lang="fr-FR" err="1"/>
              <a:t>pré-facture</a:t>
            </a:r>
            <a:r>
              <a:rPr lang="fr-FR"/>
              <a:t>.</a:t>
            </a:r>
          </a:p>
          <a:p>
            <a:r>
              <a:rPr lang="fr-FR"/>
              <a:t>Stocks consignés, facturation ventes et écarts.</a:t>
            </a:r>
          </a:p>
          <a:p>
            <a:r>
              <a:rPr lang="fr-FR"/>
              <a:t>Valorisation des retours.</a:t>
            </a:r>
          </a:p>
          <a:p>
            <a:r>
              <a:rPr lang="fr-FR"/>
              <a:t>Facturation PLV.</a:t>
            </a:r>
          </a:p>
          <a:p>
            <a:r>
              <a:rPr lang="fr-FR"/>
              <a:t>Rapprochement et DEB.</a:t>
            </a:r>
          </a:p>
        </p:txBody>
      </p:sp>
    </p:spTree>
    <p:extLst>
      <p:ext uri="{BB962C8B-B14F-4D97-AF65-F5344CB8AC3E}">
        <p14:creationId xmlns:p14="http://schemas.microsoft.com/office/powerpoint/2010/main" val="174541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E703-7E82-FEB5-79B5-AF52663D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F90D1A-5E7E-8E72-3A30-EC40B12B8BB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CD33CCC-928B-B803-507B-F944891169A2}"/>
              </a:ext>
            </a:extLst>
          </p:cNvPr>
          <p:cNvSpPr txBox="1"/>
          <p:nvPr/>
        </p:nvSpPr>
        <p:spPr>
          <a:xfrm>
            <a:off x="6390100" y="1651591"/>
            <a:ext cx="534657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des données référentielles et des paramètres de transaction :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Organisation et réseaux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Articles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Tiers (clients, fournisseurs)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Prix et conditions de prix (vente et achats), dont promotions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Conditions contractuelles et remises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>
                <a:highlight>
                  <a:srgbClr val="FFFF00"/>
                </a:highlight>
              </a:rPr>
              <a:t>Conditions logistiques (approvisionnement, livraison, transport, colisage, conditionnement)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 article)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algn="l" defTabSz="9144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A0669A2D-DD45-94CA-7DE5-2071AB359A07}"/>
              </a:ext>
            </a:extLst>
          </p:cNvPr>
          <p:cNvSpPr txBox="1">
            <a:spLocks/>
          </p:cNvSpPr>
          <p:nvPr/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3600" b="1" i="0" kern="1200">
                <a:solidFill>
                  <a:schemeClr val="accent2"/>
                </a:solidFill>
                <a:latin typeface="Plus Jakarta Sans SemiBold" pitchFamily="2" charset="77"/>
                <a:ea typeface="Noto Sans" panose="020B0502040504020204" pitchFamily="34" charset="0"/>
                <a:cs typeface="Plus Jakarta Sans SemiBold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DONNÉES RÉFÉRENTIELLES</a:t>
            </a:r>
            <a:br>
              <a:rPr lang="fr-FR" sz="2000"/>
            </a:br>
            <a:r>
              <a:rPr lang="fr-FR" sz="2000"/>
              <a:t>Organisation commerciale et réseaux, articles, clients, prix, promotions, remises</a:t>
            </a:r>
          </a:p>
        </p:txBody>
      </p:sp>
    </p:spTree>
    <p:extLst>
      <p:ext uri="{BB962C8B-B14F-4D97-AF65-F5344CB8AC3E}">
        <p14:creationId xmlns:p14="http://schemas.microsoft.com/office/powerpoint/2010/main" val="300895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D91C-9A56-D011-2FA8-14DACAE8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1534BC-7DCD-C96B-36CD-944E7E758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(1/3)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05AFF8-54D9-6347-ABC1-F099B1CA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DONNÉES RÉFÉRENTIELLES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5A65ECE1-7AF9-D9D7-4044-EC4C18F3F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36217"/>
              </p:ext>
            </p:extLst>
          </p:nvPr>
        </p:nvGraphicFramePr>
        <p:xfrm>
          <a:off x="172173" y="756175"/>
          <a:ext cx="11838595" cy="5668320"/>
        </p:xfrm>
        <a:graphic>
          <a:graphicData uri="http://schemas.openxmlformats.org/drawingml/2006/table">
            <a:tbl>
              <a:tblPr/>
              <a:tblGrid>
                <a:gridCol w="1330194">
                  <a:extLst>
                    <a:ext uri="{9D8B030D-6E8A-4147-A177-3AD203B41FA5}">
                      <a16:colId xmlns:a16="http://schemas.microsoft.com/office/drawing/2014/main" val="3448597505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6548401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40582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Habilitations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i="0" u="none" strike="noStrike" kern="1200" noProof="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Gestion multi-sociétés, multi-entités</a:t>
                      </a:r>
                      <a:endParaRPr lang="en-US" sz="1600" b="1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Mutualisation contrôlée des accès et données : « mono-tenant »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Modèle d’habilitations hiérarchisé : par rôle, société, entité juridique, marque, etc.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Pilotage centralisé des rôles et autorisations : interface d’administration unique,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66917"/>
                  </a:ext>
                </a:extLst>
              </a:tr>
              <a:tr h="405825">
                <a:tc rowSpan="2"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Réseaux et clients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i="0" u="none" strike="noStrike" kern="12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Gestion des réseaux de vente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d’une arborescence réseau de vente (magasins, clients internes) multi-niveaux et multi-vues, en lien avec les systèmes POS.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Gestion d’une organisation FDV (interne / externe, transverse / exclusive ), dont territoires commerciaux.</a:t>
                      </a:r>
                      <a:endParaRPr lang="fr-F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405825">
                <a:tc vMerge="1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buFont typeface="Arial"/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Hiérarchie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comptes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clients et données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essentielles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hiérarchie de comptes clients multi-niveaux et 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multi-vues, en lien avec la CRM.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des données essentielles aux transactions et allocations.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Contrôle de complétion et </a:t>
                      </a:r>
                      <a:r>
                        <a:rPr lang="fr-F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sur fiches clients non conformes.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9321"/>
                  </a:ext>
                </a:extLst>
              </a:tr>
              <a:tr h="744902">
                <a:tc rowSpan="8"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Articles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Types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d’articles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et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assortiments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types d’articles multiples (prototypes,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samples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 /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CoVoy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, etc.) et de paramètres spécifiques.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Possibilité de gérer ces typologies différentes sur un même code article.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Prise en charge d’attributs et de valeurs spécifiques aux articles de regroupement, dont spécifique (et règle de répartition du prix « packagé » sur les articles unitaires).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Gestion d’assortiments et critères multiples d’affectation aux magasins / à la hiérarchie magasins (en lien avec PLM et PIM + CRM).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Gestion de catalogues et critères multiples d’affectation aux comptes clients.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157962"/>
                  </a:ext>
                </a:extLst>
              </a:tr>
              <a:tr h="631876"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Variantes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articles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variantes articles permettant d’affecter différentes valeurs d’attributs à une même référence (ex : même article t-shirt en coton, valeur d’attribut « composition » différente).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variantes multiples d’un même article pour une même saison.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60B12"/>
                          </a:solidFill>
                          <a:latin typeface="+mn-lt"/>
                        </a:rPr>
                        <a:t>Gestion des niveaux « variante » (détaillé) et « référence » (« agrégé ») sur l’ensemble des flux, traitements et données (historiques, commandes et transactions, stocks…) et possibilité de définir le niveau optimum de traitement / gestion, selon les cas.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78053"/>
                  </a:ext>
                </a:extLst>
              </a:tr>
              <a:tr h="58515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Traçabilité des matières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En lien avec la gestion des variantes articles et les nomenclatures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achats et réservations matières) :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Conserver dans les attributs, de chaque variante utilisée, les informations relatives à la matière : composition, origine, fournisseur, pays, etc.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Maintenir la traçabilité </a:t>
                      </a:r>
                      <a:r>
                        <a:rPr lang="fr-FR" sz="800" b="0" i="0" u="none" strike="noStrike" kern="1200" noProof="0">
                          <a:solidFill>
                            <a:srgbClr val="060B12"/>
                          </a:solidFill>
                          <a:latin typeface="+mn-lt"/>
                        </a:rPr>
                        <a:t>sur l’ensemble des flux, traitements et données (historiques, commandes et transactions, stocks…) et possibilité de définir le niveau optimum de traitement / gestion, selon les cas.</a:t>
                      </a:r>
                      <a:endParaRPr lang="fr-FR" sz="800" b="0" i="0" u="none" strike="noStrike" noProof="0">
                        <a:latin typeface="+mn-lt"/>
                      </a:endParaRP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111356"/>
                  </a:ext>
                </a:extLst>
              </a:tr>
              <a:tr h="405825"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Hiérarchie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articles et gestion MCT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native d’une hiérarchie articles adaptée au secteur : catégories, familles, groupes, etc.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native d’articles Modèle-Coloris-Taille et des règles de gestion associées (dont références articles / SKU).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Possibilité de gérer plusieurs hiérarchies Produit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996090"/>
                  </a:ext>
                </a:extLst>
              </a:tr>
              <a:tr h="17977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Poids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des articles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Prise en charge des poids des articles, dans leurs différentes variantes.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604097"/>
                  </a:ext>
                </a:extLst>
              </a:tr>
              <a:tr h="631876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fr-FR" sz="800" b="1" i="0" u="none" strike="noStrike" kern="1200" noProof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Articles de regroupements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types d’articles de regroupement (packs et assimilés), à la vente et en gestion sur les différentes étapes du flux.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Gestion de SKU / références spécifiques à ces articles de regroupement (ex : pack de X t-shirts).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Conservation des SKU / références unitaires pour les articles regroupés (ex : chaque référence t-shirt entrant dans le pack).</a:t>
                      </a:r>
                    </a:p>
                    <a:p>
                      <a:pPr marL="358775" lvl="1" indent="-179388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Prise en charge d’attributs et de valeurs spécifiques aux articles de regroupement, dont spécifique (et règle de répartition du prix « packagé » sur les articles unitaires).</a:t>
                      </a:r>
                      <a:endParaRPr lang="fr-FR" sz="1600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335484"/>
                  </a:ext>
                </a:extLst>
              </a:tr>
              <a:tr h="372451"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fr-FR" sz="800" b="1" i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Autres articles et prestations (</a:t>
                      </a:r>
                      <a:r>
                        <a:rPr lang="fr-FR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upcharges</a:t>
                      </a: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800" b="1" i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prestations de service additionnelles et des différents modes de tarification / facturation associés.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règles d’ajout manuel et automatique de prestations complémentaires sous conditions / paramètres gérés dans l’ERP.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Définition des prestations / coûts considérés comme « entrée » ou « sortie » (coefficients de calcul du prix de revient).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automatique des évènements de facturation associés.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01587"/>
                  </a:ext>
                </a:extLst>
              </a:tr>
              <a:tr h="372451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VAS (Value Added Services)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Services à Valeur Ajoutée.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règles d’ajout manuel et automatique de VAS, sous conditions / paramètres gérés dans l’ERP.</a:t>
                      </a:r>
                    </a:p>
                    <a:p>
                      <a:pPr marL="17145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automatique des évènements de facturation associés.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1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12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565F-840B-C0DF-4AFF-BF9FB760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C7524D-25D6-5289-22CB-86806C3F06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(2/3)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EB7E1F7-DD46-5678-39B9-F54D9773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DONNÉES RÉFÉRENTIELLES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7BA76EF3-0E5B-BD4E-946F-C78FB21CA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70172"/>
              </p:ext>
            </p:extLst>
          </p:nvPr>
        </p:nvGraphicFramePr>
        <p:xfrm>
          <a:off x="172173" y="756175"/>
          <a:ext cx="11838595" cy="5530560"/>
        </p:xfrm>
        <a:graphic>
          <a:graphicData uri="http://schemas.openxmlformats.org/drawingml/2006/table">
            <a:tbl>
              <a:tblPr/>
              <a:tblGrid>
                <a:gridCol w="1330194">
                  <a:extLst>
                    <a:ext uri="{9D8B030D-6E8A-4147-A177-3AD203B41FA5}">
                      <a16:colId xmlns:a16="http://schemas.microsoft.com/office/drawing/2014/main" val="3448597505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6548401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66019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Articles</a:t>
                      </a:r>
                      <a:b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(suite)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Grilles de tailles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Prise en charge de multiples types, dimensions et unités de taille, adaptées au secteur textile (bonnet, longueur de jambe, demi-pointure,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etc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).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Gestion d’une taille principale (ex : taille 40) et de dimensions associées (ex : tour de taille, jambe, cheville, etc.) 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d’index et de valeurs de tailles (ex : 1=XXS, 2=XS, 3=S…) associés aux différentes typologies articles.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Possibilité de modifier les grilles de tailles, y compris l’ajout ou la suppression de tailles (sans création d’un nouvel article / SKU).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d’un ordre d’apparition des tailles dans une grille, indépendante de l’index (ex : si XXL = indice 2 = ordre d’apparition 6).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Prise en charge de tables et règles de correspondance de tailles entre les différentes normes marchés / pays.</a:t>
                      </a:r>
                      <a:endParaRPr lang="fr-FR" sz="160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26515"/>
                  </a:ext>
                </a:extLst>
              </a:tr>
              <a:tr h="327157"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</a:t>
                      </a: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données d’étiquetage </a:t>
                      </a:r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des données d’étiquetage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handtags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: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template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/ ID document, valeurs (prix, devises, tailles) et index.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Règles multicritères (</a:t>
                      </a:r>
                      <a:r>
                        <a:rPr lang="fr-FR" sz="800" b="0" i="0" u="none" strike="noStrike" noProof="0">
                          <a:highlight>
                            <a:srgbClr val="FFFF00"/>
                          </a:highlight>
                          <a:latin typeface="+mn-lt"/>
                        </a:rPr>
                        <a:t>canal, client, commande, etc.) 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de sélection des tailles à afficher sur les étiquettes, parmi les tailles disponibles.</a:t>
                      </a:r>
                      <a:endParaRPr lang="fr-FR" sz="800" b="0" i="0" u="none" strike="noStrike" noProof="0">
                        <a:highlight>
                          <a:srgbClr val="FFFF00"/>
                        </a:highlight>
                        <a:latin typeface="+mn-lt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sng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Possibilité d'ajouter une taille supplémentaire à une grille existante, quel que soit sa position (sans ordre).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14233"/>
                  </a:ext>
                </a:extLst>
              </a:tr>
              <a:tr h="1964842">
                <a:tc rowSpan="2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Prix et promotions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800" b="1" i="0" u="none" strike="noStrike" kern="12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Gestion des prix et conditions</a:t>
                      </a:r>
                      <a:endParaRPr lang="en-US" sz="1600" b="1" dirty="0"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d’une gestion des prix multicritère.</a:t>
                      </a:r>
                    </a:p>
                    <a:p>
                      <a:pPr marL="17145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Gestion verticale et 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horizontale sur les canaux, hiérarchies clients et réseaux de vente.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Verticale, avec application en masse (nœud parent &gt; enfants) et exceptions (ex : si condition active au nœud enfant, elle remplace le nœud parent).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Horizontale/ transverse, via des règles de segmentation.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 et sur une période donnée (date limite).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d’un PVI (Prix de Vente initial) applicable sur tout ou partie des canaux et défini comme prix de référence pour l’article. 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d’appliquer des prix différents / spécifiques à certains nœuds (magasin, client, canal…) sans modification du prix de vente initial.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la devise de commande.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d’index de référence (mise à jour automatique).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gestion / saisie manuelle de taux.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d’ajouter un markup sur les taux appliqués (depuis un index ou un taux saisi manuellement), sur différents niveaux de la hiérarchie produit.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saisir des prix fixes en devise (indépendamment des taux).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Gestion des arrondis psychologiques, sur la base de règles de gestion paramétrables.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Ajustement automatique / propositions d’ajustement par le système.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Règles d’application / de conversion en devises et sur les marchés internationaux.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d’ajouter un markup sur les taux appliqués (depuis un index ou un taux saisi manuellement), sur différents niveaux de la hiérarchie produit.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Gestion de coefficients prix d’entrée et de sortie (coefficient simulant les surcoûts à appliquer sur prix d’achat, avant l’arrivée en entrepôt (surcoûts logistiques, etc.) et en sortie d’entrepôt (suite opérations et traitements sur plateformes)).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Historisation et traçabilité des prix de vente par modèle-coloris et par devise, aux différents niveaux et nœuds.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780621"/>
                  </a:ext>
                </a:extLst>
              </a:tr>
              <a:tr h="834150">
                <a:tc vMerge="1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buFont typeface="Arial"/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promotionnelle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Gestion centralisée et multicritère des opérations promotionnelles (prix, quantités, gratuité, etc.).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verticale et horizontale des conditions sur les canaux, hiérarchies clients et réseaux de vente.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Verticale, avec application en masse (nœud parent &gt; enfants) et exceptions (ex : si condition active au nœud enfant, elle remplace le nœud parent).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Horizontale/ transverse, via des règles de segmentation.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 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et/ou dates de validité définies, et sur les différentes dimensions (organisation, canal, client, article…).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Dont paliers / niveaux de remises, application en cascade, prix barrés, articles offerts sous conditions…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d’appliquer des conditions promotionnelles / de remise sur les prix de référence et / ou sur un prix remisé / promotionnel (conditions en cascade).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39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67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B13D-4E83-48C2-BEB1-8D93906E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F03C344-79C3-9406-FC74-0A91D1F3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DONNÉES RÉFÉRENTIELLES</a:t>
            </a:r>
            <a:endParaRPr lang="en-US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8266C8AD-A4CB-B117-AF45-C3FE0553A578}"/>
              </a:ext>
            </a:extLst>
          </p:cNvPr>
          <p:cNvSpPr txBox="1">
            <a:spLocks/>
          </p:cNvSpPr>
          <p:nvPr/>
        </p:nvSpPr>
        <p:spPr>
          <a:xfrm>
            <a:off x="507245" y="493617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Noto Sans"/>
                <a:ea typeface="Noto Sans"/>
                <a:cs typeface="Noto Sans"/>
              </a:rPr>
              <a:t>Synthèse des besoins (3/3) </a:t>
            </a:r>
            <a:endParaRPr lang="en-US"/>
          </a:p>
          <a:p>
            <a:endParaRPr lang="fr-FR"/>
          </a:p>
        </p:txBody>
      </p:sp>
      <p:graphicFrame>
        <p:nvGraphicFramePr>
          <p:cNvPr id="2" name="Tableau 5">
            <a:extLst>
              <a:ext uri="{FF2B5EF4-FFF2-40B4-BE49-F238E27FC236}">
                <a16:creationId xmlns:a16="http://schemas.microsoft.com/office/drawing/2014/main" id="{65764B82-295A-F5F0-546C-FBCE31281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89298"/>
              </p:ext>
            </p:extLst>
          </p:nvPr>
        </p:nvGraphicFramePr>
        <p:xfrm>
          <a:off x="173736" y="865257"/>
          <a:ext cx="11805464" cy="5358720"/>
        </p:xfrm>
        <a:graphic>
          <a:graphicData uri="http://schemas.openxmlformats.org/drawingml/2006/table">
            <a:tbl>
              <a:tblPr/>
              <a:tblGrid>
                <a:gridCol w="1326068">
                  <a:extLst>
                    <a:ext uri="{9D8B030D-6E8A-4147-A177-3AD203B41FA5}">
                      <a16:colId xmlns:a16="http://schemas.microsoft.com/office/drawing/2014/main" val="3448597505"/>
                    </a:ext>
                  </a:extLst>
                </a:gridCol>
                <a:gridCol w="394771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6531678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110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Prix et promotions </a:t>
                      </a:r>
                      <a:b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(suite)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Remises et conditions contractuelles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Prise en charge de conditions contractuelles et de conditions de remises : 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devis / commande, 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facture ou pied de facture, 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immédiates ou différées (progression CA, RFA) =&gt; automatique, ou simplifiée via des rapports. 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verticale et horizontale des conditions sur les canaux, hiérarchies clients et réseaux de vente.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Verticale, avec application en masse (nœud parent &gt; enfants) et exceptions (ex : si condition active au nœud enfant, elle remplace le nœud parent).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Horizontale/ transverse, via des règles de segmentation.</a:t>
                      </a:r>
                      <a:endParaRPr lang="fr-FR" sz="800" b="0" i="0" u="none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 et sur une période donnée (date limite).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08896"/>
                  </a:ext>
                </a:extLst>
              </a:tr>
              <a:tr h="110880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E8DFF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Conditions 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6E8DFF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logistiques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8DFF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Conditions d’approvisionnement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Prise en charge de conditions d’approvisionnement multiples, notamment : 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Fournisseurs.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Articles.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Route logistique.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Entrepôt et plateforme d’arrivée.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Modes de transport.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colisage.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jalons multiples : remise transitaire, remise transporteur, arrivée quai, arrivée entrepôt…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Calcul automatique des lead times associés.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définir / ajouter des buffers et marges d’erreur sur les lead times calculés.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292534"/>
                  </a:ext>
                </a:extLst>
              </a:tr>
              <a:tr h="1108800"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livraison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noProof="0">
                          <a:latin typeface="+mn-lt"/>
                        </a:rPr>
                        <a:t>Prise en charge de conditions de livraison multiples, notamment : 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Entrepôt et plateforme de départ.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Articles.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Route logistique.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Modes de transport.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colisage.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jalons multiples : préparation, mise en expédition, remise transporteur, remise au client estimée…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Calcul automatique des lead times associés.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définir / ajouter des buffers et marges d’erreur sur les lead times calculés.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41650"/>
                  </a:ext>
                </a:extLst>
              </a:tr>
              <a:tr h="690011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fr-FR" sz="800" b="1" i="0" u="none" strike="noStrike" kern="1200" noProof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Unités logistiques et colisage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différents modes de colisage et des calculs / règles permettant de les déterminer.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références / d’objets spécifiques permettant d’identifier les articles et quantités en colis (non disponibles en vrac).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des articles de regroupement et de leurs spécificités dans le calcul des colisages (référence spécifique, non-séparable, etc.).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définir des modes de colisage réservés aux packs, au vrac, hybrides, etc.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Calcul des poids des articles </a:t>
                      </a:r>
                      <a:r>
                        <a:rPr lang="fr-FR" sz="800" u="none" kern="120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colisés</a:t>
                      </a:r>
                      <a:r>
                        <a:rPr lang="fr-FR" sz="80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à partir des poids des articles unitaires et d’un poids d’emballage.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338296"/>
                  </a:ext>
                </a:extLst>
              </a:tr>
              <a:tr h="69001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E8DFF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Mode de conditionnement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différents modes de conditionnement (à plat, suspendu, sans emballage, etc.).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Lors des différentes étapes : transport, entrepôt, magasin…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notions de « standard » et « hors standard » pour chacun des modes de conditionnement.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Gestion des paramètres et attributs associés, permettant les calculs et traitements logistiques associés (modes de transport, prix, lead time, etc.).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Calcul des poids ajustés par type de conditionnement.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38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85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E152-1007-DA7B-C4AB-26235B11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B5FF65C-54DB-4614-33F0-860B20F0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DONNÉES RÉFÉRENTIELLES</a:t>
            </a:r>
            <a:endParaRPr lang="en-US"/>
          </a:p>
        </p:txBody>
      </p:sp>
      <p:graphicFrame>
        <p:nvGraphicFramePr>
          <p:cNvPr id="8" name="Tableau 5">
            <a:extLst>
              <a:ext uri="{FF2B5EF4-FFF2-40B4-BE49-F238E27FC236}">
                <a16:creationId xmlns:a16="http://schemas.microsoft.com/office/drawing/2014/main" id="{CFF5DBAF-2B7F-503F-53B2-E252DCA4D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427834"/>
              </p:ext>
            </p:extLst>
          </p:nvPr>
        </p:nvGraphicFramePr>
        <p:xfrm>
          <a:off x="164592" y="865257"/>
          <a:ext cx="11814607" cy="1573844"/>
        </p:xfrm>
        <a:graphic>
          <a:graphicData uri="http://schemas.openxmlformats.org/drawingml/2006/table">
            <a:tbl>
              <a:tblPr/>
              <a:tblGrid>
                <a:gridCol w="1327095">
                  <a:extLst>
                    <a:ext uri="{9D8B030D-6E8A-4147-A177-3AD203B41FA5}">
                      <a16:colId xmlns:a16="http://schemas.microsoft.com/office/drawing/2014/main" val="3448597505"/>
                    </a:ext>
                  </a:extLst>
                </a:gridCol>
                <a:gridCol w="3950775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653673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493989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ADV et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facturation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Données de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facturation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client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champ dédié à l’acceptation des CGV (en lien avec la CRM) =&gt; si non géré à chaque commande.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des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templates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 factures par client / typologie de client : ID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template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champs standards et spécifiques.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la devise de commande et de facturation (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gestion des prix dans cette section et « ADV, finance et comptabilité).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 d’envoi de la facture au client (direct, coffre-fort électronique, via CRM / portail client).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756056"/>
                  </a:ext>
                </a:extLst>
              </a:tr>
              <a:tr h="493989">
                <a:tc rowSpan="2"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Général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Workflow de mise à jour des données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workflows de mise à jour des données, selon le niveau de sensibilité.</a:t>
                      </a:r>
                    </a:p>
                    <a:p>
                      <a:pPr marL="358775" lvl="1" indent="-179388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noProof="0" dirty="0">
                          <a:latin typeface="+mn-lt"/>
                        </a:rPr>
                        <a:t>En lien avec la gestion des habilitations.</a:t>
                      </a:r>
                      <a:endParaRPr lang="fr-FR" sz="1600" dirty="0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568943">
                <a:tc vMerge="1"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Contrôle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cohérence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données ERP-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autres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sources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contrôle de cohérence entre les données présentes dans l’ERP et les données arrivant (par chargement ou interfaces) d’autres sources (données institutionnelles / invariables / sensibles).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Etat de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cockpit de revue des anomalies et écarts.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déclencher ou bloquer des traitements (ex : commande) en cas d’écart sur certaines données.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9321"/>
                  </a:ext>
                </a:extLst>
              </a:tr>
            </a:tbl>
          </a:graphicData>
        </a:graphic>
      </p:graphicFrame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B3A29098-4D2A-24A9-1E5B-06F36DA9537E}"/>
              </a:ext>
            </a:extLst>
          </p:cNvPr>
          <p:cNvSpPr txBox="1">
            <a:spLocks/>
          </p:cNvSpPr>
          <p:nvPr/>
        </p:nvSpPr>
        <p:spPr>
          <a:xfrm>
            <a:off x="507245" y="493617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Noto Sans"/>
                <a:ea typeface="Noto Sans"/>
                <a:cs typeface="Noto Sans"/>
              </a:rPr>
              <a:t>Synthèse des besoins (3/3) </a:t>
            </a:r>
            <a:endParaRPr lang="en-US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632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5F3358-6699-3F23-0A1A-2B5BCC61CB4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3510E3-8104-70EA-1C8A-F7DD82B8A024}"/>
              </a:ext>
            </a:extLst>
          </p:cNvPr>
          <p:cNvSpPr txBox="1"/>
          <p:nvPr/>
        </p:nvSpPr>
        <p:spPr>
          <a:xfrm>
            <a:off x="6390100" y="1197620"/>
            <a:ext cx="534657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transverse des saisons, auxquelles seront associées les données référentielles et les transactions. Cette notion de saison est différente d’une simple période de validité.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Besoins transverses associés à la dimensions « saison » :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référentiels et paramètres de transaction,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stocks,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err="1"/>
              <a:t>reporting</a:t>
            </a:r>
            <a:r>
              <a:rPr lang="fr-FR" sz="1100"/>
              <a:t>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Besoins spécifiques aux articles : 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saisonniers,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permanents (dont réassort),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carry-over.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d’une nouvelle saison) ne sont pas détaillés car évidents dans le cadre d’une gestion saisonnière.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Macro-processus de planification et gestion budgétaire.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Principes de gestion.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FA38B5A4-957B-A4C8-0D18-15145F622BB3}"/>
              </a:ext>
            </a:extLst>
          </p:cNvPr>
          <p:cNvSpPr txBox="1">
            <a:spLocks/>
          </p:cNvSpPr>
          <p:nvPr/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3600" b="1" i="0" kern="1200">
                <a:solidFill>
                  <a:schemeClr val="accent2"/>
                </a:solidFill>
                <a:latin typeface="Plus Jakarta Sans SemiBold" pitchFamily="2" charset="77"/>
                <a:ea typeface="Noto Sans" panose="020B0502040504020204" pitchFamily="34" charset="0"/>
                <a:cs typeface="Plus Jakarta Sans SemiBold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SAISONS, CARRY-OVER ET PERMANENTS</a:t>
            </a:r>
          </a:p>
        </p:txBody>
      </p:sp>
    </p:spTree>
    <p:extLst>
      <p:ext uri="{BB962C8B-B14F-4D97-AF65-F5344CB8AC3E}">
        <p14:creationId xmlns:p14="http://schemas.microsoft.com/office/powerpoint/2010/main" val="253189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D16D-02E9-157F-CE3E-7C40177E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34067055-47DF-652B-746F-05C99401B23D}"/>
              </a:ext>
            </a:extLst>
          </p:cNvPr>
          <p:cNvSpPr/>
          <p:nvPr/>
        </p:nvSpPr>
        <p:spPr>
          <a:xfrm>
            <a:off x="166427" y="1286174"/>
            <a:ext cx="1777574" cy="484991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D0B62EB-30F2-28B1-1D9B-E16EA352DAB8}"/>
              </a:ext>
            </a:extLst>
          </p:cNvPr>
          <p:cNvSpPr/>
          <p:nvPr/>
        </p:nvSpPr>
        <p:spPr>
          <a:xfrm>
            <a:off x="8364678" y="1286174"/>
            <a:ext cx="1777574" cy="484991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C3BDE28-DC47-5076-DE84-158CA25B90A3}"/>
              </a:ext>
            </a:extLst>
          </p:cNvPr>
          <p:cNvSpPr/>
          <p:nvPr/>
        </p:nvSpPr>
        <p:spPr>
          <a:xfrm>
            <a:off x="4278525" y="1286174"/>
            <a:ext cx="1777574" cy="484991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CB258B2-690D-4D10-84E9-E5B58BCAD8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A51AE98C-F91E-01E5-237C-FD3AF18C3B05}"/>
              </a:ext>
            </a:extLst>
          </p:cNvPr>
          <p:cNvGraphicFramePr>
            <a:graphicFrameLocks noGrp="1"/>
          </p:cNvGraphicFramePr>
          <p:nvPr/>
        </p:nvGraphicFramePr>
        <p:xfrm>
          <a:off x="156000" y="943442"/>
          <a:ext cx="1188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88580715"/>
                    </a:ext>
                  </a:extLst>
                </a:gridCol>
                <a:gridCol w="8280000">
                  <a:extLst>
                    <a:ext uri="{9D8B030D-6E8A-4147-A177-3AD203B41FA5}">
                      <a16:colId xmlns:a16="http://schemas.microsoft.com/office/drawing/2014/main" val="413597101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679569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>
                          <a:solidFill>
                            <a:schemeClr val="bg1"/>
                          </a:solidFill>
                        </a:rPr>
                        <a:t>ANNEE 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>
                          <a:solidFill>
                            <a:schemeClr val="bg1"/>
                          </a:solidFill>
                        </a:rPr>
                        <a:t>ANNEE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ANNEE N+1</a:t>
                      </a:r>
                      <a:endParaRPr lang="fr-FR" sz="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12587"/>
                  </a:ext>
                </a:extLst>
              </a:tr>
            </a:tbl>
          </a:graphicData>
        </a:graphic>
      </p:graphicFrame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3CC8D99C-E4D9-C85D-D278-2EF3529EDC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/>
          <a:lstStyle/>
          <a:p>
            <a:r>
              <a:rPr lang="fr-FR"/>
              <a:t>Macro-processus de planification et gestion budgétaire</a:t>
            </a:r>
          </a:p>
          <a:p>
            <a:endParaRPr lang="fr-FR"/>
          </a:p>
        </p:txBody>
      </p:sp>
      <p:sp>
        <p:nvSpPr>
          <p:cNvPr id="39" name="Titre 2">
            <a:extLst>
              <a:ext uri="{FF2B5EF4-FFF2-40B4-BE49-F238E27FC236}">
                <a16:creationId xmlns:a16="http://schemas.microsoft.com/office/drawing/2014/main" id="{8DE1BD83-ABCC-7CC8-56ED-78AF1C4C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/>
              <a:t>SAISONS, PERMANENTS ET CARRY-OVERS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76E56B-3E93-A25F-E73B-D677B2707078}"/>
              </a:ext>
            </a:extLst>
          </p:cNvPr>
          <p:cNvSpPr/>
          <p:nvPr/>
        </p:nvSpPr>
        <p:spPr>
          <a:xfrm>
            <a:off x="209550" y="1438274"/>
            <a:ext cx="1666875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Budget, prévisions et planning N1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BBA72E-C936-3927-8900-73709C3686B0}"/>
              </a:ext>
            </a:extLst>
          </p:cNvPr>
          <p:cNvSpPr/>
          <p:nvPr/>
        </p:nvSpPr>
        <p:spPr>
          <a:xfrm>
            <a:off x="209550" y="3953042"/>
            <a:ext cx="1666875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Budget, prévisions et planning  N1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BC708B-1999-9867-F582-A69331AACE39}"/>
              </a:ext>
            </a:extLst>
          </p:cNvPr>
          <p:cNvSpPr/>
          <p:nvPr/>
        </p:nvSpPr>
        <p:spPr>
          <a:xfrm>
            <a:off x="2019299" y="1818902"/>
            <a:ext cx="8153327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Transactions et stocks 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9E68D6-3EA9-1001-F554-51CDBD2116AB}"/>
              </a:ext>
            </a:extLst>
          </p:cNvPr>
          <p:cNvSpPr/>
          <p:nvPr/>
        </p:nvSpPr>
        <p:spPr>
          <a:xfrm>
            <a:off x="2019301" y="3953041"/>
            <a:ext cx="40767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Transactions et stocks N1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6DB2434-B49F-E3C5-BE76-C521E5DF10E5}"/>
              </a:ext>
            </a:extLst>
          </p:cNvPr>
          <p:cNvSpPr/>
          <p:nvPr/>
        </p:nvSpPr>
        <p:spPr>
          <a:xfrm>
            <a:off x="4333875" y="4796900"/>
            <a:ext cx="1666875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Budget, prévisions et planning  N2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00FADA-F339-2B39-A8E5-1E26DD0ED061}"/>
              </a:ext>
            </a:extLst>
          </p:cNvPr>
          <p:cNvSpPr/>
          <p:nvPr/>
        </p:nvSpPr>
        <p:spPr>
          <a:xfrm>
            <a:off x="8505752" y="5631234"/>
            <a:ext cx="1666875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Budget, prévisions et planning  N+1.1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4037217-5208-AE50-1DD6-B414E6922E37}"/>
              </a:ext>
            </a:extLst>
          </p:cNvPr>
          <p:cNvSpPr/>
          <p:nvPr/>
        </p:nvSpPr>
        <p:spPr>
          <a:xfrm>
            <a:off x="10344147" y="5631234"/>
            <a:ext cx="1666876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Transactions</a:t>
            </a:r>
            <a:b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stocks N1.1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7A6B24E-D75E-122E-D422-BC785B2ED212}"/>
              </a:ext>
            </a:extLst>
          </p:cNvPr>
          <p:cNvSpPr/>
          <p:nvPr/>
        </p:nvSpPr>
        <p:spPr>
          <a:xfrm>
            <a:off x="6191251" y="4796899"/>
            <a:ext cx="3981375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SAISON – Transactions et stocks N2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BA4CAF3-EAEA-7E8D-619B-47F1582EBEFE}"/>
              </a:ext>
            </a:extLst>
          </p:cNvPr>
          <p:cNvSpPr/>
          <p:nvPr/>
        </p:nvSpPr>
        <p:spPr>
          <a:xfrm>
            <a:off x="4333874" y="1438274"/>
            <a:ext cx="1666875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Budget, prévisions et planning  N2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84A4065-909F-71A2-5978-8C1D6040A4F2}"/>
              </a:ext>
            </a:extLst>
          </p:cNvPr>
          <p:cNvSpPr/>
          <p:nvPr/>
        </p:nvSpPr>
        <p:spPr>
          <a:xfrm>
            <a:off x="8420027" y="2650012"/>
            <a:ext cx="1666875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Budget, prévisions et planning N+1.1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D432DA7-CE3C-2CC7-393E-F868F66DFD84}"/>
              </a:ext>
            </a:extLst>
          </p:cNvPr>
          <p:cNvSpPr/>
          <p:nvPr/>
        </p:nvSpPr>
        <p:spPr>
          <a:xfrm>
            <a:off x="6000749" y="1836902"/>
            <a:ext cx="2505003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Ajustements 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762D7F-1EAD-CAD2-2976-C06E42E2AB91}"/>
              </a:ext>
            </a:extLst>
          </p:cNvPr>
          <p:cNvSpPr/>
          <p:nvPr/>
        </p:nvSpPr>
        <p:spPr>
          <a:xfrm>
            <a:off x="209550" y="3497498"/>
            <a:ext cx="1666875" cy="32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CARRY-O – Reprise stocks N-1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0A8C91-8EAE-ED6E-3AE0-7543F272AB8D}"/>
              </a:ext>
            </a:extLst>
          </p:cNvPr>
          <p:cNvSpPr/>
          <p:nvPr/>
        </p:nvSpPr>
        <p:spPr>
          <a:xfrm>
            <a:off x="4333874" y="4335698"/>
            <a:ext cx="1666875" cy="32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CARRY-O – Reprise stocks N1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EF4C4FC-B08D-ED1F-F9DB-4D1682A4EE4B}"/>
              </a:ext>
            </a:extLst>
          </p:cNvPr>
          <p:cNvSpPr/>
          <p:nvPr/>
        </p:nvSpPr>
        <p:spPr>
          <a:xfrm>
            <a:off x="8505751" y="5178002"/>
            <a:ext cx="1666875" cy="32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CARRY-O – Reprise stocks N2</a:t>
            </a:r>
          </a:p>
        </p:txBody>
      </p:sp>
      <p:cxnSp>
        <p:nvCxnSpPr>
          <p:cNvPr id="108" name="Connecteur : en angle 107">
            <a:extLst>
              <a:ext uri="{FF2B5EF4-FFF2-40B4-BE49-F238E27FC236}">
                <a16:creationId xmlns:a16="http://schemas.microsoft.com/office/drawing/2014/main" id="{25076DFA-2B61-588E-D2CF-921939C1D6E9}"/>
              </a:ext>
            </a:extLst>
          </p:cNvPr>
          <p:cNvCxnSpPr>
            <a:cxnSpLocks/>
            <a:stCxn id="42" idx="2"/>
            <a:endCxn id="47" idx="1"/>
          </p:cNvCxnSpPr>
          <p:nvPr/>
        </p:nvCxnSpPr>
        <p:spPr>
          <a:xfrm rot="16200000" flipH="1">
            <a:off x="1421829" y="1383432"/>
            <a:ext cx="218628" cy="97631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 : en angle 108">
            <a:extLst>
              <a:ext uri="{FF2B5EF4-FFF2-40B4-BE49-F238E27FC236}">
                <a16:creationId xmlns:a16="http://schemas.microsoft.com/office/drawing/2014/main" id="{1740578F-7475-5441-5F55-2AA2EB292ADC}"/>
              </a:ext>
            </a:extLst>
          </p:cNvPr>
          <p:cNvCxnSpPr>
            <a:cxnSpLocks/>
            <a:stCxn id="72" idx="2"/>
            <a:endCxn id="84" idx="1"/>
          </p:cNvCxnSpPr>
          <p:nvPr/>
        </p:nvCxnSpPr>
        <p:spPr>
          <a:xfrm rot="16200000" flipH="1">
            <a:off x="5474716" y="1454869"/>
            <a:ext cx="218628" cy="8334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 : en angle 112">
            <a:extLst>
              <a:ext uri="{FF2B5EF4-FFF2-40B4-BE49-F238E27FC236}">
                <a16:creationId xmlns:a16="http://schemas.microsoft.com/office/drawing/2014/main" id="{F078C7A6-7C6E-770E-90AE-AD3D7A08F2C0}"/>
              </a:ext>
            </a:extLst>
          </p:cNvPr>
          <p:cNvCxnSpPr>
            <a:cxnSpLocks/>
            <a:stCxn id="78" idx="2"/>
            <a:endCxn id="153" idx="1"/>
          </p:cNvCxnSpPr>
          <p:nvPr/>
        </p:nvCxnSpPr>
        <p:spPr>
          <a:xfrm rot="16200000" flipH="1">
            <a:off x="9587711" y="2639766"/>
            <a:ext cx="250669" cy="9191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514D836D-42BD-4BBB-97F5-EFDDAF0B5799}"/>
              </a:ext>
            </a:extLst>
          </p:cNvPr>
          <p:cNvCxnSpPr>
            <a:stCxn id="92" idx="2"/>
            <a:endCxn id="43" idx="0"/>
          </p:cNvCxnSpPr>
          <p:nvPr/>
        </p:nvCxnSpPr>
        <p:spPr>
          <a:xfrm>
            <a:off x="1042988" y="3821498"/>
            <a:ext cx="0" cy="131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E5851D8D-D9C0-971F-F503-DBE36BA5E04E}"/>
              </a:ext>
            </a:extLst>
          </p:cNvPr>
          <p:cNvCxnSpPr>
            <a:cxnSpLocks/>
            <a:stCxn id="43" idx="3"/>
            <a:endCxn id="58" idx="1"/>
          </p:cNvCxnSpPr>
          <p:nvPr/>
        </p:nvCxnSpPr>
        <p:spPr>
          <a:xfrm flipV="1">
            <a:off x="1876425" y="4115041"/>
            <a:ext cx="14287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 : en angle 127">
            <a:extLst>
              <a:ext uri="{FF2B5EF4-FFF2-40B4-BE49-F238E27FC236}">
                <a16:creationId xmlns:a16="http://schemas.microsoft.com/office/drawing/2014/main" id="{72015E70-4AAD-B196-CEBD-6258A113210C}"/>
              </a:ext>
            </a:extLst>
          </p:cNvPr>
          <p:cNvCxnSpPr>
            <a:cxnSpLocks/>
            <a:stCxn id="58" idx="3"/>
            <a:endCxn id="98" idx="3"/>
          </p:cNvCxnSpPr>
          <p:nvPr/>
        </p:nvCxnSpPr>
        <p:spPr>
          <a:xfrm flipH="1">
            <a:off x="6000749" y="4115041"/>
            <a:ext cx="95252" cy="382657"/>
          </a:xfrm>
          <a:prstGeom prst="bentConnector3">
            <a:avLst>
              <a:gd name="adj1" fmla="val -2399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D5B373C1-5B69-0110-9A59-8C97FC317C3D}"/>
              </a:ext>
            </a:extLst>
          </p:cNvPr>
          <p:cNvCxnSpPr>
            <a:cxnSpLocks/>
            <a:stCxn id="98" idx="2"/>
            <a:endCxn id="66" idx="0"/>
          </p:cNvCxnSpPr>
          <p:nvPr/>
        </p:nvCxnSpPr>
        <p:spPr>
          <a:xfrm>
            <a:off x="5167312" y="4659698"/>
            <a:ext cx="1" cy="137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 : en angle 135">
            <a:extLst>
              <a:ext uri="{FF2B5EF4-FFF2-40B4-BE49-F238E27FC236}">
                <a16:creationId xmlns:a16="http://schemas.microsoft.com/office/drawing/2014/main" id="{71ADAFE3-6FA8-0F1F-6841-B09186C88C9A}"/>
              </a:ext>
            </a:extLst>
          </p:cNvPr>
          <p:cNvCxnSpPr>
            <a:cxnSpLocks/>
            <a:stCxn id="70" idx="3"/>
            <a:endCxn id="106" idx="3"/>
          </p:cNvCxnSpPr>
          <p:nvPr/>
        </p:nvCxnSpPr>
        <p:spPr>
          <a:xfrm>
            <a:off x="10172626" y="4958899"/>
            <a:ext cx="12700" cy="3811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FA69ED44-64F6-5DBF-F767-085B74113393}"/>
              </a:ext>
            </a:extLst>
          </p:cNvPr>
          <p:cNvCxnSpPr>
            <a:cxnSpLocks/>
            <a:stCxn id="106" idx="2"/>
            <a:endCxn id="68" idx="0"/>
          </p:cNvCxnSpPr>
          <p:nvPr/>
        </p:nvCxnSpPr>
        <p:spPr>
          <a:xfrm>
            <a:off x="9339189" y="5502002"/>
            <a:ext cx="1" cy="129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avec flèche 144">
            <a:extLst>
              <a:ext uri="{FF2B5EF4-FFF2-40B4-BE49-F238E27FC236}">
                <a16:creationId xmlns:a16="http://schemas.microsoft.com/office/drawing/2014/main" id="{CF36D7BC-C976-B594-9756-59CA82A49677}"/>
              </a:ext>
            </a:extLst>
          </p:cNvPr>
          <p:cNvCxnSpPr>
            <a:cxnSpLocks/>
            <a:stCxn id="66" idx="3"/>
            <a:endCxn id="70" idx="1"/>
          </p:cNvCxnSpPr>
          <p:nvPr/>
        </p:nvCxnSpPr>
        <p:spPr>
          <a:xfrm flipV="1">
            <a:off x="6000750" y="4958899"/>
            <a:ext cx="19050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avec flèche 147">
            <a:extLst>
              <a:ext uri="{FF2B5EF4-FFF2-40B4-BE49-F238E27FC236}">
                <a16:creationId xmlns:a16="http://schemas.microsoft.com/office/drawing/2014/main" id="{F0225E8E-9DFD-0D6D-F4CA-8D07FF7A1AB3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>
            <a:off x="10172627" y="5793234"/>
            <a:ext cx="171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18ADC7C-4B18-8585-4A0F-AE2D5996B863}"/>
              </a:ext>
            </a:extLst>
          </p:cNvPr>
          <p:cNvSpPr/>
          <p:nvPr/>
        </p:nvSpPr>
        <p:spPr>
          <a:xfrm>
            <a:off x="10172625" y="3062681"/>
            <a:ext cx="1838398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Transactions et stocks N+1</a:t>
            </a:r>
          </a:p>
        </p:txBody>
      </p:sp>
      <p:cxnSp>
        <p:nvCxnSpPr>
          <p:cNvPr id="155" name="Connecteur : en angle 154">
            <a:extLst>
              <a:ext uri="{FF2B5EF4-FFF2-40B4-BE49-F238E27FC236}">
                <a16:creationId xmlns:a16="http://schemas.microsoft.com/office/drawing/2014/main" id="{713E93D9-35D9-B80F-A14C-CC261D2D02DD}"/>
              </a:ext>
            </a:extLst>
          </p:cNvPr>
          <p:cNvCxnSpPr>
            <a:cxnSpLocks/>
            <a:stCxn id="47" idx="3"/>
            <a:endCxn id="172" idx="3"/>
          </p:cNvCxnSpPr>
          <p:nvPr/>
        </p:nvCxnSpPr>
        <p:spPr>
          <a:xfrm flipH="1">
            <a:off x="10086901" y="1980902"/>
            <a:ext cx="85725" cy="380628"/>
          </a:xfrm>
          <a:prstGeom prst="bentConnector3">
            <a:avLst>
              <a:gd name="adj1" fmla="val -2666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ZoneTexte 164">
            <a:extLst>
              <a:ext uri="{FF2B5EF4-FFF2-40B4-BE49-F238E27FC236}">
                <a16:creationId xmlns:a16="http://schemas.microsoft.com/office/drawing/2014/main" id="{63917872-F251-6A93-63D2-06D70AB5562B}"/>
              </a:ext>
            </a:extLst>
          </p:cNvPr>
          <p:cNvSpPr txBox="1"/>
          <p:nvPr/>
        </p:nvSpPr>
        <p:spPr>
          <a:xfrm>
            <a:off x="156000" y="6136096"/>
            <a:ext cx="1788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/>
              <a:t>Budgets, planning, prévisions</a:t>
            </a:r>
            <a:br>
              <a:rPr lang="fr-FR" sz="800" b="1"/>
            </a:br>
            <a:r>
              <a:rPr lang="fr-FR" sz="800" b="1"/>
              <a:t>au global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47348BF0-B7FA-9918-C016-5F777A09B557}"/>
              </a:ext>
            </a:extLst>
          </p:cNvPr>
          <p:cNvSpPr txBox="1"/>
          <p:nvPr/>
        </p:nvSpPr>
        <p:spPr>
          <a:xfrm>
            <a:off x="4278523" y="6136096"/>
            <a:ext cx="1777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/>
              <a:t>Budgets, planning, prévisions</a:t>
            </a:r>
            <a:br>
              <a:rPr lang="fr-FR" sz="800" b="1"/>
            </a:br>
            <a:r>
              <a:rPr lang="fr-FR" sz="800" b="1"/>
              <a:t>au global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BB99B928-C4C8-C4E7-4D91-BEDD89767B82}"/>
              </a:ext>
            </a:extLst>
          </p:cNvPr>
          <p:cNvSpPr txBox="1"/>
          <p:nvPr/>
        </p:nvSpPr>
        <p:spPr>
          <a:xfrm>
            <a:off x="8364678" y="6136096"/>
            <a:ext cx="1777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/>
              <a:t>Budgets, planning, prévisions</a:t>
            </a:r>
            <a:br>
              <a:rPr lang="fr-FR" sz="800" b="1"/>
            </a:br>
            <a:r>
              <a:rPr lang="fr-FR" sz="800" b="1"/>
              <a:t>au global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7B54696-F0B2-C787-CC92-BB6DD813BB74}"/>
              </a:ext>
            </a:extLst>
          </p:cNvPr>
          <p:cNvSpPr/>
          <p:nvPr/>
        </p:nvSpPr>
        <p:spPr>
          <a:xfrm>
            <a:off x="8420026" y="2199530"/>
            <a:ext cx="1666875" cy="3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 – Reprise stocks N</a:t>
            </a:r>
          </a:p>
        </p:txBody>
      </p:sp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D0FB8EB6-8F8A-654B-4005-2BB21244DAE2}"/>
              </a:ext>
            </a:extLst>
          </p:cNvPr>
          <p:cNvCxnSpPr>
            <a:cxnSpLocks/>
            <a:stCxn id="172" idx="2"/>
            <a:endCxn id="78" idx="0"/>
          </p:cNvCxnSpPr>
          <p:nvPr/>
        </p:nvCxnSpPr>
        <p:spPr>
          <a:xfrm>
            <a:off x="9253464" y="2523530"/>
            <a:ext cx="1" cy="126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29414D7-E10B-3BC4-0F2E-DBFDA9E60C25}"/>
              </a:ext>
            </a:extLst>
          </p:cNvPr>
          <p:cNvSpPr/>
          <p:nvPr/>
        </p:nvSpPr>
        <p:spPr>
          <a:xfrm>
            <a:off x="7473822" y="2139677"/>
            <a:ext cx="991111" cy="469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cohérence avec</a:t>
            </a:r>
            <a:b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gestion des variantes 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FAA0596-5371-391A-F421-F785B975133C}"/>
              </a:ext>
            </a:extLst>
          </p:cNvPr>
          <p:cNvSpPr/>
          <p:nvPr/>
        </p:nvSpPr>
        <p:spPr>
          <a:xfrm>
            <a:off x="3374320" y="4276604"/>
            <a:ext cx="1170445" cy="469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cohérence avec</a:t>
            </a:r>
            <a:b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gestion des variantes </a:t>
            </a:r>
          </a:p>
        </p:txBody>
      </p:sp>
    </p:spTree>
    <p:extLst>
      <p:ext uri="{BB962C8B-B14F-4D97-AF65-F5344CB8AC3E}">
        <p14:creationId xmlns:p14="http://schemas.microsoft.com/office/powerpoint/2010/main" val="1756147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DF68-A379-CEE9-547C-A36E3E52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903AF93-E978-5A54-62E5-9C2A4A0B95D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1DD8A6A6-631B-4ECA-4435-21C7E6CAB1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>
            <a:normAutofit/>
          </a:bodyPr>
          <a:lstStyle/>
          <a:p>
            <a:r>
              <a:rPr lang="fr-FR"/>
              <a:t>Principes de gestion</a:t>
            </a:r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14ABA252-35BB-5486-DB3A-90411B39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/>
              <a:t>SAISONS, PERMANENTS ET CARRY-OVERS</a:t>
            </a:r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0198801F-FF4D-C58D-E70A-C6BAAF491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770854"/>
              </p:ext>
            </p:extLst>
          </p:nvPr>
        </p:nvGraphicFramePr>
        <p:xfrm>
          <a:off x="156000" y="895892"/>
          <a:ext cx="11880000" cy="558398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64579127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727602299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1297404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08244258"/>
                    </a:ext>
                  </a:extLst>
                </a:gridCol>
              </a:tblGrid>
              <a:tr h="20164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9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SAISONNIERS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CARRY-OVER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PERMANENTS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1640"/>
                  </a:ext>
                </a:extLst>
              </a:tr>
              <a:tr h="1728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Budget de ventes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Géré à la saison dans les processus (budget, plan de collection, prévisions et planning d’achat) et les applications (PLM, MAP, BPC,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Optimate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amont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17285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Budget d’achats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024782"/>
                  </a:ext>
                </a:extLst>
              </a:tr>
              <a:tr h="16694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Prévisions de ventes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saison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2877"/>
                  </a:ext>
                </a:extLst>
              </a:tr>
              <a:tr h="85749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Retraitement stocks N-1 / S-1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planification achats 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 de retraitement des stocks d’articles saisonniers non reconduits (carry-over)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Reprise des stocks de carry-over et ajustement des quantités à acheter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Reprise des stocks de permanents et ajustement des paramètres d’achats 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17715"/>
                  </a:ext>
                </a:extLst>
              </a:tr>
              <a:tr h="144520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Achats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Prévisions de ventes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Prévisions de ventes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retraitées des stocks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Prévisions de ventes - première saison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Ventes réelles (couverture / défilement) – saisons ultérieures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intégrant stocks et lead times logistiques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Saisonniers et carry-over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achetées calculées sur les prévisions de ventes (+% réassort)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« 0 stock résiduel » en fin de saison</a:t>
                      </a:r>
                    </a:p>
                    <a:p>
                      <a:pPr marL="5381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Sauf stockage volontaire en vue de la saison suivante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Permanents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initiales calculées sur prévisions de ventes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saisons ultérieures calculées sur prévisions ajustées des ventes réelles (S-1) et stocks disponibles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réapprovisionnement sur la base des ventes et des paramètres logistiques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5343"/>
                  </a:ext>
                </a:extLst>
              </a:tr>
              <a:tr h="68269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 stocks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 achetée*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par canal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 achetée*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par canal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Seuils (mini/maxi,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Stock mutualisé / équilibrages possible ?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Saisonniers et carry-over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achetées pour la saison, réparties par canal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Permanents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Optimums de stocks basés sur ventes et conditions d’appro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5726"/>
                  </a:ext>
                </a:extLst>
              </a:tr>
              <a:tr h="62241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Réapprovisionnement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Oui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Oui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Oui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Saisonniers et carry-over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 achetée pour la saison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Réapprovisionnement possible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Permanents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Réapprovisionnement tiré par les ventes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24197"/>
                  </a:ext>
                </a:extLst>
              </a:tr>
              <a:tr h="5368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Ventes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Limitée à quantité prévue pour la Saison*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Limitée à quantité prévue pour la Saison*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quantité disponible et réapprovisionnée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Saisonniers et carry-over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Allocations par canal de vente (ajustements à la marge)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Permanents : 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Potentiel de ventes / cycle de vie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90942"/>
                  </a:ext>
                </a:extLst>
              </a:tr>
              <a:tr h="6017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Réassort magasins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Stock optimum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Stock optimum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Stock optimum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Saisonniers et carry-over : </a:t>
                      </a:r>
                    </a:p>
                    <a:p>
                      <a:pPr marL="360363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Stock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opti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magasin (SCOR-TEX)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Permanents : 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Stock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magasin (calculé sur ventes)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25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7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DD3B-F726-5D78-9624-E5B3DD14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4F270A-ED37-0763-3006-07BAA5EF68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/>
          <a:lstStyle/>
          <a:p>
            <a:r>
              <a:rPr lang="fr-FR"/>
              <a:t>Synthèse des besoins (1/2)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E8BC8E7-A74F-999A-42D7-E42B4A1C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/>
              <a:t>SAISONS, PERMANENTS ET CARRY-OVERS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D817B1D-5446-65C8-77F8-9CB9A2A72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62896"/>
              </p:ext>
            </p:extLst>
          </p:nvPr>
        </p:nvGraphicFramePr>
        <p:xfrm>
          <a:off x="172173" y="814253"/>
          <a:ext cx="11847655" cy="5430720"/>
        </p:xfrm>
        <a:graphic>
          <a:graphicData uri="http://schemas.openxmlformats.org/drawingml/2006/table">
            <a:tbl>
              <a:tblPr/>
              <a:tblGrid>
                <a:gridCol w="1184793">
                  <a:extLst>
                    <a:ext uri="{9D8B030D-6E8A-4147-A177-3AD203B41FA5}">
                      <a16:colId xmlns:a16="http://schemas.microsoft.com/office/drawing/2014/main" val="4067119361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14813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399274">
                <a:tc rowSpan="7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Articles saisonniers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Dimensions Saison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créer des Saisons de gestion indépendantes.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Dates de validité par Saison, avec possibilité de chevauchement.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 d’attention :</a:t>
                      </a:r>
                      <a:r>
                        <a:rPr lang="fr-FR" sz="800" b="1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prévoir, pour un même produit, </a:t>
                      </a:r>
                      <a:r>
                        <a:rPr lang="fr-FR" sz="8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 saisons différentes de commande, vente, achat, catalogue…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rattachement multi-saisons (actives en même temps).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saisons croisées (ex : SS Europe vs AW 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Océanie).</a:t>
                      </a:r>
                      <a:endParaRPr lang="fr-F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8060"/>
                  </a:ext>
                </a:extLst>
              </a:tr>
              <a:tr h="5851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Données référentielles à la saison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Articles et attributs.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 d’attention :</a:t>
                      </a:r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plusieurs variantes / valeurs d’attributs possibles au sein d’une même saison.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Fournisseurs.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Prix de vente / conditions de vente, dont remises.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Prix d’achat / conditions d’achat, dont remises.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9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Paramètres de gestion à la saison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Conditions et paramètres logistiques.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Règles de gestion des stocks.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Règles d’allocation.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89342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9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Transactions à la saison 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Commandes de vente.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Commandes d’achat.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Autres transactions associées (livraisons, retours…).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0992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Stocks saisonniers</a:t>
                      </a:r>
                    </a:p>
                  </a:txBody>
                  <a:tcPr marT="18000" marB="1800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Affectation des stocks à une saison donnée.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 lien avec la gestion des commandes (ex : achat et constitution d’un stock AH25 en cours de saison (calendaire) SS25).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bascule en masse (manuelle ou automatique) des stocks d’une saison à l’autre.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Définition de règles permettant (ou non) l’utilisation transverse / trans-saisonnière des stocks.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310567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Etat de stock</a:t>
                      </a:r>
                    </a:p>
                  </a:txBody>
                  <a:tcPr marT="18000" marB="1800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Etat détaillé des stocks à la date définie, transverse.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Agrégé ou détaillé sur les différents niveaux de la hiérarchie produit et de l’organisation.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Agrégé ou détaillé sur les saisons d’allocations (voir synthèse des besoins « allocations ») = « stock à la saison ».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342851"/>
                  </a:ext>
                </a:extLst>
              </a:tr>
              <a:tr h="155419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saisonnier intégré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Tableaux de bord et indicateurs de performance (ventes, couverture, taux d’écoulement) filtrables par saison.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102495"/>
                  </a:ext>
                </a:extLst>
              </a:tr>
              <a:tr h="492230">
                <a:tc rowSpan="5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Carry-over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Carry-over –  articles multi-saisons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lien avec la gestion des variantes.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cohérence avec le fonctionnement des outils amont (PLM, planning).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Reprise d’articles d’une saison sur une autre, contiguë ou non (SS =&gt; SS N+1) en conservant l’historique, les caractéristiques-clés et la traçabilité 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rattachement multi-saisons.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d’un critère « carry-over » permettant d’identifier et gérer ces articles, avec règle de reconduction.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210404"/>
                  </a:ext>
                </a:extLst>
              </a:tr>
              <a:tr h="213361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9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Carry-over –  paramètres de gestion spécifiques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définir des paramètres de gestion spécifiques aux articles « carry-over » (attribut / typologie spécifique ?) au sein d’une saison = critère d’application / de gestion.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52347"/>
                  </a:ext>
                </a:extLst>
              </a:tr>
              <a:tr h="120404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Etat de stock sur produits non reconduits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Etat détaillé des stocks sur les articles rattachés aux saisons précédentes, mais pas à la dernière ouverte =&gt; identifier carry-over potentiels.</a:t>
                      </a:r>
                    </a:p>
                    <a:p>
                      <a:pPr marL="18891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=&gt; Identification des stocks subis.</a:t>
                      </a:r>
                      <a:endParaRPr lang="fr-F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34988"/>
                  </a:ext>
                </a:extLst>
              </a:tr>
              <a:tr h="12040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Bascule des stocks de produits non reconduits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Identification des stocks de produits non reconduits (via l’état de stock ci-dessus).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facilement une bascule totale ou partielle de ces stocks vers la saison suivante.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Sélection et traitement en masse (</a:t>
                      </a:r>
                      <a:r>
                        <a:rPr lang="fr-FR" sz="8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transaction unitaire (référence par référence) insuffisante</a:t>
                      </a: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360363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Saisie des quantités à basculer.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49032"/>
                  </a:ext>
                </a:extLst>
              </a:tr>
              <a:tr h="306317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Attribution automatique d’un champ Carry-over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Permettre d’affecter automatiquement à la saison en cours / dernière ouverte les articles rattachés aux saisons précédentes et disposant encore de quantités en stock + activation d’un champ carry-over (incompatible avec Permanent).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 d’attention :</a:t>
                      </a:r>
                      <a:r>
                        <a:rPr lang="fr-FR" sz="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prévoir les cas de C-O « S+1 » (saison suivante) et « N+1 » (même saison, N+1).</a:t>
                      </a:r>
                    </a:p>
                  </a:txBody>
                  <a:tcPr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885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474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5758-56DA-B224-F6E5-B98F133A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03DCCB-9FBB-5A95-463F-C1B839A84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/>
          <a:lstStyle/>
          <a:p>
            <a:r>
              <a:rPr lang="fr-FR"/>
              <a:t>Synthèse des besoins (2/2)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8A5BDA2-BE35-E8A1-915E-AF45DE92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/>
              <a:t>SAISONS, PERMANENTS ET CARRY-OVERS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9C71E1F-6D11-F348-E26D-ED10662FF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098310"/>
              </p:ext>
            </p:extLst>
          </p:nvPr>
        </p:nvGraphicFramePr>
        <p:xfrm>
          <a:off x="177282" y="814252"/>
          <a:ext cx="11847655" cy="3959244"/>
        </p:xfrm>
        <a:graphic>
          <a:graphicData uri="http://schemas.openxmlformats.org/drawingml/2006/table">
            <a:tbl>
              <a:tblPr/>
              <a:tblGrid>
                <a:gridCol w="1184793">
                  <a:extLst>
                    <a:ext uri="{9D8B030D-6E8A-4147-A177-3AD203B41FA5}">
                      <a16:colId xmlns:a16="http://schemas.microsoft.com/office/drawing/2014/main" val="4067119361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14813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573267">
                <a:tc rowSpan="5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Permanents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Permanents –  articles multi-saisons (ou « hors saison » ?)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lien avec la gestion des variantes.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cohérence avec le fonctionnement des outils amont (PLM, planning).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Reprise automatique d’articles d’une saison à l‘autre en conservant l’historique, les caractéristiques-clés et la traçabilité 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rattachement multi-saisons.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 d’attention :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si gestion amont (budget, plan coll, planning) adaptée, s’affranchir de la notion de saison ?</a:t>
                      </a:r>
                      <a:endParaRPr lang="fr-FR" sz="800" b="1" u="sng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d’un critère « permanent » permettant d’identifier et gérer ces articles, avec règle de reconduction.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475368"/>
                  </a:ext>
                </a:extLst>
              </a:tr>
              <a:tr h="4801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Saison « permanente »</a:t>
                      </a:r>
                    </a:p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[A définir avec l’éditeur : alternative au paramètre « permanent » pour gérer des règles spécifiques]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saison « permanente », transverse, reprenant le fonctionnement des saisons temporaires et compatible avec celle-ci dans son fonctionnement et ses paramètres de gestion.</a:t>
                      </a:r>
                    </a:p>
                    <a:p>
                      <a:pPr marL="179388" indent="-1793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Points d’attention :</a:t>
                      </a:r>
                      <a:endParaRPr lang="fr-FR" sz="800" b="1" u="non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0363" indent="-180975" algn="l" defTabSz="9144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fr-FR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évoir pour un même produit des saisons différentes par canal de vente (permanent en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saisonnier en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360363" indent="-180975" algn="l" defTabSz="9144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Compatibilité à gérer avec un paramètre « permanent » pour gérer des règles spécifiques.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79573"/>
                  </a:ext>
                </a:extLst>
              </a:tr>
              <a:tr h="200863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Permanents –  paramètres de gestion spécifiques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définir des paramètres de gestion spécifiques aux articles « permanents » (attribut / typologie spécifique ?) au sein d’une saison = critère d’application / de gestion.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la saisonnalité dans la gestion de ces paramètres spécifiques, avec la possibilité de définir des règles / valeurs différents d’une saison à l’autre.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Point d’attention :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gérer les règles à la saison (en dépit du statut « permanent » des Articles) doit permettre de gérer les cas de permanents « entrants » et « sortants », avec les spécificités et combinatoires associées. 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7437"/>
                  </a:ext>
                </a:extLst>
              </a:tr>
              <a:tr h="573267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Permanents – règles de réassort spécifiques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module de calcul de réassort spécifique aux produits permanents et applicable par canal / type de client / autre.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des stocks basée sur règles (seuils optimum, mini / maxi) =&gt; si possible, calculer une couverture dans l’ERP ?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Commande de réassort calculée et déclenchée sur stock et optimum logistique (</a:t>
                      </a:r>
                      <a:r>
                        <a:rPr lang="fr-FR" sz="800" b="0" u="none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bags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autre colis ou vrac).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multi-facteurs du réassort.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multi-facteurs des optimums logistiques.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59456"/>
                  </a:ext>
                </a:extLst>
              </a:tr>
              <a:tr h="293964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Permanents – règles de stocks et réappro spécifiques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de gestion des stocks spécifique aux produits permanents.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de besoins de réapprovisionnement (automatiques ou sur validation) basés sur règles de stocks et paramètres d’achat.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821848"/>
                  </a:ext>
                </a:extLst>
              </a:tr>
              <a:tr h="387065"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Transverse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transverse des stocks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lien avec la gestion des variantes.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Vue des quantités globales en stock, toutes saisons.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 de règles de gestion des stocks sur la totalité des quantités disponibles.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96226"/>
                  </a:ext>
                </a:extLst>
              </a:tr>
              <a:tr h="38706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du stock à une saison donnée</a:t>
                      </a:r>
                    </a:p>
                  </a:txBody>
                  <a:tcPr marT="10800" marB="1080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gestion « hybride » des stocks :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« </a:t>
                      </a:r>
                      <a:r>
                        <a:rPr lang="fr-FR" sz="800" b="0" u="none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dé-saisonnaliser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» le stock : stock utilisable pour commandes sur saison en cours, passée, future (sous réserve de validité de la saison).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Possible d’allouer toute ou partie du stock à une saison : non utilisable pour commandées passées sur d’autres saisons.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6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022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E9D8-665A-6619-0A80-AB7EE0FF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8F53F1-208C-E63E-3833-EA599D7472C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35499A5A-1347-58FE-DDC2-2D36FC3044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5330" y="4557439"/>
            <a:ext cx="5467298" cy="863642"/>
          </a:xfrm>
        </p:spPr>
        <p:txBody>
          <a:bodyPr/>
          <a:lstStyle/>
          <a:p>
            <a:r>
              <a:rPr lang="fr-FR" sz="2000"/>
              <a:t>MATIÈRES ET CAPACITÉS :</a:t>
            </a:r>
            <a:br>
              <a:rPr lang="fr-FR" sz="2000"/>
            </a:br>
            <a:r>
              <a:rPr lang="fr-FR" sz="2000"/>
              <a:t>ACHATS ET RÉSERVATIONS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FA4770A-AA6A-CD4D-A293-8B095C0DFAD6}"/>
              </a:ext>
            </a:extLst>
          </p:cNvPr>
          <p:cNvSpPr txBox="1"/>
          <p:nvPr/>
        </p:nvSpPr>
        <p:spPr>
          <a:xfrm>
            <a:off x="6390100" y="1182231"/>
            <a:ext cx="534657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des capacités fournisseur et des matières (« matière » incluant les consommables et autres intrants gérés au travers de ce processus, et réservés / achetés auprès des fournisseurs).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Le besoin général consiste à faire porter par l’ERP un processus aujourd’hui manuel (Excel).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Calcul des besoins / contingents de capacités à réserver.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Calcul des besoins matières à partir des emplois.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Cadencement des achats et approvisionnements de matières par rapport aux commandes d’achats de produits finis.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Gestion des « stocks » (prévisions, consommations théoriques et réelles, disponible) et des seuils.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d’une nouvelle référence « matière » dans le référentiel article) ne sont pas détaillés car évidents.</a:t>
            </a:r>
            <a:endParaRPr lang="fr-FR" sz="1100" b="1">
              <a:solidFill>
                <a:schemeClr val="accent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Macro-processus de gestion des achats / réservations de matières et capacités.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833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A0A1-0421-56CF-9677-32E62310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au 43">
            <a:extLst>
              <a:ext uri="{FF2B5EF4-FFF2-40B4-BE49-F238E27FC236}">
                <a16:creationId xmlns:a16="http://schemas.microsoft.com/office/drawing/2014/main" id="{BA431C9B-BFC9-2C07-4B8A-66435966B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11817"/>
              </p:ext>
            </p:extLst>
          </p:nvPr>
        </p:nvGraphicFramePr>
        <p:xfrm>
          <a:off x="71719" y="818281"/>
          <a:ext cx="12021671" cy="499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758">
                  <a:extLst>
                    <a:ext uri="{9D8B030D-6E8A-4147-A177-3AD203B41FA5}">
                      <a16:colId xmlns:a16="http://schemas.microsoft.com/office/drawing/2014/main" val="2788580715"/>
                    </a:ext>
                  </a:extLst>
                </a:gridCol>
                <a:gridCol w="4320564">
                  <a:extLst>
                    <a:ext uri="{9D8B030D-6E8A-4147-A177-3AD203B41FA5}">
                      <a16:colId xmlns:a16="http://schemas.microsoft.com/office/drawing/2014/main" val="4135971011"/>
                    </a:ext>
                  </a:extLst>
                </a:gridCol>
                <a:gridCol w="2236711">
                  <a:extLst>
                    <a:ext uri="{9D8B030D-6E8A-4147-A177-3AD203B41FA5}">
                      <a16:colId xmlns:a16="http://schemas.microsoft.com/office/drawing/2014/main" val="3679569296"/>
                    </a:ext>
                  </a:extLst>
                </a:gridCol>
                <a:gridCol w="3278638">
                  <a:extLst>
                    <a:ext uri="{9D8B030D-6E8A-4147-A177-3AD203B41FA5}">
                      <a16:colId xmlns:a16="http://schemas.microsoft.com/office/drawing/2014/main" val="85124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>
                          <a:solidFill>
                            <a:schemeClr val="tx1"/>
                          </a:solidFill>
                        </a:rPr>
                        <a:t>PLANNING</a:t>
                      </a:r>
                    </a:p>
                    <a:p>
                      <a:pPr algn="ctr"/>
                      <a:r>
                        <a:rPr lang="fr-FR" sz="600">
                          <a:solidFill>
                            <a:schemeClr val="tx1"/>
                          </a:solidFill>
                        </a:rPr>
                        <a:t>(MAP, OPTIMATE, EXCEL)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>
                          <a:solidFill>
                            <a:schemeClr val="tx1"/>
                          </a:solidFill>
                        </a:rPr>
                        <a:t>ERP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PLM</a:t>
                      </a:r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PRECISIONS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12587"/>
                  </a:ext>
                </a:extLst>
              </a:tr>
              <a:tr h="40394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Demandes d’achats = premières données « achats » déversées du planning dans l’ERP.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Détermine la quantité de produits finis (PF) à acheter.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Emploi : quantité de tissu nécessaire à la fabrication et portée par nomenclatures.</a:t>
                      </a: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1223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Détermination de la capacité fournisseur nécessaire à partir du nombre d’unités de produits finis (PF) à produire.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Contrôle de cohérence de la capacité requise avec la capacité fournisseur disponible / mobilisable / réservée (réservation réalisée hors système)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49238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des besoins matières (MP) à partir des emplois x quantités.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203032"/>
                  </a:ext>
                </a:extLst>
              </a:tr>
              <a:tr h="451702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 commandes d’achats ouvertes équivalentes à la quantité nécessaire à la production, défalquées par les commandes d’achats fermes.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types de commandes « achat » ou « réservation » portant des règles de valorisation spécifiques, suivi de la consommation.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Pour les réservations de matière : étudier tout alternative proposée par l’éditeur (stock déporté à valorisation nulle…).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26859"/>
                  </a:ext>
                </a:extLst>
              </a:tr>
              <a:tr h="465346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des commandes d’achats de produits finis et du rétroplanning associé (à partir des demandes d’achats).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Contrôle d’adéquation des capacités fournisseur à la semaine et du planning des commandes d’achats =&gt; lissage, priorisation, réagencement du « plan de production » </a:t>
                      </a:r>
                      <a:r>
                        <a:rPr lang="fr-FR" sz="600" b="0" kern="1200">
                          <a:solidFill>
                            <a:schemeClr val="tx1"/>
                          </a:solidFill>
                          <a:highlight>
                            <a:srgbClr val="FFFFCC"/>
                          </a:highlight>
                          <a:latin typeface="+mn-lt"/>
                          <a:ea typeface="+mn-ea"/>
                          <a:cs typeface="+mn-cs"/>
                        </a:rPr>
                        <a:t>=&gt; à étudier avec les éditeurs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95232"/>
                  </a:ext>
                </a:extLst>
              </a:tr>
              <a:tr h="758607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des commandes d’achats MP « à partir » des commandes d’achats PF :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Identifier les commandes PF nécessitant des MP.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Calculer la quantité de MP nécessaire (automatiquement, à partir des emplois).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Déterminer les jalons de commande MP par rapport aux jalons de commande, capacités et lead times PF.</a:t>
                      </a:r>
                    </a:p>
                    <a:p>
                      <a:pPr marL="358775" indent="-88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 limite de livraison des MP au fournisseur déterminée par date de MAD (ex-</a:t>
                      </a:r>
                      <a:r>
                        <a:rPr lang="fr-FR" sz="6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factory</a:t>
                      </a: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de la PO – nb de semaines de production requises (qté / capacités).</a:t>
                      </a:r>
                    </a:p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à jour des quantités de MP : disponible, engagée / consommée « théorique »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299294"/>
                  </a:ext>
                </a:extLst>
              </a:tr>
              <a:tr h="536154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Réception des commandes d’achats MP par le fournisseur (=&gt; à gérer via le portail fournisseur / de suivi des commandes d’achat ?).</a:t>
                      </a: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 de réception à prévoir pour les réservations,.</a:t>
                      </a: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Traitement / production des commandes d’achats de PF (processus de gestion de commande d’achat standard).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169552"/>
                  </a:ext>
                </a:extLst>
              </a:tr>
              <a:tr h="531721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Réception et intégration des rapports de coupe :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à jour des quantités réellement consommées et du stock disponible.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Mesure d’écart entre emploi prévisionnel et emploi réel.</a:t>
                      </a:r>
                    </a:p>
                    <a:p>
                      <a:pPr marL="269875" indent="-90488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Alertes / propositions d’ajustement de l’emploi (en coordination / lien avec le PLM dont descend la donnée d’emploi initiale).</a:t>
                      </a: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Contrôle de cohérence entre la quantité de MP et les commandes de PF restantes.</a:t>
                      </a: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Proposition d’ajustement / d’achat de matière complémentaire.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665516"/>
                  </a:ext>
                </a:extLst>
              </a:tr>
            </a:tbl>
          </a:graphicData>
        </a:graphic>
      </p:graphicFrame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FD626CA-FE8E-9D4A-FCEE-64AB92D4A9F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0926D-7309-A64F-6007-C190C606E348}"/>
              </a:ext>
            </a:extLst>
          </p:cNvPr>
          <p:cNvSpPr/>
          <p:nvPr/>
        </p:nvSpPr>
        <p:spPr>
          <a:xfrm>
            <a:off x="6773968" y="12210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Saisie nomenclatures PF : emploi MP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089E50-F28A-1A9B-94DB-215FD302EAD8}"/>
              </a:ext>
            </a:extLst>
          </p:cNvPr>
          <p:cNvSpPr/>
          <p:nvPr/>
        </p:nvSpPr>
        <p:spPr>
          <a:xfrm>
            <a:off x="268493" y="12210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Calcul des prévisions d’achats globales PF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5AD3FD7-BAA4-83C2-2D84-F5E1D018CF84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flipH="1">
            <a:off x="6487765" y="1383006"/>
            <a:ext cx="286203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B5D7AD4-103D-13CA-DADF-37648A6167CC}"/>
              </a:ext>
            </a:extLst>
          </p:cNvPr>
          <p:cNvSpPr/>
          <p:nvPr/>
        </p:nvSpPr>
        <p:spPr>
          <a:xfrm>
            <a:off x="4687765" y="12210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Chargement des nomenclatures PF : emploi MP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C820E9-BFC2-1EDA-2643-8AD7780B7D16}"/>
              </a:ext>
            </a:extLst>
          </p:cNvPr>
          <p:cNvSpPr/>
          <p:nvPr/>
        </p:nvSpPr>
        <p:spPr>
          <a:xfrm>
            <a:off x="2330045" y="12210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Création des demandes d’achats PF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7B92A0B-0856-B326-65BE-C723CE6605D3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>
            <a:off x="2068493" y="1383006"/>
            <a:ext cx="261552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8A6BB33-D74B-4C9C-568D-B52B025D87D8}"/>
              </a:ext>
            </a:extLst>
          </p:cNvPr>
          <p:cNvSpPr/>
          <p:nvPr/>
        </p:nvSpPr>
        <p:spPr>
          <a:xfrm>
            <a:off x="2333730" y="2183981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Calcul des besoins globaux MP </a:t>
            </a:r>
            <a:b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quantités PF x emploi MP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9DD33-C24E-00DB-5513-A2F459E1862A}"/>
              </a:ext>
            </a:extLst>
          </p:cNvPr>
          <p:cNvSpPr/>
          <p:nvPr/>
        </p:nvSpPr>
        <p:spPr>
          <a:xfrm>
            <a:off x="2333730" y="2825621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 Saisie des commandes d’achats MP ouvertes (quantité globale)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08A6961-ED26-8FF7-8B1B-0A1668A097BE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>
            <a:off x="3233730" y="2507981"/>
            <a:ext cx="0" cy="31764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7E6F44E0-1D20-2BD0-8728-F0F1C3040183}"/>
              </a:ext>
            </a:extLst>
          </p:cNvPr>
          <p:cNvCxnSpPr>
            <a:cxnSpLocks/>
            <a:stCxn id="5" idx="2"/>
            <a:endCxn id="34" idx="3"/>
          </p:cNvCxnSpPr>
          <p:nvPr/>
        </p:nvCxnSpPr>
        <p:spPr>
          <a:xfrm rot="5400000">
            <a:off x="4460261" y="1218476"/>
            <a:ext cx="800975" cy="1454035"/>
          </a:xfrm>
          <a:prstGeom prst="bentConnector2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189E788-8B3E-FFAC-0573-8724E7F22256}"/>
              </a:ext>
            </a:extLst>
          </p:cNvPr>
          <p:cNvSpPr/>
          <p:nvPr/>
        </p:nvSpPr>
        <p:spPr>
          <a:xfrm>
            <a:off x="4687765" y="2825621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 Saisie des commandes de réservations MP ouvertes (quantités globales)</a:t>
            </a:r>
          </a:p>
        </p:txBody>
      </p:sp>
      <p:cxnSp>
        <p:nvCxnSpPr>
          <p:cNvPr id="71" name="Connecteur : en angle 70">
            <a:extLst>
              <a:ext uri="{FF2B5EF4-FFF2-40B4-BE49-F238E27FC236}">
                <a16:creationId xmlns:a16="http://schemas.microsoft.com/office/drawing/2014/main" id="{F81DE6D9-49FD-592A-D687-988EDA671DF4}"/>
              </a:ext>
            </a:extLst>
          </p:cNvPr>
          <p:cNvCxnSpPr>
            <a:cxnSpLocks/>
            <a:stCxn id="34" idx="2"/>
            <a:endCxn id="70" idx="0"/>
          </p:cNvCxnSpPr>
          <p:nvPr/>
        </p:nvCxnSpPr>
        <p:spPr>
          <a:xfrm rot="16200000" flipH="1">
            <a:off x="4251927" y="1489783"/>
            <a:ext cx="317640" cy="2354035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9364470-6016-DE13-3F20-FA54A0D48B22}"/>
              </a:ext>
            </a:extLst>
          </p:cNvPr>
          <p:cNvSpPr/>
          <p:nvPr/>
        </p:nvSpPr>
        <p:spPr>
          <a:xfrm>
            <a:off x="2333730" y="33077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 Création des commandes d’achats PF + jalons de commande</a:t>
            </a:r>
          </a:p>
        </p:txBody>
      </p: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C8E2A4CD-5F1D-4990-D4EE-25204739F245}"/>
              </a:ext>
            </a:extLst>
          </p:cNvPr>
          <p:cNvCxnSpPr>
            <a:cxnSpLocks/>
            <a:stCxn id="38" idx="2"/>
            <a:endCxn id="80" idx="0"/>
          </p:cNvCxnSpPr>
          <p:nvPr/>
        </p:nvCxnSpPr>
        <p:spPr>
          <a:xfrm>
            <a:off x="3233730" y="3149621"/>
            <a:ext cx="0" cy="158085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338C1ED4-3540-5F3A-D1EC-940D76F2A747}"/>
              </a:ext>
            </a:extLst>
          </p:cNvPr>
          <p:cNvSpPr/>
          <p:nvPr/>
        </p:nvSpPr>
        <p:spPr>
          <a:xfrm>
            <a:off x="2330045" y="3889511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Création des commandes d’achats MP + jalons de commande calculés</a:t>
            </a:r>
          </a:p>
        </p:txBody>
      </p: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FA4B7BA3-42BD-DC8E-85D5-267752520447}"/>
              </a:ext>
            </a:extLst>
          </p:cNvPr>
          <p:cNvCxnSpPr>
            <a:cxnSpLocks/>
            <a:stCxn id="80" idx="2"/>
            <a:endCxn id="94" idx="0"/>
          </p:cNvCxnSpPr>
          <p:nvPr/>
        </p:nvCxnSpPr>
        <p:spPr>
          <a:xfrm flipH="1">
            <a:off x="3230045" y="3631706"/>
            <a:ext cx="3685" cy="257805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E4B4F43-4111-99BD-7CD7-3470C05557F2}"/>
              </a:ext>
            </a:extLst>
          </p:cNvPr>
          <p:cNvSpPr/>
          <p:nvPr/>
        </p:nvSpPr>
        <p:spPr>
          <a:xfrm>
            <a:off x="4687765" y="3889511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 Création des mouvements / prévisions de sorties MP</a:t>
            </a:r>
          </a:p>
        </p:txBody>
      </p:sp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A33A9BC7-88FB-4509-D171-53A3B1843D51}"/>
              </a:ext>
            </a:extLst>
          </p:cNvPr>
          <p:cNvCxnSpPr>
            <a:cxnSpLocks/>
            <a:stCxn id="80" idx="2"/>
            <a:endCxn id="4" idx="0"/>
          </p:cNvCxnSpPr>
          <p:nvPr/>
        </p:nvCxnSpPr>
        <p:spPr>
          <a:xfrm rot="16200000" flipH="1">
            <a:off x="4281845" y="2583590"/>
            <a:ext cx="257805" cy="2354035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87F2790-9EA7-E44F-7BC4-C72BCBC9BA69}"/>
              </a:ext>
            </a:extLst>
          </p:cNvPr>
          <p:cNvCxnSpPr>
            <a:cxnSpLocks/>
            <a:stCxn id="70" idx="2"/>
            <a:endCxn id="4" idx="0"/>
          </p:cNvCxnSpPr>
          <p:nvPr/>
        </p:nvCxnSpPr>
        <p:spPr>
          <a:xfrm>
            <a:off x="5587765" y="3149621"/>
            <a:ext cx="0" cy="73989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50CDFA3-8569-59C9-4F75-3BACF929DF99}"/>
              </a:ext>
            </a:extLst>
          </p:cNvPr>
          <p:cNvCxnSpPr>
            <a:cxnSpLocks/>
            <a:stCxn id="94" idx="2"/>
            <a:endCxn id="19" idx="0"/>
          </p:cNvCxnSpPr>
          <p:nvPr/>
        </p:nvCxnSpPr>
        <p:spPr>
          <a:xfrm>
            <a:off x="3230045" y="4213511"/>
            <a:ext cx="0" cy="388664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2B741DE-F342-BE8E-1D74-1A8784CB25DC}"/>
              </a:ext>
            </a:extLst>
          </p:cNvPr>
          <p:cNvSpPr/>
          <p:nvPr/>
        </p:nvSpPr>
        <p:spPr>
          <a:xfrm>
            <a:off x="4687765" y="4604100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du suivi des commandes d’achats PF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9D707-45D7-D81E-0172-6FB1641E4153}"/>
              </a:ext>
            </a:extLst>
          </p:cNvPr>
          <p:cNvSpPr/>
          <p:nvPr/>
        </p:nvSpPr>
        <p:spPr>
          <a:xfrm>
            <a:off x="2330045" y="4602175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statut / suivi des commandes d’achats MP et PF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857216C-9711-6A4F-3332-8D097437B70F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5587765" y="4213511"/>
            <a:ext cx="0" cy="390589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6EBB57E8-1B03-A5A3-B540-C6F12F90B45F}"/>
              </a:ext>
            </a:extLst>
          </p:cNvPr>
          <p:cNvSpPr txBox="1">
            <a:spLocks/>
          </p:cNvSpPr>
          <p:nvPr/>
        </p:nvSpPr>
        <p:spPr>
          <a:xfrm>
            <a:off x="507245" y="501449"/>
            <a:ext cx="11177364" cy="3128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/>
              <a:t>Macro-processus de gestion des achats / réservations de matières et capacités</a:t>
            </a:r>
          </a:p>
        </p:txBody>
      </p:sp>
      <p:sp>
        <p:nvSpPr>
          <p:cNvPr id="15" name="Titre 2">
            <a:extLst>
              <a:ext uri="{FF2B5EF4-FFF2-40B4-BE49-F238E27FC236}">
                <a16:creationId xmlns:a16="http://schemas.microsoft.com/office/drawing/2014/main" id="{C1B33889-03F0-CB44-F8B7-5A3A2D85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/>
              <a:t>Matières et capacités : achats et réservations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34344E-2C14-3EA6-CFF0-0DC3A53E1F49}"/>
              </a:ext>
            </a:extLst>
          </p:cNvPr>
          <p:cNvSpPr/>
          <p:nvPr/>
        </p:nvSpPr>
        <p:spPr>
          <a:xfrm>
            <a:off x="2330045" y="1687219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Calcul des besoins en capacité</a:t>
            </a:r>
            <a:b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+ contrôle de cohérence avec capacité fournisseur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FCA14A3B-C57B-EB8A-87E0-28CE858D3DA6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3230045" y="1545006"/>
            <a:ext cx="0" cy="142213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3D985C41-072E-92A2-0724-2BCB0AFE4C10}"/>
              </a:ext>
            </a:extLst>
          </p:cNvPr>
          <p:cNvCxnSpPr>
            <a:cxnSpLocks/>
            <a:stCxn id="22" idx="2"/>
            <a:endCxn id="34" idx="0"/>
          </p:cNvCxnSpPr>
          <p:nvPr/>
        </p:nvCxnSpPr>
        <p:spPr>
          <a:xfrm>
            <a:off x="3230045" y="2011219"/>
            <a:ext cx="3685" cy="172762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EB90C9-EBFF-9EDF-93A1-00AAB37A6978}"/>
              </a:ext>
            </a:extLst>
          </p:cNvPr>
          <p:cNvSpPr/>
          <p:nvPr/>
        </p:nvSpPr>
        <p:spPr>
          <a:xfrm>
            <a:off x="3510747" y="5164710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Intégration des rapports de coupe</a:t>
            </a:r>
            <a:b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+ mise à jour des commandes de MP</a:t>
            </a:r>
          </a:p>
        </p:txBody>
      </p:sp>
      <p:cxnSp>
        <p:nvCxnSpPr>
          <p:cNvPr id="56" name="Connecteur : en angle 55">
            <a:extLst>
              <a:ext uri="{FF2B5EF4-FFF2-40B4-BE49-F238E27FC236}">
                <a16:creationId xmlns:a16="http://schemas.microsoft.com/office/drawing/2014/main" id="{FA8443C6-30D5-8C1D-4F2F-5C52A8039FE8}"/>
              </a:ext>
            </a:extLst>
          </p:cNvPr>
          <p:cNvCxnSpPr>
            <a:cxnSpLocks/>
            <a:stCxn id="19" idx="2"/>
            <a:endCxn id="46" idx="0"/>
          </p:cNvCxnSpPr>
          <p:nvPr/>
        </p:nvCxnSpPr>
        <p:spPr>
          <a:xfrm rot="16200000" flipH="1">
            <a:off x="3701129" y="4455091"/>
            <a:ext cx="238535" cy="1180702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 : en angle 58">
            <a:extLst>
              <a:ext uri="{FF2B5EF4-FFF2-40B4-BE49-F238E27FC236}">
                <a16:creationId xmlns:a16="http://schemas.microsoft.com/office/drawing/2014/main" id="{CB7882CE-105F-E69A-497F-621C2793A351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rot="5400000">
            <a:off x="4880951" y="4457896"/>
            <a:ext cx="236610" cy="1177018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197292B-96A0-879B-325F-1CC7BBE5A4EB}"/>
              </a:ext>
            </a:extLst>
          </p:cNvPr>
          <p:cNvSpPr/>
          <p:nvPr/>
        </p:nvSpPr>
        <p:spPr>
          <a:xfrm>
            <a:off x="268493" y="3307706"/>
            <a:ext cx="180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Planification et contrôle de la capacité hebdomadaire 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1EEB4FAA-AF18-6CD8-27F0-91587561AC62}"/>
              </a:ext>
            </a:extLst>
          </p:cNvPr>
          <p:cNvCxnSpPr>
            <a:cxnSpLocks/>
            <a:stCxn id="80" idx="1"/>
            <a:endCxn id="62" idx="3"/>
          </p:cNvCxnSpPr>
          <p:nvPr/>
        </p:nvCxnSpPr>
        <p:spPr>
          <a:xfrm flipH="1">
            <a:off x="2068493" y="3469706"/>
            <a:ext cx="265237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02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20B5-237C-D729-2F84-C522E967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55CCC1-4D2B-145E-6FDA-7F61A671EF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69C74EC-3719-06FD-3974-226DF13D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Achats et réservations de matières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21CB76AA-F6F6-ED88-7C17-5B9D2C3E1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42939"/>
              </p:ext>
            </p:extLst>
          </p:nvPr>
        </p:nvGraphicFramePr>
        <p:xfrm>
          <a:off x="261257" y="866606"/>
          <a:ext cx="11847655" cy="5911495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179142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Nomenclatures et emplois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nomenclatures articles (en lien avec le PLM) contenant l’emploi matière théorique (m² linéaires nécessaires à la production d’un article).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650826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 des quantités de matières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des quantités de matière nécessaires à la production des articles achetés.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prévisionnelles : à partir de l’emploi (nomenclatures) et des demandes et commandes d’achats.</a:t>
                      </a:r>
                    </a:p>
                    <a:p>
                      <a:pPr marL="358775" lvl="1" indent="-179388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« ajustées » : à partir des rapports de coupe, intégrés périodiquement (données reçues du fournisseur).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Propositions d’ajustement automatique des emplois (via un report / tableau de bord) en cas d’écart entre l’emploi matière théorique (porté par les nomenclatures) et le réel (déduit des rapports de coupe) =&gt; si l’écart atteint une valeur prédéfinie, paramétrable dans le système.</a:t>
                      </a:r>
                      <a:endParaRPr lang="fr-FR" sz="800" b="0" i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26515"/>
                  </a:ext>
                </a:extLst>
              </a:tr>
              <a:tr h="902248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 d’achats de matières</a:t>
                      </a:r>
                      <a:b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(+ allocation / lien avec commande de produits finis)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typologies de commandes d’achats spécifiques aux « matières premières / consommables / intrants » :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distinctes des commandes d’achats de produits finis (et facilement identifiables),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utilisant des règles et données spécifiques, dont paramètres d’approvisionnement / </a:t>
                      </a:r>
                      <a:r>
                        <a:rPr lang="fr-FR" sz="800" b="0" i="1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lead times </a:t>
                      </a: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entre les différents points (fournisseur, lieu de production, lieu de stockage…),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pouvant être liées aux commandes de produits finis selon un système comparable aux allocations (créant une dépendance entre les plannings et les quantités des commande liées).</a:t>
                      </a:r>
                    </a:p>
                    <a:p>
                      <a:pPr marL="5381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 commande d’achat « intrant » est associée à une ou plusieurs commandes d’achats de produits finis.</a:t>
                      </a:r>
                    </a:p>
                    <a:p>
                      <a:pPr marL="5381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 quantités d’intrants sont ainsi « allouées » aux quantités de produits finis.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03986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Contrats / commandes ouvertes d’achats de matières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commandes ouvertes de type « contrat », permettant :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d’engager un achat global (et ainsi réserver les matières et intrants), avec une quantité totale définie (calculée par l’ERP sur la base des besoins),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« défalquer » de cette commande ouverte des commandes unitaires, cadencées selon les achats de produits finis (dans la limite de la quantité totale de la commande ouverte).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7156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stocks achetés et allocations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stocks logiques pour les matières achetées (permettant de gérer les lieux de stockage et affectations diverses…);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opérationnel des stocks : entrées, sorties, encours, engagés / alloués, résiduels…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la base des commandes d’achats (matières et PF), quantités en production et en transit, rapports de coupe…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liens / affectations des commandes de produits finis aux quantités en stock, dans un système comparable aux allocations.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9372"/>
                  </a:ext>
                </a:extLst>
              </a:tr>
              <a:tr h="1279381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 de réservation de matières</a:t>
                      </a:r>
                      <a:b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(+ allocation / lien avec commande de produits finis)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les réservations de matières (sans achat ferme, facture ou transaction financière) via des commandes, transactions ou modalités adaptées dans l’ERP (stock déporté, quota, commande non facturable…) :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distinctes des commandes d’achats « fermes » de matières (et des commandes de produits finis),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utilisant des règles et données spécifiques (dont paramètres d’approvisionnement),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pouvant être liées aux commandes de produits finis selon un système comparable aux allocations.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logique de « contrat / commande ouverte » :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réserver une quantité globale (calculée par l’ERP sur la base des besoins),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« défalquer » de ce quota des sorties unitaires, cadencées selon les achats de produits finis (dans la limite de la quantité totale réservée).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lead times et conditions logistiques, comme pour une commande d’achat (a minima entre le fournisseur et le lieu de stockage et / ou le lieu de production).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333736"/>
                  </a:ext>
                </a:extLst>
              </a:tr>
              <a:tr h="273694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« stocks » de matières réservées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« stock » virtuel (ou autre transaction / fonctionnalité adaptée) permettant le suivi : 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d’un stock acheté / réservé et déporté sur un lieu de stockage tier (fournisseur de matière, fournisseur-fabricant de produits finis),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 quantités réservées auprès d’un fournisseur (si pas de commande de réservation).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des quantités (initiales, consommées, encours, résiduelles) sur la base des commandes d’achats, encours (production, transit), rapports de coupe…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279500"/>
                  </a:ext>
                </a:extLst>
              </a:tr>
              <a:tr h="273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Lead times spécifiques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/>
                        <a:buChar char="•"/>
                      </a:pPr>
                      <a:r>
                        <a:rPr lang="fr-FR" sz="800"/>
                        <a:t>Gestion de lead times spécifiques aux commandes et transactions relatives aux matières / consommables / intrants.</a:t>
                      </a:r>
                    </a:p>
                    <a:p>
                      <a:pPr marL="171450" lvl="0" indent="-171450" algn="l" rtl="0">
                        <a:buFont typeface="Arial"/>
                        <a:buChar char="•"/>
                      </a:pPr>
                      <a:r>
                        <a:rPr lang="fr-FR" sz="800"/>
                        <a:t>Gestion de différents lead times /  combinaisons de conditions logistiques (fournisseur, matière, site de fabrication, marque, catégorie produit, modèle…).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993305"/>
                  </a:ext>
                </a:extLst>
              </a:tr>
              <a:tr h="27369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Cockpit de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suivi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matières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alertes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/>
                        <a:buChar char="•"/>
                      </a:pPr>
                      <a:r>
                        <a:rPr lang="fr-FR" sz="800"/>
                        <a:t>Cockpit de suivi des consommations, en cours et disponibles pour les allocations (réservations) et stocks (achats) de matières.</a:t>
                      </a:r>
                    </a:p>
                    <a:p>
                      <a:pPr marL="171450" lvl="0" indent="-171450" algn="l" rtl="0">
                        <a:buFont typeface="Arial"/>
                        <a:buChar char="•"/>
                      </a:pPr>
                      <a:r>
                        <a:rPr lang="fr-FR" sz="800"/>
                        <a:t>Alertes « de stocks / seuils » =&gt; niveau mini / maxi, couverture…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39940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rétroplanning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approvisionnements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matières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/>
                        <a:buChar char="•"/>
                      </a:pPr>
                      <a:r>
                        <a:rPr lang="fr-FR" sz="800"/>
                        <a:t>Détermination des jalons de commandes de matières, dont date de mise à disposition (ex-</a:t>
                      </a:r>
                      <a:r>
                        <a:rPr lang="fr-FR" sz="800" err="1"/>
                        <a:t>works</a:t>
                      </a:r>
                      <a:r>
                        <a:rPr lang="fr-FR" sz="800"/>
                        <a:t>) par le fournisseur, à partir :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 jalons de la commande d’achats de produits finis,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 conditions d’appro et paramètres logistiques (dont lead times) définis pour les matières.</a:t>
                      </a:r>
                      <a:endParaRPr lang="fr-FR" sz="800"/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94812"/>
                  </a:ext>
                </a:extLst>
              </a:tr>
              <a:tr h="298881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Suivi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transverse des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quantités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matières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transverse des quantités, commandes, stocks et allocations de matières.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6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308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FC1F-2432-2526-0002-D6AE73B3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E4639C-10E3-296D-6388-C21F52B30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C933E51-30CF-A86E-364C-8554D39EF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réservations de capacités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9CD6107-5FCD-66A5-87CD-24574D4D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84014"/>
              </p:ext>
            </p:extLst>
          </p:nvPr>
        </p:nvGraphicFramePr>
        <p:xfrm>
          <a:off x="261257" y="866606"/>
          <a:ext cx="11847655" cy="2546400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179142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Paramètre de capacité fournisseur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conditions et paramètres de production, dont la capacité fournisseur.</a:t>
                      </a:r>
                    </a:p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cette capacité à différents niveaux : au global fournisseur, pour un site de production, sur la hiérarchie produit (dont Modèle)…</a:t>
                      </a:r>
                    </a:p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Extraction simplifiée, et exploitable, de ces données de capacité.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179142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 de capacité fournisseur à réserver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des capacités à réserver auprès des fournisseurs sur la base des commandes d’achats de produits finis.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Agrégation des quantités achetées et à produire.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Comparaison / adéquation avec les capacités du fournisseur et / ou des seuils prédéfinis (ex : possibilité de réserver jusqu’à X% de la capacité totale).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Allocation / répartition de la capacité à réserver selon des règles / paramètres prédéfinis (ex : répartition au poids de chaque marque).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581388"/>
                  </a:ext>
                </a:extLst>
              </a:tr>
              <a:tr h="270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Réservation de capacité fournisseur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les réservations de capacités (sans achats ferme, facture ou transaction financière) via des commandes, transactions ou modalités adaptées dans l’ERP.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de répartition de la capacité réservée, comparable aux règles d’allocations.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635281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Suivi des capacités réservées et allocations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piloter la capacité fournisseur : capacité totale du fournisseur, capacité réservée (via « commandes » / transactions de réservation), disponible, engagée (via les commandes de produits finis).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/ pilotage des capacités allouées / réparties.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d’adéquation entre la capacité fournisseur réservée et le plan de charge (quantité totale de produits finis commandés), alertes en cas d’écart / capacité insuffisante.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39179"/>
                  </a:ext>
                </a:extLst>
              </a:tr>
              <a:tr h="525116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Pilotage hebdomadaire des capacités  </a:t>
                      </a:r>
                      <a:b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[Besoin planning / </a:t>
                      </a:r>
                      <a:r>
                        <a:rPr lang="fr-FR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S&amp;Op</a:t>
                      </a: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hors ERP, à étudier de façon opportuniste]</a:t>
                      </a: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« Plan Industriel et Commercial » et contrôle d’adéquation avec les capacités réservées auprès des fournisseurs.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de la capacité fournisseur à la semaine.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d’un rétroplanning de commande d’achat intégrant la phase de production, dont calcul des semaines de fabrication (quantité / capacité).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Contrôle d’adéquation entre le planning de commandes d’achats (et de production) consolidés, et les capacités fournisseurs.</a:t>
                      </a:r>
                    </a:p>
                    <a:p>
                      <a:pPr marL="358775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Recommandations d’ajustement, basées sur le calendrier de commande global.</a:t>
                      </a: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32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ABFA9-868D-8864-A02C-92695AD08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278528-7150-D429-6C1A-3B1983FA47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7F871C-E008-74B7-D4CC-AC0FDA5DA2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/>
              <a:t>COMMANDES D’ACHATS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AEFA98-E69E-C72C-108F-635674501BCB}"/>
              </a:ext>
            </a:extLst>
          </p:cNvPr>
          <p:cNvSpPr txBox="1"/>
          <p:nvPr/>
        </p:nvSpPr>
        <p:spPr>
          <a:xfrm>
            <a:off x="6390100" y="1774701"/>
            <a:ext cx="534657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opérationnelle des commandes d’achats.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Transactions et gestion en masse.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Calcul automatique des rétroplannings.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Suivi de commande d’achat.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Cockpit de pilotage, dont écarts avec commandes de vente.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Portail fournisseur et workflow intégré.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Commandes spéciales (TPO, SMU).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d’une commande d’achat unitaire)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La gestion des allocations – liée aux commandes d’achat et de vente – est détaillée dans la section « commandes de vente et allocations ».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11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B154-3B70-185C-88A5-D49F7902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259D12-1BD3-BE28-94BB-2335C0671E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(1/2)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8FC0382-0069-CE18-6491-23901FC5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GESTION des commandes d'achat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82A0470-D0B9-37EC-D017-9D8551786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388298"/>
              </p:ext>
            </p:extLst>
          </p:nvPr>
        </p:nvGraphicFramePr>
        <p:xfrm>
          <a:off x="172172" y="810434"/>
          <a:ext cx="11847655" cy="5695680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3501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i="0" u="none" strike="noStrike" kern="1200" noProof="0" dirty="0">
                          <a:solidFill>
                            <a:schemeClr val="accent1"/>
                          </a:solidFill>
                        </a:rPr>
                        <a:t>Création des demandes d'achats et commandes d’achats en masse</a:t>
                      </a:r>
                    </a:p>
                  </a:txBody>
                  <a:tcPr marL="36000" marR="36000" marT="14400" marB="14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 demandes d’achats en masse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252525"/>
                          </a:solidFill>
                          <a:latin typeface="+mn-lt"/>
                        </a:rPr>
                        <a:t>par chargement ou interface.</a:t>
                      </a:r>
                    </a:p>
                    <a:p>
                      <a:pPr marL="628650" lvl="1" indent="-171450">
                        <a:buClr>
                          <a:srgbClr val="252525"/>
                        </a:buClr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252525"/>
                          </a:solidFill>
                          <a:latin typeface="+mn-lt"/>
                        </a:rPr>
                        <a:t>en création directe dans l’ERP : saisie des paramètres de la commande et du nombre de commandes identiques à créer.</a:t>
                      </a:r>
                      <a:endParaRPr lang="en-US" sz="800" b="0" i="0" u="none" strike="noStrike" kern="1200" noProof="0" dirty="0">
                        <a:solidFill>
                          <a:srgbClr val="252525"/>
                        </a:solidFill>
                        <a:latin typeface="+mn-lt"/>
                      </a:endParaRPr>
                    </a:p>
                  </a:txBody>
                  <a:tcPr marL="36000" marR="36000" marT="14400" marB="14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57747"/>
                  </a:ext>
                </a:extLst>
              </a:tr>
              <a:tr h="24196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et modification des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d’achats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masse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de rechercher, sélectionner et gérer des commandes d’achats en masse.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Dont modification en masse de commandes d’achats, permettant d’appliquer les changements effectués sur l’ensemble des commandes.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92871"/>
                  </a:ext>
                </a:extLst>
              </a:tr>
              <a:tr h="21328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Prestations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complémentaires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d’ajouter manuellement ou automatiquement (sous conditions) des articles (biens et / ou prestations) et </a:t>
                      </a:r>
                      <a:r>
                        <a:rPr lang="fr-FR" sz="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upcharges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 aux commandes.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Affectation manuelle ou automatique de ces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upcharges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 et compléments en « entrée » ou « sortie » (pour comparaison avec les prix de revient </a:t>
                      </a:r>
                      <a:r>
                        <a:rPr lang="fr-FR" sz="800" b="0" i="0" u="none" strike="noStrike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prévisionnells</a:t>
                      </a: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, calculés sur la base des coefficients d’entrée et sortie).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94989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Conditions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d’achat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conditions d’achat et d’approvisionnement multiples.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conditions et contraintes de commandes (dont maximum, minimum, optimum),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conditions de prix et de remise (sur quantité commandée notamment),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conditions d’approvisionnement (notamment lead times) : selon fournisseur, hiérarchie article (jusqu’au modèle), destination, moyen de transport, type de groupage…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d’un portail fournisseur intégré (ou interfaçage avec le portail existant).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87657"/>
                  </a:ext>
                </a:extLst>
              </a:tr>
              <a:tr h="35016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colisage</a:t>
                      </a: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conditions, options et contraintes de colisage (dont paramètres de constitution des différents types de colis).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Calcul automatique des impacts sur le prix et les conditions d’appro (dont lead times).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Calcul automatique d’un optimum et recommandation (selon impact du colisage sur prix et conditions d’appro).</a:t>
                      </a:r>
                      <a:endParaRPr lang="fr-FR" sz="1600"/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20931"/>
                  </a:ext>
                </a:extLst>
              </a:tr>
              <a:tr h="2803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Mode de conditionnement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charge de différents modes de conditionnement (à plat, suspendu, sans emballage, etc.), standard et hors standard, avec paramètres spécifiques.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u="non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Calcul automatique des impacts du mode de conditionnement sur les prix et conditions d’achat et de transport.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72539"/>
                  </a:ext>
                </a:extLst>
              </a:tr>
              <a:tr h="1107587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du planning de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d’achat</a:t>
                      </a: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Calcul automatique d’un rétroplanning de commande d’achat (tous jalons) calculé automatiquement à partir des conditions logistiques / d’appro (dont les différents lead times) et :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d’une date de livraison souhaitée (rétro planification),</a:t>
                      </a:r>
                      <a:endParaRPr lang="fr-FR" sz="800" b="0" i="0" u="none" strike="noStrike" kern="1200">
                        <a:solidFill>
                          <a:srgbClr val="252525"/>
                        </a:solidFill>
                        <a:latin typeface="Noto Sans"/>
                        <a:ea typeface="+mn-ea"/>
                        <a:cs typeface="+mn-cs"/>
                        <a:sym typeface="Roboto"/>
                      </a:endParaRP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Noto Sans"/>
                          <a:ea typeface="+mn-ea"/>
                          <a:cs typeface="+mn-cs"/>
                          <a:sym typeface="Roboto"/>
                        </a:rPr>
                        <a:t>d’une date de fin de production / mise à disposition de la commande par le fournisseur (planification depuis date ex-</a:t>
                      </a:r>
                      <a:r>
                        <a:rPr lang="fr-FR" sz="800" b="0" i="0" u="none" strike="noStrike" kern="1200" err="1">
                          <a:solidFill>
                            <a:srgbClr val="252525"/>
                          </a:solidFill>
                          <a:latin typeface="Noto Sans"/>
                          <a:ea typeface="+mn-ea"/>
                          <a:cs typeface="+mn-cs"/>
                          <a:sym typeface="Roboto"/>
                        </a:rPr>
                        <a:t>factory</a:t>
                      </a: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Noto Sans"/>
                          <a:ea typeface="+mn-ea"/>
                          <a:cs typeface="+mn-cs"/>
                          <a:sym typeface="Roboto"/>
                        </a:rPr>
                        <a:t>),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Noto Sans"/>
                          <a:ea typeface="+mn-ea"/>
                          <a:cs typeface="+mn-cs"/>
                          <a:sym typeface="Roboto"/>
                        </a:rPr>
                        <a:t>d’une date de début de traitement de la commande =&gt; si capacité de l’ERP à calculer le temps de production (quantité / capacité).</a:t>
                      </a:r>
                      <a:endParaRPr lang="fr-FR" sz="800" b="0" i="0" u="none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d’exécuter le calcul en simulation, avant validation.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d’appliquer ou non certains paramètres et jalons / étapes, notamment :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les réservations de matières,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les stocks de matières,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les stocks de produits finis.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177166"/>
                  </a:ext>
                </a:extLst>
              </a:tr>
              <a:tr h="566573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Dates de livraison client et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magasin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/ MEP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dates de livraison au client final, calculées à partir :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du planning de la commande d’achat,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de conditions de livraison couvrant les segments de distribution / transport aval : entre entrepôts / plateformes, entre entrepôt et client final,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ts val="1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de lead times aval : client, magasin, gérés individuellement ou par regroupement.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d’une date de MEP / implantation magasin intégrant les lead times de distribution amont et aval, et un temps de préparation en magasin.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74107"/>
                  </a:ext>
                </a:extLst>
              </a:tr>
              <a:tr h="35016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Portail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fournisseur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et workflow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intégré</a:t>
                      </a:r>
                      <a:b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ou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connexion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à un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portail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existant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d’un portail fournisseur intégré (ou interfaçage avec le portail existant)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Workflow de traitement des commandes partagé avec le fournisseur, via le portail : envoi des demandes d’achat et planning de commande, validation / rejet / modification par le fournisseur, mise à jour avancement et statut, (re)calcul des jalons, pilotage des intervenants (étiquetage, transitaire), etc..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311500"/>
                  </a:ext>
                </a:extLst>
              </a:tr>
              <a:tr h="7829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Noto Sans"/>
                        </a:rPr>
                        <a:t>Cockpit de gestion des commandes d’achat</a:t>
                      </a:r>
                      <a:endParaRPr lang="en-US" sz="1600"/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Noto Sans"/>
                        </a:rPr>
                        <a:t>Cockpit de gestion des commandes d’achats :</a:t>
                      </a:r>
                      <a:endParaRPr lang="en-US" sz="800" b="0" i="0" u="none" strike="noStrike" kern="1200" noProof="0" dirty="0">
                        <a:solidFill>
                          <a:srgbClr val="252525"/>
                        </a:solidFill>
                        <a:latin typeface="Noto Sans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Noto Sans"/>
                        </a:rPr>
                        <a:t>statut des commandes.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Noto Sans"/>
                        </a:rPr>
                        <a:t>suivi de planning : dates contractuelles initiales, dates reportées, dates réelles (+ écarts) pour les différents jalons.</a:t>
                      </a:r>
                      <a:endParaRPr lang="fr-FR" sz="1600" b="0" i="0" u="none" strike="noStrike" kern="1200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Noto Sans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Noto Sans"/>
                          <a:ea typeface="+mn-ea"/>
                          <a:cs typeface="+mn-cs"/>
                        </a:rPr>
                        <a:t>simulation de changements de planning et calcul des impacts.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commande d’achat liée à une commande de vente, visualisation des impacts sur les jalons de la commande de vente.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rgbClr val="000000"/>
                          </a:solidFill>
                          <a:latin typeface="Noto Sans"/>
                          <a:ea typeface="+mn-ea"/>
                          <a:cs typeface="+mn-cs"/>
                        </a:rPr>
                        <a:t>Identification et mise en avant des écarts et incohérences planning entre les commandes d’achats et les commandes de vente liées (écarts planning).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Noto Sans"/>
                          <a:ea typeface="+mn-ea"/>
                          <a:cs typeface="+mn-cs"/>
                        </a:rPr>
                        <a:t>Prise en charge d’alertes paramétrables.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157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35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2398-765C-2E9B-3CCD-140712C8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33C4E9-FD64-7B9A-74AE-941F67BEA1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(2/2)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282F91E-2124-3C7E-8C33-B8BD84B1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GESTION des commandes d'achat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8662A27-5941-C84A-A87B-22E4DF3C5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194758"/>
              </p:ext>
            </p:extLst>
          </p:nvPr>
        </p:nvGraphicFramePr>
        <p:xfrm>
          <a:off x="172172" y="810432"/>
          <a:ext cx="11847655" cy="2304507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568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/ suivi de l’avancement</a:t>
                      </a:r>
                      <a:b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(en lien avec le portail fournisseur et les workflows intégrés)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</a:rPr>
                        <a:t>Mise à jour des statuts et jalons de commande au fil de l’avancement.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</a:rPr>
                        <a:t>Prise en charge de données de </a:t>
                      </a:r>
                      <a:r>
                        <a:rPr lang="fr-FR" sz="800" b="0" i="0" u="none" strike="noStrike" kern="1200" noProof="0" dirty="0" err="1">
                          <a:solidFill>
                            <a:srgbClr val="000000"/>
                          </a:solidFill>
                        </a:rPr>
                        <a:t>tracking</a:t>
                      </a: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</a:rPr>
                        <a:t> des commandes en transit, si fournies / permises par le transitaire.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statut des commandes;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suivi de planning : initial, mises à jour, retard / écart,</a:t>
                      </a:r>
                      <a:endParaRPr lang="fr-FR" sz="1600" b="0" i="0" u="none" strike="noStrike" kern="120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simulation de changements de planning et calcul des impacts.</a:t>
                      </a:r>
                      <a:endParaRPr lang="fr-FR" sz="800" b="0" i="0" u="none" strike="noStrike" kern="1200" noProof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911185"/>
                  </a:ext>
                </a:extLst>
              </a:tr>
              <a:tr h="568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Allocations de commandes d’achats / quantités achetées à des canaux de vente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</a:rPr>
                        <a:t>Prise en charge d’une allocation des commandes d’achats à des canaux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commandes complètes,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répartition des quantités pour une commande donnée.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</a:rPr>
                        <a:t>Définition de règles automatiques d’allocation par canal.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Compatibles avec les allocations de vente (en prémisses de celles-ci).</a:t>
                      </a:r>
                      <a:endParaRPr lang="fr-FR" sz="800" b="0" i="0" u="none" strike="noStrike" kern="1200" noProof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064918"/>
                  </a:ext>
                </a:extLst>
              </a:tr>
              <a:tr h="45986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Commandes SMU</a:t>
                      </a:r>
                      <a:b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</a:b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crossdock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dropship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eCommerce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Noto Sans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commandes SMU spécifiques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paramètres de réception spécifiques : réception en entrepôt, préparation automatique, mise en expédition…,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pas de rupture de flux à la réception, intégrité de la commande de vente et de la commande d’achat conservées.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Création automatique d’une commande d’achat SMU à réception de la commande de vente idoine, avec « éclatement » de la commande d’achat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création automatique d’une commande d’achat spécifique (avec les quantités vendues),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Mise à jour des quantités de la commande d’achat initiale =&gt; « défalquée » des quantités de la commandes d’achat SMU nouvellement créée.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855808"/>
                  </a:ext>
                </a:extLst>
              </a:tr>
              <a:tr h="2673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</a:rPr>
                        <a:t>Commandes pour tiers (TPO)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Gestion de commandes pour tiers (</a:t>
                      </a:r>
                      <a:r>
                        <a:rPr lang="fr-FR" sz="800" b="0" i="0" u="none" strike="noStrike" kern="1200" noProof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Third</a:t>
                      </a: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Party </a:t>
                      </a:r>
                      <a:r>
                        <a:rPr lang="fr-FR" sz="800" b="0" i="0" u="none" strike="noStrike" kern="1200" noProof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Orders</a:t>
                      </a: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), non facturables et non </a:t>
                      </a:r>
                      <a:r>
                        <a:rPr lang="fr-FR" sz="800" b="0" i="0" u="none" strike="noStrike" kern="1200" noProof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réceptionnables</a:t>
                      </a: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134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98F7-A19F-A9ED-15F6-6F73C3F3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43B1BD-2828-40E5-3D99-E8C4BBB22F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A10C54-FB79-74E6-2385-EBFAF90CA4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/>
              <a:t>COMMANDES DE VENTE</a:t>
            </a:r>
            <a:br>
              <a:rPr lang="fr-FR" sz="2400"/>
            </a:br>
            <a:r>
              <a:rPr lang="fr-FR" sz="2400"/>
              <a:t>ET ALLOCATIONS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E376074-99FD-DA90-AB5B-F19869416CB1}"/>
              </a:ext>
            </a:extLst>
          </p:cNvPr>
          <p:cNvSpPr txBox="1"/>
          <p:nvPr/>
        </p:nvSpPr>
        <p:spPr>
          <a:xfrm>
            <a:off x="6390100" y="420484"/>
            <a:ext cx="534657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dirty="0"/>
              <a:t>Cette section recense les besoins relatifs à la gestion des commandes clients et des allocations (en lien avec les commandes d’achat).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Transactions et gestion en masse.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Pré-commandes et contrats / commandes ouvertes.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Calcul automatique des rétroplannings (en lien avec les achats).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Cockpit de pilotage des commandes, dont changements de planning.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Optimums logistiques.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Gestion des allocations.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 dirty="0"/>
              <a:t>A noter : certains besoins très standards (ex : création d’une commande de vente unitaire)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Macroprocessus de traitement des commandes client.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Macroprocessus de traitement de l’allocation en prise de commande.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Modalités de confirmation de commande.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Cockpit de gestion et suivi des allocations (illustration).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Principaux critères de </a:t>
            </a:r>
            <a:r>
              <a:rPr lang="fr-FR" sz="1100" dirty="0" err="1"/>
              <a:t>scoring</a:t>
            </a:r>
            <a:r>
              <a:rPr lang="fr-FR" sz="1100" dirty="0"/>
              <a:t> des clients, allocations et commandes.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Principaux critères de blocage des clients, allocations et commandes.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100" dirty="0"/>
              <a:t>Principaux types de remises client.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Optimisation du colisage pour les commandes magasin.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Synthèse des besoins :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Commandes de vente.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Allocations.</a:t>
            </a:r>
          </a:p>
        </p:txBody>
      </p:sp>
    </p:spTree>
    <p:extLst>
      <p:ext uri="{BB962C8B-B14F-4D97-AF65-F5344CB8AC3E}">
        <p14:creationId xmlns:p14="http://schemas.microsoft.com/office/powerpoint/2010/main" val="3649243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48CFA41-27EF-6AD0-DD8D-6E17C7A02D5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342623-FA3A-10A6-D5FD-891DECD0E051}"/>
              </a:ext>
            </a:extLst>
          </p:cNvPr>
          <p:cNvSpPr/>
          <p:nvPr/>
        </p:nvSpPr>
        <p:spPr>
          <a:xfrm>
            <a:off x="3205210" y="174817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Suivi / révision des allocations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BF966-D186-7506-5DC8-134093B2BBDA}"/>
              </a:ext>
            </a:extLst>
          </p:cNvPr>
          <p:cNvSpPr/>
          <p:nvPr/>
        </p:nvSpPr>
        <p:spPr>
          <a:xfrm>
            <a:off x="3205210" y="258562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des commandes de vente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E29E70-801E-7A8A-D5DC-155D6B7AAD3A}"/>
              </a:ext>
            </a:extLst>
          </p:cNvPr>
          <p:cNvSpPr/>
          <p:nvPr/>
        </p:nvSpPr>
        <p:spPr>
          <a:xfrm>
            <a:off x="3205210" y="426052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Expédition et suivi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69338-F918-844D-15C2-9B1570DFEDBB}"/>
              </a:ext>
            </a:extLst>
          </p:cNvPr>
          <p:cNvSpPr/>
          <p:nvPr/>
        </p:nvSpPr>
        <p:spPr>
          <a:xfrm>
            <a:off x="3205210" y="342307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des stocks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FD14D8-4C6C-3D74-343A-CEF79007EA07}"/>
              </a:ext>
            </a:extLst>
          </p:cNvPr>
          <p:cNvSpPr/>
          <p:nvPr/>
        </p:nvSpPr>
        <p:spPr>
          <a:xfrm>
            <a:off x="3205210" y="509797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Livraisons et retours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085D663-A132-0CEC-CEB3-704B505F705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00074" y="2288177"/>
            <a:ext cx="0" cy="29745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EE4DF-6EAC-415E-141A-9ADF6C1A1CDE}"/>
              </a:ext>
            </a:extLst>
          </p:cNvPr>
          <p:cNvSpPr/>
          <p:nvPr/>
        </p:nvSpPr>
        <p:spPr>
          <a:xfrm>
            <a:off x="3205210" y="910727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Prise de commande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E1D2E9E3-A8DA-153C-ECDE-DAE5923508CC}"/>
              </a:ext>
            </a:extLst>
          </p:cNvPr>
          <p:cNvCxnSpPr>
            <a:cxnSpLocks/>
            <a:stCxn id="23" idx="2"/>
            <a:endCxn id="5" idx="0"/>
          </p:cNvCxnSpPr>
          <p:nvPr/>
        </p:nvCxnSpPr>
        <p:spPr>
          <a:xfrm>
            <a:off x="3900074" y="1450727"/>
            <a:ext cx="0" cy="29745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15A14232-501C-4958-1066-68E4871FB02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3900074" y="3963077"/>
            <a:ext cx="0" cy="29745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0BE9DC58-2D9E-B8D0-1308-24B28D993DA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3900074" y="4800527"/>
            <a:ext cx="0" cy="29745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31868B80-94EF-A27C-6482-BCD3DE2086C3}"/>
              </a:ext>
            </a:extLst>
          </p:cNvPr>
          <p:cNvSpPr txBox="1"/>
          <p:nvPr/>
        </p:nvSpPr>
        <p:spPr>
          <a:xfrm>
            <a:off x="4594937" y="793289"/>
            <a:ext cx="762545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Pré-commandes / pré-engagements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Commande début de saison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Commandes tardives / réassort</a:t>
            </a:r>
          </a:p>
          <a:p>
            <a:pPr marL="88900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Blocage automatique des allocations / commande pour clients non-conformes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Suivi des actions de résolution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Démarre à prise de commande mais déclenchable durant toute la gestion de la commande</a:t>
            </a:r>
          </a:p>
          <a:p>
            <a:pPr marL="88900" indent="-88900" defTabSz="914400" fontAlgn="t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Date communiquée au client : </a:t>
            </a:r>
            <a:r>
              <a:rPr lang="fr-FR" sz="700">
                <a:solidFill>
                  <a:srgbClr val="000000"/>
                </a:solidFill>
              </a:rPr>
              <a:t>date de mise sur le marché du produit (estimée)</a:t>
            </a:r>
            <a:endParaRPr lang="fr-FR" sz="700" b="0" i="0" u="none" strike="noStrike" kern="120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D7A8AFB4-9044-75C1-19B4-1D69B81D88A8}"/>
              </a:ext>
            </a:extLst>
          </p:cNvPr>
          <p:cNvSpPr txBox="1"/>
          <p:nvPr/>
        </p:nvSpPr>
        <p:spPr>
          <a:xfrm>
            <a:off x="4594936" y="1704869"/>
            <a:ext cx="762545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Simulation / contrôle au fil des prises de commande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Traitement des propositions de substitution (produits de substitution gérés par l’ERP)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Identification des écarts potentiels (date de livraison souhaitée/ ETA)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Si ETA recalculée au fil de l’eau (via PO), théoriquement possible d’envoyer MAJ ETA au client (avant même confirmation définitive) =&gt; anticiper des annulations / litiges potentiels ?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E40514BA-463C-F29B-7872-5F8570E56DF9}"/>
              </a:ext>
            </a:extLst>
          </p:cNvPr>
          <p:cNvSpPr txBox="1"/>
          <p:nvPr/>
        </p:nvSpPr>
        <p:spPr>
          <a:xfrm>
            <a:off x="4600403" y="2403776"/>
            <a:ext cx="76254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Calcul et ajustement des allocations « définitives »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Validation des commandes + confirmation de commande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Calcul de l’EDD (date estimée à partir des PO / stocks / disponibilité des produits, des lead times de livraison + écart par rapport à date de livraison souhaitée / date de mise sur le marché (= date initiale communiquée au client)</a:t>
            </a:r>
            <a:endParaRPr lang="fr-FR" sz="700" b="0" i="0" u="none" strike="noStrike" kern="120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Cockpit de pilotage des commandes clients : 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Suivi des dates et jalons (en lien avec PO), alertes, visualisation des écarts initial / prévisionnel / réel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Simulation de changement d’allocation / de commande, pour optimisation</a:t>
            </a:r>
            <a:endParaRPr lang="fr-FR" sz="700" b="0" i="0" u="none" strike="noStrike" kern="120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Modification / annulation de comman</a:t>
            </a:r>
            <a:r>
              <a:rPr lang="fr-FR" sz="700">
                <a:solidFill>
                  <a:srgbClr val="000000"/>
                </a:solidFill>
              </a:rPr>
              <a:t>de, libération d’allocations </a:t>
            </a:r>
            <a:endParaRPr lang="fr-FR" sz="700" b="0" i="0" u="none" strike="noStrike" kern="120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9C9D315C-85B6-195E-1F90-3785DC036B30}"/>
              </a:ext>
            </a:extLst>
          </p:cNvPr>
          <p:cNvSpPr txBox="1"/>
          <p:nvPr/>
        </p:nvSpPr>
        <p:spPr>
          <a:xfrm>
            <a:off x="4636879" y="3415125"/>
            <a:ext cx="762545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Réception et affectation / allocation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Gestion par canal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Règles de stocks : seuils, couverture, défilement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95F73B3E-8C3B-B8C5-B978-75C747F0A285}"/>
              </a:ext>
            </a:extLst>
          </p:cNvPr>
          <p:cNvSpPr txBox="1"/>
          <p:nvPr/>
        </p:nvSpPr>
        <p:spPr>
          <a:xfrm>
            <a:off x="4636880" y="5188361"/>
            <a:ext cx="762545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Gestion des absences et remises en livraison (nouvelle annonce)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Réception client et clôture commande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Retour client vers entrepôt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Retour client avec transfert / réacheminement direct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Traitement des décotes et déduction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C4816DA9-300C-49B1-3B25-041B3BEEC563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3900074" y="3125627"/>
            <a:ext cx="0" cy="29745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23D00C52-AFC6-4FBA-D17C-61E803260559}"/>
              </a:ext>
            </a:extLst>
          </p:cNvPr>
          <p:cNvSpPr txBox="1"/>
          <p:nvPr/>
        </p:nvSpPr>
        <p:spPr>
          <a:xfrm>
            <a:off x="4636880" y="3926014"/>
            <a:ext cx="762545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Gestion de lead times de livraison par client (direct ou par combinaison de crit</a:t>
            </a:r>
            <a:r>
              <a:rPr lang="fr-FR" sz="700">
                <a:solidFill>
                  <a:srgbClr val="000000"/>
                </a:solidFill>
              </a:rPr>
              <a:t>ères)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Définition des solutions </a:t>
            </a:r>
            <a:r>
              <a:rPr lang="fr-FR" sz="700">
                <a:solidFill>
                  <a:srgbClr val="000000"/>
                </a:solidFill>
              </a:rPr>
              <a:t>logistiques / de transport 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 b="0" i="0" u="none" strike="noStrike" kern="120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Colisage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Route</a:t>
            </a:r>
          </a:p>
          <a:p>
            <a:pPr marL="546100" lvl="1" indent="-88900" defTabSz="914400" fontAlgn="t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  <a:highlight>
                  <a:srgbClr val="FFFF00"/>
                </a:highlight>
              </a:rPr>
              <a:t>Prestataire et modalités de transport, selon typologie et caractéristiques commande / marchandise / colisage (optimum) / conditionnement (standard, hors norme).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Planification / priorisation expédition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Prise de rendez-vous client 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Message transporteur et enlèvement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Annonce client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Suivi livraison, </a:t>
            </a:r>
            <a:r>
              <a:rPr lang="fr-FR" sz="700" err="1">
                <a:solidFill>
                  <a:srgbClr val="000000"/>
                </a:solidFill>
              </a:rPr>
              <a:t>tracking</a:t>
            </a:r>
            <a:r>
              <a:rPr lang="fr-FR" sz="700">
                <a:solidFill>
                  <a:srgbClr val="000000"/>
                </a:solidFill>
              </a:rPr>
              <a:t> 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Dédouanement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22F984D-8DE6-2EC5-549A-0F887C349099}"/>
              </a:ext>
            </a:extLst>
          </p:cNvPr>
          <p:cNvSpPr/>
          <p:nvPr/>
        </p:nvSpPr>
        <p:spPr>
          <a:xfrm>
            <a:off x="3205210" y="5935426"/>
            <a:ext cx="1389727" cy="54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Facturation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B360715E-B0E1-02B3-6ADC-99203825F93B}"/>
              </a:ext>
            </a:extLst>
          </p:cNvPr>
          <p:cNvCxnSpPr>
            <a:cxnSpLocks/>
            <a:stCxn id="11" idx="2"/>
            <a:endCxn id="59" idx="0"/>
          </p:cNvCxnSpPr>
          <p:nvPr/>
        </p:nvCxnSpPr>
        <p:spPr>
          <a:xfrm>
            <a:off x="3900074" y="5637977"/>
            <a:ext cx="0" cy="297449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E3A40161-3A6D-9BA0-5BA0-D2259C70262F}"/>
              </a:ext>
            </a:extLst>
          </p:cNvPr>
          <p:cNvSpPr txBox="1"/>
          <p:nvPr/>
        </p:nvSpPr>
        <p:spPr>
          <a:xfrm>
            <a:off x="4636880" y="6001681"/>
            <a:ext cx="762545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Gestion des évènements opérationnels à facturer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Gestion des </a:t>
            </a:r>
            <a:r>
              <a:rPr lang="fr-FR" sz="700" err="1">
                <a:solidFill>
                  <a:srgbClr val="000000"/>
                </a:solidFill>
              </a:rPr>
              <a:t>templates</a:t>
            </a:r>
            <a:r>
              <a:rPr lang="fr-FR" sz="700">
                <a:solidFill>
                  <a:srgbClr val="000000"/>
                </a:solidFill>
              </a:rPr>
              <a:t> et spécificités factures</a:t>
            </a:r>
          </a:p>
          <a:p>
            <a:pPr marL="88900" indent="-88900" algn="l" defTabSz="914400" rtl="0" eaLnBrk="1" fontAlgn="t" latinLnBrk="0" hangingPunct="1"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000000"/>
                </a:solidFill>
              </a:rPr>
              <a:t>Remises et conditions de vente : gestion et application</a:t>
            </a:r>
          </a:p>
        </p:txBody>
      </p:sp>
      <p:sp>
        <p:nvSpPr>
          <p:cNvPr id="72" name="Espace réservé du texte 72">
            <a:extLst>
              <a:ext uri="{FF2B5EF4-FFF2-40B4-BE49-F238E27FC236}">
                <a16:creationId xmlns:a16="http://schemas.microsoft.com/office/drawing/2014/main" id="{BA37E267-1B67-62D9-4B40-39A13DFE5E28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Macroprocessus de traitement des commandes client</a:t>
            </a:r>
          </a:p>
        </p:txBody>
      </p:sp>
      <p:sp>
        <p:nvSpPr>
          <p:cNvPr id="73" name="Titre 2">
            <a:extLst>
              <a:ext uri="{FF2B5EF4-FFF2-40B4-BE49-F238E27FC236}">
                <a16:creationId xmlns:a16="http://schemas.microsoft.com/office/drawing/2014/main" id="{A0B807F7-E62B-4E89-D21A-391A6CCF5BB7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3C203B6-1F7E-93DB-E2BE-74A601B154B8}"/>
              </a:ext>
            </a:extLst>
          </p:cNvPr>
          <p:cNvSpPr/>
          <p:nvPr/>
        </p:nvSpPr>
        <p:spPr>
          <a:xfrm>
            <a:off x="385179" y="1920357"/>
            <a:ext cx="2235666" cy="1458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36000" rIns="72000" bIns="36000" rtlCol="0" anchor="ctr"/>
          <a:lstStyle/>
          <a:p>
            <a:pPr algn="l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Informations à envoyer au client à confirmation :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EDD (vs date de livraison souhaitée / date initiale)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Produits et quantités validés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Produits et quantités non servis</a:t>
            </a:r>
          </a:p>
          <a:p>
            <a:pPr marL="171450" indent="-171450" algn="l"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fr-FR" sz="7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Prévoir la possibilité de sélectionner / filtrer les informations envoyées au client.</a:t>
            </a:r>
          </a:p>
          <a:p>
            <a:pPr marL="171450" indent="-171450" algn="l"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fr-FR" sz="7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Ensemble des données remontera de l’ERP, publication gérée dans </a:t>
            </a:r>
            <a:r>
              <a:rPr lang="fr-FR" sz="700" b="1" err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Elastic</a:t>
            </a:r>
            <a:r>
              <a:rPr lang="fr-FR" sz="7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36F506C7-C483-A809-BFF1-BA0ECDA83790}"/>
              </a:ext>
            </a:extLst>
          </p:cNvPr>
          <p:cNvSpPr txBox="1"/>
          <p:nvPr/>
        </p:nvSpPr>
        <p:spPr>
          <a:xfrm>
            <a:off x="349184" y="3408693"/>
            <a:ext cx="25638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>
                <a:solidFill>
                  <a:srgbClr val="C00000"/>
                </a:solidFill>
              </a:rPr>
              <a:t>/!\</a:t>
            </a:r>
            <a:r>
              <a:rPr lang="fr-FR" sz="600" b="1">
                <a:solidFill>
                  <a:srgbClr val="FF6600"/>
                </a:solidFill>
              </a:rPr>
              <a:t> </a:t>
            </a:r>
            <a:r>
              <a:rPr lang="fr-FR" sz="600"/>
              <a:t>Confirmation de commande = engagement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fr-FR" sz="600"/>
              <a:t>BRD - Donne une fenêtre de livraison (mois)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fr-FR" sz="600"/>
              <a:t>Pénalités ou annulation possible si non-respect de cette fenêtre</a:t>
            </a:r>
          </a:p>
          <a:p>
            <a:endParaRPr lang="fr-FR" sz="600"/>
          </a:p>
          <a:p>
            <a:r>
              <a:rPr lang="fr-FR" sz="600"/>
              <a:t>Si processus d’acceptation des CGV et / ou signature du contrat,</a:t>
            </a:r>
            <a:br>
              <a:rPr lang="fr-FR" sz="600"/>
            </a:br>
            <a:r>
              <a:rPr lang="fr-FR" sz="600"/>
              <a:t>doit entrer dans critères d’acceptation / blocage de la commande</a:t>
            </a:r>
            <a:br>
              <a:rPr lang="fr-FR" sz="600"/>
            </a:br>
            <a:r>
              <a:rPr lang="fr-FR" sz="600"/>
              <a:t>(et / ou de l’allocation en amont).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A66B9F0-E563-8C5E-DD4F-05C761F589BA}"/>
              </a:ext>
            </a:extLst>
          </p:cNvPr>
          <p:cNvCxnSpPr>
            <a:cxnSpLocks/>
            <a:stCxn id="74" idx="3"/>
            <a:endCxn id="6" idx="1"/>
          </p:cNvCxnSpPr>
          <p:nvPr/>
        </p:nvCxnSpPr>
        <p:spPr>
          <a:xfrm>
            <a:off x="2620845" y="2649764"/>
            <a:ext cx="584365" cy="205863"/>
          </a:xfrm>
          <a:prstGeom prst="lin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101853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D16D-02E9-157F-CE3E-7C40177E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au 43">
            <a:extLst>
              <a:ext uri="{FF2B5EF4-FFF2-40B4-BE49-F238E27FC236}">
                <a16:creationId xmlns:a16="http://schemas.microsoft.com/office/drawing/2014/main" id="{FF348C41-CDA2-FD58-E80A-9DBD504631CF}"/>
              </a:ext>
            </a:extLst>
          </p:cNvPr>
          <p:cNvGraphicFramePr>
            <a:graphicFrameLocks noGrp="1"/>
          </p:cNvGraphicFramePr>
          <p:nvPr/>
        </p:nvGraphicFramePr>
        <p:xfrm>
          <a:off x="71718" y="2035778"/>
          <a:ext cx="12030085" cy="45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343">
                  <a:extLst>
                    <a:ext uri="{9D8B030D-6E8A-4147-A177-3AD203B41FA5}">
                      <a16:colId xmlns:a16="http://schemas.microsoft.com/office/drawing/2014/main" val="2788580715"/>
                    </a:ext>
                  </a:extLst>
                </a:gridCol>
                <a:gridCol w="1739343">
                  <a:extLst>
                    <a:ext uri="{9D8B030D-6E8A-4147-A177-3AD203B41FA5}">
                      <a16:colId xmlns:a16="http://schemas.microsoft.com/office/drawing/2014/main" val="4135971011"/>
                    </a:ext>
                  </a:extLst>
                </a:gridCol>
                <a:gridCol w="5181023">
                  <a:extLst>
                    <a:ext uri="{9D8B030D-6E8A-4147-A177-3AD203B41FA5}">
                      <a16:colId xmlns:a16="http://schemas.microsoft.com/office/drawing/2014/main" val="3679569296"/>
                    </a:ext>
                  </a:extLst>
                </a:gridCol>
                <a:gridCol w="3370376">
                  <a:extLst>
                    <a:ext uri="{9D8B030D-6E8A-4147-A177-3AD203B41FA5}">
                      <a16:colId xmlns:a16="http://schemas.microsoft.com/office/drawing/2014/main" val="85124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>
                          <a:solidFill>
                            <a:schemeClr val="tx1"/>
                          </a:solidFill>
                        </a:rPr>
                        <a:t>PORTAIL CLIENT</a:t>
                      </a:r>
                    </a:p>
                    <a:p>
                      <a:pPr algn="ctr"/>
                      <a:r>
                        <a:rPr lang="fr-FR" sz="600">
                          <a:solidFill>
                            <a:schemeClr val="tx1"/>
                          </a:solidFill>
                        </a:rPr>
                        <a:t>(ELASTIC, ZOHO, SALESFORCE)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>
                          <a:solidFill>
                            <a:schemeClr val="tx1"/>
                          </a:solidFill>
                        </a:rPr>
                        <a:t>MAGASINS</a:t>
                      </a:r>
                      <a:br>
                        <a:rPr lang="fr-FR" sz="1000">
                          <a:solidFill>
                            <a:schemeClr val="tx1"/>
                          </a:solidFill>
                        </a:rPr>
                      </a:br>
                      <a:r>
                        <a:rPr lang="fr-FR" sz="7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sz="600">
                          <a:solidFill>
                            <a:schemeClr val="tx1"/>
                          </a:solidFill>
                        </a:rPr>
                        <a:t>UNIVERS RETAIL, Y2)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ERP</a:t>
                      </a:r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PRECISIONS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1258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les règles / paramètres spécifiques à la pré-allocation (dont priorité par rapport aux commandes fermes)</a:t>
                      </a:r>
                    </a:p>
                  </a:txBody>
                  <a:tcPr marL="36000" marR="36000" marT="36000" marB="36000"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122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phase de commercialisation « amont », confirmation différée (allocations précalculées, mais attribution définitive en fin de cycle de vente)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stock / en phase de réassort, confirmation immédiate mais possibilité d’altérer l’allocation </a:t>
                      </a:r>
                    </a:p>
                    <a:p>
                      <a:pPr marL="266700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fr-FR" sz="600" b="0" kern="12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Pré-allocations et pré-engagements (si notions différentes) fonctionneront sur le même modèle : saisie d’une enveloppe globale de commande &gt; allocation temporaire &gt; saisie de commande(s) ferme(s) &gt; saisie allocation ferme &gt; </a:t>
                      </a:r>
                      <a:r>
                        <a:rPr lang="fr-FR" sz="6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MàJ</a:t>
                      </a: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allocation temporaire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2030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268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Définition de règles multicritères de calcul des priorités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952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restreindre l’accès aux stocks à certains critères de priorité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En lien avec les règles de gestion des stocks et leur publication par canal</a:t>
                      </a:r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Prendre en compte les pré-allocations dans le calcul des quantités disponibles, avec des paramètres / conditions de priorités adaptées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2992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Ecran et /ou report des commandes non servies avec données commande et client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Planning :</a:t>
                      </a: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utiliser les commandes servies et non servies (+ extrapolation) pour évaluer la performance des produits et étudier des opportunités d’achats complémentaires</a:t>
                      </a: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1695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Prévoir un recalcul périodique (quotidien ?) des allocations, pour optimisation (ex : décaler les date de livraison </a:t>
                      </a:r>
                      <a:r>
                        <a:rPr lang="fr-FR" sz="6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soihaitée</a:t>
                      </a: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tardives sur des PO plus tardives)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Intégrer des contraintes et règles (ex : impossibilité de mettre une SO en retard)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Permettre d’identifier des commandes non servies prioritaires par rapport à d’autres</a:t>
                      </a:r>
                    </a:p>
                    <a:p>
                      <a:pPr marL="0" algn="l" defTabSz="914400" rtl="0" eaLnBrk="1" latinLnBrk="0" hangingPunct="1"/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22689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8148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Simuler des changements d’allocation et / ou de commandes et visualiser les impacts sur l’ensemble des allocations et le portefeuille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fr-F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Pouvoir appliquer les changements depuis l’outil de simulation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endParaRPr lang="fr-F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T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3549"/>
                  </a:ext>
                </a:extLst>
              </a:tr>
            </a:tbl>
          </a:graphicData>
        </a:graphic>
      </p:graphicFrame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CB258B2-690D-4D10-84E9-E5B58BCAD8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BBBEFB-09A2-F29C-4E94-A589B7232628}"/>
              </a:ext>
            </a:extLst>
          </p:cNvPr>
          <p:cNvSpPr/>
          <p:nvPr/>
        </p:nvSpPr>
        <p:spPr>
          <a:xfrm>
            <a:off x="184519" y="2423652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Saisie d’une pré-commande / d’un pré-engagement client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90F718-05DC-9C82-4E44-FD9F4A5CD209}"/>
              </a:ext>
            </a:extLst>
          </p:cNvPr>
          <p:cNvSpPr/>
          <p:nvPr/>
        </p:nvSpPr>
        <p:spPr>
          <a:xfrm>
            <a:off x="3550299" y="2854858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Enregistrement de la commande magasin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795BC-DE4D-5E9D-00DC-916679A6A64A}"/>
              </a:ext>
            </a:extLst>
          </p:cNvPr>
          <p:cNvSpPr/>
          <p:nvPr/>
        </p:nvSpPr>
        <p:spPr>
          <a:xfrm>
            <a:off x="184519" y="3283935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Saisie d’une commande client ferme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F14973-B16A-CB4B-6FD0-0B67F02FD9B5}"/>
              </a:ext>
            </a:extLst>
          </p:cNvPr>
          <p:cNvSpPr/>
          <p:nvPr/>
        </p:nvSpPr>
        <p:spPr>
          <a:xfrm>
            <a:off x="3550299" y="2423652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Enregistrement de la pré-commande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6A61D6A-B61D-C193-09AA-F13AA1E9F0F8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1624519" y="2585652"/>
            <a:ext cx="1925780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CB0EF67-FDE2-4C98-63E6-CDD099216E8D}"/>
              </a:ext>
            </a:extLst>
          </p:cNvPr>
          <p:cNvSpPr/>
          <p:nvPr/>
        </p:nvSpPr>
        <p:spPr>
          <a:xfrm>
            <a:off x="3550299" y="3283935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Enregistrement de la commande client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FE08F97-8310-E7F3-28B4-6747B8ACE958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24519" y="3445935"/>
            <a:ext cx="1925780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5069D-9B30-314F-F2E2-C55AA1ACB078}"/>
              </a:ext>
            </a:extLst>
          </p:cNvPr>
          <p:cNvSpPr/>
          <p:nvPr/>
        </p:nvSpPr>
        <p:spPr>
          <a:xfrm>
            <a:off x="1913787" y="2854858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Saisie d’une commande magasin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CBC8B735-DC51-7BF1-A0E8-44BD48C2A69D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3353787" y="3016858"/>
            <a:ext cx="196512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79671D3-0EAB-EFD0-2397-BA886F1596C4}"/>
              </a:ext>
            </a:extLst>
          </p:cNvPr>
          <p:cNvSpPr/>
          <p:nvPr/>
        </p:nvSpPr>
        <p:spPr>
          <a:xfrm>
            <a:off x="3550299" y="3719378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Calcul de priorité de chaque commande</a:t>
            </a:r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2F0C14C2-8BC3-F1D8-83B3-B770CF13E4C9}"/>
              </a:ext>
            </a:extLst>
          </p:cNvPr>
          <p:cNvCxnSpPr>
            <a:cxnSpLocks/>
            <a:stCxn id="10" idx="3"/>
            <a:endCxn id="18" idx="3"/>
          </p:cNvCxnSpPr>
          <p:nvPr/>
        </p:nvCxnSpPr>
        <p:spPr>
          <a:xfrm>
            <a:off x="4990299" y="3445935"/>
            <a:ext cx="12700" cy="435443"/>
          </a:xfrm>
          <a:prstGeom prst="bentConnector3">
            <a:avLst>
              <a:gd name="adj1" fmla="val 180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5362BC1C-88F7-F71C-FF45-83D247E789FF}"/>
              </a:ext>
            </a:extLst>
          </p:cNvPr>
          <p:cNvCxnSpPr>
            <a:cxnSpLocks/>
            <a:stCxn id="24" idx="3"/>
            <a:endCxn id="18" idx="3"/>
          </p:cNvCxnSpPr>
          <p:nvPr/>
        </p:nvCxnSpPr>
        <p:spPr>
          <a:xfrm>
            <a:off x="4990299" y="3016858"/>
            <a:ext cx="12700" cy="864520"/>
          </a:xfrm>
          <a:prstGeom prst="bentConnector3">
            <a:avLst>
              <a:gd name="adj1" fmla="val 180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3652EF4-D087-6FB3-94CE-44DC4F4C3788}"/>
              </a:ext>
            </a:extLst>
          </p:cNvPr>
          <p:cNvSpPr/>
          <p:nvPr/>
        </p:nvSpPr>
        <p:spPr>
          <a:xfrm>
            <a:off x="6882136" y="2423652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Calcul d’une pré-allocation sur les quantités disponibles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E5EF5F5-FC2E-EE42-AF78-CF3B8E97172C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4990299" y="2585652"/>
            <a:ext cx="1891837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 : en angle 49">
            <a:extLst>
              <a:ext uri="{FF2B5EF4-FFF2-40B4-BE49-F238E27FC236}">
                <a16:creationId xmlns:a16="http://schemas.microsoft.com/office/drawing/2014/main" id="{4AEA8E0D-47FC-B1C0-8A99-002207836BE1}"/>
              </a:ext>
            </a:extLst>
          </p:cNvPr>
          <p:cNvCxnSpPr>
            <a:cxnSpLocks/>
            <a:stCxn id="18" idx="1"/>
            <a:endCxn id="53" idx="1"/>
          </p:cNvCxnSpPr>
          <p:nvPr/>
        </p:nvCxnSpPr>
        <p:spPr>
          <a:xfrm rot="10800000" flipV="1">
            <a:off x="3550299" y="3881377"/>
            <a:ext cx="12700" cy="436939"/>
          </a:xfrm>
          <a:prstGeom prst="bentConnector3">
            <a:avLst>
              <a:gd name="adj1" fmla="val 180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rganigramme : Décision 52">
            <a:extLst>
              <a:ext uri="{FF2B5EF4-FFF2-40B4-BE49-F238E27FC236}">
                <a16:creationId xmlns:a16="http://schemas.microsoft.com/office/drawing/2014/main" id="{5968A4E3-FF26-3CB0-7692-C5EEB6FF5D9D}"/>
              </a:ext>
            </a:extLst>
          </p:cNvPr>
          <p:cNvSpPr/>
          <p:nvPr/>
        </p:nvSpPr>
        <p:spPr>
          <a:xfrm>
            <a:off x="3550299" y="4151757"/>
            <a:ext cx="1440000" cy="333119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Dispo en stock ?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5A38DD7-5ECD-DBD7-E6DF-7A59AEF0855F}"/>
              </a:ext>
            </a:extLst>
          </p:cNvPr>
          <p:cNvCxnSpPr>
            <a:cxnSpLocks/>
            <a:stCxn id="53" idx="3"/>
            <a:endCxn id="6" idx="1"/>
          </p:cNvCxnSpPr>
          <p:nvPr/>
        </p:nvCxnSpPr>
        <p:spPr>
          <a:xfrm>
            <a:off x="4990299" y="4318317"/>
            <a:ext cx="29629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5393F6B0-6AD0-1D06-F877-96AA1C8FD040}"/>
              </a:ext>
            </a:extLst>
          </p:cNvPr>
          <p:cNvCxnSpPr>
            <a:cxnSpLocks/>
            <a:stCxn id="53" idx="2"/>
            <a:endCxn id="71" idx="0"/>
          </p:cNvCxnSpPr>
          <p:nvPr/>
        </p:nvCxnSpPr>
        <p:spPr>
          <a:xfrm>
            <a:off x="4270299" y="4484876"/>
            <a:ext cx="0" cy="209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C14925CF-F11B-0A10-93B3-999A1FC63AAE}"/>
              </a:ext>
            </a:extLst>
          </p:cNvPr>
          <p:cNvSpPr/>
          <p:nvPr/>
        </p:nvSpPr>
        <p:spPr>
          <a:xfrm>
            <a:off x="3550299" y="4693929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Réservation sur stock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7B0AF4C-26AE-FFA8-EA51-FA4780521C36}"/>
              </a:ext>
            </a:extLst>
          </p:cNvPr>
          <p:cNvSpPr/>
          <p:nvPr/>
        </p:nvSpPr>
        <p:spPr>
          <a:xfrm>
            <a:off x="3550298" y="5192943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Recalcul auto et optimisation des allocations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6D14F333-EE36-908E-D9AF-4F6B6A96BD33}"/>
              </a:ext>
            </a:extLst>
          </p:cNvPr>
          <p:cNvSpPr txBox="1"/>
          <p:nvPr/>
        </p:nvSpPr>
        <p:spPr>
          <a:xfrm>
            <a:off x="4935220" y="4118261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BF3188E7-9EFC-73D6-3EE8-7647CB13BC27}"/>
              </a:ext>
            </a:extLst>
          </p:cNvPr>
          <p:cNvSpPr txBox="1"/>
          <p:nvPr/>
        </p:nvSpPr>
        <p:spPr>
          <a:xfrm>
            <a:off x="3879742" y="4428885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2FCC4F06-D74C-8343-6029-CD74AD0E2C35}"/>
              </a:ext>
            </a:extLst>
          </p:cNvPr>
          <p:cNvCxnSpPr>
            <a:cxnSpLocks/>
            <a:stCxn id="71" idx="2"/>
            <a:endCxn id="116" idx="0"/>
          </p:cNvCxnSpPr>
          <p:nvPr/>
        </p:nvCxnSpPr>
        <p:spPr>
          <a:xfrm flipH="1">
            <a:off x="4270298" y="5017929"/>
            <a:ext cx="1" cy="175014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rganigramme : Décision 5">
            <a:extLst>
              <a:ext uri="{FF2B5EF4-FFF2-40B4-BE49-F238E27FC236}">
                <a16:creationId xmlns:a16="http://schemas.microsoft.com/office/drawing/2014/main" id="{20E3B3FA-7D5E-72D3-9342-51CD52167985}"/>
              </a:ext>
            </a:extLst>
          </p:cNvPr>
          <p:cNvSpPr/>
          <p:nvPr/>
        </p:nvSpPr>
        <p:spPr>
          <a:xfrm>
            <a:off x="5286598" y="4151757"/>
            <a:ext cx="1440000" cy="333119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Dispo en allocation PO ?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0747B82-E444-F842-CA8F-87485786B92D}"/>
              </a:ext>
            </a:extLst>
          </p:cNvPr>
          <p:cNvSpPr txBox="1"/>
          <p:nvPr/>
        </p:nvSpPr>
        <p:spPr>
          <a:xfrm>
            <a:off x="5689659" y="4425380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7CBB81-4629-E033-CB6F-E018D1BBF801}"/>
              </a:ext>
            </a:extLst>
          </p:cNvPr>
          <p:cNvSpPr/>
          <p:nvPr/>
        </p:nvSpPr>
        <p:spPr>
          <a:xfrm>
            <a:off x="5286598" y="4707592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Réservation sur PO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5BE01D2-79B8-910C-9FA7-29ADA5584D30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>
            <a:off x="6006598" y="4484876"/>
            <a:ext cx="0" cy="2227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FB1B9480-A320-E08F-BDC9-E30AD364B281}"/>
              </a:ext>
            </a:extLst>
          </p:cNvPr>
          <p:cNvCxnSpPr>
            <a:cxnSpLocks/>
            <a:stCxn id="21" idx="2"/>
            <a:endCxn id="116" idx="0"/>
          </p:cNvCxnSpPr>
          <p:nvPr/>
        </p:nvCxnSpPr>
        <p:spPr>
          <a:xfrm rot="5400000">
            <a:off x="5057773" y="4244117"/>
            <a:ext cx="161351" cy="1736300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41B8C1C4-477E-9527-CFE4-A5AB0589084E}"/>
              </a:ext>
            </a:extLst>
          </p:cNvPr>
          <p:cNvSpPr txBox="1"/>
          <p:nvPr/>
        </p:nvSpPr>
        <p:spPr>
          <a:xfrm>
            <a:off x="6690200" y="4118261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C73AF6-50E5-592C-559D-11355B07CDD4}"/>
              </a:ext>
            </a:extLst>
          </p:cNvPr>
          <p:cNvSpPr/>
          <p:nvPr/>
        </p:nvSpPr>
        <p:spPr>
          <a:xfrm>
            <a:off x="6882136" y="4707592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Enregistrement en commande « non servie » </a:t>
            </a:r>
          </a:p>
        </p:txBody>
      </p: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191DFB96-0A78-CCC7-7D51-2667D2CC4B77}"/>
              </a:ext>
            </a:extLst>
          </p:cNvPr>
          <p:cNvCxnSpPr>
            <a:cxnSpLocks/>
            <a:stCxn id="6" idx="3"/>
            <a:endCxn id="34" idx="0"/>
          </p:cNvCxnSpPr>
          <p:nvPr/>
        </p:nvCxnSpPr>
        <p:spPr>
          <a:xfrm>
            <a:off x="6726598" y="4318317"/>
            <a:ext cx="875538" cy="38927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131DD74-04E7-89EB-37A4-938E0AC7D323}"/>
              </a:ext>
            </a:extLst>
          </p:cNvPr>
          <p:cNvCxnSpPr>
            <a:cxnSpLocks/>
            <a:stCxn id="34" idx="2"/>
            <a:endCxn id="46" idx="0"/>
          </p:cNvCxnSpPr>
          <p:nvPr/>
        </p:nvCxnSpPr>
        <p:spPr>
          <a:xfrm>
            <a:off x="7602136" y="5031592"/>
            <a:ext cx="0" cy="1121057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rganigramme : Décision 45">
            <a:extLst>
              <a:ext uri="{FF2B5EF4-FFF2-40B4-BE49-F238E27FC236}">
                <a16:creationId xmlns:a16="http://schemas.microsoft.com/office/drawing/2014/main" id="{E6725369-B25F-6543-74BF-3F4D0E04E6DF}"/>
              </a:ext>
            </a:extLst>
          </p:cNvPr>
          <p:cNvSpPr/>
          <p:nvPr/>
        </p:nvSpPr>
        <p:spPr>
          <a:xfrm>
            <a:off x="6882136" y="6152649"/>
            <a:ext cx="1440000" cy="360000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Simu et ajustements manuels 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6324ACC-5D07-25C2-AB16-01145E5511BB}"/>
              </a:ext>
            </a:extLst>
          </p:cNvPr>
          <p:cNvSpPr/>
          <p:nvPr/>
        </p:nvSpPr>
        <p:spPr>
          <a:xfrm>
            <a:off x="3550298" y="5692197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Enregistrement des allocations mises à jour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CB8434-6A12-06F0-7408-A52DC439AC6B}"/>
              </a:ext>
            </a:extLst>
          </p:cNvPr>
          <p:cNvSpPr/>
          <p:nvPr/>
        </p:nvSpPr>
        <p:spPr>
          <a:xfrm>
            <a:off x="3550298" y="6170649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des commandes de vente (quantités et ETA)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7BB0AEA6-62BE-8E42-3FAC-938ECB7B4FAE}"/>
              </a:ext>
            </a:extLst>
          </p:cNvPr>
          <p:cNvCxnSpPr>
            <a:cxnSpLocks/>
            <a:stCxn id="116" idx="2"/>
            <a:endCxn id="51" idx="0"/>
          </p:cNvCxnSpPr>
          <p:nvPr/>
        </p:nvCxnSpPr>
        <p:spPr>
          <a:xfrm>
            <a:off x="4270298" y="5516943"/>
            <a:ext cx="0" cy="175254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25E05AC2-D5AF-A149-8E97-D0F7F5B80EE1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4270298" y="6016197"/>
            <a:ext cx="0" cy="154452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DAC4413C-D499-3EEB-FA9A-867C04194446}"/>
              </a:ext>
            </a:extLst>
          </p:cNvPr>
          <p:cNvCxnSpPr>
            <a:cxnSpLocks/>
            <a:stCxn id="46" idx="1"/>
            <a:endCxn id="52" idx="3"/>
          </p:cNvCxnSpPr>
          <p:nvPr/>
        </p:nvCxnSpPr>
        <p:spPr>
          <a:xfrm flipH="1">
            <a:off x="4990298" y="6332649"/>
            <a:ext cx="189183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C3C0FB1D-67A5-D3A2-69A2-F072C6F25F37}"/>
              </a:ext>
            </a:extLst>
          </p:cNvPr>
          <p:cNvSpPr txBox="1"/>
          <p:nvPr/>
        </p:nvSpPr>
        <p:spPr>
          <a:xfrm>
            <a:off x="6585836" y="6152649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6D01730C-1B32-13FA-A909-8183AF04DDC6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5400000">
            <a:off x="6529296" y="3078916"/>
            <a:ext cx="550143" cy="1595538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3606EE7-C476-D05F-D102-D000319F9663}"/>
              </a:ext>
            </a:extLst>
          </p:cNvPr>
          <p:cNvSpPr/>
          <p:nvPr/>
        </p:nvSpPr>
        <p:spPr>
          <a:xfrm>
            <a:off x="184519" y="6170649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commande client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83FF6E5-0823-AF56-D279-954B85CBD7AA}"/>
              </a:ext>
            </a:extLst>
          </p:cNvPr>
          <p:cNvSpPr/>
          <p:nvPr/>
        </p:nvSpPr>
        <p:spPr>
          <a:xfrm>
            <a:off x="1867408" y="6170649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commande magasin</a:t>
            </a:r>
          </a:p>
        </p:txBody>
      </p: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33A2B01-B4A0-5A09-1C75-9C0CB0F16F61}"/>
              </a:ext>
            </a:extLst>
          </p:cNvPr>
          <p:cNvCxnSpPr>
            <a:cxnSpLocks/>
            <a:stCxn id="52" idx="1"/>
            <a:endCxn id="75" idx="3"/>
          </p:cNvCxnSpPr>
          <p:nvPr/>
        </p:nvCxnSpPr>
        <p:spPr>
          <a:xfrm flipH="1">
            <a:off x="3307408" y="6332649"/>
            <a:ext cx="242890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31510B1E-5ABD-DECC-DF93-CDE26247E58D}"/>
              </a:ext>
            </a:extLst>
          </p:cNvPr>
          <p:cNvCxnSpPr>
            <a:cxnSpLocks/>
            <a:stCxn id="75" idx="1"/>
            <a:endCxn id="74" idx="3"/>
          </p:cNvCxnSpPr>
          <p:nvPr/>
        </p:nvCxnSpPr>
        <p:spPr>
          <a:xfrm flipH="1">
            <a:off x="1624519" y="6332649"/>
            <a:ext cx="242889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B16C490-4E94-3724-F12D-932D495676A7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>
            <a:off x="904519" y="2747652"/>
            <a:ext cx="0" cy="536283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EA178-B644-42B7-B546-B9A3A3E6A972}"/>
              </a:ext>
            </a:extLst>
          </p:cNvPr>
          <p:cNvSpPr/>
          <p:nvPr/>
        </p:nvSpPr>
        <p:spPr>
          <a:xfrm>
            <a:off x="6882136" y="3277614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Mise à jour des</a:t>
            </a:r>
            <a:b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pré-allocations 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8A07EB1-0174-5F56-F206-7F666DBDB225}"/>
              </a:ext>
            </a:extLst>
          </p:cNvPr>
          <p:cNvCxnSpPr>
            <a:cxnSpLocks/>
            <a:stCxn id="29" idx="2"/>
            <a:endCxn id="16" idx="0"/>
          </p:cNvCxnSpPr>
          <p:nvPr/>
        </p:nvCxnSpPr>
        <p:spPr>
          <a:xfrm>
            <a:off x="7602136" y="2747652"/>
            <a:ext cx="0" cy="529962"/>
          </a:xfrm>
          <a:prstGeom prst="straightConnector1">
            <a:avLst/>
          </a:prstGeom>
          <a:ln>
            <a:solidFill>
              <a:srgbClr val="060B1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FAED62AF-5E42-DC8F-F1D9-4BAC097FEBEE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4990299" y="3439614"/>
            <a:ext cx="1891837" cy="6321"/>
          </a:xfrm>
          <a:prstGeom prst="straightConnector1">
            <a:avLst/>
          </a:prstGeom>
          <a:ln>
            <a:solidFill>
              <a:srgbClr val="060B1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5BF317CC-4B1B-8561-5C13-AA1152294B8C}"/>
              </a:ext>
            </a:extLst>
          </p:cNvPr>
          <p:cNvCxnSpPr>
            <a:cxnSpLocks/>
            <a:stCxn id="34" idx="2"/>
            <a:endCxn id="116" idx="3"/>
          </p:cNvCxnSpPr>
          <p:nvPr/>
        </p:nvCxnSpPr>
        <p:spPr>
          <a:xfrm rot="5400000">
            <a:off x="6134542" y="3887348"/>
            <a:ext cx="323351" cy="2611838"/>
          </a:xfrm>
          <a:prstGeom prst="bentConnector2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2B05864-0A0B-ADB0-45CE-6F4BDC63BBFE}"/>
              </a:ext>
            </a:extLst>
          </p:cNvPr>
          <p:cNvSpPr txBox="1"/>
          <p:nvPr/>
        </p:nvSpPr>
        <p:spPr>
          <a:xfrm>
            <a:off x="507245" y="957721"/>
            <a:ext cx="1129272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Gestion de pré-commandes, commandes ouvertes / contrats et commandes unitaires.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Pré-allocation au fil des prises de commande, mise à jour et suivi des allocations temporaires durant la phase de prise de commandes + simulations via cockpit.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Calcul définitif + modification via cockpit = déclenchement des confirmations de commandes.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Commandes tardives (sur stock) allouées à la passation, avec ajustement possible de l’allocation.</a:t>
            </a:r>
            <a:endParaRPr lang="fr-FR" sz="10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Espace réservé du texte 72">
            <a:extLst>
              <a:ext uri="{FF2B5EF4-FFF2-40B4-BE49-F238E27FC236}">
                <a16:creationId xmlns:a16="http://schemas.microsoft.com/office/drawing/2014/main" id="{2A1F18F7-B7A3-B658-CE9A-3B379F91128C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/>
              <a:t>Macroprocessus de traitement de l’allocation en prise de commande</a:t>
            </a:r>
            <a:endParaRPr lang="fr-FR"/>
          </a:p>
        </p:txBody>
      </p:sp>
      <p:sp>
        <p:nvSpPr>
          <p:cNvPr id="36" name="Titre 2">
            <a:extLst>
              <a:ext uri="{FF2B5EF4-FFF2-40B4-BE49-F238E27FC236}">
                <a16:creationId xmlns:a16="http://schemas.microsoft.com/office/drawing/2014/main" id="{A14EED0D-6828-AB98-B1F2-FDEF51D34606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</p:spTree>
    <p:extLst>
      <p:ext uri="{BB962C8B-B14F-4D97-AF65-F5344CB8AC3E}">
        <p14:creationId xmlns:p14="http://schemas.microsoft.com/office/powerpoint/2010/main" val="1275930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CC91-5BF7-C84E-90AC-0C963F98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CC9ADBF-7FFB-5C45-4BBE-29DA5AB4D9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8DDEB02F-CB8F-D505-D00F-D11F62B69E81}"/>
              </a:ext>
            </a:extLst>
          </p:cNvPr>
          <p:cNvSpPr txBox="1">
            <a:spLocks/>
          </p:cNvSpPr>
          <p:nvPr/>
        </p:nvSpPr>
        <p:spPr>
          <a:xfrm>
            <a:off x="6331003" y="2433054"/>
            <a:ext cx="5328000" cy="3454564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000" b="1">
                <a:solidFill>
                  <a:schemeClr val="accent1"/>
                </a:solidFill>
              </a:rPr>
              <a:t>Confirmation immédiate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L’ERP fournira « en temps réel » (à l’instant de la prise de commande) les quantités disponibles et la date de livraison estimée, à partir :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des stocks,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des PO en cours et de leurs ETA,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des quantités déjà allouées.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Les quantités seront automatiquement allouées dès validation de la commande.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 statut de la commande, les quantités et l’ETA seront calculées à la validation.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La suppression ou la (re)priorisation de l’allocation ne pourra être que manuelle.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 calcul périodique / quotidien des allocations servira à optimiser ces dernières en modifiant leur affectation afin de maximiser le taux de service (ex : transfert vers une PO plus tardive).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Les paramètres et le statut des commandes sera mis à jour en cas de changement.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114294E-69C6-1CB1-FAF8-B93D53B375F0}"/>
              </a:ext>
            </a:extLst>
          </p:cNvPr>
          <p:cNvCxnSpPr>
            <a:cxnSpLocks/>
          </p:cNvCxnSpPr>
          <p:nvPr/>
        </p:nvCxnSpPr>
        <p:spPr>
          <a:xfrm>
            <a:off x="6052719" y="2784164"/>
            <a:ext cx="0" cy="2752344"/>
          </a:xfrm>
          <a:prstGeom prst="line">
            <a:avLst/>
          </a:prstGeom>
          <a:ln>
            <a:solidFill>
              <a:srgbClr val="6E8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E00BB7E-68E1-EE8C-9412-5570034DF22F}"/>
              </a:ext>
            </a:extLst>
          </p:cNvPr>
          <p:cNvSpPr txBox="1">
            <a:spLocks/>
          </p:cNvSpPr>
          <p:nvPr/>
        </p:nvSpPr>
        <p:spPr>
          <a:xfrm>
            <a:off x="452716" y="2433054"/>
            <a:ext cx="5328000" cy="3454565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000" b="1">
                <a:solidFill>
                  <a:schemeClr val="accent1"/>
                </a:solidFill>
              </a:rPr>
              <a:t>Confirmation différée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Les prises de commande sont enregistrées au fil de l’eau et placées en fil d’attente (FIFO par niveau de priorité).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900"/>
              <a:t>La date de livraison souhaitée est enregistrée et adressée au client.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Les allocations et commande enregistrées sont analysées / recalculées une fois le remplissage du carnet de commandes suffisant. 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Le statut de la commande, les quantités et l’ETA sont déterminés lors de ces calculs et envoyés aux clients sous forme de confirmation.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900"/>
              <a:t>La date de livraison estimée est envoyée au client.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Un calcul périodique pourra être mis en place pour reprioriser les allocations durant la phase de prise de commande (avec application ou non des changements, automatique ou sur validation).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Un simulateur pourra permettre d’effectuer manuellement ces recalculs et de simuler l’effet de certains changements sur le calcul global.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000"/>
          </a:p>
          <a:p>
            <a:pPr marL="457200" lvl="1" indent="0">
              <a:buNone/>
            </a:pPr>
            <a:endParaRPr lang="fr-FR" sz="100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B215C70-9F0B-A527-3C73-13D8FA507FAA}"/>
              </a:ext>
            </a:extLst>
          </p:cNvPr>
          <p:cNvSpPr txBox="1">
            <a:spLocks/>
          </p:cNvSpPr>
          <p:nvPr/>
        </p:nvSpPr>
        <p:spPr>
          <a:xfrm>
            <a:off x="755778" y="1219253"/>
            <a:ext cx="11252721" cy="902631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 b="1">
                <a:solidFill>
                  <a:schemeClr val="accent1"/>
                </a:solidFill>
              </a:rPr>
              <a:t>Les deux modes de confirmation sont valides en cible </a:t>
            </a:r>
            <a:r>
              <a:rPr lang="fr-FR" sz="1000"/>
              <a:t>mais associés à des types de commandes différents.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Commande « différée » : correspond aux commandes initiales, enregistrée durant la campagne de vente et validées une fois les commandes d’achats créées et les allocations validées.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000"/>
              <a:t>Commande immédiate : commende de vente ou de réassort servie sur stock (ou quantité en transit)  une fois les commandes d’achat reçues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C1BEE6-75E7-9430-553B-FEBD20CFB0FB}"/>
              </a:ext>
            </a:extLst>
          </p:cNvPr>
          <p:cNvSpPr/>
          <p:nvPr/>
        </p:nvSpPr>
        <p:spPr>
          <a:xfrm>
            <a:off x="656720" y="5887618"/>
            <a:ext cx="4932000" cy="487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chemeClr val="bg1"/>
                </a:solidFill>
                <a:cs typeface="Calibri" panose="020F0502020204030204" pitchFamily="34" charset="0"/>
              </a:rPr>
              <a:t>Magasins : mise en place </a:t>
            </a:r>
          </a:p>
          <a:p>
            <a:pPr algn="ctr">
              <a:spcAft>
                <a:spcPts val="600"/>
              </a:spcAft>
            </a:pPr>
            <a:r>
              <a:rPr lang="fr-FR" sz="1000" b="1" err="1">
                <a:solidFill>
                  <a:schemeClr val="bg1"/>
                </a:solidFill>
                <a:cs typeface="Calibri" panose="020F0502020204030204" pitchFamily="34" charset="0"/>
              </a:rPr>
              <a:t>Wholesale</a:t>
            </a:r>
            <a:r>
              <a:rPr lang="fr-FR" sz="1000" b="1">
                <a:solidFill>
                  <a:schemeClr val="bg1"/>
                </a:solidFill>
                <a:cs typeface="Calibri" panose="020F0502020204030204" pitchFamily="34" charset="0"/>
              </a:rPr>
              <a:t> : pré-commandes et commandes début de saison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871A2-FB6D-9FAF-DB16-D43772078955}"/>
              </a:ext>
            </a:extLst>
          </p:cNvPr>
          <p:cNvSpPr/>
          <p:nvPr/>
        </p:nvSpPr>
        <p:spPr>
          <a:xfrm>
            <a:off x="6535007" y="5887618"/>
            <a:ext cx="4932000" cy="487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chemeClr val="bg1"/>
                </a:solidFill>
                <a:cs typeface="Calibri" panose="020F0502020204030204" pitchFamily="34" charset="0"/>
              </a:rPr>
              <a:t>Magasins : réassort </a:t>
            </a:r>
          </a:p>
          <a:p>
            <a:pPr algn="ctr">
              <a:spcAft>
                <a:spcPts val="600"/>
              </a:spcAft>
            </a:pPr>
            <a:r>
              <a:rPr lang="fr-FR" sz="1000" b="1" err="1">
                <a:solidFill>
                  <a:schemeClr val="bg1"/>
                </a:solidFill>
                <a:cs typeface="Calibri" panose="020F0502020204030204" pitchFamily="34" charset="0"/>
              </a:rPr>
              <a:t>Wholesale</a:t>
            </a:r>
            <a:r>
              <a:rPr lang="fr-FR" sz="1000" b="1">
                <a:solidFill>
                  <a:schemeClr val="bg1"/>
                </a:solidFill>
                <a:cs typeface="Calibri" panose="020F0502020204030204" pitchFamily="34" charset="0"/>
              </a:rPr>
              <a:t> : commandes tardives, réassort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19F82899-867C-6F81-7D5B-C1775E904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24309"/>
            <a:ext cx="11177364" cy="312803"/>
          </a:xfrm>
        </p:spPr>
        <p:txBody>
          <a:bodyPr/>
          <a:lstStyle/>
          <a:p>
            <a:r>
              <a:rPr lang="fr-FR" sz="1400"/>
              <a:t>Modalités de confirmation de commande</a:t>
            </a:r>
            <a:endParaRPr lang="fr-FR"/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C094AB58-F460-B5CB-3D7E-681CD457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221288"/>
            <a:ext cx="10846555" cy="348557"/>
          </a:xfrm>
        </p:spPr>
        <p:txBody>
          <a:bodyPr/>
          <a:lstStyle/>
          <a:p>
            <a:r>
              <a:rPr lang="fr-FR"/>
              <a:t>Commandes de vente</a:t>
            </a:r>
          </a:p>
        </p:txBody>
      </p:sp>
    </p:spTree>
    <p:extLst>
      <p:ext uri="{BB962C8B-B14F-4D97-AF65-F5344CB8AC3E}">
        <p14:creationId xmlns:p14="http://schemas.microsoft.com/office/powerpoint/2010/main" val="1852738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70F1-AE43-F950-25CC-29CA5345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F543E46-9732-198D-E4B9-D870C7B728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002CE7-B6C5-A318-CB6A-88A12F3005D1}"/>
              </a:ext>
            </a:extLst>
          </p:cNvPr>
          <p:cNvSpPr/>
          <p:nvPr/>
        </p:nvSpPr>
        <p:spPr>
          <a:xfrm>
            <a:off x="1015480" y="1144987"/>
            <a:ext cx="3600000" cy="28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chemeClr val="bg1"/>
                </a:solidFill>
                <a:cs typeface="Calibri" panose="020F0502020204030204" pitchFamily="34" charset="0"/>
              </a:rPr>
              <a:t>Totale</a:t>
            </a:r>
            <a:br>
              <a:rPr lang="fr-FR" sz="900" b="1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fr-FR" sz="700" b="1">
                <a:solidFill>
                  <a:schemeClr val="bg1"/>
                </a:solidFill>
                <a:cs typeface="Calibri" panose="020F0502020204030204" pitchFamily="34" charset="0"/>
              </a:rPr>
              <a:t>A+B</a:t>
            </a:r>
            <a:endParaRPr lang="fr-FR" sz="900" b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877EA8-0467-4E4A-94F0-7E8378A8B3BB}"/>
              </a:ext>
            </a:extLst>
          </p:cNvPr>
          <p:cNvSpPr/>
          <p:nvPr/>
        </p:nvSpPr>
        <p:spPr>
          <a:xfrm>
            <a:off x="1015480" y="1504065"/>
            <a:ext cx="36000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A – Allouée totale</a:t>
            </a:r>
            <a:b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(1+2)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8827C0-A82C-102E-7592-1326844E0A93}"/>
              </a:ext>
            </a:extLst>
          </p:cNvPr>
          <p:cNvSpPr/>
          <p:nvPr/>
        </p:nvSpPr>
        <p:spPr>
          <a:xfrm>
            <a:off x="1015480" y="1863143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1 – Allouée ferme</a:t>
            </a:r>
            <a:endParaRPr lang="fr-FR" sz="7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4338E4-7C25-BCD6-EF05-8A553F254962}"/>
              </a:ext>
            </a:extLst>
          </p:cNvPr>
          <p:cNvSpPr/>
          <p:nvPr/>
        </p:nvSpPr>
        <p:spPr>
          <a:xfrm>
            <a:off x="1015481" y="3299455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2 – Pré-allouée</a:t>
            </a:r>
            <a:endParaRPr lang="fr-FR" sz="7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9C08B9-D288-2070-0CD2-5BAA082AC1DC}"/>
              </a:ext>
            </a:extLst>
          </p:cNvPr>
          <p:cNvSpPr/>
          <p:nvPr/>
        </p:nvSpPr>
        <p:spPr>
          <a:xfrm>
            <a:off x="1015481" y="4735767"/>
            <a:ext cx="3600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B – Disponible totale</a:t>
            </a:r>
            <a:b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 b="1">
                <a:solidFill>
                  <a:srgbClr val="1A1C30"/>
                </a:solidFill>
                <a:cs typeface="Calibri" panose="020F0502020204030204" pitchFamily="34" charset="0"/>
              </a:rPr>
              <a:t>(3+4)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E3D091-911B-4FBE-708C-82AE24F017C8}"/>
              </a:ext>
            </a:extLst>
          </p:cNvPr>
          <p:cNvSpPr/>
          <p:nvPr/>
        </p:nvSpPr>
        <p:spPr>
          <a:xfrm>
            <a:off x="1015481" y="5094845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3 – En stock 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125005-01E8-C88C-B49A-39BDAD008D85}"/>
              </a:ext>
            </a:extLst>
          </p:cNvPr>
          <p:cNvSpPr/>
          <p:nvPr/>
        </p:nvSpPr>
        <p:spPr>
          <a:xfrm>
            <a:off x="1015480" y="5813001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4 – En commande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90BA9B-E108-6382-3E43-C15B0AD93B3B}"/>
              </a:ext>
            </a:extLst>
          </p:cNvPr>
          <p:cNvSpPr/>
          <p:nvPr/>
        </p:nvSpPr>
        <p:spPr>
          <a:xfrm>
            <a:off x="3162267" y="6172083"/>
            <a:ext cx="1453213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commande</a:t>
            </a:r>
            <a:b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et par date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405545-FB85-F36B-63F4-5FD285363D61}"/>
              </a:ext>
            </a:extLst>
          </p:cNvPr>
          <p:cNvSpPr/>
          <p:nvPr/>
        </p:nvSpPr>
        <p:spPr>
          <a:xfrm>
            <a:off x="1709055" y="5453923"/>
            <a:ext cx="2906425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canal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5DD464-0165-76BC-53ED-FEA955E2C15E}"/>
              </a:ext>
            </a:extLst>
          </p:cNvPr>
          <p:cNvSpPr/>
          <p:nvPr/>
        </p:nvSpPr>
        <p:spPr>
          <a:xfrm>
            <a:off x="1709055" y="2222221"/>
            <a:ext cx="2906425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type de client / segment </a:t>
            </a:r>
            <a:r>
              <a:rPr lang="fr-FR" sz="900" b="1" err="1">
                <a:solidFill>
                  <a:srgbClr val="1A1C30"/>
                </a:solidFill>
                <a:cs typeface="Calibri" panose="020F0502020204030204" pitchFamily="34" charset="0"/>
              </a:rPr>
              <a:t>scoring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97AEF0-E1FD-B4DA-F315-2394E27ACB6C}"/>
              </a:ext>
            </a:extLst>
          </p:cNvPr>
          <p:cNvSpPr/>
          <p:nvPr/>
        </p:nvSpPr>
        <p:spPr>
          <a:xfrm>
            <a:off x="1709055" y="3658533"/>
            <a:ext cx="2906425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type de client / segment </a:t>
            </a:r>
            <a:r>
              <a:rPr lang="fr-FR" sz="900" b="1" err="1">
                <a:solidFill>
                  <a:srgbClr val="1A1C30"/>
                </a:solidFill>
                <a:cs typeface="Calibri" panose="020F0502020204030204" pitchFamily="34" charset="0"/>
              </a:rPr>
              <a:t>scoring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0D6D25F9-1E53-9245-9651-B3346AA20830}"/>
              </a:ext>
            </a:extLst>
          </p:cNvPr>
          <p:cNvSpPr txBox="1">
            <a:spLocks/>
          </p:cNvSpPr>
          <p:nvPr/>
        </p:nvSpPr>
        <p:spPr>
          <a:xfrm>
            <a:off x="4814596" y="1144988"/>
            <a:ext cx="7119257" cy="5315096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b="1">
                <a:solidFill>
                  <a:schemeClr val="accent1"/>
                </a:solidFill>
              </a:rPr>
              <a:t>Pilotage allocations – fonctionnalités souhaitées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Visualiser les quantités selon leur disponibilité, vue agrégée et détaillée.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A décliner sur les niveaux de la hiérarchie articles (global, famille, groupe, modèle-coloris…)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/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Simuler « à la volée » et appliquer des modifications sur les allocations unitaires ou les commandes auxquelles elles se rapportent.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Modification commandes d’achats (statut, quantités, dates-clés)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Changement sur commande de vente (quantités, dates-clés)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Changement sur allocation (forcer des modifications, au détriment d’autres commandes) 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/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Simuler et valider un recalcul complet des allocations (priorisation de toutes les commandes les unes par rapport aux autres).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/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Calculer automatiquement les impacts sur l’ensemble de la chaine d’allocation, avec une restitution exploitable (écran, report).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/>
          </a:p>
          <a:p>
            <a:pPr marL="0" indent="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b="1">
                <a:solidFill>
                  <a:schemeClr val="accent1"/>
                </a:solidFill>
              </a:rPr>
              <a:t>Solution technique à discuter avec les éditeurs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Module / écrans internes à l’ERP.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/>
              <a:t>Rapports dynamiques .</a:t>
            </a:r>
          </a:p>
          <a:p>
            <a:pPr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b="1">
              <a:solidFill>
                <a:schemeClr val="accent1"/>
              </a:solidFill>
            </a:endParaRP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/>
          </a:p>
          <a:p>
            <a:pPr>
              <a:buAutoNum type="arabicPeriod"/>
            </a:pPr>
            <a:endParaRPr lang="fr-FR" sz="13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332384-5C36-C782-F72C-51380ECDDAD9}"/>
              </a:ext>
            </a:extLst>
          </p:cNvPr>
          <p:cNvSpPr/>
          <p:nvPr/>
        </p:nvSpPr>
        <p:spPr>
          <a:xfrm>
            <a:off x="2621902" y="2581299"/>
            <a:ext cx="1993577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client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6A56250-C984-CFEB-3E64-767E3BEDE487}"/>
              </a:ext>
            </a:extLst>
          </p:cNvPr>
          <p:cNvSpPr/>
          <p:nvPr/>
        </p:nvSpPr>
        <p:spPr>
          <a:xfrm>
            <a:off x="2621901" y="4017611"/>
            <a:ext cx="1993577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client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DC551A-8CBA-B55D-891B-7C1FFD91EAC5}"/>
              </a:ext>
            </a:extLst>
          </p:cNvPr>
          <p:cNvSpPr/>
          <p:nvPr/>
        </p:nvSpPr>
        <p:spPr>
          <a:xfrm>
            <a:off x="3163078" y="2940377"/>
            <a:ext cx="1452399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commande</a:t>
            </a:r>
            <a:b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et par ETA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34EC52-0B47-29E8-B24F-4D73495F1A3F}"/>
              </a:ext>
            </a:extLst>
          </p:cNvPr>
          <p:cNvSpPr/>
          <p:nvPr/>
        </p:nvSpPr>
        <p:spPr>
          <a:xfrm>
            <a:off x="3162267" y="4376689"/>
            <a:ext cx="1452399" cy="288000"/>
          </a:xfrm>
          <a:prstGeom prst="rect">
            <a:avLst/>
          </a:prstGeom>
          <a:solidFill>
            <a:schemeClr val="bg1"/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Par commande</a:t>
            </a:r>
            <a:b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et par ETA</a:t>
            </a:r>
            <a:endParaRPr lang="fr-FR" sz="800" b="1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A08334-4FF8-DDBB-243B-D34A6F4F7E34}"/>
              </a:ext>
            </a:extLst>
          </p:cNvPr>
          <p:cNvSpPr txBox="1"/>
          <p:nvPr/>
        </p:nvSpPr>
        <p:spPr>
          <a:xfrm>
            <a:off x="507245" y="6249720"/>
            <a:ext cx="7697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b="1"/>
              <a:t>Illustration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FECA314A-C92D-B0AC-8438-EAA62EC6F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24309"/>
            <a:ext cx="11177364" cy="312803"/>
          </a:xfrm>
        </p:spPr>
        <p:txBody>
          <a:bodyPr/>
          <a:lstStyle/>
          <a:p>
            <a:r>
              <a:rPr lang="fr-FR" sz="1400"/>
              <a:t>Cockpit de gestion et suivi des allocations (illustration)</a:t>
            </a:r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72DE916C-622A-6715-7DC5-2EC39A83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221288"/>
            <a:ext cx="10846555" cy="348557"/>
          </a:xfrm>
        </p:spPr>
        <p:txBody>
          <a:bodyPr/>
          <a:lstStyle/>
          <a:p>
            <a:r>
              <a:rPr lang="fr-FR"/>
              <a:t>Commandes de vente</a:t>
            </a:r>
          </a:p>
        </p:txBody>
      </p:sp>
    </p:spTree>
    <p:extLst>
      <p:ext uri="{BB962C8B-B14F-4D97-AF65-F5344CB8AC3E}">
        <p14:creationId xmlns:p14="http://schemas.microsoft.com/office/powerpoint/2010/main" val="4189170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B256-4390-446B-EF8C-C753936F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A3BC971-6871-D988-CAE3-FA9A5A52F7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F96CADD-C21D-F307-9E36-F6906CD90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15951"/>
              </p:ext>
            </p:extLst>
          </p:nvPr>
        </p:nvGraphicFramePr>
        <p:xfrm>
          <a:off x="217229" y="1452273"/>
          <a:ext cx="11757543" cy="5303520"/>
        </p:xfrm>
        <a:graphic>
          <a:graphicData uri="http://schemas.openxmlformats.org/drawingml/2006/table">
            <a:tbl>
              <a:tblPr/>
              <a:tblGrid>
                <a:gridCol w="2654929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9102614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PORTÉS PAR L’ERP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1640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Canal de vente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E-commerce, 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Marketplace… Chaque canal peut avoir une priorité spécifique selon la stratégie commerciale.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Type de 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Grands comptes, magasins (par groupe / taille), marketplace, corners….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024782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Volume d’affaires (CA)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Clients générant le plus de chiffre d’affaires sur une période définie (12 mois glissants, MTD, YTD…).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2877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Type commande /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Précommande, commande ferme, contrat-cadre…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17715"/>
                  </a:ext>
                </a:extLst>
              </a:tr>
              <a:tr h="3808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Produit / attributs / contenu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Produits « prioritaires » commandés (dont perm / carry-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overs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tailles centrales…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Variantes d’articles, sur la base d’un attribut (ex : prioriser ancienne composition VS nouvelle composition) ou saison article (prioriser articles reconduits / stocks datés saison précédente)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Conditionnement des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646878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Statut du 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Conforme, gelé (litige, impayé…)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5343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Taux de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Taux de complétude cible (« 100% 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only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», 80%, 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63543"/>
                  </a:ext>
                </a:extLst>
              </a:tr>
              <a:tr h="27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Optimum logistique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Priorisation des commandes atteignant un optimum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sur la quantité commandée et allouée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13344"/>
                  </a:ext>
                </a:extLst>
              </a:tr>
              <a:tr h="27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Échéances / jalons de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Ventes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Achats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366818"/>
                  </a:ext>
                </a:extLst>
              </a:tr>
              <a:tr h="13630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83358"/>
                  </a:ext>
                </a:extLst>
              </a:tr>
              <a:tr h="17310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PORTÉS PAR LA CRM (et interfacés)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48790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CRM global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Score calculé à partir de règles métiers pondérées (RFM, segmentation stratégique,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621650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Segmentation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Tous critères de segmentation des clients par rapport à leur taille, leur secteur d’activité, leur géographie, leur potentiel de croissance…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94990"/>
                  </a:ext>
                </a:extLst>
              </a:tr>
              <a:tr h="136301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791558"/>
                  </a:ext>
                </a:extLst>
              </a:tr>
              <a:tr h="17310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DÉTERMINÉS MANUELLEMENT (puis retranscris par une valeur ?)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36308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Récence / fréquence de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Fréquence d’achat et commandes récentes pour détecter les clients actifs vs dormants.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68048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Taux de service historique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Priorisation des clients ayant été mal servis auparavant pour équilibrer le service rendu dans le temps.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72982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Rentabilité / Marge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Priorisation des clients les plus rentables (ex : haute marge, peu de litiges).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347926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Pénalité associée à une non-livraison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Clauses de pénalité ou impact stratégique (ex : grands magasins, influenceurs, nouveaux marchés).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365964"/>
                  </a:ext>
                </a:extLst>
              </a:tr>
              <a:tr h="1731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Autres facteurs historiques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Activité historique et récente, litiges clients, volume de retours / SAV, retards de paiement…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5890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DE090960-3F74-8056-1557-AEA36E0C501C}"/>
              </a:ext>
            </a:extLst>
          </p:cNvPr>
          <p:cNvSpPr txBox="1"/>
          <p:nvPr/>
        </p:nvSpPr>
        <p:spPr>
          <a:xfrm>
            <a:off x="217229" y="981597"/>
            <a:ext cx="11287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u="sng">
                <a:solidFill>
                  <a:srgbClr val="C00000"/>
                </a:solidFill>
              </a:rPr>
              <a:t>Point d’attention :</a:t>
            </a:r>
            <a:r>
              <a:rPr lang="fr-FR" sz="1000">
                <a:solidFill>
                  <a:srgbClr val="C00000"/>
                </a:solidFill>
              </a:rPr>
              <a:t> </a:t>
            </a:r>
            <a:r>
              <a:rPr lang="fr-FR" sz="1000"/>
              <a:t>les données critiques dans la détermination d’une allocation (et / ou l’autorisation ou le blocage d’une allocation ou transaction) devront être connues de l’ERP</a:t>
            </a:r>
            <a:br>
              <a:rPr lang="fr-FR" sz="1000"/>
            </a:br>
            <a:r>
              <a:rPr lang="fr-FR" sz="1000"/>
              <a:t>et actualisables immédiatement.</a:t>
            </a:r>
          </a:p>
        </p:txBody>
      </p:sp>
      <p:sp>
        <p:nvSpPr>
          <p:cNvPr id="11" name="Espace réservé du texte 72">
            <a:extLst>
              <a:ext uri="{FF2B5EF4-FFF2-40B4-BE49-F238E27FC236}">
                <a16:creationId xmlns:a16="http://schemas.microsoft.com/office/drawing/2014/main" id="{39DF1F33-D614-B19A-8E3A-74EAE8055973}"/>
              </a:ext>
            </a:extLst>
          </p:cNvPr>
          <p:cNvSpPr txBox="1">
            <a:spLocks/>
          </p:cNvSpPr>
          <p:nvPr/>
        </p:nvSpPr>
        <p:spPr>
          <a:xfrm>
            <a:off x="507245" y="534297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Principaux critères de </a:t>
            </a:r>
            <a:r>
              <a:rPr lang="fr-FR" i="1" err="1"/>
              <a:t>scoring</a:t>
            </a:r>
            <a:r>
              <a:rPr lang="fr-FR"/>
              <a:t> des clients, allocations et commandes</a:t>
            </a:r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4B3035CE-3EAB-585C-A8B0-B1704E82EA8D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</p:spTree>
    <p:extLst>
      <p:ext uri="{BB962C8B-B14F-4D97-AF65-F5344CB8AC3E}">
        <p14:creationId xmlns:p14="http://schemas.microsoft.com/office/powerpoint/2010/main" val="3720291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C314-290D-AE96-1EAE-5A0F5F2F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24374C9-C886-55F3-F31E-3A45AE4EE62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E857F41-0E65-3D20-CEB5-1AD0570C1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081114"/>
              </p:ext>
            </p:extLst>
          </p:nvPr>
        </p:nvGraphicFramePr>
        <p:xfrm>
          <a:off x="217229" y="2204303"/>
          <a:ext cx="11757543" cy="3200400"/>
        </p:xfrm>
        <a:graphic>
          <a:graphicData uri="http://schemas.openxmlformats.org/drawingml/2006/table">
            <a:tbl>
              <a:tblPr/>
              <a:tblGrid>
                <a:gridCol w="2654929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9102614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PORTÉS PAR L’ERP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1640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Données / fiche client incomplètes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Champs essentiels incomplets ou non conformes dans la fiche ERP du 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930021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Situation financière 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Plafond atteint, </a:t>
                      </a:r>
                      <a:r>
                        <a:rPr lang="fr-FR" sz="9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credit</a:t>
                      </a: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check…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51724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Situation administrative ou commerciale</a:t>
                      </a:r>
                      <a:b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Input CRM / portail client 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/ vérifications / KYC…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CGV / devis non signés…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Clients inactifs ou faible fréquence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591102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Blocage temporaire – 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la demande du client / selon un calendrier défini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5583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Blocage temporaire – interne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Lié à l’activité interne GBM (opérations stocks / logistiques)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896238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Blocage risque pays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Zones à risque / interdites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024782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Volumes et contrats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 contractuel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Fenêtre de commande expirée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2877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Profil de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 insuffisant ou trop important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Nombre de références insuffisant / trop 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17715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Calendrier de commande / dates validité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Période de vente fermée (y compris si lié à la saison des articles commandés)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5343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Score client (global ou sur critère(s) spécifique(s))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score / note client trop basse (ou trop élevée)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un critère particulier, l’ensemble des critères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973533"/>
                  </a:ext>
                </a:extLst>
              </a:tr>
            </a:tbl>
          </a:graphicData>
        </a:graphic>
      </p:graphicFrame>
      <p:sp>
        <p:nvSpPr>
          <p:cNvPr id="11" name="Espace réservé du texte 72">
            <a:extLst>
              <a:ext uri="{FF2B5EF4-FFF2-40B4-BE49-F238E27FC236}">
                <a16:creationId xmlns:a16="http://schemas.microsoft.com/office/drawing/2014/main" id="{199DCD75-EFE2-9C71-BB44-C6A687F70FF5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Principaux critères de blocage des clients, allocations et commandes</a:t>
            </a:r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B547E81E-0895-2145-1165-80B63D564132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BB6A8F1-E470-E6A2-FC4D-9ED201BD3E2A}"/>
              </a:ext>
            </a:extLst>
          </p:cNvPr>
          <p:cNvSpPr txBox="1"/>
          <p:nvPr/>
        </p:nvSpPr>
        <p:spPr>
          <a:xfrm>
            <a:off x="215381" y="982577"/>
            <a:ext cx="6154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/>
              <a:t>Enregistrement des commandes mais blocage du déclenchement.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/>
              <a:t>Cockpit de suivi des commandes / transactions bloquées et des actions en cours.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/>
              <a:t>Définition de niveaux et workflows de blocage / suspension adaptés (durs / souples / au critère).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000"/>
              <a:t>Pour clients WS comme pour magasins.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000"/>
              <a:t>Différencier blocage d’expédition, blocage à la préparation, blocage à la réservation,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1201478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29F3-7E83-CAD3-71F9-424E1FDD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5397ADE-8674-8088-5C06-CC37EE7694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48B175E-B619-8D79-CA3F-27D01CA1D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497320"/>
              </p:ext>
            </p:extLst>
          </p:nvPr>
        </p:nvGraphicFramePr>
        <p:xfrm>
          <a:off x="696000" y="2445419"/>
          <a:ext cx="10800000" cy="25146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171660351"/>
                    </a:ext>
                  </a:extLst>
                </a:gridCol>
              </a:tblGrid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REMISES À LA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REMISES PIED FACTURE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REMISES DIFFÉRÉES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1640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Montant de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Financière / règlement (paiement anticipé)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RFA sur progression 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930021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Client,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Logistique / massification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RFA sur paliers CA ou volumes annuels / saisonniers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949462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Marque, Segment Produit, Produit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Contractuelle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RFA qualitative (conditions de collaboration, SAV)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51724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 ou quantité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Exceptionnelle / manuelle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Remise de coopération commerciale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591102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cascade / multi-niveaux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Volumes cumulés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5583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Remise commerciale ponctuelle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896238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Blocage risque pays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024782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Volumes et contrats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2877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Profil de commande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17715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Calendrier de commande / dates validité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5343"/>
                  </a:ext>
                </a:extLst>
              </a:tr>
            </a:tbl>
          </a:graphicData>
        </a:graphic>
      </p:graphicFrame>
      <p:sp>
        <p:nvSpPr>
          <p:cNvPr id="11" name="Espace réservé du texte 72">
            <a:extLst>
              <a:ext uri="{FF2B5EF4-FFF2-40B4-BE49-F238E27FC236}">
                <a16:creationId xmlns:a16="http://schemas.microsoft.com/office/drawing/2014/main" id="{42CCFC0B-08DD-F1DB-635A-05A520A95E90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/>
              <a:t>Principaux types de remises client</a:t>
            </a:r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6A8CDB63-AC90-A518-BE23-5FE44FF9D171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31A733-BA59-4E2F-744E-7605DF04BD6F}"/>
              </a:ext>
            </a:extLst>
          </p:cNvPr>
          <p:cNvSpPr txBox="1"/>
          <p:nvPr/>
        </p:nvSpPr>
        <p:spPr>
          <a:xfrm>
            <a:off x="487667" y="1159664"/>
            <a:ext cx="74494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>
                <a:solidFill>
                  <a:schemeClr val="accent1"/>
                </a:solidFill>
              </a:rPr>
              <a:t>Remises à la commande : </a:t>
            </a:r>
            <a:r>
              <a:rPr lang="fr-FR" sz="1000"/>
              <a:t>automatisables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>
                <a:solidFill>
                  <a:schemeClr val="accent1"/>
                </a:solidFill>
              </a:rPr>
              <a:t>Remises pied de facture : </a:t>
            </a:r>
            <a:r>
              <a:rPr lang="fr-FR" sz="1000"/>
              <a:t>degré d’automatisation variable, mais calcul à simplifier via des états de </a:t>
            </a:r>
            <a:r>
              <a:rPr lang="fr-FR" sz="1000" err="1"/>
              <a:t>reporting</a:t>
            </a:r>
            <a:r>
              <a:rPr lang="fr-FR" sz="1000"/>
              <a:t> adaptés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>
                <a:solidFill>
                  <a:schemeClr val="accent1"/>
                </a:solidFill>
              </a:rPr>
              <a:t>Remisés différées : </a:t>
            </a:r>
            <a:r>
              <a:rPr lang="fr-FR" sz="1000"/>
              <a:t>rarement automatisables, mais calcul à simplifier via des états de </a:t>
            </a:r>
            <a:r>
              <a:rPr lang="fr-FR" sz="1000" err="1"/>
              <a:t>reporting</a:t>
            </a:r>
            <a:r>
              <a:rPr lang="fr-FR" sz="1000"/>
              <a:t> adaptés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337928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BBBB-D872-14ED-7270-2CC0B347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AD14A4-6CBE-E66D-9AE5-D00977794347}"/>
              </a:ext>
            </a:extLst>
          </p:cNvPr>
          <p:cNvSpPr/>
          <p:nvPr/>
        </p:nvSpPr>
        <p:spPr>
          <a:xfrm>
            <a:off x="9330576" y="1392713"/>
            <a:ext cx="2674065" cy="2118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 defTabSz="914400">
              <a:spcAft>
                <a:spcPts val="600"/>
              </a:spcAft>
            </a:pPr>
            <a:r>
              <a:rPr lang="fr-FR" sz="900" b="1">
                <a:solidFill>
                  <a:schemeClr val="accent1">
                    <a:lumMod val="50000"/>
                  </a:schemeClr>
                </a:solidFill>
              </a:rPr>
              <a:t>PASSATION COMMANDE RÉASSORT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D6E495-D8CC-4C48-57CD-D5D3DF16A3DD}"/>
              </a:ext>
            </a:extLst>
          </p:cNvPr>
          <p:cNvSpPr/>
          <p:nvPr/>
        </p:nvSpPr>
        <p:spPr>
          <a:xfrm>
            <a:off x="6079224" y="1938225"/>
            <a:ext cx="3211585" cy="633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 defTabSz="914400">
              <a:spcAft>
                <a:spcPts val="600"/>
              </a:spcAft>
            </a:pPr>
            <a:r>
              <a:rPr lang="fr-FR" sz="900" b="1">
                <a:solidFill>
                  <a:schemeClr val="accent1">
                    <a:lumMod val="50000"/>
                  </a:schemeClr>
                </a:solidFill>
              </a:rPr>
              <a:t>PASSATION COMMANDE MEP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98E74A8-62EB-BAA0-9EC8-1158D8E993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3E24C-F29C-4653-E18C-85FF111D1575}"/>
              </a:ext>
            </a:extLst>
          </p:cNvPr>
          <p:cNvSpPr/>
          <p:nvPr/>
        </p:nvSpPr>
        <p:spPr>
          <a:xfrm>
            <a:off x="7751641" y="2165017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Création commandes d’achats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61E0B15-F53A-5194-5C14-440C4E3E7322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>
            <a:off x="8471641" y="2489017"/>
            <a:ext cx="0" cy="17706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B9FC96D-4A3F-DD13-03F3-6C0D9D62E633}"/>
              </a:ext>
            </a:extLst>
          </p:cNvPr>
          <p:cNvSpPr/>
          <p:nvPr/>
        </p:nvSpPr>
        <p:spPr>
          <a:xfrm>
            <a:off x="7751641" y="2666077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Analyse des quantités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EF4453-6E44-1A4C-4E78-52994BF5A607}"/>
              </a:ext>
            </a:extLst>
          </p:cNvPr>
          <p:cNvSpPr/>
          <p:nvPr/>
        </p:nvSpPr>
        <p:spPr>
          <a:xfrm>
            <a:off x="6128109" y="3219619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Conditionnement en vrac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B8056CB-4A2F-F8B8-EC8D-7FDBF3019AC5}"/>
              </a:ext>
            </a:extLst>
          </p:cNvPr>
          <p:cNvCxnSpPr>
            <a:cxnSpLocks/>
            <a:stCxn id="26" idx="2"/>
            <a:endCxn id="39" idx="0"/>
          </p:cNvCxnSpPr>
          <p:nvPr/>
        </p:nvCxnSpPr>
        <p:spPr>
          <a:xfrm>
            <a:off x="8471641" y="2990077"/>
            <a:ext cx="1" cy="178209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6E5B352-AB31-B734-6147-240D100CEAF3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8471642" y="3594953"/>
            <a:ext cx="0" cy="1699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rganigramme : Décision 38">
            <a:extLst>
              <a:ext uri="{FF2B5EF4-FFF2-40B4-BE49-F238E27FC236}">
                <a16:creationId xmlns:a16="http://schemas.microsoft.com/office/drawing/2014/main" id="{0B7AF467-6A51-4E1C-734B-1B3028B5A1DC}"/>
              </a:ext>
            </a:extLst>
          </p:cNvPr>
          <p:cNvSpPr/>
          <p:nvPr/>
        </p:nvSpPr>
        <p:spPr>
          <a:xfrm>
            <a:off x="7751642" y="3168286"/>
            <a:ext cx="1440000" cy="426667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Colisage possible et dispo ?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4313DE7C-E226-886A-57D2-31525F971D3D}"/>
              </a:ext>
            </a:extLst>
          </p:cNvPr>
          <p:cNvCxnSpPr>
            <a:cxnSpLocks/>
            <a:stCxn id="52" idx="2"/>
            <a:endCxn id="109" idx="0"/>
          </p:cNvCxnSpPr>
          <p:nvPr/>
        </p:nvCxnSpPr>
        <p:spPr>
          <a:xfrm flipH="1">
            <a:off x="8471641" y="4800834"/>
            <a:ext cx="1" cy="1935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rganigramme : Décision 48">
            <a:extLst>
              <a:ext uri="{FF2B5EF4-FFF2-40B4-BE49-F238E27FC236}">
                <a16:creationId xmlns:a16="http://schemas.microsoft.com/office/drawing/2014/main" id="{94BBD885-B3F5-F717-0C83-DEF6565CA357}"/>
              </a:ext>
            </a:extLst>
          </p:cNvPr>
          <p:cNvSpPr/>
          <p:nvPr/>
        </p:nvSpPr>
        <p:spPr>
          <a:xfrm>
            <a:off x="7751642" y="3764914"/>
            <a:ext cx="1440000" cy="426667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Colisage 100% ?</a:t>
            </a:r>
          </a:p>
        </p:txBody>
      </p:sp>
      <p:sp>
        <p:nvSpPr>
          <p:cNvPr id="52" name="Organigramme : Décision 51">
            <a:extLst>
              <a:ext uri="{FF2B5EF4-FFF2-40B4-BE49-F238E27FC236}">
                <a16:creationId xmlns:a16="http://schemas.microsoft.com/office/drawing/2014/main" id="{6DD08569-0715-3FB1-38FA-8A0B9E8FFE30}"/>
              </a:ext>
            </a:extLst>
          </p:cNvPr>
          <p:cNvSpPr/>
          <p:nvPr/>
        </p:nvSpPr>
        <p:spPr>
          <a:xfrm>
            <a:off x="7751642" y="4374167"/>
            <a:ext cx="1440000" cy="426667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Optimum atteint par </a:t>
            </a:r>
            <a:r>
              <a:rPr lang="fr-FR" sz="700" err="1">
                <a:solidFill>
                  <a:srgbClr val="1A1C30"/>
                </a:solidFill>
                <a:cs typeface="Calibri" panose="020F0502020204030204" pitchFamily="34" charset="0"/>
              </a:rPr>
              <a:t>modif</a:t>
            </a: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 PO ?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D4A4CE-D4AB-3E2B-8A69-705E4D5F47FD}"/>
              </a:ext>
            </a:extLst>
          </p:cNvPr>
          <p:cNvSpPr/>
          <p:nvPr/>
        </p:nvSpPr>
        <p:spPr>
          <a:xfrm>
            <a:off x="6128109" y="3816247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Conditionnement en colis à 100% 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212CAE59-C0F5-F6B8-D218-63D8B5A2822A}"/>
              </a:ext>
            </a:extLst>
          </p:cNvPr>
          <p:cNvCxnSpPr>
            <a:cxnSpLocks/>
            <a:stCxn id="39" idx="1"/>
            <a:endCxn id="27" idx="3"/>
          </p:cNvCxnSpPr>
          <p:nvPr/>
        </p:nvCxnSpPr>
        <p:spPr>
          <a:xfrm flipH="1" flipV="1">
            <a:off x="7568109" y="3381619"/>
            <a:ext cx="183533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3D07E93E-F36A-CA7B-EE49-F45313A52186}"/>
              </a:ext>
            </a:extLst>
          </p:cNvPr>
          <p:cNvCxnSpPr>
            <a:cxnSpLocks/>
            <a:stCxn id="49" idx="1"/>
            <a:endCxn id="57" idx="3"/>
          </p:cNvCxnSpPr>
          <p:nvPr/>
        </p:nvCxnSpPr>
        <p:spPr>
          <a:xfrm flipH="1" flipV="1">
            <a:off x="7568109" y="3978247"/>
            <a:ext cx="183533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160E7BE1-E674-8354-EE9C-50C5566D9C47}"/>
              </a:ext>
            </a:extLst>
          </p:cNvPr>
          <p:cNvSpPr txBox="1"/>
          <p:nvPr/>
        </p:nvSpPr>
        <p:spPr>
          <a:xfrm>
            <a:off x="7518316" y="3689534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DD3BFE9-DE1A-AAB9-BDE4-DF55F7B048AC}"/>
              </a:ext>
            </a:extLst>
          </p:cNvPr>
          <p:cNvSpPr txBox="1"/>
          <p:nvPr/>
        </p:nvSpPr>
        <p:spPr>
          <a:xfrm>
            <a:off x="7518316" y="3107308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F0F43B85-7087-41B6-DF5E-AED90417FCE9}"/>
              </a:ext>
            </a:extLst>
          </p:cNvPr>
          <p:cNvCxnSpPr>
            <a:cxnSpLocks/>
            <a:stCxn id="49" idx="2"/>
            <a:endCxn id="52" idx="0"/>
          </p:cNvCxnSpPr>
          <p:nvPr/>
        </p:nvCxnSpPr>
        <p:spPr>
          <a:xfrm>
            <a:off x="8471642" y="4191581"/>
            <a:ext cx="0" cy="18258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B504A593-E8DE-B2EA-4342-43F081261D9E}"/>
              </a:ext>
            </a:extLst>
          </p:cNvPr>
          <p:cNvSpPr txBox="1"/>
          <p:nvPr/>
        </p:nvSpPr>
        <p:spPr>
          <a:xfrm>
            <a:off x="8646300" y="4173941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AA51749-1E21-C718-E263-FFA017897B80}"/>
              </a:ext>
            </a:extLst>
          </p:cNvPr>
          <p:cNvSpPr/>
          <p:nvPr/>
        </p:nvSpPr>
        <p:spPr>
          <a:xfrm>
            <a:off x="6128109" y="4425500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Modification quantités commandées</a:t>
            </a:r>
          </a:p>
        </p:txBody>
      </p: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000BA84B-3F88-C964-B0DF-0753A095B418}"/>
              </a:ext>
            </a:extLst>
          </p:cNvPr>
          <p:cNvCxnSpPr>
            <a:cxnSpLocks/>
            <a:stCxn id="52" idx="1"/>
            <a:endCxn id="102" idx="3"/>
          </p:cNvCxnSpPr>
          <p:nvPr/>
        </p:nvCxnSpPr>
        <p:spPr>
          <a:xfrm flipH="1" flipV="1">
            <a:off x="7568109" y="4587500"/>
            <a:ext cx="183533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ZoneTexte 106">
            <a:extLst>
              <a:ext uri="{FF2B5EF4-FFF2-40B4-BE49-F238E27FC236}">
                <a16:creationId xmlns:a16="http://schemas.microsoft.com/office/drawing/2014/main" id="{7BD5CF71-0ACB-7AEB-0F30-02956D9A0F8B}"/>
              </a:ext>
            </a:extLst>
          </p:cNvPr>
          <p:cNvSpPr txBox="1"/>
          <p:nvPr/>
        </p:nvSpPr>
        <p:spPr>
          <a:xfrm>
            <a:off x="7501485" y="4298784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E4D3B42-E0FD-4CB7-823E-B9E56402DEDB}"/>
              </a:ext>
            </a:extLst>
          </p:cNvPr>
          <p:cNvSpPr/>
          <p:nvPr/>
        </p:nvSpPr>
        <p:spPr>
          <a:xfrm>
            <a:off x="7751641" y="4994400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Conditionnement en colis AMAP</a:t>
            </a:r>
          </a:p>
        </p:txBody>
      </p: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0334F822-1CB6-42E1-256D-B4EB42C437B5}"/>
              </a:ext>
            </a:extLst>
          </p:cNvPr>
          <p:cNvCxnSpPr>
            <a:cxnSpLocks/>
            <a:stCxn id="102" idx="0"/>
            <a:endCxn id="57" idx="2"/>
          </p:cNvCxnSpPr>
          <p:nvPr/>
        </p:nvCxnSpPr>
        <p:spPr>
          <a:xfrm flipV="1">
            <a:off x="6848109" y="4140247"/>
            <a:ext cx="0" cy="285253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8683C68-FBF3-F4F0-516D-FBAEDDBD821A}"/>
              </a:ext>
            </a:extLst>
          </p:cNvPr>
          <p:cNvSpPr txBox="1"/>
          <p:nvPr/>
        </p:nvSpPr>
        <p:spPr>
          <a:xfrm>
            <a:off x="8640305" y="3561615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A08473C0-1C6B-273C-D6EB-662F0C499970}"/>
              </a:ext>
            </a:extLst>
          </p:cNvPr>
          <p:cNvSpPr txBox="1"/>
          <p:nvPr/>
        </p:nvSpPr>
        <p:spPr>
          <a:xfrm>
            <a:off x="8640305" y="4801823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DCF4D03-FFD3-4E1D-B5D0-646FF90A3CCE}"/>
              </a:ext>
            </a:extLst>
          </p:cNvPr>
          <p:cNvSpPr/>
          <p:nvPr/>
        </p:nvSpPr>
        <p:spPr>
          <a:xfrm>
            <a:off x="7751641" y="5477353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Conditionnement en vrac résiduel</a:t>
            </a:r>
          </a:p>
        </p:txBody>
      </p: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1FDDF5E6-6EBC-CA88-B2C2-061C358443FD}"/>
              </a:ext>
            </a:extLst>
          </p:cNvPr>
          <p:cNvCxnSpPr>
            <a:cxnSpLocks/>
            <a:stCxn id="109" idx="2"/>
            <a:endCxn id="120" idx="0"/>
          </p:cNvCxnSpPr>
          <p:nvPr/>
        </p:nvCxnSpPr>
        <p:spPr>
          <a:xfrm>
            <a:off x="8471641" y="5318400"/>
            <a:ext cx="0" cy="158953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F5090BD-E25D-9D6B-ED48-FA5E88C3ED7C}"/>
              </a:ext>
            </a:extLst>
          </p:cNvPr>
          <p:cNvSpPr/>
          <p:nvPr/>
        </p:nvSpPr>
        <p:spPr>
          <a:xfrm>
            <a:off x="10467731" y="1647121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Calcul et saisie des paramètres</a:t>
            </a:r>
            <a:b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de gestion de stock </a:t>
            </a:r>
          </a:p>
        </p:txBody>
      </p:sp>
      <p:sp>
        <p:nvSpPr>
          <p:cNvPr id="128" name="Organigramme : Décision 127">
            <a:extLst>
              <a:ext uri="{FF2B5EF4-FFF2-40B4-BE49-F238E27FC236}">
                <a16:creationId xmlns:a16="http://schemas.microsoft.com/office/drawing/2014/main" id="{55789C8D-92D9-7DE3-2058-6E1E529BCA68}"/>
              </a:ext>
            </a:extLst>
          </p:cNvPr>
          <p:cNvSpPr/>
          <p:nvPr/>
        </p:nvSpPr>
        <p:spPr>
          <a:xfrm>
            <a:off x="10467732" y="2113684"/>
            <a:ext cx="1440000" cy="426667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Déclenchement sur </a:t>
            </a:r>
            <a:r>
              <a:rPr lang="fr-FR" sz="700" err="1">
                <a:solidFill>
                  <a:srgbClr val="1A1C30"/>
                </a:solidFill>
                <a:cs typeface="Calibri" panose="020F0502020204030204" pitchFamily="34" charset="0"/>
              </a:rPr>
              <a:t>niv</a:t>
            </a: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 stock ?</a:t>
            </a:r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61C6C2EA-DF09-45A7-4899-88A4DCA327EA}"/>
              </a:ext>
            </a:extLst>
          </p:cNvPr>
          <p:cNvCxnSpPr>
            <a:cxnSpLocks/>
            <a:stCxn id="124" idx="2"/>
            <a:endCxn id="128" idx="0"/>
          </p:cNvCxnSpPr>
          <p:nvPr/>
        </p:nvCxnSpPr>
        <p:spPr>
          <a:xfrm>
            <a:off x="11187731" y="1971121"/>
            <a:ext cx="1" cy="142563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68B3163-FDE3-23E0-86AC-5CF0466FF074}"/>
              </a:ext>
            </a:extLst>
          </p:cNvPr>
          <p:cNvSpPr/>
          <p:nvPr/>
        </p:nvSpPr>
        <p:spPr>
          <a:xfrm>
            <a:off x="9395831" y="3096464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Commande de réassort manuelle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BA82666-ACA8-FF77-9204-406146C6D5EB}"/>
              </a:ext>
            </a:extLst>
          </p:cNvPr>
          <p:cNvSpPr/>
          <p:nvPr/>
        </p:nvSpPr>
        <p:spPr>
          <a:xfrm>
            <a:off x="9393837" y="2666077"/>
            <a:ext cx="144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0B1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Commande de réassort automatique</a:t>
            </a:r>
          </a:p>
        </p:txBody>
      </p:sp>
      <p:cxnSp>
        <p:nvCxnSpPr>
          <p:cNvPr id="140" name="Connecteur : en angle 139">
            <a:extLst>
              <a:ext uri="{FF2B5EF4-FFF2-40B4-BE49-F238E27FC236}">
                <a16:creationId xmlns:a16="http://schemas.microsoft.com/office/drawing/2014/main" id="{5BA149F0-E4EE-5FB3-4B92-FE9268C6937F}"/>
              </a:ext>
            </a:extLst>
          </p:cNvPr>
          <p:cNvCxnSpPr>
            <a:cxnSpLocks/>
            <a:stCxn id="128" idx="1"/>
            <a:endCxn id="136" idx="0"/>
          </p:cNvCxnSpPr>
          <p:nvPr/>
        </p:nvCxnSpPr>
        <p:spPr>
          <a:xfrm rot="10800000" flipV="1">
            <a:off x="10113838" y="2327017"/>
            <a:ext cx="353895" cy="339059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D3D9D3A7-24C1-4ABD-3F12-691F28302B0D}"/>
              </a:ext>
            </a:extLst>
          </p:cNvPr>
          <p:cNvSpPr txBox="1"/>
          <p:nvPr/>
        </p:nvSpPr>
        <p:spPr>
          <a:xfrm>
            <a:off x="10212595" y="2115861"/>
            <a:ext cx="3177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00B050"/>
                </a:solidFill>
              </a:rPr>
              <a:t>oui</a:t>
            </a:r>
          </a:p>
        </p:txBody>
      </p:sp>
      <p:cxnSp>
        <p:nvCxnSpPr>
          <p:cNvPr id="150" name="Connecteur : en angle 149">
            <a:extLst>
              <a:ext uri="{FF2B5EF4-FFF2-40B4-BE49-F238E27FC236}">
                <a16:creationId xmlns:a16="http://schemas.microsoft.com/office/drawing/2014/main" id="{0BBEEAF5-62DA-BFFF-FCC8-FFB0309CDB5D}"/>
              </a:ext>
            </a:extLst>
          </p:cNvPr>
          <p:cNvCxnSpPr>
            <a:cxnSpLocks/>
            <a:stCxn id="128" idx="2"/>
            <a:endCxn id="132" idx="3"/>
          </p:cNvCxnSpPr>
          <p:nvPr/>
        </p:nvCxnSpPr>
        <p:spPr>
          <a:xfrm rot="5400000">
            <a:off x="10652726" y="2723457"/>
            <a:ext cx="718113" cy="351901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2">
            <a:extLst>
              <a:ext uri="{FF2B5EF4-FFF2-40B4-BE49-F238E27FC236}">
                <a16:creationId xmlns:a16="http://schemas.microsoft.com/office/drawing/2014/main" id="{DE68F6C7-B086-C481-4EAF-D5383A3578E1}"/>
              </a:ext>
            </a:extLst>
          </p:cNvPr>
          <p:cNvCxnSpPr>
            <a:cxnSpLocks/>
            <a:stCxn id="136" idx="1"/>
            <a:endCxn id="26" idx="3"/>
          </p:cNvCxnSpPr>
          <p:nvPr/>
        </p:nvCxnSpPr>
        <p:spPr>
          <a:xfrm flipH="1">
            <a:off x="9191641" y="2828077"/>
            <a:ext cx="202196" cy="0"/>
          </a:xfrm>
          <a:prstGeom prst="straightConnector1">
            <a:avLst/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ZoneTexte 155">
            <a:extLst>
              <a:ext uri="{FF2B5EF4-FFF2-40B4-BE49-F238E27FC236}">
                <a16:creationId xmlns:a16="http://schemas.microsoft.com/office/drawing/2014/main" id="{DD5C5B5B-C677-8B73-0B16-3C2D061487D4}"/>
              </a:ext>
            </a:extLst>
          </p:cNvPr>
          <p:cNvSpPr txBox="1"/>
          <p:nvPr/>
        </p:nvSpPr>
        <p:spPr>
          <a:xfrm>
            <a:off x="11367731" y="2577547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>
                <a:solidFill>
                  <a:srgbClr val="C00000"/>
                </a:solidFill>
              </a:rPr>
              <a:t>non</a:t>
            </a:r>
          </a:p>
        </p:txBody>
      </p:sp>
      <p:graphicFrame>
        <p:nvGraphicFramePr>
          <p:cNvPr id="162" name="Tableau 161">
            <a:extLst>
              <a:ext uri="{FF2B5EF4-FFF2-40B4-BE49-F238E27FC236}">
                <a16:creationId xmlns:a16="http://schemas.microsoft.com/office/drawing/2014/main" id="{92F22BA4-842C-3F79-D72C-ED934F3F3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663160"/>
              </p:ext>
            </p:extLst>
          </p:nvPr>
        </p:nvGraphicFramePr>
        <p:xfrm>
          <a:off x="853696" y="887916"/>
          <a:ext cx="3521780" cy="1432100"/>
        </p:xfrm>
        <a:graphic>
          <a:graphicData uri="http://schemas.openxmlformats.org/drawingml/2006/table">
            <a:tbl>
              <a:tblPr/>
              <a:tblGrid>
                <a:gridCol w="880445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880445">
                  <a:extLst>
                    <a:ext uri="{9D8B030D-6E8A-4147-A177-3AD203B41FA5}">
                      <a16:colId xmlns:a16="http://schemas.microsoft.com/office/drawing/2014/main" val="3645791272"/>
                    </a:ext>
                  </a:extLst>
                </a:gridCol>
                <a:gridCol w="880445">
                  <a:extLst>
                    <a:ext uri="{9D8B030D-6E8A-4147-A177-3AD203B41FA5}">
                      <a16:colId xmlns:a16="http://schemas.microsoft.com/office/drawing/2014/main" val="1727602299"/>
                    </a:ext>
                  </a:extLst>
                </a:gridCol>
                <a:gridCol w="880445">
                  <a:extLst>
                    <a:ext uri="{9D8B030D-6E8A-4147-A177-3AD203B41FA5}">
                      <a16:colId xmlns:a16="http://schemas.microsoft.com/office/drawing/2014/main" val="1129740400"/>
                    </a:ext>
                  </a:extLst>
                </a:gridCol>
              </a:tblGrid>
              <a:tr h="1107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TAILLES</a:t>
                      </a:r>
                      <a:endParaRPr lang="fr-FR" sz="9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 1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 2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9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 3</a:t>
                      </a:r>
                    </a:p>
                  </a:txBody>
                  <a:tcPr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51640"/>
                  </a:ext>
                </a:extLst>
              </a:tr>
              <a:tr h="917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XXS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917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024782"/>
                  </a:ext>
                </a:extLst>
              </a:tr>
              <a:tr h="917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2877"/>
                  </a:ext>
                </a:extLst>
              </a:tr>
              <a:tr h="130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17715"/>
                  </a:ext>
                </a:extLst>
              </a:tr>
              <a:tr h="1839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5343"/>
                  </a:ext>
                </a:extLst>
              </a:tr>
              <a:tr h="1124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5726"/>
                  </a:ext>
                </a:extLst>
              </a:tr>
              <a:tr h="9462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XXL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24197"/>
                  </a:ext>
                </a:extLst>
              </a:tr>
            </a:tbl>
          </a:graphicData>
        </a:graphic>
      </p:graphicFrame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83677D70-9099-FEF4-3938-59140FDE2C9B}"/>
              </a:ext>
            </a:extLst>
          </p:cNvPr>
          <p:cNvCxnSpPr>
            <a:cxnSpLocks/>
          </p:cNvCxnSpPr>
          <p:nvPr/>
        </p:nvCxnSpPr>
        <p:spPr>
          <a:xfrm>
            <a:off x="5881391" y="1473951"/>
            <a:ext cx="0" cy="3582955"/>
          </a:xfrm>
          <a:prstGeom prst="line">
            <a:avLst/>
          </a:prstGeom>
          <a:ln>
            <a:solidFill>
              <a:srgbClr val="6E8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FF6D136-2928-F0D9-6E52-D544B0446937}"/>
              </a:ext>
            </a:extLst>
          </p:cNvPr>
          <p:cNvSpPr/>
          <p:nvPr/>
        </p:nvSpPr>
        <p:spPr>
          <a:xfrm>
            <a:off x="2019467" y="1135911"/>
            <a:ext cx="298580" cy="1152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10BDAA6-E75C-9F95-B0B2-D2257DD5E296}"/>
              </a:ext>
            </a:extLst>
          </p:cNvPr>
          <p:cNvSpPr/>
          <p:nvPr/>
        </p:nvSpPr>
        <p:spPr>
          <a:xfrm rot="5400000">
            <a:off x="2965882" y="233893"/>
            <a:ext cx="170163" cy="2556000"/>
          </a:xfrm>
          <a:prstGeom prst="rect">
            <a:avLst/>
          </a:prstGeom>
          <a:noFill/>
          <a:ln w="28575"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3EDFA032-5168-AF7E-ABB9-2854DA3A4586}"/>
              </a:ext>
            </a:extLst>
          </p:cNvPr>
          <p:cNvSpPr txBox="1"/>
          <p:nvPr/>
        </p:nvSpPr>
        <p:spPr>
          <a:xfrm>
            <a:off x="4366290" y="1417479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 i="1"/>
            </a:lvl1pPr>
          </a:lstStyle>
          <a:p>
            <a:r>
              <a:rPr lang="fr-FR" b="1">
                <a:solidFill>
                  <a:schemeClr val="accent4">
                    <a:lumMod val="75000"/>
                    <a:lumOff val="25000"/>
                  </a:schemeClr>
                </a:solidFill>
              </a:rPr>
              <a:t>Pack BRD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7E9B31D1-99AF-DE1A-42A9-681DBD2680DD}"/>
              </a:ext>
            </a:extLst>
          </p:cNvPr>
          <p:cNvSpPr txBox="1"/>
          <p:nvPr/>
        </p:nvSpPr>
        <p:spPr>
          <a:xfrm>
            <a:off x="1316390" y="2370357"/>
            <a:ext cx="14398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i="1">
                <a:solidFill>
                  <a:srgbClr val="00B050"/>
                </a:solidFill>
              </a:rPr>
              <a:t>Bag GBM multi taille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015756EB-9AFD-3290-1B00-73644B275DE9}"/>
              </a:ext>
            </a:extLst>
          </p:cNvPr>
          <p:cNvSpPr txBox="1"/>
          <p:nvPr/>
        </p:nvSpPr>
        <p:spPr>
          <a:xfrm>
            <a:off x="253099" y="2668678"/>
            <a:ext cx="5557841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900" b="1">
                <a:solidFill>
                  <a:schemeClr val="accent1"/>
                </a:solidFill>
              </a:rPr>
              <a:t>Les </a:t>
            </a:r>
            <a:r>
              <a:rPr lang="fr-FR" sz="900" b="1" err="1">
                <a:solidFill>
                  <a:schemeClr val="accent1"/>
                </a:solidFill>
              </a:rPr>
              <a:t>Bags</a:t>
            </a:r>
            <a:r>
              <a:rPr lang="fr-FR" sz="900" b="1">
                <a:solidFill>
                  <a:schemeClr val="accent1"/>
                </a:solidFill>
              </a:rPr>
              <a:t> </a:t>
            </a:r>
            <a:r>
              <a:rPr lang="fr-FR" sz="900"/>
              <a:t>Beaumanoir sont constitués d’une référence article en plusieurs tailles colisées ensemble pour simplifier la MEP (multi-tailles) et le réassort (tailles centrales principalement).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/>
              <a:t>C’est sur ce type de colisage (ou équivalence) que porteront </a:t>
            </a:r>
            <a:r>
              <a:rPr lang="fr-FR" sz="900" b="1"/>
              <a:t>les règles</a:t>
            </a:r>
            <a:br>
              <a:rPr lang="fr-FR" sz="900" b="1"/>
            </a:br>
            <a:r>
              <a:rPr lang="fr-FR" sz="900" b="1"/>
              <a:t>de calcul d’un optimum logistique pour le réassort.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/>
              <a:t>L’optimum devra considérer </a:t>
            </a:r>
            <a:r>
              <a:rPr lang="fr-FR" sz="900" b="1"/>
              <a:t>les quantités commandées, les stocks magasins, le stock central (nombre de </a:t>
            </a:r>
            <a:r>
              <a:rPr lang="fr-FR" sz="900" b="1" err="1"/>
              <a:t>bags</a:t>
            </a:r>
            <a:r>
              <a:rPr lang="fr-FR" sz="900" b="1"/>
              <a:t> disponibles), et des règles de priorisation </a:t>
            </a:r>
            <a:r>
              <a:rPr lang="fr-FR" sz="900"/>
              <a:t>(vrac / </a:t>
            </a:r>
            <a:r>
              <a:rPr lang="fr-FR" sz="900" err="1"/>
              <a:t>bags</a:t>
            </a:r>
            <a:r>
              <a:rPr lang="fr-FR" sz="900"/>
              <a:t> / autres)</a:t>
            </a:r>
            <a:r>
              <a:rPr lang="fr-FR" sz="900" b="1"/>
              <a:t>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>
                <a:highlight>
                  <a:srgbClr val="FFFF00"/>
                </a:highlight>
              </a:rPr>
              <a:t>Les règles de gestion de cet optimum logistique (calcul et seuil de déclenchement) </a:t>
            </a:r>
            <a:r>
              <a:rPr lang="fr-FR" sz="900" b="1">
                <a:highlight>
                  <a:srgbClr val="FFFF00"/>
                </a:highlight>
              </a:rPr>
              <a:t>pourront être gérées au niveau Article.</a:t>
            </a:r>
            <a:br>
              <a:rPr lang="fr-FR" sz="900" b="1">
                <a:highlight>
                  <a:srgbClr val="FFFF00"/>
                </a:highlight>
              </a:rPr>
            </a:br>
            <a:r>
              <a:rPr lang="fr-FR" sz="900">
                <a:highlight>
                  <a:srgbClr val="FFFF00"/>
                </a:highlight>
              </a:rPr>
              <a:t>Nota : le fonctionnement s’appliquera aux différents cas de </a:t>
            </a:r>
            <a:r>
              <a:rPr lang="fr-FR" sz="900" err="1">
                <a:highlight>
                  <a:srgbClr val="FFFF00"/>
                </a:highlight>
              </a:rPr>
              <a:t>bags</a:t>
            </a:r>
            <a:r>
              <a:rPr lang="fr-FR" sz="900">
                <a:highlight>
                  <a:srgbClr val="FFFF00"/>
                </a:highlight>
              </a:rPr>
              <a:t> mono produit (mono taille ou multi taille).</a:t>
            </a:r>
          </a:p>
          <a:p>
            <a:pPr marL="1085850" lvl="2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800" b="1" i="1">
                <a:highlight>
                  <a:srgbClr val="FFFF00"/>
                </a:highlight>
              </a:rPr>
              <a:t>Ex : si seuil de déclenchement à 40% du bag pour pulls femme.</a:t>
            </a:r>
          </a:p>
          <a:p>
            <a:pPr marL="1543050" lvl="3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800" b="1" i="1">
                <a:highlight>
                  <a:srgbClr val="FFFF00"/>
                </a:highlight>
              </a:rPr>
              <a:t>Besoin = 1 T38, 1 T42.</a:t>
            </a:r>
          </a:p>
          <a:p>
            <a:pPr marL="1543050" lvl="3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800" b="1" i="1">
                <a:highlight>
                  <a:srgbClr val="FFFF00"/>
                </a:highlight>
              </a:rPr>
              <a:t>Commande = 1 bag contenant 1x(T36, T38, T40, T42.</a:t>
            </a:r>
          </a:p>
          <a:p>
            <a:pPr marL="171450" indent="-171450" algn="l" defTabSz="914400" rtl="0" eaLnBrk="1" latinLnBrk="0" hangingPunct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900" b="1">
                <a:solidFill>
                  <a:schemeClr val="accent1"/>
                </a:solidFill>
              </a:rPr>
              <a:t>Les Packs</a:t>
            </a:r>
            <a:r>
              <a:rPr lang="fr-F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9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Boardriders</a:t>
            </a:r>
            <a:r>
              <a:rPr lang="fr-F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sont constitués de plusieurs références dans une même taille.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 s’agit d’une unité de vente (articles </a:t>
            </a:r>
            <a:r>
              <a:rPr lang="fr-FR" sz="9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colisés</a:t>
            </a:r>
            <a:r>
              <a:rPr lang="fr-F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vendus ensemble) </a:t>
            </a:r>
            <a:r>
              <a:rPr lang="fr-FR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exclue</a:t>
            </a:r>
            <a:br>
              <a:rPr lang="fr-FR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la notion d’« optimum logistique ».</a:t>
            </a:r>
          </a:p>
          <a:p>
            <a:pPr marL="171450" indent="-171450" algn="l" defTabSz="914400" rtl="0" eaLnBrk="1" latinLnBrk="0" hangingPunct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900" b="1">
                <a:solidFill>
                  <a:schemeClr val="accent1"/>
                </a:solidFill>
              </a:rPr>
              <a:t>Les colis assortis </a:t>
            </a:r>
            <a:r>
              <a:rPr lang="fr-FR" sz="900"/>
              <a:t>sont constitués de multiples références articles en plusieurs tailles. Ce mode de colisage « massif » est adapté à la MEP.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/>
              <a:t>Il ne peut être appliqué aux règles de calcul d’un optimum réassort que sur des produits à très fort défilement / aux commandes de réassort importantes.</a:t>
            </a:r>
          </a:p>
          <a:p>
            <a:pPr marL="628650" lvl="1" indent="-171450" defTabSz="9144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è"/>
            </a:pPr>
            <a:r>
              <a:rPr lang="fr-F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 peut en revanche être envisagé pour </a:t>
            </a:r>
            <a:r>
              <a:rPr lang="fr-FR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 réapprovisionnement des permanents, si pertinent.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9081E22-CA32-60D4-8DD3-9267F8A2C73A}"/>
              </a:ext>
            </a:extLst>
          </p:cNvPr>
          <p:cNvSpPr/>
          <p:nvPr/>
        </p:nvSpPr>
        <p:spPr>
          <a:xfrm rot="5400000">
            <a:off x="2441242" y="396964"/>
            <a:ext cx="1217159" cy="2628947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64F22564-72C3-0370-F4E1-6E47C6578427}"/>
              </a:ext>
            </a:extLst>
          </p:cNvPr>
          <p:cNvSpPr txBox="1"/>
          <p:nvPr/>
        </p:nvSpPr>
        <p:spPr>
          <a:xfrm>
            <a:off x="4199251" y="2351532"/>
            <a:ext cx="930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i="1">
                <a:solidFill>
                  <a:schemeClr val="accent5">
                    <a:lumMod val="60000"/>
                    <a:lumOff val="40000"/>
                  </a:schemeClr>
                </a:solidFill>
              </a:rPr>
              <a:t>Colis assorti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D1D3EF59-95AC-9679-EEA6-783E0D9FA1CE}"/>
              </a:ext>
            </a:extLst>
          </p:cNvPr>
          <p:cNvCxnSpPr>
            <a:cxnSpLocks/>
            <a:stCxn id="132" idx="1"/>
            <a:endCxn id="26" idx="3"/>
          </p:cNvCxnSpPr>
          <p:nvPr/>
        </p:nvCxnSpPr>
        <p:spPr>
          <a:xfrm rot="10800000">
            <a:off x="9191641" y="2828078"/>
            <a:ext cx="204190" cy="430387"/>
          </a:xfrm>
          <a:prstGeom prst="bentConnector3">
            <a:avLst>
              <a:gd name="adj1" fmla="val 50000"/>
            </a:avLst>
          </a:prstGeom>
          <a:ln>
            <a:solidFill>
              <a:srgbClr val="060B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72">
            <a:extLst>
              <a:ext uri="{FF2B5EF4-FFF2-40B4-BE49-F238E27FC236}">
                <a16:creationId xmlns:a16="http://schemas.microsoft.com/office/drawing/2014/main" id="{77F3990A-030C-858A-D43B-373801B439F4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/>
              <a:t>Optimisation du colisage pour les commandes magasin</a:t>
            </a:r>
            <a:endParaRPr lang="fr-FR"/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C525AE22-7931-4FA7-3DBE-10A292E19638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Commandes de vente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EB33E-7523-FA3A-3073-05C681831A44}"/>
              </a:ext>
            </a:extLst>
          </p:cNvPr>
          <p:cNvSpPr/>
          <p:nvPr/>
        </p:nvSpPr>
        <p:spPr>
          <a:xfrm>
            <a:off x="3493371" y="1631398"/>
            <a:ext cx="853036" cy="144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x3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BE9CE5-DAFA-A52B-C9C5-A4BAB6A0475F}"/>
              </a:ext>
            </a:extLst>
          </p:cNvPr>
          <p:cNvSpPr txBox="1"/>
          <p:nvPr/>
        </p:nvSpPr>
        <p:spPr>
          <a:xfrm>
            <a:off x="4328964" y="1596974"/>
            <a:ext cx="1460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i="1">
                <a:solidFill>
                  <a:srgbClr val="92D050"/>
                </a:solidFill>
              </a:rPr>
              <a:t>Bag GBM mono taille</a:t>
            </a:r>
          </a:p>
        </p:txBody>
      </p:sp>
    </p:spTree>
    <p:extLst>
      <p:ext uri="{BB962C8B-B14F-4D97-AF65-F5344CB8AC3E}">
        <p14:creationId xmlns:p14="http://schemas.microsoft.com/office/powerpoint/2010/main" val="4162747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E0EF-C270-38F4-7D9E-F96B3E04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9650AEF-89D3-D384-723F-E058CAAF98E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CE13AD6-7813-8DE3-1804-676D0F189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81088"/>
              </p:ext>
            </p:extLst>
          </p:nvPr>
        </p:nvGraphicFramePr>
        <p:xfrm>
          <a:off x="172172" y="837575"/>
          <a:ext cx="11847655" cy="5921002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21328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Création des commandes de vente en masse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 commandes de vente en masse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252525"/>
                          </a:solidFill>
                          <a:latin typeface="+mn-lt"/>
                        </a:rPr>
                        <a:t>par chargement ou interface</a:t>
                      </a:r>
                    </a:p>
                    <a:p>
                      <a:pPr marL="628650" lvl="1" indent="-171450">
                        <a:buClr>
                          <a:srgbClr val="252525"/>
                        </a:buClr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rgbClr val="252525"/>
                          </a:solidFill>
                          <a:latin typeface="+mn-lt"/>
                        </a:rPr>
                        <a:t>en création directe dans l’ERP : saisie des paramètres de la commande et du nombre de commandes identiques à créer</a:t>
                      </a:r>
                      <a:endParaRPr lang="en-US" sz="800" b="0" i="0" u="none" strike="noStrike" kern="1200" noProof="0" dirty="0">
                        <a:solidFill>
                          <a:srgbClr val="252525"/>
                        </a:solidFill>
                        <a:latin typeface="+mn-lt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900397"/>
                  </a:ext>
                </a:extLst>
              </a:tr>
              <a:tr h="2132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/ modification des commandes de vente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workflow de modification des commandes de vente</a:t>
                      </a:r>
                    </a:p>
                    <a:p>
                      <a:pPr marL="62865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rgbClr val="252525"/>
                          </a:solidFill>
                          <a:latin typeface="+mn-lt"/>
                          <a:ea typeface="+mn-ea"/>
                          <a:cs typeface="+mn-cs"/>
                        </a:rPr>
                        <a:t>Sans impact sur l’allocation 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de rechercher, sélectionner et gérer des commandes de vente en masse.</a:t>
                      </a:r>
                    </a:p>
                    <a:p>
                      <a:pPr marL="62865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rgbClr val="252525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Dont modification en masse de commandes de vente, permettant d’appliquer les changements effectués sur l’ensemble des commandes.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222187"/>
                  </a:ext>
                </a:extLst>
              </a:tr>
              <a:tr h="21328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et modification des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vente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masse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de rechercher, sélectionner et gérer des commandes de vente en masse.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Dont modification en masse de commandes d’achats, permettant d’appliquer les changements effectués sur l’ensemble des commandes.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837589"/>
                  </a:ext>
                </a:extLst>
              </a:tr>
              <a:tr h="21328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Prestations</a:t>
                      </a:r>
                      <a:r>
                        <a:rPr lang="en-US" sz="800" b="1" i="0" u="none" strike="noStrike" kern="120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complémentaires</a:t>
                      </a:r>
                      <a:endParaRPr lang="en-US" sz="800" b="1" i="0" u="none" strike="noStrike" kern="1200" dirty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Possibilité d’ajouter manuellement ou automatiquement (sous conditions) des articles (biens et / ou prestations) et </a:t>
                      </a:r>
                      <a:r>
                        <a:rPr lang="fr-FR" sz="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upcharges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 aux commandes, facturables au client ou non.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6693"/>
                  </a:ext>
                </a:extLst>
              </a:tr>
              <a:tr h="21328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Clients et commandes de vente B2C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Solution simple de gestion des clients / comptes de commande + info de livraison unitaires pour les B2C / </a:t>
                      </a:r>
                      <a:r>
                        <a:rPr lang="fr-F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eCommerce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(client générique ou autre modèle)</a:t>
                      </a: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des commandes B2C / </a:t>
                      </a:r>
                      <a:r>
                        <a:rPr lang="fr-F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eCommerce</a:t>
                      </a: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au détail dans l’ERP, avec tous les détails de la transaction et de la commande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84377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Précommandes, contrats, commandes ouvertes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des pré-commandes / contrats / autres types de commandes ouvertes, assortis de paramètres et conditions spécifiques</a:t>
                      </a:r>
                    </a:p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 commandes fermes à partir de la pré-commande ou du contrat, dans la limite des quantités disponibles (et selon les paramètres de la pré-commande)</a:t>
                      </a:r>
                    </a:p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régulariser automatiquement les quantités résiduelles en facturation, pour les différents types de commandes ouvertes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83342"/>
                  </a:ext>
                </a:extLst>
              </a:tr>
              <a:tr h="281081"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Blocage de commandes / de client</a:t>
                      </a:r>
                      <a:endParaRPr lang="en-US" sz="1600"/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noProof="0">
                          <a:latin typeface="Noto Sans"/>
                        </a:rPr>
                        <a:t>Prise en charge de règles de blocage des commandes clients, multicritère (client, marque, pays, période, etc.) et basées notamment sur le </a:t>
                      </a:r>
                      <a:r>
                        <a:rPr lang="fr-FR" sz="800" b="0" i="0" u="none" strike="noStrike" noProof="0" err="1">
                          <a:latin typeface="Noto Sans"/>
                        </a:rPr>
                        <a:t>scoring</a:t>
                      </a:r>
                      <a:r>
                        <a:rPr lang="fr-FR" sz="800" b="0" i="0" u="none" strike="noStrike" noProof="0">
                          <a:latin typeface="Noto Sans"/>
                        </a:rPr>
                        <a:t> client (global) ou des critères spécifiques (</a:t>
                      </a:r>
                      <a:r>
                        <a:rPr lang="fr-FR" sz="800" b="0" i="0" u="none" strike="noStrike" noProof="0" err="1">
                          <a:latin typeface="Noto Sans"/>
                        </a:rPr>
                        <a:t>credit</a:t>
                      </a:r>
                      <a:r>
                        <a:rPr lang="fr-FR" sz="800" b="0" i="0" u="none" strike="noStrike" noProof="0">
                          <a:latin typeface="Noto Sans"/>
                        </a:rPr>
                        <a:t> check, solvabilité). </a:t>
                      </a:r>
                      <a:endParaRPr lang="fr-FR" sz="800"/>
                    </a:p>
                    <a:p>
                      <a:pPr marL="628650" lvl="1" indent="-171450"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Noto Sans"/>
                        </a:rPr>
                        <a:t>Dont blocage total (commandes en cours et futures) ou partiel / unitaire. </a:t>
                      </a:r>
                    </a:p>
                    <a:p>
                      <a:pPr marL="628650" lvl="1" indent="-171450">
                        <a:buFont typeface="Courier New"/>
                        <a:buChar char="o"/>
                      </a:pPr>
                      <a:r>
                        <a:rPr lang="fr-FR" sz="800" b="0" i="0" u="none" strike="noStrike" noProof="0">
                          <a:latin typeface="Noto Sans"/>
                        </a:rPr>
                        <a:t>A déclenchement automatique ou sur recommandations (visibles dans un état dédié)</a:t>
                      </a:r>
                      <a:endParaRPr lang="fr-FR" sz="1600"/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697852"/>
                  </a:ext>
                </a:extLst>
              </a:tr>
              <a:tr h="2810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 souhaitée par le client – prise de commande 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(ou définition / saisie) d’un délai / d’une date minimum de livraison client lors de la prise de commande initiale (avant application des allocations).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de la date de livraison demandée / souhaitée par le client (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de la date de mise en place / 1</a:t>
                      </a:r>
                      <a:r>
                        <a:rPr lang="fr-FR" sz="80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livraison souhaitée (magasin)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77305"/>
                  </a:ext>
                </a:extLst>
              </a:tr>
              <a:tr h="3204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 du planning de commande de vente – post-allocation 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Calcul automatique d’un rétroplanning de commande (tous jalons) et d’une date de livraison estimée, à partir : 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des jalons de la commande d’achat à laquelle la commande de vente est allouée,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des conditions de livraison client ou magasin (dont les différents lead times).</a:t>
                      </a:r>
                      <a:endParaRPr lang="fr-FR" sz="800" b="0" i="0" u="none" strike="noStrike" kern="1200">
                        <a:solidFill>
                          <a:srgbClr val="25252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33287"/>
                  </a:ext>
                </a:extLst>
              </a:tr>
              <a:tr h="3204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Calcul du planning de commande de vente – réassort 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Calcul automatique d’un planning et d’une date de livraison estimée à partir des quantités disponibles (en stock, en transit) et des conditions de livraison client ou magasin (dont les différents lead times)</a:t>
                      </a: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.</a:t>
                      </a:r>
                      <a:endParaRPr lang="fr-FR" sz="1600"/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388212"/>
                  </a:ext>
                </a:extLst>
              </a:tr>
              <a:tr h="644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 de vente – cockpit de pilotage et suivi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Cockpit de commande client avec dates estimées de livraison, calculées selon la disponibilité des produits (achats en cours, à venir, stocks)</a:t>
                      </a:r>
                    </a:p>
                    <a:p>
                      <a:pPr marL="62865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rgbClr val="252525"/>
                          </a:solidFill>
                          <a:latin typeface="+mn-lt"/>
                          <a:ea typeface="+mn-ea"/>
                          <a:cs typeface="+mn-cs"/>
                        </a:rPr>
                        <a:t>Dont cadencement, si livraisons et dates multiples</a:t>
                      </a:r>
                    </a:p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Alertes en cas de modification d’une commande client, dont changement de dates</a:t>
                      </a:r>
                    </a:p>
                    <a:p>
                      <a:pPr marL="17145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Visualisation des écarts entre jalons initiaux / théoriques et réels, et entre les dates de livraison estimées et les dates demandées par le client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Actualisation automatique en fonction des jalons fournisseurs et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transport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063628"/>
                  </a:ext>
                </a:extLst>
              </a:tr>
              <a:tr h="39912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Colisage – optimums logistiques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d’options et conditions de colisage : 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mono produit, mono taille, multi taille.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d’un optimum logistique basé sur les modes de colisage prédéfinis et les quantités commandées, et recommandations / utilisation privilégiée de colis à préparer ou disponibles en stock 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(selon impact du colisage sur prix et conditions de transport, et / ou les règles de stock)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multicritères, dont type de commande (client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MEP magasin, réassort…).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Possibilité de gérer ces règles et définir les seuils de déclenchement au niveau Article (aux différents niveaux de la hiérarchie Articles).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512569"/>
                  </a:ext>
                </a:extLst>
              </a:tr>
              <a:tr h="2799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Simulation de picking et optimum logistique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simuler / demander un picking ciblé (références et quantités) : le système applique alors les règles de calcul de l’optimum et renvoie les résultats du picking :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bags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colis, vrac, quantités « optimisées »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57246"/>
                  </a:ext>
                </a:extLst>
              </a:tr>
              <a:tr h="39912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1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fr-FR" sz="800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des ventes de clients (externes) pour analyse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1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fr-FR" sz="800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[Faisabilité et maintien à déterminer]</a:t>
                      </a: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d’intégrer les données de ventes de clients externes pour 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Analyser les performances et établir des prévisions / potentiels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Proposer un réassort ciblé et / ou des références complémentaires</a:t>
                      </a:r>
                      <a:endParaRPr kumimoji="0" lang="fr-F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Segoe UI"/>
                        <a:ea typeface="Roboto"/>
                        <a:cs typeface="Roboto"/>
                      </a:endParaRPr>
                    </a:p>
                  </a:txBody>
                  <a:tcPr marT="10800" marB="108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887707"/>
                  </a:ext>
                </a:extLst>
              </a:tr>
            </a:tbl>
          </a:graphicData>
        </a:graphic>
      </p:graphicFrame>
      <p:sp>
        <p:nvSpPr>
          <p:cNvPr id="11" name="Espace réservé du texte 72">
            <a:extLst>
              <a:ext uri="{FF2B5EF4-FFF2-40B4-BE49-F238E27FC236}">
                <a16:creationId xmlns:a16="http://schemas.microsoft.com/office/drawing/2014/main" id="{63B312BE-1633-EAB0-AFF1-C86E50A97A41}"/>
              </a:ext>
            </a:extLst>
          </p:cNvPr>
          <p:cNvSpPr txBox="1">
            <a:spLocks/>
          </p:cNvSpPr>
          <p:nvPr/>
        </p:nvSpPr>
        <p:spPr>
          <a:xfrm>
            <a:off x="507245" y="524772"/>
            <a:ext cx="11177364" cy="312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Synthèse des besoins</a:t>
            </a:r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80643183-E912-5404-0DEC-AD984340AF24}"/>
              </a:ext>
            </a:extLst>
          </p:cNvPr>
          <p:cNvSpPr txBox="1">
            <a:spLocks/>
          </p:cNvSpPr>
          <p:nvPr/>
        </p:nvSpPr>
        <p:spPr>
          <a:xfrm>
            <a:off x="507245" y="221751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i="0" kern="1200" cap="all" baseline="0">
                <a:solidFill>
                  <a:schemeClr val="accent1"/>
                </a:solidFill>
                <a:latin typeface="Plus Jakarta Sans" pitchFamily="2" charset="77"/>
                <a:ea typeface="+mj-ea"/>
                <a:cs typeface="+mj-cs"/>
              </a:defRPr>
            </a:lvl1pPr>
          </a:lstStyle>
          <a:p>
            <a:r>
              <a:rPr lang="fr-FR"/>
              <a:t>GESTION DES COMMANDES DE VENTE</a:t>
            </a:r>
          </a:p>
        </p:txBody>
      </p:sp>
    </p:spTree>
    <p:extLst>
      <p:ext uri="{BB962C8B-B14F-4D97-AF65-F5344CB8AC3E}">
        <p14:creationId xmlns:p14="http://schemas.microsoft.com/office/powerpoint/2010/main" val="71429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5AB3-FC2E-1AAC-92B6-4E17CF2E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CECCE5-BF88-C7FC-CBB1-5954060A7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20499"/>
            <a:ext cx="11177364" cy="312803"/>
          </a:xfrm>
        </p:spPr>
        <p:txBody>
          <a:bodyPr/>
          <a:lstStyle/>
          <a:p>
            <a:r>
              <a:rPr lang="fr-FR"/>
              <a:t>Synthèse des besoins (1/2)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3625CDA-9E18-9B1C-586D-818024D0475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E8C0458-C113-0B2A-D79A-0667F114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217478"/>
            <a:ext cx="10846555" cy="348557"/>
          </a:xfrm>
        </p:spPr>
        <p:txBody>
          <a:bodyPr/>
          <a:lstStyle/>
          <a:p>
            <a:r>
              <a:rPr lang="fr-FR"/>
              <a:t>ALLOCATIONS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5181C13-4A40-B97C-BD4F-4311401F1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180488"/>
              </p:ext>
            </p:extLst>
          </p:nvPr>
        </p:nvGraphicFramePr>
        <p:xfrm>
          <a:off x="172173" y="803125"/>
          <a:ext cx="11847655" cy="5953445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368161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Evènement d’allocation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d’évènements d’allocations spécifiques, distincts des traitements logistiques et commerciaux sous-jacents (ex : pour le réassort, allocation automatique et mise en expédition immédiate, mais il s’agit bien de deux évènements distincts).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workflows / chaines d’évènements permettant d’établir les liens entre allocation et autres évènements.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880842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Moteur de calcul d’allocation configurable et multicritères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compte de multiples critères de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détermination du niveau de priorité des clients, gérés directement dans l’ERP et / ou hérités d’applications externes (dont CRM).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combiner ces critères dans des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« intermédiaires » (ex : score « segmentation », score « financier » calculés à partir de critères unitaires).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Workflow d’ajout et de gestion des critères existants.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Pondération possible des différents critères.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compte de règles complexes d’optimisation (ex : viser un % de service minimum, intervalles de tailles…).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compte des règles de colisage, de calcul des optimums logistiques dans le calcul des allocations (si activées).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Prise en compte de règles de conditionnement dans le calcul des allocations (si pertinent et activé).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30801"/>
                  </a:ext>
                </a:extLst>
              </a:tr>
              <a:tr h="334565">
                <a:tc>
                  <a:txBody>
                    <a:bodyPr/>
                    <a:lstStyle/>
                    <a:p>
                      <a:pPr algn="l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Règles de libération / ponction des quantités définissables par canal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multicritères d’allocation sur les différents stocks logiques, dont stocks réservés par canal.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multicritères d’allocation sur les commandes d’achats (selon l’allocation de commandes d’achats aux canaux).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26515"/>
                  </a:ext>
                </a:extLst>
              </a:tr>
              <a:tr h="429479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Mode d’allocation (immédiat ou différé)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mode d’allocation immédiate et automatique, ou différée.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la base de critères multiples, dont les types de commande (pré-commande, initiale, réassort) et de client (magasin,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segmentation…).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Avec règles de libération / ponction des stocks par mode d’allocation et multicritères (ex : canal).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14233"/>
                  </a:ext>
                </a:extLst>
              </a:tr>
              <a:tr h="368161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exclusions / blocages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Blocage d’allocations selon règles business : solvabilité client, zone géographique, canal, etc.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Suspension automatique ou manuelle, avec relance / notification intégrée.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Périmètre d’application paramétrable : toutes commandes dont en cours, commandes futures uniquement, période spécifique.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609847"/>
                  </a:ext>
                </a:extLst>
              </a:tr>
              <a:tr h="3681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pré-allocations et d’allocations sur commandes ouvertes (</a:t>
                      </a:r>
                      <a:r>
                        <a:rPr lang="fr-FR" sz="800" b="1" i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master-commande</a:t>
                      </a: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Gestion de « pré-allocations » (engagement prévisionnel des clients) avec des règles de priorisation spécifiques.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Gestion d’allocations sur commandes ouvertes (confirmées lors des commandes fermes) avec des règles de priorisation spécifiques.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Quantités allouée et commandable limitées à la quantité de la commande ouverte initiale.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21212"/>
                  </a:ext>
                </a:extLst>
              </a:tr>
              <a:tr h="5732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de quantités achetées mais en transit (PO en cours)</a:t>
                      </a:r>
                      <a:b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à une commande de vente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Allocation anticipée dès la commande d’achat (sans attendre la réception).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Prise en compte des ETA / EDD pour calculer la date prévisionnelle de livraison commande client.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Actualisation automatique en fonction des jalons fournisseurs et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transport.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modification sans perte des priorités initiales.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réserver des quantités (dont 100% d’une commande d’achat) à un canal (modèle Beaumanoir).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94812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à réception / ventilation automatique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recalcul des allocations à réception d’une PO selon les priorités en cours.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d’ajuster dynamiquement les allocations existantes si réception partielle ou en retard.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108589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des quantités réceptionnées aux stocks logiques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/>
                        <a:t>A réception : détermination des quantités disponibles (non-allouées aux commandes de vente).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/>
                        <a:t>A réception : déclenchement automatique des affectations / ventilations vers les différents stocks logiques.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649766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de quantités en stock à une commande de vente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Règles automatiques d’allocation selon priorités définies (client, canal, saison, etc.).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Possibilité de modification sans perte des priorités initiales.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530646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partielle / multi-sources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compte de plusieurs fournisseurs ou stocks pour satisfaire une même commande.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Règles de découpage multicritères et paramétrables (ex : accès à plusieurs stocks).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9657"/>
                  </a:ext>
                </a:extLst>
              </a:tr>
              <a:tr h="265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proactive sur changement de planning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Capacité à recalculer et proposer une nouvelle allocation en cas de changement d’un jalon fournisseur ou client.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Alerte sur conflit de priorités ou manque de disponibilité.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36561"/>
                  </a:ext>
                </a:extLst>
              </a:tr>
              <a:tr h="47069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Produits de substitution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produits de substitution (définis et gérés conjointement avec le PLM et/ou la CRM).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Définition de règles d’affectation / d’attribution des produits de substitution dans les règles d’allocation (selon le niveau de priorité).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Recommandation de produits de substitution sur tout ou partie des quantités en cas d’écart entre la quantité demandée et la quantité disponible à l’allocation.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31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630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1A95-4CEB-5E8A-CEF3-2944D23D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ED2427-7BC9-D476-08C7-2B84D194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20499"/>
            <a:ext cx="11177364" cy="312803"/>
          </a:xfrm>
        </p:spPr>
        <p:txBody>
          <a:bodyPr/>
          <a:lstStyle/>
          <a:p>
            <a:r>
              <a:rPr lang="fr-FR"/>
              <a:t>Synthèse des besoins (2/2)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9F99981-CC0D-1FE4-4084-92FF5BC5F4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0507EC2-1B13-D8AA-B911-777F5CAA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217478"/>
            <a:ext cx="10846555" cy="348557"/>
          </a:xfrm>
        </p:spPr>
        <p:txBody>
          <a:bodyPr/>
          <a:lstStyle/>
          <a:p>
            <a:r>
              <a:rPr lang="fr-FR"/>
              <a:t>ALLOCATIONS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36F287F-F4C2-0525-5467-56573DCDF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30121"/>
              </p:ext>
            </p:extLst>
          </p:nvPr>
        </p:nvGraphicFramePr>
        <p:xfrm>
          <a:off x="172173" y="803124"/>
          <a:ext cx="11847655" cy="4329209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Allocation à la saison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dimension / d’un paramètre d’allocation « Saison », lié à la dimension Saison (transverse) portée dans l’ERP.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Permettre d’allouer des stocks / quantités à des saisons de vente et de gestion.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bascule en masse (manuelle ou automatique) des stocks d’une saison à l’autre, via un changement dans l’allocation.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d’allocation saisonnière partielle (une quantité en stock répartie sur plusieurs saisons).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91673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Equilibrages de stocks et d’allocations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mouvements automatiques entre stocks.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multicritère (dont besoins en allocation, quantités non servies, relâche d’une allocation, etc.).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Totalement automatique ou préconisation validée manuellement.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36561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Cockpit de visualisation des allocations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Outil centralisé pour visualiser les quantités allouées, disponibles, en attente, en rupture.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Permet d’intervenir manuellement ou en masse sur les allocations.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035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Simulation de modification + calcul d’impact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Outil de simulation intégré des impacts d’un changement (jalon, quantité, réallocation) sur toutes les autres commandes concernées.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définir des paramètres « cible » : taux de service cible, ETA, taux de complétude, % minimum, etc.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d’exclure / inclure les allocations dans la simulation (pour éviter / permettre qu’elles soient impactées).</a:t>
                      </a: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997300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Priorisation manuelle de commandes et d’allocations</a:t>
                      </a:r>
                    </a:p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(« coupe-file »)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forcer l’allocation d’une commande / la priorité d’une commande par rapport aux autres.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« Coupe-fil » total (commande en tête) ou partiel (</a:t>
                      </a:r>
                      <a:r>
                        <a:rPr lang="fr-FR" sz="800" b="0" u="none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modifié).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643086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Tableau de bord de gestion des scores et critères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Etat de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reprenant les scores (totaux, intermédiaires) et les critères de calcul.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modifier directement certains critères (selon workflow défini).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637474"/>
                  </a:ext>
                </a:extLst>
              </a:tr>
              <a:tr h="4812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Recalcul automatique des allocations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Recalcul quotidien des priorités et allocations (avec possibilité de figer / libérer certaines allocations).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Cockpit de pilotage avec alertes sur écarts / retards.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Recalcul également possible à la demande (ex : modification PO ou commande client).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96226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des quantités non servies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800"/>
                        <a:t>Détermination des commandes de vente / client non servies ou partiellement couvertes.</a:t>
                      </a:r>
                    </a:p>
                    <a:p>
                      <a:pPr marL="3619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 d’attention </a:t>
                      </a:r>
                      <a:r>
                        <a:rPr lang="fr-FR" sz="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le système devra permettre d’enregistrer une commande, même si elle est rejetée pour quantité indisponible.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35325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reliquats et service partiel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des livraisons partielles avec reliquat conservé et priorisé automatiquement.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Règles configurables : partiel autorisé / bloqué, automatique ou manuel.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185847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Historique des modifications d’allocations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Traçabilité complète des mouvements d’allocation,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repriorisation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réaffectations.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consultable dans un cockpit dédié (audit trail, horodatage, utilisateur).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901417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Alertes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paramétrer des alertes sur différents évènements relatifs aux allocations (relâche, transfert important, commande non-servie importante, etc.).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173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609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60F1-6B48-F81C-3DD4-7D0BA9EE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74535A9-8321-8CEA-3CC6-C2AE7A7A67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/>
              <a:t>GESTION DES STOCKS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8F9B13-B853-1F8E-D8F7-138DACA7F95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1605527-E3B8-3BED-8FFC-681B5A5EAE2F}"/>
              </a:ext>
            </a:extLst>
          </p:cNvPr>
          <p:cNvSpPr txBox="1"/>
          <p:nvPr/>
        </p:nvSpPr>
        <p:spPr>
          <a:xfrm>
            <a:off x="6390100" y="1774701"/>
            <a:ext cx="534657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des stocks.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Gestion des stocks logiques.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Gestion des stocks déportés.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Règles automatiques de gestion des stocks (seuils, équilibrages).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Valorisation.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 nouveau stock)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La gestion des allocations est détaillée dans la section « commandes de vente et allocations ».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910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1FE9-3ABD-465A-EDC5-D8B7AB5E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355461-EF3C-1244-F76E-1676E80B5D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(1/2)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009DCF3-71DF-8CE5-9ADE-1C14B733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Gestion des stocks</a:t>
            </a:r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CF643DBA-DA39-AE5C-FE74-12EE2D616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08035"/>
              </p:ext>
            </p:extLst>
          </p:nvPr>
        </p:nvGraphicFramePr>
        <p:xfrm>
          <a:off x="169333" y="783166"/>
          <a:ext cx="11847655" cy="5402319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481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Paramètres et vues de stocks par Article</a:t>
                      </a: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252525"/>
                        </a:buClr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de vues et paramètres de stocks multiples pour chaque code Article (par entrepôt, par groupe de valorisation en stock (1</a:t>
                      </a:r>
                      <a:r>
                        <a:rPr lang="fr-FR" sz="800" b="0" i="0" u="none" strike="noStrike" kern="1200" baseline="30000" noProof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choix, 2</a:t>
                      </a:r>
                      <a:r>
                        <a:rPr lang="fr-FR" sz="800" b="0" i="0" u="none" strike="noStrike" kern="1200" baseline="30000" noProof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choix,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sample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CoVoy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)).</a:t>
                      </a:r>
                    </a:p>
                    <a:p>
                      <a:pPr marL="628650" marR="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252525"/>
                        </a:buClr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lien avec la gestion des types d’articles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Masterdata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767179"/>
                  </a:ext>
                </a:extLst>
              </a:tr>
              <a:tr h="124719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Etats et mouvements des stocks </a:t>
                      </a:r>
                      <a:endParaRPr lang="en-US" sz="800" b="1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252525"/>
                        </a:buClr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la gestion des stocks par l’ERP.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de stocks logiques multiples (dont hiérarchie / arborescence / dépendance entre stocks).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de stocks physiques multiples, en lien avec systèmes opérationnels (WMS, magasin).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des mouvements de stocks directs (entrée, sortie, transfert…) ou associés aux transactions (réception, expédition…).</a:t>
                      </a:r>
                    </a:p>
                    <a:p>
                      <a:pPr marL="171450" lvl="0" indent="-171450" algn="l" defTabSz="9144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réaliser des mouvements de stocks en masse, </a:t>
                      </a:r>
                      <a:r>
                        <a:rPr lang="fr-FR" sz="800" b="0" i="0" u="none" strike="noStrike" kern="1200" noProof="0">
                          <a:solidFill>
                            <a:srgbClr val="252525"/>
                          </a:solidFill>
                          <a:latin typeface="+mn-lt"/>
                        </a:rPr>
                        <a:t>par chargement ou interface (dont mouvements de régularisation dans le cadre d’inventaires).</a:t>
                      </a:r>
                      <a:endParaRPr lang="fr-FR"/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Pilotage des WMS interfacés, via l’envoi des ordres de préparation et de blocage.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des immobilisations de stocks temporaires via des mouvements spécifiques, en lien avec la gestion des commandes (pour mise à jour de leur statut / visibilité sur le blocage et sa résolution).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sym typeface="Roboto"/>
                        </a:rPr>
                        <a:t>Dont possibilité de réaliser des mouvements de sortie (ex : ortie / réaffectation du stock pour réparation / intervention sur la plateforme) et contrepasser ces mouvements à l’identique.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Visualisation des écarts 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de stocks entre les applications (décompte, rapprochement et calcul des écarts).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540605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Règles automatiques de gestion des stocks et seuils</a:t>
                      </a:r>
                      <a:endParaRPr lang="en-US" sz="800" b="1">
                        <a:latin typeface="+mn-lt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252525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seuils (mini, maxi, optimum) saisis manuellement ou calculés par l’ERP.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Courier New"/>
                        <a:buChar char="o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simuler et générer automatiquement des propositions d’achats / d’approvisionnement, multicritère, et tenant compte des paramètres logistiques (dont lead times).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Simulation et préconisations dynamiques d’ajustement des différents stocks théoriques selon les règles / seuils définis.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286049"/>
                  </a:ext>
                </a:extLst>
              </a:tr>
              <a:tr h="65837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Automatisation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mouvements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stocks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Prise en charge de mouvements automatiques, sous conditions, notamment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A réception d’une commande d’achat, ventilation des quantités non-allouées vers les stocks théoriques (selon % de répartition).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Traitement automatique des flux de retour / défectueux, affectations de stocks spécifiques.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Anomalies de livraison / souffrance, stock d’attente et notification du destinataire.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Mouvements d’équilibrage / réaffectation automatiques, selon les seuils et règles d’équilibrage définies et en lien avec les commandes.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14501"/>
                  </a:ext>
                </a:extLst>
              </a:tr>
              <a:tr h="422841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Valorisation des stocks</a:t>
                      </a:r>
                      <a:endParaRPr lang="en-US" sz="800" b="1">
                        <a:latin typeface="+mn-lt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Prise en charge de différents modes de valorisation (CUMP, PRMP, FIFO, etc.).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Calcul dynamique de la valorisation.</a:t>
                      </a:r>
                      <a:endParaRPr lang="en-US" sz="800">
                        <a:highlight>
                          <a:srgbClr val="FFFF00"/>
                        </a:highlight>
                        <a:latin typeface="+mn-lt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Mise à jour à chaque évènement opérationnel, sur la base des prix d’achats des articles et des frais annexes éventuels (coût unitaire impacté). </a:t>
                      </a:r>
                      <a:endParaRPr lang="fr-FR" sz="800">
                        <a:latin typeface="+mn-lt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Paramètres et règles de valorisation gérés à la saison.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Règles de valorisation particulières, multicritère dont hiérarchie Articles.</a:t>
                      </a:r>
                      <a:endParaRPr lang="fr-FR" sz="800">
                        <a:latin typeface="+mn-lt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69007"/>
                  </a:ext>
                </a:extLst>
              </a:tr>
              <a:tr h="663359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Gestion du colisage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Gestion en stock des différents modes de colisage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masterdata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et commandes d’achats) et des règles et données spécifiques à ces éléments, dont leur référence propre et le caractère indissociable des quantités colisées ensemble.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des mouvements de manutention associés (et interdictions) : création de colis,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</a:rPr>
                        <a:t>décolisage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…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Possibilité de définir des règles spécifiques de valorisation.</a:t>
                      </a:r>
                      <a:endParaRPr lang="fr-FR" sz="800">
                        <a:latin typeface="+mn-lt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9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256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ED9D-4C49-FD69-433F-7EF5FE42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7D11D9-2F36-048F-87A0-909E880773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(2/2)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C02EC92-61E0-B1B8-BE5A-B1F45650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Gestion des stocks</a:t>
            </a:r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5C7E387-C6CB-AB24-79A3-8727F37B7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096969"/>
              </p:ext>
            </p:extLst>
          </p:nvPr>
        </p:nvGraphicFramePr>
        <p:xfrm>
          <a:off x="169333" y="783166"/>
          <a:ext cx="11847655" cy="2166720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440107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Gestion stocks déportés / consignés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Possibilité de gérer les stocks consignés / déportés chez un client ou un fournisseur. </a:t>
                      </a:r>
                      <a:endParaRPr lang="fr-FR" sz="800" b="0" i="0" u="none" strike="noStrike" kern="1200" noProof="0">
                        <a:solidFill>
                          <a:srgbClr val="252525"/>
                        </a:solidFill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du pourcentage d’écart de stock toléré au niveau du compte client.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du processus de commande / expédition, sans facturation = mise à disposition du stock.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de rapports de ventes périodiques du client, pour mise à jour des stocks (et facturation périodique).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automatique de commandes facturables.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d’un processus de retour en stock.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des écarts stock initial / rapports de vente / stock retourné, et valorisation des écarts à facturer par rapport au pourcentage de perte tolérée.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 des données transactionnelles nécessaires à la facturation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fr-FR" sz="8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20054"/>
                  </a:ext>
                </a:extLst>
              </a:tr>
              <a:tr h="540605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Demandes de transfert de stock</a:t>
                      </a:r>
                      <a:b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</a:b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(GSS, PLV)</a:t>
                      </a: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« demandes de transfert de stock » permettant de : </a:t>
                      </a:r>
                    </a:p>
                    <a:p>
                      <a:pPr marL="358775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« passer commande » pour un produit géré en stock (ex : PLV),</a:t>
                      </a:r>
                    </a:p>
                    <a:p>
                      <a:pPr marL="358775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déclencher automatiquement le transfert physique et logique des quantités commandées,</a:t>
                      </a:r>
                    </a:p>
                    <a:p>
                      <a:pPr marL="358775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déclencher le flux retour (poussé par le magasin / le destinataire ou tiré par l’entrepôt).</a:t>
                      </a:r>
                      <a:endParaRPr lang="fr-FR" sz="800" b="0" i="0" u="none" strike="noStrike" kern="1200" noProof="0">
                        <a:solidFill>
                          <a:srgbClr val="252525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377917"/>
                  </a:ext>
                </a:extLst>
              </a:tr>
              <a:tr h="26663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Pilotage de l’activité des plateformes</a:t>
                      </a:r>
                      <a:endParaRPr lang="en-US" sz="800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Cockpit de pilotage de la charge entrepôt basé sur les commandes d’achat et de vente, leur statut et leurs jalons clés : réception, préparation, colisage, expédition…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Visualisation des prochaines commandes à préparer (anticipables si charge entrepôt disponible).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1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848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7B40F-0D29-F667-7C85-CA482434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880AB10-B03E-F375-36E4-FEC55D2AA0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/>
              <a:t>EXPEDITION, SUIVI</a:t>
            </a:r>
            <a:br>
              <a:rPr lang="fr-FR" sz="2400"/>
            </a:br>
            <a:r>
              <a:rPr lang="fr-FR" sz="2400"/>
              <a:t>LIVRAISON ET RETOUR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EBBC39-2891-D333-92DA-9B8500D7E3D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37F3D9-10BE-A6EE-BD5E-AD18FBA348E6}"/>
              </a:ext>
            </a:extLst>
          </p:cNvPr>
          <p:cNvSpPr txBox="1"/>
          <p:nvPr/>
        </p:nvSpPr>
        <p:spPr>
          <a:xfrm>
            <a:off x="6390100" y="1897812"/>
            <a:ext cx="534657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gestion des expéditions et des retours.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Préparation et expédition.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Sélection des modes de transport.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Annonce et prise de rendez-vous.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err="1"/>
              <a:t>Tracking</a:t>
            </a:r>
            <a:r>
              <a:rPr lang="fr-FR" sz="1100"/>
              <a:t> et suivi de commande.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 nouveau stock)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638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565F-1891-E268-26FE-7D95004E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5AF54A-1C10-4511-3103-B0F9BB21F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6B7CF6C-92FF-3CC3-C181-1E99A852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Expédition et suivi</a:t>
            </a:r>
            <a:endParaRPr lang="fr-FR"/>
          </a:p>
        </p:txBody>
      </p:sp>
      <p:graphicFrame>
        <p:nvGraphicFramePr>
          <p:cNvPr id="9" name="Tableau 5">
            <a:extLst>
              <a:ext uri="{FF2B5EF4-FFF2-40B4-BE49-F238E27FC236}">
                <a16:creationId xmlns:a16="http://schemas.microsoft.com/office/drawing/2014/main" id="{68B81CDC-DB99-ED1F-9AA8-D7A2CA74E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155935"/>
              </p:ext>
            </p:extLst>
          </p:nvPr>
        </p:nvGraphicFramePr>
        <p:xfrm>
          <a:off x="172173" y="743303"/>
          <a:ext cx="11847655" cy="5360542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Evènements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préparation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et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expédition</a:t>
                      </a:r>
                      <a:endParaRPr lang="en-US" sz="800" b="1" i="0" u="none" strike="noStrike" kern="120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highlight>
                            <a:srgbClr val="FFFF00"/>
                          </a:highlight>
                          <a:latin typeface="+mn-lt"/>
                        </a:rPr>
                        <a:t>Prise en charge d’évènements distincts de préparation et d’expédition de la commande.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highlight>
                            <a:srgbClr val="FFFF00"/>
                          </a:highlight>
                          <a:latin typeface="+mn-lt"/>
                        </a:rPr>
                        <a:t>Gestion de jalons distincts dans le planning de la commande (et son calcul).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129848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Règles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préparation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et mise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expédition</a:t>
                      </a:r>
                      <a:r>
                        <a:rPr lang="en-US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automatiques</a:t>
                      </a:r>
                      <a:endParaRPr lang="en-US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Prise en charge de règles automatiques de préparation et expédition des commandes, multicritère (ex : commande / allocation complète expédition de commande partielle, taux de service minimum…)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Définition de règles au niveau global, stock (plateforme et / ou stock logique), canal, client…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Définition de règles au niveau du type de commande (commande initiale / allocation sur commande d’achat, réassort / allocation sur stock).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05627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800" b="1" i="0" u="none" strike="noStrike" kern="1200" noProof="0">
                          <a:solidFill>
                            <a:schemeClr val="accent1"/>
                          </a:solidFill>
                          <a:latin typeface="+mn-lt"/>
                        </a:rPr>
                        <a:t>Préparation des commandes</a:t>
                      </a:r>
                      <a:endParaRPr lang="en-US" sz="800" b="1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Prise en charge automatisée des traitements d’expédition pour les commandes de vente allouées sur commandes d’achat.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Création des demandes d’expédition correspondant aux commandes de vente, dès réception.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Création et planification des ordres de préparation, dont colisage. 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Planification de l’expédition selon :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 niveau de priorité et les jalons de la commande, en tenant compte des conditions de transport (lead time) aval / client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master data),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 plan de charge / d’activité de la plateforme,</a:t>
                      </a:r>
                    </a:p>
                    <a:p>
                      <a:pPr marL="804863" marR="0" lvl="1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 règles de préparation et mise en expédition automatiques.</a:t>
                      </a:r>
                    </a:p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Prise en charge automatisée des traitements d’expédition pour les commandes de vente allouées sur stocks.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Fonctionnement identique aux commandes de vente allouées sur commandes d’achat, assorti de règles spécifiques.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compte des règles de colisage et optimums logistiques dans la préparation (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commandes de vente et allocations).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327471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expéditions partielles et reliquats de commande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automatique des reliquats de commande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Expédition complète (disponible = expédié) mais commande partiellement servie.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Création automatique des ordres d’expédition à réception / disponibilité du reliquat.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Solde de commande à l’expédition et réception du reliquat par le client.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17872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Mode de livraison et solution de transport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multicritère des modes de livraison en fonction des paramètres de l’expédition : groupage possible, contenant / colisage, dimensions et poids.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Dont marchandise ou colis hors gabarit.</a:t>
                      </a:r>
                      <a:endParaRPr lang="fr-FR" sz="8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Sélection automatique du mode de transport et du prestataire / transitaire, multicritère.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Dont client, paramètres logistiques et détails de l’expédition.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2281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Prise de rendez-vous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workflow de prise de rendez-vous (en lien avec la CRM / le portail client) et permettant de 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communiquer au client un intervalle de date pour la livraison (basé sur les temps de livraison / lead times),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enregistrer et valider (à la commande) la date de livraison validée par le client,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calculer, préparer et organiser l’expédition et l’enlèvement,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communiquer au transporteur l’ensemble des éléments et demander l’enlèvement.</a:t>
                      </a:r>
                      <a:endParaRPr lang="fr-FR" sz="8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62036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Annonce d’expédition 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Génération automatique d’une annonce d’expédition lors de la préparation de l’envoi.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d’une date de livraison estimée, basée sur les conditions de livraison (lead time) et les modalités de livraison et de transport.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 de l’annonce aux coordonnées spécifiées par le client, en lien avec les informations communiquées par le prestataire (par interface entrante).</a:t>
                      </a:r>
                      <a:endParaRPr lang="fr-FR" sz="800" b="0" i="0" u="none" strike="noStrike" kern="1200" noProof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39088"/>
                  </a:ext>
                </a:extLst>
              </a:tr>
              <a:tr h="26915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endParaRPr lang="fr-FR" sz="800" b="1" i="0" u="none" strike="noStrike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Intégration à la commande des informations de </a:t>
                      </a:r>
                      <a:r>
                        <a:rPr lang="fr-FR" sz="800" b="0" i="0" u="none" strike="noStrike" kern="1200" noProof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communiquées par le prestataire (par interface entrante).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et suivi des flux et évènements de livraison</a:t>
                      </a: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94718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 SMU</a:t>
                      </a:r>
                      <a:b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crossdock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dropship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800" b="1" i="0" u="none" strike="noStrike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eCommerce</a:t>
                      </a:r>
                      <a:r>
                        <a:rPr lang="fr-FR" sz="800" b="1" i="0" u="none" strike="noStrike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commandes SMU et de règles de traitement, préparation et expédition spécifiques (</a:t>
                      </a:r>
                      <a:r>
                        <a:rPr lang="fr-FR" sz="800" b="0" i="0" u="none" strike="noStrike" kern="1200" noProof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gestion des commandes d’achat).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Réception commande d’achat spécifique.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Traitement paramètres de mise en expédition.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Courier New,monospace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</a:rPr>
                        <a:t>Pas de rupture de flux, </a:t>
                      </a: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intégrité de la commande de vente et de la commande d’achat conservées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Font typeface="Arial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Gestion de paramètres logistiques spécifiques.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329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897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F262-350B-0E83-BDFB-98CBEB06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9F3F29-B90B-947A-D7F3-865F2E28E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</a:t>
            </a:r>
            <a:endParaRPr lang="en-US"/>
          </a:p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E316530-95CD-EF48-905F-D5EA752D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Livraison et retours</a:t>
            </a:r>
            <a:endParaRPr lang="en-US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152F8DF7-83D7-F22E-4827-304100DA7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348931"/>
              </p:ext>
            </p:extLst>
          </p:nvPr>
        </p:nvGraphicFramePr>
        <p:xfrm>
          <a:off x="172173" y="803125"/>
          <a:ext cx="11847655" cy="3284149"/>
        </p:xfrm>
        <a:graphic>
          <a:graphicData uri="http://schemas.openxmlformats.org/drawingml/2006/table">
            <a:tbl>
              <a:tblPr/>
              <a:tblGrid>
                <a:gridCol w="4062478">
                  <a:extLst>
                    <a:ext uri="{9D8B030D-6E8A-4147-A177-3AD203B41FA5}">
                      <a16:colId xmlns:a16="http://schemas.microsoft.com/office/drawing/2014/main" val="3909613579"/>
                    </a:ext>
                  </a:extLst>
                </a:gridCol>
                <a:gridCol w="7785177">
                  <a:extLst>
                    <a:ext uri="{9D8B030D-6E8A-4147-A177-3AD203B41FA5}">
                      <a16:colId xmlns:a16="http://schemas.microsoft.com/office/drawing/2014/main" val="1041515623"/>
                    </a:ext>
                  </a:extLst>
                </a:gridCol>
              </a:tblGrid>
              <a:tr h="235189">
                <a:tc>
                  <a:txBody>
                    <a:bodyPr/>
                    <a:lstStyle/>
                    <a:p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Réception client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525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Intégration à la commande des informations de réception client, communiquées par le prestataire (par interface entrante).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86074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fr-FR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réceptions partielles et reliquats de livraison</a:t>
                      </a:r>
                      <a:br>
                        <a:rPr lang="fr-FR" sz="800" b="1" i="0" u="none" strike="noStrike" kern="1200" dirty="0">
                          <a:solidFill>
                            <a:srgbClr val="6E8DFF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i="0" u="none" strike="noStrike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(+ livraisons en souffrance)</a:t>
                      </a: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automatique des reliquats de livraison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Intégration du reste-à-livrer, à la commande, communiqué par le prestataire.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Envoi automatique d’une nouvelle 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aux coordonnées spécifiées par le client, en lien avec les informations communiquées par le prestataire (par interface entrante).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à jour des informations de 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communiquées par le prestataire (interface entrante).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des livraisons en souffrance, dans un fonctionnement comparable. </a:t>
                      </a:r>
                      <a:endParaRPr lang="fr-FR" sz="8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14400" marB="144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071194"/>
                  </a:ext>
                </a:extLst>
              </a:tr>
              <a:tr h="410782">
                <a:tc>
                  <a:txBody>
                    <a:bodyPr/>
                    <a:lstStyle/>
                    <a:p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des retours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des flux retours magasins avec critères de traitement en réception / stock, en lien avec la gestion des unités de colisage et de regroupement.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Réception et enregistrement du retour.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et planification de l’ordre d’enlèvement.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Sélection de l’entrepôt de retour et du prestataire, selon les paramètres logistiques définis.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Annonce d’enlèvement adressée au client, en lien avec les informations fournies par le prestataire (interface entrante).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Annonce entrepôt destinataire et 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comparables à un flux d’expédition.</a:t>
                      </a:r>
                      <a:endParaRPr lang="fr-FR" sz="8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de la réception en entrepôt.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Transmission des données transactionnelles à l‘ADV et à la Finance, pour émission des avoirs / factures.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8136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des retours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Clr>
                          <a:srgbClr val="252525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de règles spécifiques et multicritères de valorisation des retours 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ADV, finance et Comptabilité).</a:t>
                      </a:r>
                      <a:endParaRPr lang="fr-FR" sz="8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 rtl="0" eaLnBrk="1" latinLnBrk="0" hangingPunct="1">
                        <a:buClr>
                          <a:srgbClr val="252525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ADV /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facturation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charge de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décote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sur les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produits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retournés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et </a:t>
                      </a:r>
                      <a:r>
                        <a:rPr lang="en-US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remboursés</a:t>
                      </a:r>
                      <a:r>
                        <a:rPr lang="en-US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Notamment les articles vendus en packs (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ADV, finance et Comptabilité).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26515"/>
                  </a:ext>
                </a:extLst>
              </a:tr>
              <a:tr h="527319">
                <a:tc>
                  <a:txBody>
                    <a:bodyPr/>
                    <a:lstStyle/>
                    <a:p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Transfert d’Articles retournés vers un autre client</a:t>
                      </a:r>
                      <a:br>
                        <a:rPr lang="fr-FR" sz="800" b="1" kern="1200" dirty="0">
                          <a:solidFill>
                            <a:srgbClr val="6E8DFF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(= transfert de commandes)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buClr>
                          <a:srgbClr val="252525"/>
                        </a:buClr>
                        <a:buSzTx/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de mouvements de transfert d’une commande client A – faisant l’objet d’un retour - à une autre commande B – à livrer -.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Réception et enregistrement du retour A.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et planification de l’ordre d’enlèvement A depuis l’adresse client.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d’un ordre d’expédition de la commande B.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Sélection du prestataire selon les paramètres logistiques prédéfinis.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Annonces d’enlèvement et d’expédition adressées aux clients, en lien avec les informations fournies par le prestataire (interface entrante).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1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964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A35A-0E6D-D827-B70B-CD216E90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52B5D74-3D7F-DDA2-D8B7-633C42600F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400"/>
              <a:t>ADV</a:t>
            </a:r>
            <a:br>
              <a:rPr lang="fr-FR" sz="2400"/>
            </a:br>
            <a:r>
              <a:rPr lang="fr-FR" sz="2400"/>
              <a:t>FINANCE ET COMPTABILITE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294A17-17A9-A877-4FC4-455A3CAFA9A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ADE165E-C5B3-4E65-70DF-71AD4D008AC1}"/>
              </a:ext>
            </a:extLst>
          </p:cNvPr>
          <p:cNvSpPr txBox="1"/>
          <p:nvPr/>
        </p:nvSpPr>
        <p:spPr>
          <a:xfrm>
            <a:off x="6390100" y="1897812"/>
            <a:ext cx="534657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/>
              <a:t>Cette section recense les besoins relatifs à la facturation et aux aspects Finance et Comptabilité, en lien direct avec les opérations Achat et Vente.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Facturation automatique.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Proforma et </a:t>
            </a:r>
            <a:r>
              <a:rPr lang="fr-FR" sz="1100" err="1"/>
              <a:t>pré-facture</a:t>
            </a:r>
            <a:r>
              <a:rPr lang="fr-FR" sz="1100"/>
              <a:t>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Stocks consignés, facturation ventes et écarts.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Valorisation des retours.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Facturation PLV.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Rapprochement et DEB.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i="1"/>
              <a:t>A noter : certains besoins très standards (ex : création d’une facture manuelle) ne sont pas détaillés car évidents.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FR" sz="1100" b="1" kern="12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11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Contenu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/>
              <a:t>Tableau de synthèse des besoins.</a:t>
            </a:r>
            <a:endParaRPr lang="fr-FR" sz="1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994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C5EBCD-D144-90B8-B958-2CE5FC5182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21E1491-E4C5-0216-71BE-8CA5BFAE8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377405"/>
              </p:ext>
            </p:extLst>
          </p:nvPr>
        </p:nvGraphicFramePr>
        <p:xfrm>
          <a:off x="206282" y="904765"/>
          <a:ext cx="11847655" cy="4943040"/>
        </p:xfrm>
        <a:graphic>
          <a:graphicData uri="http://schemas.openxmlformats.org/drawingml/2006/table">
            <a:tbl>
              <a:tblPr/>
              <a:tblGrid>
                <a:gridCol w="4056927">
                  <a:extLst>
                    <a:ext uri="{9D8B030D-6E8A-4147-A177-3AD203B41FA5}">
                      <a16:colId xmlns:a16="http://schemas.microsoft.com/office/drawing/2014/main" val="996009139"/>
                    </a:ext>
                  </a:extLst>
                </a:gridCol>
                <a:gridCol w="7790728">
                  <a:extLst>
                    <a:ext uri="{9D8B030D-6E8A-4147-A177-3AD203B41FA5}">
                      <a16:colId xmlns:a16="http://schemas.microsoft.com/office/drawing/2014/main" val="2897059592"/>
                    </a:ext>
                  </a:extLst>
                </a:gridCol>
              </a:tblGrid>
              <a:tr h="11028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Gestion CGV et bon de commande</a:t>
                      </a:r>
                      <a:endParaRPr lang="en-US" sz="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buFont typeface="Arial" panose="020B0604020202020204" pitchFamily="34" charset="0"/>
                        <a:buNone/>
                      </a:pPr>
                      <a:r>
                        <a:rPr lang="fr-FR" sz="800" b="0" i="0" u="sng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En lien avec la CRM / front-office client et un processus d’acceptation des CGV (à chaque commande ou sur une période donnée) et/ ou d’un bon de commande.</a:t>
                      </a:r>
                    </a:p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d’un champ « GCV acceptées » :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Scénario 1 : validé / activé à chaque commande, via le processus de création de création de la commande,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Scénario 2 : géré au niveau de la fiche client, pour une période de validité donnée.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conditionner la validation de la commande et / ou de l’allocation à l’activation / la validité d’un champ :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CGV,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bon de commande. 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processus de signature électronique des CGV et du bon de commande, permettant :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d’activer les champs requis pour la commande ou la période de validité prévue (CGV),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valider la création de la commande, si conditions remplies.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441073"/>
                  </a:ext>
                </a:extLst>
              </a:tr>
              <a:tr h="12069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Données de commande nécessaires à la facturation</a:t>
                      </a:r>
                      <a:endParaRPr lang="en-US" sz="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Prise en charge des informations nécessaires à l’établissement des factures, et envoi vers SAP FICO.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 niveau de la commande, notamment :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produits (dont </a:t>
                      </a:r>
                      <a:r>
                        <a:rPr lang="fr-FR" sz="800" b="0" i="1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upcharges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VAS et prestations complémentaires), quantités, prix unitaires et prix totaux à la ligne de commande,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opérations promotionnelles (en déduction des prix unitaires, quantités ou prix totaux,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remises / conditions contractuelles calculées et appliquées à la commande.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 niveau client, notamment: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remises / conditions contractuelles sur facture / pied de facture,</a:t>
                      </a:r>
                    </a:p>
                    <a:p>
                      <a:pPr marL="98742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calculées automatiquement ou manuellement à l’aide de rapports adaptés, et saisies (cf. Master Data),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template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 facture : informations complètes, dont propres à un client / une typologie (ex : QR code pour Espagne),</a:t>
                      </a:r>
                    </a:p>
                    <a:p>
                      <a:pPr marL="804545" marR="0" lvl="1" indent="-17907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devise de facturation (et de 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pricing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conditionner l’envoi automatique des données transactionnelles en facturation à des évènements opérationnels (expédition, réception).</a:t>
                      </a:r>
                      <a:endParaRPr lang="fr-FR" sz="8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40932"/>
                  </a:ext>
                </a:extLst>
              </a:tr>
              <a:tr h="3739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Facturation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automatique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magasins</a:t>
                      </a:r>
                      <a:endParaRPr lang="en-US" sz="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automatique de la facturation magasin (commandes de MEP et réassort) conditionné aux évènements opérationnels (expédition de commande, réception de la commande par le magasin…).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 des données transactionnelles et nécessaire à la facture vers SAP FICO.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735383"/>
                  </a:ext>
                </a:extLst>
              </a:tr>
              <a:tr h="2737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Facturation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automatique</a:t>
                      </a: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des clients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automatique de la facturation client conditionné aux évènements opérationnels (expédition de commande, réception de la commande…).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 des données transactionnelles et nécessaires à la facture vers SAP FICO.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11457"/>
                  </a:ext>
                </a:extLst>
              </a:tr>
              <a:tr h="5821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Annexes et documents </a:t>
                      </a:r>
                      <a:r>
                        <a:rPr lang="en-US" sz="8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additionnels</a:t>
                      </a:r>
                      <a:endParaRPr lang="en-US" sz="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Possibilité de générer des reports (standards ou prédéfinis) en annexe des factures :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Automatiquement, via un paramétrage des règles d’édition,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demande,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 un périmètre de données cohérent à celui de la facture (ex : liste des commandes et lignes de commandes pour le client sur la période).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générer des documents complémentaires (standards / fixes) non inclus dans le 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template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formulaire de la facture.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817081"/>
                  </a:ext>
                </a:extLst>
              </a:tr>
              <a:tr h="686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Editique et envoi de facture</a:t>
                      </a:r>
                      <a:endParaRPr lang="en-US" sz="8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automatique, vers SAP FICO, des données nécessaires à l’édition de factures physiques et électroniques.</a:t>
                      </a:r>
                    </a:p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Récupération et stockage des factures générées par SAP FICO au niveau de chaque commande (document complet ou lien / champ d’accès).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Enregistrement du N° de facture pour chaque commande.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Stockage des PDF et documents électroniques générés.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des regroupements de factures (une facture = plusieurs commandes).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Nota : prévoir l’envoi plutôt vers PDP dans cadre de </a:t>
                      </a:r>
                      <a:r>
                        <a:rPr lang="fr-FR" sz="800" b="0" i="0" u="none" strike="noStrike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démat</a:t>
                      </a:r>
                      <a:r>
                        <a:rPr lang="fr-FR" sz="8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facture 2026</a:t>
                      </a:r>
                      <a:endParaRPr lang="fr-FR" sz="8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8226"/>
                  </a:ext>
                </a:extLst>
              </a:tr>
            </a:tbl>
          </a:graphicData>
        </a:graphic>
      </p:graphicFrame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BB5DD3BD-5B1C-7348-AB51-7E9488CED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(1/3) </a:t>
            </a:r>
            <a:endParaRPr lang="en-US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id="{87F551C5-3142-8B09-B5AC-B3D91862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adv, finance et comptabilité : vente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4779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4212-66CD-ECF9-1068-66AA37CA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651896-B1B1-903E-1511-61721B2B76C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61176C0-F936-E375-F3EA-FA6FB01B1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24545"/>
              </p:ext>
            </p:extLst>
          </p:nvPr>
        </p:nvGraphicFramePr>
        <p:xfrm>
          <a:off x="206282" y="904765"/>
          <a:ext cx="11847655" cy="5416800"/>
        </p:xfrm>
        <a:graphic>
          <a:graphicData uri="http://schemas.openxmlformats.org/drawingml/2006/table">
            <a:tbl>
              <a:tblPr/>
              <a:tblGrid>
                <a:gridCol w="4056927">
                  <a:extLst>
                    <a:ext uri="{9D8B030D-6E8A-4147-A177-3AD203B41FA5}">
                      <a16:colId xmlns:a16="http://schemas.microsoft.com/office/drawing/2014/main" val="996009139"/>
                    </a:ext>
                  </a:extLst>
                </a:gridCol>
                <a:gridCol w="7790728">
                  <a:extLst>
                    <a:ext uri="{9D8B030D-6E8A-4147-A177-3AD203B41FA5}">
                      <a16:colId xmlns:a16="http://schemas.microsoft.com/office/drawing/2014/main" val="2897059592"/>
                    </a:ext>
                  </a:extLst>
                </a:gridCol>
              </a:tblGrid>
              <a:tr h="635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Proforma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pré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-facture –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édition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Possibilité d’éditer des proforma :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automatiquement, sous conditions et associées à un évènement,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à la demande.</a:t>
                      </a:r>
                    </a:p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d’éditer manuellement une facture sur la base des informations de la commande (pour passage en douane notamment).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Sans contournement du processus</a:t>
                      </a:r>
                    </a:p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de regroupement pour proforma et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pré-factures</a:t>
                      </a:r>
                      <a:endParaRPr lang="fr-FR" sz="8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77880"/>
                  </a:ext>
                </a:extLst>
              </a:tr>
              <a:tr h="442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Proforma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pré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-facture –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règles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valorisation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pour articles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spécifiques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de valorisation spécifiques.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standard (idem facture classique).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 des articles à prix nul : valorisation à l’équivalent prix de l’article standard correspondant, remise à 100%.</a:t>
                      </a:r>
                    </a:p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Déclenchement / application multicritère de ces règles de valorisation.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858970"/>
                  </a:ext>
                </a:extLst>
              </a:tr>
              <a:tr h="260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Déclaration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passage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douane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vers les systèmes de partenaires tiers / externes (via interface) de toutes les données nécessaires aux passages en douane (issues du référentiel).</a:t>
                      </a:r>
                    </a:p>
                    <a:p>
                      <a:pPr marL="171450" lvl="0" indent="-171450" algn="l" defTabSz="914400" rtl="0" eaLnBrk="1" fontAlgn="base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d’appliquer des règles de valorisation spécifiques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« proforma et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pré-facture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» dans cette section).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591768"/>
                  </a:ext>
                </a:extLst>
              </a:tr>
              <a:tr h="442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Credit check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blocage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client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Possibilité de remonter au niveau du compte client « opérationnel » et des commandes, les factures impayées / créances (compte 411) pour prise en compte :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dans le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lors du calcul des allocations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« allocations »),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 critère de blocage des allocations et des commandes (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« allocations »),</a:t>
                      </a:r>
                    </a:p>
                    <a:p>
                      <a:pPr marL="628650" lvl="1" indent="-171450" algn="l" defTabSz="914400" rtl="0" eaLnBrk="1" fontAlgn="base" latinLnBrk="0" hangingPunct="1">
                        <a:buFont typeface="Courier New"/>
                        <a:buChar char="o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définir des règles de blocage adaptées : commandes ciblées, commandes à partir d’une date, toutes commandes dont en cours…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404294"/>
                  </a:ext>
                </a:extLst>
              </a:tr>
              <a:tr h="60682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Facturation automatique stocks consignés / déportés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Intégration des rapports de vente liés aux stocks consignés chez le client.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Création de commandes, facturables, sur la base des rapports de vente.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Font typeface="Arial,Sans-Serif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Traitement automatique des écarts de stock, à réception / retour des stocks consignés. </a:t>
                      </a:r>
                    </a:p>
                    <a:p>
                      <a:pPr marL="171450" marR="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des mouvements à facturer – ventes et écarts de stocks – et envoi des données transactionnelles – objet, quantité, prix – à facturer.</a:t>
                      </a:r>
                    </a:p>
                    <a:p>
                      <a:pPr marL="171450" marR="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 automatique de commissionnement sur base chiffre d’affaires (calculé à partir des rapports de vente) et facturation dédiée =&gt; processus calcul de commande 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441073"/>
                  </a:ext>
                </a:extLst>
              </a:tr>
              <a:tr h="4140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des retours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Clr>
                          <a:srgbClr val="252525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règles spécifiques et multicritères de valorisation des retours.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Décote des produits retournés.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Workflow et règles spécifiques aux commandes contenant des packs, avec possibilité d’ajuster le prix de l’article retourné au prorata du prix du pack (ex : 3 t-shirts à 10 € / pièce vendus en pack à 25 €, soit un avoir client de 8,34 € pour un t-shirt retourné).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40932"/>
                  </a:ext>
                </a:extLst>
              </a:tr>
              <a:tr h="41403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et facturation défectueux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motifs de retour « défectueux » permettant d’appliquer 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 règles particulières d’entrée en stock et de valorisation stock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 calcul d’avoirs correspondants</a:t>
                      </a:r>
                    </a:p>
                    <a:p>
                      <a:pPr marL="171450" marR="0" lvl="1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de gérer passage en « défectueux » post-entrée en stock (entrée en stock classique puis bascule en défectueux =&gt; peut déclencher avoir).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08681"/>
                  </a:ext>
                </a:extLst>
              </a:tr>
              <a:tr h="41403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Régularisation des pré-commandes / commandes ouvertes / contrats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d’identifier automatiquement les contrats / commandes ouvertes non-honorés en totalité (quantité du contrat initial &gt; somme des quantités commandées et défalquées de la commande ouverte) comme « commandes à facturer ». </a:t>
                      </a:r>
                    </a:p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Transmettre automatiquement (selon un calendrier défini et des conditions contractuelles portées par le compte client) ou sur déclenchement manuel, l’envoi des données de commande en facturation.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817081"/>
                  </a:ext>
                </a:extLst>
              </a:tr>
              <a:tr h="31764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Remises et conditions commerciales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 conditions commerciales et conditions de remises à la commande et sur facture (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master data).</a:t>
                      </a:r>
                    </a:p>
                    <a:p>
                      <a:pPr marL="171450" indent="-1714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d’états de </a:t>
                      </a:r>
                      <a:r>
                        <a:rPr lang="fr-FR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permettant de préparer ou contrôler la bonne application de ces remises : commandes clients, montants des factures et avoirs (pour calcul du CA), quantités cumulées par modèle, groupe, catégorie de produits…</a:t>
                      </a:r>
                    </a:p>
                  </a:txBody>
                  <a:tcPr marL="72000" marR="72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8226"/>
                  </a:ext>
                </a:extLst>
              </a:tr>
              <a:tr h="346108"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fr-FR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Intercos</a:t>
                      </a:r>
                      <a:endParaRPr lang="en-US" sz="1600">
                        <a:latin typeface="+mn-lt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automatique de règles d’intercos (transactions et mouvements concernés).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Envoi automatique des données transactionnelles et nécessaires à la facture vers SAP FICO.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règles de valorisation spécifiques (pouvant varier d’une entité / d’un flux / d’un évènement à l‘autre).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03778"/>
                  </a:ext>
                </a:extLst>
              </a:tr>
            </a:tbl>
          </a:graphicData>
        </a:graphic>
      </p:graphicFrame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FBE16D0F-1C9B-2450-9EFB-651D83EF7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(2/3) </a:t>
            </a:r>
            <a:endParaRPr lang="en-US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id="{0D37C3B8-26BE-399B-CBCC-4BA0C37A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adv, finance et comptabilité : vente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27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10E0-0EC8-107F-8DF8-A341DF17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785FC0-3B7E-4B71-7824-EB07AC719C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8C45F5E-C7AA-BBD2-ABBB-67B44F6A5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89076"/>
              </p:ext>
            </p:extLst>
          </p:nvPr>
        </p:nvGraphicFramePr>
        <p:xfrm>
          <a:off x="206282" y="904765"/>
          <a:ext cx="11847655" cy="1623360"/>
        </p:xfrm>
        <a:graphic>
          <a:graphicData uri="http://schemas.openxmlformats.org/drawingml/2006/table">
            <a:tbl>
              <a:tblPr/>
              <a:tblGrid>
                <a:gridCol w="4056927">
                  <a:extLst>
                    <a:ext uri="{9D8B030D-6E8A-4147-A177-3AD203B41FA5}">
                      <a16:colId xmlns:a16="http://schemas.microsoft.com/office/drawing/2014/main" val="996009139"/>
                    </a:ext>
                  </a:extLst>
                </a:gridCol>
                <a:gridCol w="7790728">
                  <a:extLst>
                    <a:ext uri="{9D8B030D-6E8A-4147-A177-3AD203B41FA5}">
                      <a16:colId xmlns:a16="http://schemas.microsoft.com/office/drawing/2014/main" val="2897059592"/>
                    </a:ext>
                  </a:extLst>
                </a:gridCol>
              </a:tblGrid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PLV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produits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non textiles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conditions de prix unitaires / au client sur articles PLV et non textiles =&gt; gratuits ou non, possibilité de gratuité partielle (ex : premiers articles / première commande gratuite, articles / commandes complémentaires facturés).</a:t>
                      </a:r>
                    </a:p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Prestation d’abonnement mensuel (géré dans référentiel produit et grilles de prix Client), facturé automatiquement tous les mois.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Produits PLV commandés dans le cadre de l’abonnement valorisés à 0.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Prévoir des règles de valorisation de commande particulières sur produits hors abonnement.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857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Inventaires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magasins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calcul automatique de la pénalité pour « écart d’inventaire », à partir des écarts déclarés et de règles de valorisation spécifiques.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41657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Provisions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automatiques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Génération automatique des provisions comptables de vente, corrélées aux transactions et évènements opérationnels.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Dont jalons / statut et évènements de de commande (ex : FAE générées à la validation de la commande).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Purge automatique des montants provisionnés pour la commande, lors de la création et de l’envoi de la facture de vente au client.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447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Déclaration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d’Echange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Biens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extraction / d’un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 transactions d’achat et de vente formaté aux exigences de la DEB.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921734"/>
                  </a:ext>
                </a:extLst>
              </a:tr>
            </a:tbl>
          </a:graphicData>
        </a:graphic>
      </p:graphicFrame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860FC60-CB89-0368-14FB-BEEB94E45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(3/3) </a:t>
            </a:r>
            <a:endParaRPr lang="en-US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id="{2D0C0909-9046-3E58-8AD3-BEE05CC9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adv, finance et comptabilité : vente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9963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E376-5788-1581-4BF6-984B59F0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AAAA6E2-53CD-BB6D-4BFF-A28C9BF0C4C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FC93962-0872-717D-0103-9FDF8BB6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85450"/>
              </p:ext>
            </p:extLst>
          </p:nvPr>
        </p:nvGraphicFramePr>
        <p:xfrm>
          <a:off x="206282" y="904765"/>
          <a:ext cx="11847655" cy="2373792"/>
        </p:xfrm>
        <a:graphic>
          <a:graphicData uri="http://schemas.openxmlformats.org/drawingml/2006/table">
            <a:tbl>
              <a:tblPr/>
              <a:tblGrid>
                <a:gridCol w="4056927">
                  <a:extLst>
                    <a:ext uri="{9D8B030D-6E8A-4147-A177-3AD203B41FA5}">
                      <a16:colId xmlns:a16="http://schemas.microsoft.com/office/drawing/2014/main" val="996009139"/>
                    </a:ext>
                  </a:extLst>
                </a:gridCol>
                <a:gridCol w="7790728">
                  <a:extLst>
                    <a:ext uri="{9D8B030D-6E8A-4147-A177-3AD203B41FA5}">
                      <a16:colId xmlns:a16="http://schemas.microsoft.com/office/drawing/2014/main" val="2897059592"/>
                    </a:ext>
                  </a:extLst>
                </a:gridCol>
              </a:tblGrid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Rapprochement facture et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d’achat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de règles automatiques de rapprochement, dont seuil de tolérance (rapprochement et paiement automatiques si écart &lt;X% / X pièces / X €).</a:t>
                      </a:r>
                    </a:p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Possibilité de définir des seuils de rapprochement et de blocage (ex : seuil 1 = rapprochement et paiement automatiques, seuil 2 = rapprochement et paiement sur validation manuelle, seuil 3 = rejet…).</a:t>
                      </a:r>
                    </a:p>
                    <a:p>
                      <a:pPr marL="171450" lvl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</a:rPr>
                        <a:t>Prise en charge du rapprochement automatique de multiples commandes et factures : factures partielles (plusieurs factures par commande), regroupement de commandes (une facture pour X commandes).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85760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Pénalités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fournisseurs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de différents types de calculs de pénalités fournisseurs (dont remises sur prix d’achat).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 workflow de demandes, saisie / rattachement à la commande, et comptabilisation d’avoir,  en lien avec CBS (portail fournisseur).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d’ajouter / de gérer des pénalités fournisseurs directement sur une commande d’achat.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Notamment des remises sur prix d’achat.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41657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Provisions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automatiques</a:t>
                      </a:r>
                      <a:endParaRPr lang="en-US" sz="800" b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Génération automatique des provisions comptables d’achat, corrélées aux transactions et évènements opérationnels.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Courier New,monospace"/>
                        <a:buChar char="o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Dont jalons / statut et évènements de de commande (ex : FAR générées à la création / à l’expédition / à la remise au transitaire de la commande).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Purge automatique des montants provisionnés pour la commande, lors du rapprochement de la facture fournisseur et de la commande d’achat.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3929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Etat de reporting “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commandes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et factures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rapprochées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Possibilité d’éditer un état des commandes et factures rapprochées (dont N°, détails et écarts éventuels), général ou ciblé.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804093"/>
                  </a:ext>
                </a:extLst>
              </a:tr>
              <a:tr h="34737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Déclaration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d’Echange</a:t>
                      </a:r>
                      <a:r>
                        <a:rPr lang="en-US" sz="8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de Biens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"/>
                        </a:spcBef>
                        <a:spcAft>
                          <a:spcPts val="3"/>
                        </a:spcAft>
                        <a:buClr>
                          <a:srgbClr val="252525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Prise en charge d’une extraction / d’un </a:t>
                      </a:r>
                      <a:r>
                        <a:rPr lang="fr-FR" sz="800" b="0" i="0" u="none" strike="noStrike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8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 transactions d’achat et de vente formaté aux exigences de la DEB.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717266"/>
                  </a:ext>
                </a:extLst>
              </a:tr>
            </a:tbl>
          </a:graphicData>
        </a:graphic>
      </p:graphicFrame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B92C7E6C-7A3C-6FF8-5C45-732E6683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501449"/>
            <a:ext cx="11177364" cy="312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Noto Sans"/>
                <a:ea typeface="Noto Sans"/>
                <a:cs typeface="Noto Sans"/>
              </a:rPr>
              <a:t>Synthèse des besoins </a:t>
            </a:r>
            <a:endParaRPr lang="en-US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id="{B2D1ACDB-61E2-B8A9-D598-79CF9E88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198428"/>
            <a:ext cx="10846555" cy="348557"/>
          </a:xfrm>
        </p:spPr>
        <p:txBody>
          <a:bodyPr/>
          <a:lstStyle/>
          <a:p>
            <a:r>
              <a:rPr lang="fr-FR">
                <a:latin typeface="Plus Jakarta Sans"/>
              </a:rPr>
              <a:t>adv, finance et comptabilité : achat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7139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0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252525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76.79999,&quot;MarginTop&quot;:86.4,&quot;MarginBottom&quot;:21.599975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6E8D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6E8D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Synvance">
  <a:themeElements>
    <a:clrScheme name="Synvance 2">
      <a:dk1>
        <a:srgbClr val="252525"/>
      </a:dk1>
      <a:lt1>
        <a:srgbClr val="FFFFFF"/>
      </a:lt1>
      <a:dk2>
        <a:srgbClr val="464554"/>
      </a:dk2>
      <a:lt2>
        <a:srgbClr val="ABA8BA"/>
      </a:lt2>
      <a:accent1>
        <a:srgbClr val="6E8DFF"/>
      </a:accent1>
      <a:accent2>
        <a:srgbClr val="19094C"/>
      </a:accent2>
      <a:accent3>
        <a:srgbClr val="C46D70"/>
      </a:accent3>
      <a:accent4>
        <a:srgbClr val="5B0236"/>
      </a:accent4>
      <a:accent5>
        <a:srgbClr val="07B096"/>
      </a:accent5>
      <a:accent6>
        <a:srgbClr val="0C474E"/>
      </a:accent6>
      <a:hlink>
        <a:srgbClr val="AAB8F9"/>
      </a:hlink>
      <a:folHlink>
        <a:srgbClr val="4168FF"/>
      </a:folHlink>
    </a:clrScheme>
    <a:fontScheme name="Synvance">
      <a:majorFont>
        <a:latin typeface="Plus Jakarta Sans ExtraBold"/>
        <a:ea typeface=""/>
        <a:cs typeface=""/>
      </a:majorFont>
      <a:minorFont>
        <a:latin typeface="Noto San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marL="171450" indent="-171450" algn="l">
          <a:spcAft>
            <a:spcPts val="600"/>
          </a:spcAft>
          <a:buFont typeface="Arial" panose="020B0604020202020204" pitchFamily="34" charset="0"/>
          <a:buChar char="•"/>
          <a:defRPr sz="1000" b="1" dirty="0">
            <a:solidFill>
              <a:srgbClr val="1A1C30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Synvance" id="{075BF9B7-20BB-5D42-A70B-80D911AB02C8}" vid="{2F837936-2802-C644-B0EB-A5EF0CDCE7DF}"/>
    </a:ext>
  </a:extLst>
</a:theme>
</file>

<file path=ppt/theme/theme2.xml><?xml version="1.0" encoding="utf-8"?>
<a:theme xmlns:a="http://schemas.openxmlformats.org/drawingml/2006/main" name="Custom Design">
  <a:themeElements>
    <a:clrScheme name="SYNVANCE">
      <a:dk1>
        <a:srgbClr val="221F20"/>
      </a:dk1>
      <a:lt1>
        <a:srgbClr val="FFFFFF"/>
      </a:lt1>
      <a:dk2>
        <a:srgbClr val="221F20"/>
      </a:dk2>
      <a:lt2>
        <a:srgbClr val="E9E7E8"/>
      </a:lt2>
      <a:accent1>
        <a:srgbClr val="00AABA"/>
      </a:accent1>
      <a:accent2>
        <a:srgbClr val="1A1C30"/>
      </a:accent2>
      <a:accent3>
        <a:srgbClr val="C3E354"/>
      </a:accent3>
      <a:accent4>
        <a:srgbClr val="28ABEB"/>
      </a:accent4>
      <a:accent5>
        <a:srgbClr val="DEFCBD"/>
      </a:accent5>
      <a:accent6>
        <a:srgbClr val="5EC380"/>
      </a:accent6>
      <a:hlink>
        <a:srgbClr val="96ADE3"/>
      </a:hlink>
      <a:folHlink>
        <a:srgbClr val="000000"/>
      </a:folHlink>
    </a:clrScheme>
    <a:fontScheme name="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17DD25454FB4695523AD6FA678BBB" ma:contentTypeVersion="10" ma:contentTypeDescription="Crée un document." ma:contentTypeScope="" ma:versionID="7c43f41f86e7546b4d3ba82341572db5">
  <xsd:schema xmlns:xsd="http://www.w3.org/2001/XMLSchema" xmlns:xs="http://www.w3.org/2001/XMLSchema" xmlns:p="http://schemas.microsoft.com/office/2006/metadata/properties" xmlns:ns2="b152b8e2-9a73-4d1a-bc18-96b00c72b20e" targetNamespace="http://schemas.microsoft.com/office/2006/metadata/properties" ma:root="true" ma:fieldsID="0d2f2917f793e56c6eb3b974b0b7a2c6" ns2:_="">
    <xsd:import namespace="b152b8e2-9a73-4d1a-bc18-96b00c72b2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2b8e2-9a73-4d1a-bc18-96b00c72b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6c682836-369b-4e42-b53b-c78136b0ce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52b8e2-9a73-4d1a-bc18-96b00c72b20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B1EF71-3776-4C2E-8F1E-448E98247C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411AFE-5760-4F91-963E-2072DDD3CB0A}"/>
</file>

<file path=customXml/itemProps3.xml><?xml version="1.0" encoding="utf-8"?>
<ds:datastoreItem xmlns:ds="http://schemas.openxmlformats.org/officeDocument/2006/customXml" ds:itemID="{85FBE15E-1F0F-45B5-8C23-0E4037C5660F}">
  <ds:schemaRefs>
    <ds:schemaRef ds:uri="4b2286ec-93ee-4386-b48e-4fc3740a1d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17183</Words>
  <Application>Microsoft Office PowerPoint</Application>
  <PresentationFormat>Widescreen</PresentationFormat>
  <Paragraphs>1649</Paragraphs>
  <Slides>45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Synvance</vt:lpstr>
      <vt:lpstr>Custom Design</vt:lpstr>
      <vt:lpstr>CADRAGE ERP Achat / VENTE </vt:lpstr>
      <vt:lpstr>Les objectifs de l’étude</vt:lpstr>
      <vt:lpstr>INTRODUCTION à la synthèse</vt:lpstr>
      <vt:lpstr>Le périmètre couvert par l’ERP</vt:lpstr>
      <vt:lpstr>Sommaire </vt:lpstr>
      <vt:lpstr>PowerPoint Presentation</vt:lpstr>
      <vt:lpstr>DONNÉES RÉFÉRENTIELLES</vt:lpstr>
      <vt:lpstr>DONNÉES RÉFÉRENTIELLES</vt:lpstr>
      <vt:lpstr>DONNÉES RÉFÉRENTIELLES</vt:lpstr>
      <vt:lpstr>DONNÉES RÉFÉRENTIELLES</vt:lpstr>
      <vt:lpstr>PowerPoint Presentation</vt:lpstr>
      <vt:lpstr>SAISONS, PERMANENTS ET CARRY-OVERS</vt:lpstr>
      <vt:lpstr>SAISONS, PERMANENTS ET CARRY-OVERS</vt:lpstr>
      <vt:lpstr>SAISONS, PERMANENTS ET CARRY-OVERS</vt:lpstr>
      <vt:lpstr>SAISONS, PERMANENTS ET CARRY-OVERS</vt:lpstr>
      <vt:lpstr>PowerPoint Presentation</vt:lpstr>
      <vt:lpstr>Matières et capacités : achats et réservations</vt:lpstr>
      <vt:lpstr>Achats et réservations de matières</vt:lpstr>
      <vt:lpstr>réservations de capacités</vt:lpstr>
      <vt:lpstr>PowerPoint Presentation</vt:lpstr>
      <vt:lpstr>GESTION des commandes d'achat</vt:lpstr>
      <vt:lpstr>GESTION des commandes d'achat</vt:lpstr>
      <vt:lpstr>PowerPoint Presentation</vt:lpstr>
      <vt:lpstr>PowerPoint Presentation</vt:lpstr>
      <vt:lpstr>PowerPoint Presentation</vt:lpstr>
      <vt:lpstr>Commandes de vente</vt:lpstr>
      <vt:lpstr>Commandes de vente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ALLOCATIONS</vt:lpstr>
      <vt:lpstr>ALLOCATIONS</vt:lpstr>
      <vt:lpstr>PowerPoint Presentation</vt:lpstr>
      <vt:lpstr>Gestion des stocks</vt:lpstr>
      <vt:lpstr>Gestion des stocks</vt:lpstr>
      <vt:lpstr>PowerPoint Presentation</vt:lpstr>
      <vt:lpstr>Expédition et suivi</vt:lpstr>
      <vt:lpstr>Livraison et retours</vt:lpstr>
      <vt:lpstr>PowerPoint Presentation</vt:lpstr>
      <vt:lpstr>adv, finance et comptabilité : vente</vt:lpstr>
      <vt:lpstr>adv, finance et comptabilité : vente</vt:lpstr>
      <vt:lpstr>adv, finance et comptabilité : vente</vt:lpstr>
      <vt:lpstr>adv, finance et comptabilité : achat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Colin Heridel</dc:creator>
  <cp:lastModifiedBy>James DOWSE</cp:lastModifiedBy>
  <cp:revision>11</cp:revision>
  <cp:lastPrinted>2025-05-05T14:58:01Z</cp:lastPrinted>
  <dcterms:created xsi:type="dcterms:W3CDTF">2024-02-07T18:41:02Z</dcterms:created>
  <dcterms:modified xsi:type="dcterms:W3CDTF">2026-03-16T08:59:52Z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800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ntentTypeId">
    <vt:lpwstr>0x01010036717DD25454FB4695523AD6FA678BBB</vt:lpwstr>
  </property>
  <property fmtid="{D5CDD505-2E9C-101B-9397-08002B2CF9AE}" pid="10" name="_SourceUrl">
    <vt:lpwstr/>
  </property>
  <property fmtid="{D5CDD505-2E9C-101B-9397-08002B2CF9AE}" pid="11" name="_SharedFileIndex">
    <vt:lpwstr/>
  </property>
</Properties>
</file>