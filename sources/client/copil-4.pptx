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ags/tag2.xml" ContentType="application/vnd.openxmlformats-officedocument.presentationml.tags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5" r:id="rId4"/>
    <p:sldMasterId id="2147483842" r:id="rId5"/>
  </p:sldMasterIdLst>
  <p:notesMasterIdLst>
    <p:notesMasterId r:id="rId28"/>
  </p:notesMasterIdLst>
  <p:handoutMasterIdLst>
    <p:handoutMasterId r:id="rId29"/>
  </p:handoutMasterIdLst>
  <p:sldIdLst>
    <p:sldId id="2147482858" r:id="rId6"/>
    <p:sldId id="2147482856" r:id="rId7"/>
    <p:sldId id="2147482928" r:id="rId8"/>
    <p:sldId id="2147482907" r:id="rId9"/>
    <p:sldId id="2147482931" r:id="rId10"/>
    <p:sldId id="2147482847" r:id="rId11"/>
    <p:sldId id="2147482925" r:id="rId12"/>
    <p:sldId id="2147482926" r:id="rId13"/>
    <p:sldId id="2147482884" r:id="rId14"/>
    <p:sldId id="2147482908" r:id="rId15"/>
    <p:sldId id="2147482886" r:id="rId16"/>
    <p:sldId id="2147482892" r:id="rId17"/>
    <p:sldId id="2147482894" r:id="rId18"/>
    <p:sldId id="2147482887" r:id="rId19"/>
    <p:sldId id="2147482909" r:id="rId20"/>
    <p:sldId id="2147482910" r:id="rId21"/>
    <p:sldId id="2147482902" r:id="rId22"/>
    <p:sldId id="2147482923" r:id="rId23"/>
    <p:sldId id="2147482922" r:id="rId24"/>
    <p:sldId id="2147482904" r:id="rId25"/>
    <p:sldId id="2147482920" r:id="rId26"/>
    <p:sldId id="2147482921" r:id="rId27"/>
  </p:sldIdLst>
  <p:sldSz cx="12192000" cy="6858000"/>
  <p:notesSz cx="6810375" cy="9942513"/>
  <p:custDataLst>
    <p:tags r:id="rId3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78" userDrawn="1">
          <p15:clr>
            <a:srgbClr val="A4A3A4"/>
          </p15:clr>
        </p15:guide>
        <p15:guide id="2" pos="67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2099A00-3D5C-7C4B-2329-745801878CCF}" name="Jerome Chonez 1241" initials="JC" userId="S::jchonez@cache-cache.fr::8c9fce24-6026-4965-b193-b654e391e19b" providerId="AD"/>
  <p188:author id="{3A7DAC24-122A-338A-05A8-40E680E08625}" name="Barthélemy DULAUROY" initials="BD" userId="S::bdulauroy@synvance.com::97003c72-3e71-41b7-91d9-2ba56b078cd1" providerId="AD"/>
  <p188:author id="{0FC8724E-B07F-A3A0-F87B-E80D6328CB8C}" name="Damien CHAPELET" initials="DC" userId="S::dchapelet@synvance.com::4a31c921-710a-4960-8c09-91662a8659ea" providerId="AD"/>
  <p188:author id="{9672774F-2A0D-F1EF-B7BE-75A1D7E78E08}" name="Amal BARRIT" initials="AB" userId="S::abarrit@synvance.com::fc017c0c-6781-4a42-9116-2b22f9d03001" providerId="AD"/>
  <p188:author id="{A5255E94-0A83-0162-61C1-532F35D5F04B}" name="Ilyes TAZARKI" initials="" userId="S::ilyes.tazarki@synvance.com::6d7d44ed-85c0-4e6c-8e7f-dd64e9d2b858" providerId="AD"/>
  <p188:author id="{99E33F97-14BB-AE81-76D0-D462507DE0A4}" name="Pascal-Pierre COULON" initials="PPC" userId="Pascal-Pierre COULON" providerId="None"/>
  <p188:author id="{D5CB8BA1-E5F0-B9AE-EEE1-90CDBE336300}" name="Emilie REMBLIN" initials="ER" userId="S::eremblin@synvance.com::d039e63b-252a-467f-af85-c285ac2ba24f" providerId="AD"/>
  <p188:author id="{0AEC95A5-6315-A484-F616-C2AB996C23E5}" name="Alexandra Bardiot" initials="AB" userId="S::alexandra.bardiot@viseo.com::ce9fba8b-807e-4c1a-a2a3-c3431df64e3d" providerId="AD"/>
  <p188:author id="{86618ACF-613E-0B51-BAEF-3B9E262CC239}" name="Lilia MRAD" initials="LM" userId="S::lmrad@synvance.com::60793225-3a8c-4dcc-97d1-e4451d4cd8db" providerId="AD"/>
  <p188:author id="{1EB536D5-B59C-3E19-B018-CCF387AD8A1A}" name="Elise MARCHAND" initials="EM" userId="S::emarchand@synvance.com::a76ac0ed-5caa-4c57-bbbb-6765776c7c27" providerId="AD"/>
  <p188:author id="{7B5222DF-BC49-CC4A-F41E-227AAF890417}" name="François BOSSARD" initials="FB" userId="S::fbossard@synvance.com::6a85d292-1e20-4ddb-b216-ec694300e7d0" providerId="AD"/>
  <p188:author id="{1DBE04FD-43B2-B15A-4E41-53717DD1BCED}" name="Jimmy DOWSE" initials="JD" userId="S::jdowse@synvance.com::f054f132-4d05-4a6d-9e19-00dbab84113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A8A"/>
    <a:srgbClr val="92D050"/>
    <a:srgbClr val="FFE389"/>
    <a:srgbClr val="CCFF99"/>
    <a:srgbClr val="4EA72D"/>
    <a:srgbClr val="D24899"/>
    <a:srgbClr val="C10473"/>
    <a:srgbClr val="FF9393"/>
    <a:srgbClr val="F6C6AD"/>
    <a:srgbClr val="98D5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E3A27E-57E5-4BD2-A965-FA6B5F04AE5E}" v="16" dt="2025-07-01T17:25:11.582"/>
    <p1510:client id="{E1FDBC0E-BA4C-48CC-ACFF-BB791449D611}" v="110" dt="2025-07-02T08:02:12.7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2833802-FEF1-4C79-8D5D-14CF1EAF98D9}" styleName="Style léger 2 - Accentuation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Style clair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834" y="108"/>
      </p:cViewPr>
      <p:guideLst>
        <p:guide orient="horz" pos="4178"/>
        <p:guide pos="678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viewProps" Target="viewProps.xml"/><Relationship Id="rId37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notesMaster" Target="notesMasters/notesMaster1.xml"/><Relationship Id="rId36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tags" Target="tags/tag1.xml"/><Relationship Id="rId35" Type="http://schemas.microsoft.com/office/2016/11/relationships/changesInfo" Target="changesInfos/changesInfo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mes DOWSE" userId="f054f132-4d05-4a6d-9e19-00dbab841131" providerId="ADAL" clId="{2268788B-81A9-43A4-B5D4-59BFF4D5788B}"/>
    <pc:docChg chg="undo custSel modSld">
      <pc:chgData name="James DOWSE" userId="f054f132-4d05-4a6d-9e19-00dbab841131" providerId="ADAL" clId="{2268788B-81A9-43A4-B5D4-59BFF4D5788B}" dt="2025-07-02T14:52:33.752" v="44" actId="20577"/>
      <pc:docMkLst>
        <pc:docMk/>
      </pc:docMkLst>
      <pc:sldChg chg="modSp mod">
        <pc:chgData name="James DOWSE" userId="f054f132-4d05-4a6d-9e19-00dbab841131" providerId="ADAL" clId="{2268788B-81A9-43A4-B5D4-59BFF4D5788B}" dt="2025-07-02T13:01:34.551" v="5" actId="1076"/>
        <pc:sldMkLst>
          <pc:docMk/>
          <pc:sldMk cId="432033656" sldId="2147482847"/>
        </pc:sldMkLst>
        <pc:spChg chg="mod">
          <ac:chgData name="James DOWSE" userId="f054f132-4d05-4a6d-9e19-00dbab841131" providerId="ADAL" clId="{2268788B-81A9-43A4-B5D4-59BFF4D5788B}" dt="2025-07-02T12:59:44.522" v="2" actId="1035"/>
          <ac:spMkLst>
            <pc:docMk/>
            <pc:sldMk cId="432033656" sldId="2147482847"/>
            <ac:spMk id="31" creationId="{C4E61AA9-345D-7030-A37C-9F736F49AD8A}"/>
          </ac:spMkLst>
        </pc:spChg>
        <pc:spChg chg="mod">
          <ac:chgData name="James DOWSE" userId="f054f132-4d05-4a6d-9e19-00dbab841131" providerId="ADAL" clId="{2268788B-81A9-43A4-B5D4-59BFF4D5788B}" dt="2025-07-02T12:59:44.522" v="2" actId="1035"/>
          <ac:spMkLst>
            <pc:docMk/>
            <pc:sldMk cId="432033656" sldId="2147482847"/>
            <ac:spMk id="33" creationId="{CB39D8AF-67B9-E948-3821-B354541900A9}"/>
          </ac:spMkLst>
        </pc:spChg>
        <pc:spChg chg="mod">
          <ac:chgData name="James DOWSE" userId="f054f132-4d05-4a6d-9e19-00dbab841131" providerId="ADAL" clId="{2268788B-81A9-43A4-B5D4-59BFF4D5788B}" dt="2025-07-02T12:59:44.522" v="2" actId="1035"/>
          <ac:spMkLst>
            <pc:docMk/>
            <pc:sldMk cId="432033656" sldId="2147482847"/>
            <ac:spMk id="38" creationId="{FB944D58-D580-E62C-2556-93CB20FBFECB}"/>
          </ac:spMkLst>
        </pc:spChg>
        <pc:spChg chg="mod">
          <ac:chgData name="James DOWSE" userId="f054f132-4d05-4a6d-9e19-00dbab841131" providerId="ADAL" clId="{2268788B-81A9-43A4-B5D4-59BFF4D5788B}" dt="2025-07-02T12:59:41.521" v="1" actId="1076"/>
          <ac:spMkLst>
            <pc:docMk/>
            <pc:sldMk cId="432033656" sldId="2147482847"/>
            <ac:spMk id="39" creationId="{C8035671-DDC8-06CB-C856-6BCD267FE1D3}"/>
          </ac:spMkLst>
        </pc:spChg>
        <pc:spChg chg="mod">
          <ac:chgData name="James DOWSE" userId="f054f132-4d05-4a6d-9e19-00dbab841131" providerId="ADAL" clId="{2268788B-81A9-43A4-B5D4-59BFF4D5788B}" dt="2025-07-02T13:01:25.617" v="3" actId="1076"/>
          <ac:spMkLst>
            <pc:docMk/>
            <pc:sldMk cId="432033656" sldId="2147482847"/>
            <ac:spMk id="40" creationId="{B917EF19-78D1-C4C4-1EFE-8A6F8AD7BFFB}"/>
          </ac:spMkLst>
        </pc:spChg>
        <pc:spChg chg="mod">
          <ac:chgData name="James DOWSE" userId="f054f132-4d05-4a6d-9e19-00dbab841131" providerId="ADAL" clId="{2268788B-81A9-43A4-B5D4-59BFF4D5788B}" dt="2025-07-02T13:01:34.551" v="5" actId="1076"/>
          <ac:spMkLst>
            <pc:docMk/>
            <pc:sldMk cId="432033656" sldId="2147482847"/>
            <ac:spMk id="41" creationId="{5AADC31F-9925-3B43-3056-9B483D7C616D}"/>
          </ac:spMkLst>
        </pc:spChg>
        <pc:spChg chg="mod">
          <ac:chgData name="James DOWSE" userId="f054f132-4d05-4a6d-9e19-00dbab841131" providerId="ADAL" clId="{2268788B-81A9-43A4-B5D4-59BFF4D5788B}" dt="2025-07-02T13:01:29.541" v="4" actId="1076"/>
          <ac:spMkLst>
            <pc:docMk/>
            <pc:sldMk cId="432033656" sldId="2147482847"/>
            <ac:spMk id="42" creationId="{C0743D4B-900D-90BA-1177-5200AB9F1911}"/>
          </ac:spMkLst>
        </pc:spChg>
        <pc:spChg chg="mod">
          <ac:chgData name="James DOWSE" userId="f054f132-4d05-4a6d-9e19-00dbab841131" providerId="ADAL" clId="{2268788B-81A9-43A4-B5D4-59BFF4D5788B}" dt="2025-07-02T12:59:44.522" v="2" actId="1035"/>
          <ac:spMkLst>
            <pc:docMk/>
            <pc:sldMk cId="432033656" sldId="2147482847"/>
            <ac:spMk id="43" creationId="{F815B43E-0CE2-072C-38C8-E082589C1D12}"/>
          </ac:spMkLst>
        </pc:spChg>
        <pc:spChg chg="mod">
          <ac:chgData name="James DOWSE" userId="f054f132-4d05-4a6d-9e19-00dbab841131" providerId="ADAL" clId="{2268788B-81A9-43A4-B5D4-59BFF4D5788B}" dt="2025-07-02T12:59:44.522" v="2" actId="1035"/>
          <ac:spMkLst>
            <pc:docMk/>
            <pc:sldMk cId="432033656" sldId="2147482847"/>
            <ac:spMk id="50" creationId="{A885E0C5-B764-0D81-598D-C921275AF6F6}"/>
          </ac:spMkLst>
        </pc:spChg>
        <pc:spChg chg="mod">
          <ac:chgData name="James DOWSE" userId="f054f132-4d05-4a6d-9e19-00dbab841131" providerId="ADAL" clId="{2268788B-81A9-43A4-B5D4-59BFF4D5788B}" dt="2025-07-02T12:59:44.522" v="2" actId="1035"/>
          <ac:spMkLst>
            <pc:docMk/>
            <pc:sldMk cId="432033656" sldId="2147482847"/>
            <ac:spMk id="51" creationId="{40E3D0FF-5A03-BE03-8CCF-8A64DD1F6844}"/>
          </ac:spMkLst>
        </pc:spChg>
        <pc:spChg chg="mod">
          <ac:chgData name="James DOWSE" userId="f054f132-4d05-4a6d-9e19-00dbab841131" providerId="ADAL" clId="{2268788B-81A9-43A4-B5D4-59BFF4D5788B}" dt="2025-07-02T12:59:44.522" v="2" actId="1035"/>
          <ac:spMkLst>
            <pc:docMk/>
            <pc:sldMk cId="432033656" sldId="2147482847"/>
            <ac:spMk id="52" creationId="{C882AA69-A7B9-658D-802E-5E46F35ED0AA}"/>
          </ac:spMkLst>
        </pc:spChg>
      </pc:sldChg>
      <pc:sldChg chg="modSp mod">
        <pc:chgData name="James DOWSE" userId="f054f132-4d05-4a6d-9e19-00dbab841131" providerId="ADAL" clId="{2268788B-81A9-43A4-B5D4-59BFF4D5788B}" dt="2025-07-02T14:52:33.752" v="44" actId="20577"/>
        <pc:sldMkLst>
          <pc:docMk/>
          <pc:sldMk cId="2629089430" sldId="2147482923"/>
        </pc:sldMkLst>
        <pc:graphicFrameChg chg="modGraphic">
          <ac:chgData name="James DOWSE" userId="f054f132-4d05-4a6d-9e19-00dbab841131" providerId="ADAL" clId="{2268788B-81A9-43A4-B5D4-59BFF4D5788B}" dt="2025-07-02T14:52:33.752" v="44" actId="20577"/>
          <ac:graphicFrameMkLst>
            <pc:docMk/>
            <pc:sldMk cId="2629089430" sldId="2147482923"/>
            <ac:graphicFrameMk id="11" creationId="{8A8293B1-E07F-AB4E-FEF3-B5935C5F817A}"/>
          </ac:graphicFrameMkLst>
        </pc:graphicFrameChg>
      </pc:sldChg>
      <pc:sldChg chg="modSp mod">
        <pc:chgData name="James DOWSE" userId="f054f132-4d05-4a6d-9e19-00dbab841131" providerId="ADAL" clId="{2268788B-81A9-43A4-B5D4-59BFF4D5788B}" dt="2025-07-02T13:16:25.686" v="42" actId="1037"/>
        <pc:sldMkLst>
          <pc:docMk/>
          <pc:sldMk cId="3884812281" sldId="2147482925"/>
        </pc:sldMkLst>
        <pc:spChg chg="mod">
          <ac:chgData name="James DOWSE" userId="f054f132-4d05-4a6d-9e19-00dbab841131" providerId="ADAL" clId="{2268788B-81A9-43A4-B5D4-59BFF4D5788B}" dt="2025-07-02T13:16:20.917" v="39" actId="1038"/>
          <ac:spMkLst>
            <pc:docMk/>
            <pc:sldMk cId="3884812281" sldId="2147482925"/>
            <ac:spMk id="102" creationId="{F17A71AF-089E-5455-7627-81A3CC7A77A8}"/>
          </ac:spMkLst>
        </pc:spChg>
        <pc:spChg chg="mod">
          <ac:chgData name="James DOWSE" userId="f054f132-4d05-4a6d-9e19-00dbab841131" providerId="ADAL" clId="{2268788B-81A9-43A4-B5D4-59BFF4D5788B}" dt="2025-07-02T13:16:25.686" v="42" actId="1037"/>
          <ac:spMkLst>
            <pc:docMk/>
            <pc:sldMk cId="3884812281" sldId="2147482925"/>
            <ac:spMk id="106" creationId="{3AA517A1-DA66-B399-24CF-EE1434A98988}"/>
          </ac:spMkLst>
        </pc:spChg>
        <pc:spChg chg="mod">
          <ac:chgData name="James DOWSE" userId="f054f132-4d05-4a6d-9e19-00dbab841131" providerId="ADAL" clId="{2268788B-81A9-43A4-B5D4-59BFF4D5788B}" dt="2025-07-02T13:15:29.570" v="13" actId="1036"/>
          <ac:spMkLst>
            <pc:docMk/>
            <pc:sldMk cId="3884812281" sldId="2147482925"/>
            <ac:spMk id="148" creationId="{00F60D2D-C46C-77FE-BA6A-48F59A425ABB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primis.sharepoint.com/sites/Beaumanoir-CadrageAchat/Documents%20partages/Cadrage%20Achat%20Vente/3-%20Etude/1.%20Benchmark%20ERP/4.%20Analyse%20des%20r&#233;sultats/RFI%20GBM%20-%20Comparatif%20info%20g&#233;%20+%20&#233;cosys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primis.sharepoint.com/sites/Beaumanoir-CadrageAchat/Documents%20partages/Cadrage%20Achat%20Vente/3-%20Etude/1.%20Benchmark%20ERP/4.%20Analyse%20des%20r&#233;sultats/RFI%20GBM%20-%20Comparatif%20info%20g&#233;%20+%20&#233;cosys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35466414739226465"/>
          <c:y val="8.6050517729784365E-2"/>
          <c:w val="0.40530692228614695"/>
          <c:h val="0.6764027721572432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fr-FR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radarChart>
        <c:radarStyle val="marker"/>
        <c:varyColors val="0"/>
        <c:ser>
          <c:idx val="0"/>
          <c:order val="0"/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strRef>
              <c:f>'SYNTHESE SCORING'!$H$38:$H$48</c:f>
              <c:strCache>
                <c:ptCount val="11"/>
                <c:pt idx="0">
                  <c:v>Données référentielles</c:v>
                </c:pt>
                <c:pt idx="1">
                  <c:v>Saisons, permanents et carry-over</c:v>
                </c:pt>
                <c:pt idx="2">
                  <c:v>Planning, capacités et matières</c:v>
                </c:pt>
                <c:pt idx="3">
                  <c:v>Gestion des commandes d'achat</c:v>
                </c:pt>
                <c:pt idx="4">
                  <c:v>Gestion des commandes de vente</c:v>
                </c:pt>
                <c:pt idx="5">
                  <c:v>Allocations</c:v>
                </c:pt>
                <c:pt idx="6">
                  <c:v>Gestion des stocks</c:v>
                </c:pt>
                <c:pt idx="7">
                  <c:v>Expédition et suivi</c:v>
                </c:pt>
                <c:pt idx="8">
                  <c:v>Livraison et retours</c:v>
                </c:pt>
                <c:pt idx="9">
                  <c:v>ADV, Finance et Comptabilité</c:v>
                </c:pt>
                <c:pt idx="10">
                  <c:v>Autres besoins</c:v>
                </c:pt>
              </c:strCache>
            </c:strRef>
          </c:cat>
          <c:val>
            <c:numRef>
              <c:f>'SYNTHESE SCORING'!$I$38:$I$48</c:f>
              <c:numCache>
                <c:formatCode>0%</c:formatCode>
                <c:ptCount val="11"/>
                <c:pt idx="0">
                  <c:v>0.875</c:v>
                </c:pt>
                <c:pt idx="1">
                  <c:v>0.84782608695652173</c:v>
                </c:pt>
                <c:pt idx="2">
                  <c:v>0.82758620689655171</c:v>
                </c:pt>
                <c:pt idx="3">
                  <c:v>0.6428571428571429</c:v>
                </c:pt>
                <c:pt idx="4">
                  <c:v>0.74193548387096775</c:v>
                </c:pt>
                <c:pt idx="5">
                  <c:v>0.67741935483870963</c:v>
                </c:pt>
                <c:pt idx="6">
                  <c:v>0.83870967741935487</c:v>
                </c:pt>
                <c:pt idx="7">
                  <c:v>0.69230769230769229</c:v>
                </c:pt>
                <c:pt idx="8">
                  <c:v>0.66666666666666663</c:v>
                </c:pt>
                <c:pt idx="9">
                  <c:v>0.70588235294117652</c:v>
                </c:pt>
                <c:pt idx="10">
                  <c:v>0.82758620689655171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A4D-4BA8-9C5A-1C058E2D6A11}"/>
            </c:ext>
          </c:extLst>
        </c:ser>
        <c:ser>
          <c:idx val="1"/>
          <c:order val="1"/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cat>
            <c:strRef>
              <c:f>'SYNTHESE SCORING'!$H$38:$H$48</c:f>
              <c:strCache>
                <c:ptCount val="11"/>
                <c:pt idx="0">
                  <c:v>Données référentielles</c:v>
                </c:pt>
                <c:pt idx="1">
                  <c:v>Saisons, permanents et carry-over</c:v>
                </c:pt>
                <c:pt idx="2">
                  <c:v>Planning, capacités et matières</c:v>
                </c:pt>
                <c:pt idx="3">
                  <c:v>Gestion des commandes d'achat</c:v>
                </c:pt>
                <c:pt idx="4">
                  <c:v>Gestion des commandes de vente</c:v>
                </c:pt>
                <c:pt idx="5">
                  <c:v>Allocations</c:v>
                </c:pt>
                <c:pt idx="6">
                  <c:v>Gestion des stocks</c:v>
                </c:pt>
                <c:pt idx="7">
                  <c:v>Expédition et suivi</c:v>
                </c:pt>
                <c:pt idx="8">
                  <c:v>Livraison et retours</c:v>
                </c:pt>
                <c:pt idx="9">
                  <c:v>ADV, Finance et Comptabilité</c:v>
                </c:pt>
                <c:pt idx="10">
                  <c:v>Autres besoins</c:v>
                </c:pt>
              </c:strCache>
            </c:strRef>
          </c:cat>
          <c:val>
            <c:numRef>
              <c:f>'SYNTHESE SCORING'!$J$38:$J$48</c:f>
              <c:numCache>
                <c:formatCode>0%</c:formatCode>
                <c:ptCount val="11"/>
                <c:pt idx="0">
                  <c:v>0.77272727272727271</c:v>
                </c:pt>
                <c:pt idx="1">
                  <c:v>0.73913043478260865</c:v>
                </c:pt>
                <c:pt idx="2">
                  <c:v>0.58620689655172409</c:v>
                </c:pt>
                <c:pt idx="3">
                  <c:v>0.75</c:v>
                </c:pt>
                <c:pt idx="4">
                  <c:v>0.4838709677419355</c:v>
                </c:pt>
                <c:pt idx="5">
                  <c:v>0.43548387096774194</c:v>
                </c:pt>
                <c:pt idx="6">
                  <c:v>0.87096774193548387</c:v>
                </c:pt>
                <c:pt idx="7">
                  <c:v>0.69230769230769229</c:v>
                </c:pt>
                <c:pt idx="8">
                  <c:v>0.1111111111111111</c:v>
                </c:pt>
                <c:pt idx="9">
                  <c:v>0.70588235294117652</c:v>
                </c:pt>
                <c:pt idx="10">
                  <c:v>0.96551724137931039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A4D-4BA8-9C5A-1C058E2D6A11}"/>
            </c:ext>
          </c:extLst>
        </c:ser>
        <c:ser>
          <c:idx val="2"/>
          <c:order val="2"/>
          <c:spPr>
            <a:ln w="1270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'SYNTHESE SCORING'!$H$38:$H$48</c:f>
              <c:strCache>
                <c:ptCount val="11"/>
                <c:pt idx="0">
                  <c:v>Données référentielles</c:v>
                </c:pt>
                <c:pt idx="1">
                  <c:v>Saisons, permanents et carry-over</c:v>
                </c:pt>
                <c:pt idx="2">
                  <c:v>Planning, capacités et matières</c:v>
                </c:pt>
                <c:pt idx="3">
                  <c:v>Gestion des commandes d'achat</c:v>
                </c:pt>
                <c:pt idx="4">
                  <c:v>Gestion des commandes de vente</c:v>
                </c:pt>
                <c:pt idx="5">
                  <c:v>Allocations</c:v>
                </c:pt>
                <c:pt idx="6">
                  <c:v>Gestion des stocks</c:v>
                </c:pt>
                <c:pt idx="7">
                  <c:v>Expédition et suivi</c:v>
                </c:pt>
                <c:pt idx="8">
                  <c:v>Livraison et retours</c:v>
                </c:pt>
                <c:pt idx="9">
                  <c:v>ADV, Finance et Comptabilité</c:v>
                </c:pt>
                <c:pt idx="10">
                  <c:v>Autres besoins</c:v>
                </c:pt>
              </c:strCache>
            </c:strRef>
          </c:cat>
          <c:val>
            <c:numRef>
              <c:f>'SYNTHESE SCORING'!$K$38:$K$48</c:f>
              <c:numCache>
                <c:formatCode>0%</c:formatCode>
                <c:ptCount val="11"/>
                <c:pt idx="0">
                  <c:v>0.71590909090909094</c:v>
                </c:pt>
                <c:pt idx="1">
                  <c:v>0.32608695652173914</c:v>
                </c:pt>
                <c:pt idx="2">
                  <c:v>0.58620689655172409</c:v>
                </c:pt>
                <c:pt idx="3">
                  <c:v>0.7142857142857143</c:v>
                </c:pt>
                <c:pt idx="4">
                  <c:v>0.58064516129032262</c:v>
                </c:pt>
                <c:pt idx="5">
                  <c:v>0.41935483870967744</c:v>
                </c:pt>
                <c:pt idx="6">
                  <c:v>0.74193548387096775</c:v>
                </c:pt>
                <c:pt idx="7">
                  <c:v>0.61538461538461542</c:v>
                </c:pt>
                <c:pt idx="8">
                  <c:v>0.44444444444444442</c:v>
                </c:pt>
                <c:pt idx="9">
                  <c:v>0.52941176470588236</c:v>
                </c:pt>
                <c:pt idx="10">
                  <c:v>0.96551724137931039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A4D-4BA8-9C5A-1C058E2D6A11}"/>
            </c:ext>
          </c:extLst>
        </c:ser>
        <c:ser>
          <c:idx val="3"/>
          <c:order val="3"/>
          <c:spPr>
            <a:ln w="12700" cap="rnd">
              <a:solidFill>
                <a:srgbClr val="D24899"/>
              </a:solidFill>
              <a:round/>
            </a:ln>
            <a:effectLst/>
          </c:spPr>
          <c:marker>
            <c:symbol val="none"/>
          </c:marker>
          <c:cat>
            <c:strRef>
              <c:f>'SYNTHESE SCORING'!$H$38:$H$48</c:f>
              <c:strCache>
                <c:ptCount val="11"/>
                <c:pt idx="0">
                  <c:v>Données référentielles</c:v>
                </c:pt>
                <c:pt idx="1">
                  <c:v>Saisons, permanents et carry-over</c:v>
                </c:pt>
                <c:pt idx="2">
                  <c:v>Planning, capacités et matières</c:v>
                </c:pt>
                <c:pt idx="3">
                  <c:v>Gestion des commandes d'achat</c:v>
                </c:pt>
                <c:pt idx="4">
                  <c:v>Gestion des commandes de vente</c:v>
                </c:pt>
                <c:pt idx="5">
                  <c:v>Allocations</c:v>
                </c:pt>
                <c:pt idx="6">
                  <c:v>Gestion des stocks</c:v>
                </c:pt>
                <c:pt idx="7">
                  <c:v>Expédition et suivi</c:v>
                </c:pt>
                <c:pt idx="8">
                  <c:v>Livraison et retours</c:v>
                </c:pt>
                <c:pt idx="9">
                  <c:v>ADV, Finance et Comptabilité</c:v>
                </c:pt>
                <c:pt idx="10">
                  <c:v>Autres besoins</c:v>
                </c:pt>
              </c:strCache>
            </c:strRef>
          </c:cat>
          <c:val>
            <c:numRef>
              <c:f>'SYNTHESE SCORING'!$L$38:$L$48</c:f>
              <c:numCache>
                <c:formatCode>0%</c:formatCode>
                <c:ptCount val="11"/>
                <c:pt idx="0">
                  <c:v>0.53409090909090906</c:v>
                </c:pt>
                <c:pt idx="1">
                  <c:v>0.43478260869565216</c:v>
                </c:pt>
                <c:pt idx="2">
                  <c:v>0.13793103448275862</c:v>
                </c:pt>
                <c:pt idx="3">
                  <c:v>0.14285714285714285</c:v>
                </c:pt>
                <c:pt idx="4">
                  <c:v>0.29032258064516131</c:v>
                </c:pt>
                <c:pt idx="5">
                  <c:v>0.43548387096774194</c:v>
                </c:pt>
                <c:pt idx="6">
                  <c:v>0.58064516129032262</c:v>
                </c:pt>
                <c:pt idx="7">
                  <c:v>0.46153846153846156</c:v>
                </c:pt>
                <c:pt idx="8">
                  <c:v>0.33333333333333331</c:v>
                </c:pt>
                <c:pt idx="9">
                  <c:v>0.29411764705882354</c:v>
                </c:pt>
                <c:pt idx="10">
                  <c:v>0.93103448275862066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A4D-4BA8-9C5A-1C058E2D6A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34679375"/>
        <c:axId val="434673615"/>
      </c:radarChart>
      <c:catAx>
        <c:axId val="4346793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34673615"/>
        <c:crosses val="autoZero"/>
        <c:auto val="1"/>
        <c:lblAlgn val="ctr"/>
        <c:lblOffset val="100"/>
        <c:noMultiLvlLbl val="0"/>
      </c:catAx>
      <c:valAx>
        <c:axId val="434673615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crossAx val="43467937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radarChart>
        <c:radarStyle val="marker"/>
        <c:varyColors val="0"/>
        <c:ser>
          <c:idx val="0"/>
          <c:order val="0"/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strRef>
              <c:f>'SYNTHESE SCORING'!$C$38:$C$48</c:f>
              <c:strCache>
                <c:ptCount val="11"/>
                <c:pt idx="0">
                  <c:v>Données référentielles</c:v>
                </c:pt>
                <c:pt idx="1">
                  <c:v>Saisons, permanents et carry-over</c:v>
                </c:pt>
                <c:pt idx="2">
                  <c:v>Planning, capacités et matières</c:v>
                </c:pt>
                <c:pt idx="3">
                  <c:v>Gestion des commandes d'achat</c:v>
                </c:pt>
                <c:pt idx="4">
                  <c:v>Gestion des commandes de vente</c:v>
                </c:pt>
                <c:pt idx="5">
                  <c:v>Allocations</c:v>
                </c:pt>
                <c:pt idx="6">
                  <c:v>Gestion des stocks</c:v>
                </c:pt>
                <c:pt idx="7">
                  <c:v>Expédition et suivi</c:v>
                </c:pt>
                <c:pt idx="8">
                  <c:v>Livraison et retours</c:v>
                </c:pt>
                <c:pt idx="9">
                  <c:v>ADV, Finance et Comptabilité</c:v>
                </c:pt>
                <c:pt idx="10">
                  <c:v>Autres besoins</c:v>
                </c:pt>
              </c:strCache>
            </c:strRef>
          </c:cat>
          <c:val>
            <c:numRef>
              <c:f>'SYNTHESE SCORING'!$D$38:$D$48</c:f>
              <c:numCache>
                <c:formatCode>0%</c:formatCode>
                <c:ptCount val="11"/>
                <c:pt idx="0">
                  <c:v>0.96830985915492962</c:v>
                </c:pt>
                <c:pt idx="1">
                  <c:v>0.96139705882352944</c:v>
                </c:pt>
                <c:pt idx="2">
                  <c:v>0.96296296296296291</c:v>
                </c:pt>
                <c:pt idx="3">
                  <c:v>0.90540540540540537</c:v>
                </c:pt>
                <c:pt idx="4">
                  <c:v>0.93092105263157898</c:v>
                </c:pt>
                <c:pt idx="5">
                  <c:v>0.92532467532467533</c:v>
                </c:pt>
                <c:pt idx="6">
                  <c:v>0.90298507462686572</c:v>
                </c:pt>
                <c:pt idx="7">
                  <c:v>0.86792452830188682</c:v>
                </c:pt>
                <c:pt idx="8">
                  <c:v>0.86111111111111116</c:v>
                </c:pt>
                <c:pt idx="9">
                  <c:v>0.90277777777777779</c:v>
                </c:pt>
                <c:pt idx="10">
                  <c:v>0.971830985915493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50-439B-8771-7F936867DA52}"/>
            </c:ext>
          </c:extLst>
        </c:ser>
        <c:ser>
          <c:idx val="1"/>
          <c:order val="1"/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cat>
            <c:strRef>
              <c:f>'SYNTHESE SCORING'!$C$38:$C$48</c:f>
              <c:strCache>
                <c:ptCount val="11"/>
                <c:pt idx="0">
                  <c:v>Données référentielles</c:v>
                </c:pt>
                <c:pt idx="1">
                  <c:v>Saisons, permanents et carry-over</c:v>
                </c:pt>
                <c:pt idx="2">
                  <c:v>Planning, capacités et matières</c:v>
                </c:pt>
                <c:pt idx="3">
                  <c:v>Gestion des commandes d'achat</c:v>
                </c:pt>
                <c:pt idx="4">
                  <c:v>Gestion des commandes de vente</c:v>
                </c:pt>
                <c:pt idx="5">
                  <c:v>Allocations</c:v>
                </c:pt>
                <c:pt idx="6">
                  <c:v>Gestion des stocks</c:v>
                </c:pt>
                <c:pt idx="7">
                  <c:v>Expédition et suivi</c:v>
                </c:pt>
                <c:pt idx="8">
                  <c:v>Livraison et retours</c:v>
                </c:pt>
                <c:pt idx="9">
                  <c:v>ADV, Finance et Comptabilité</c:v>
                </c:pt>
                <c:pt idx="10">
                  <c:v>Autres besoins</c:v>
                </c:pt>
              </c:strCache>
            </c:strRef>
          </c:cat>
          <c:val>
            <c:numRef>
              <c:f>'SYNTHESE SCORING'!$E$38:$E$48</c:f>
              <c:numCache>
                <c:formatCode>0%</c:formatCode>
                <c:ptCount val="11"/>
                <c:pt idx="0">
                  <c:v>0.84319248826291093</c:v>
                </c:pt>
                <c:pt idx="1">
                  <c:v>0.87867647058823528</c:v>
                </c:pt>
                <c:pt idx="2">
                  <c:v>0.81481481481481477</c:v>
                </c:pt>
                <c:pt idx="3">
                  <c:v>0.88108108108108107</c:v>
                </c:pt>
                <c:pt idx="4">
                  <c:v>0.74868421052631584</c:v>
                </c:pt>
                <c:pt idx="5">
                  <c:v>0.73311688311688317</c:v>
                </c:pt>
                <c:pt idx="6">
                  <c:v>0.96268656716417911</c:v>
                </c:pt>
                <c:pt idx="7">
                  <c:v>0.85849056603773588</c:v>
                </c:pt>
                <c:pt idx="8">
                  <c:v>0.66666666666666663</c:v>
                </c:pt>
                <c:pt idx="9">
                  <c:v>0.85648148148148151</c:v>
                </c:pt>
                <c:pt idx="10">
                  <c:v>0.95774647887323938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50-439B-8771-7F936867DA52}"/>
            </c:ext>
          </c:extLst>
        </c:ser>
        <c:ser>
          <c:idx val="2"/>
          <c:order val="2"/>
          <c:spPr>
            <a:ln w="1270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'SYNTHESE SCORING'!$C$38:$C$48</c:f>
              <c:strCache>
                <c:ptCount val="11"/>
                <c:pt idx="0">
                  <c:v>Données référentielles</c:v>
                </c:pt>
                <c:pt idx="1">
                  <c:v>Saisons, permanents et carry-over</c:v>
                </c:pt>
                <c:pt idx="2">
                  <c:v>Planning, capacités et matières</c:v>
                </c:pt>
                <c:pt idx="3">
                  <c:v>Gestion des commandes d'achat</c:v>
                </c:pt>
                <c:pt idx="4">
                  <c:v>Gestion des commandes de vente</c:v>
                </c:pt>
                <c:pt idx="5">
                  <c:v>Allocations</c:v>
                </c:pt>
                <c:pt idx="6">
                  <c:v>Gestion des stocks</c:v>
                </c:pt>
                <c:pt idx="7">
                  <c:v>Expédition et suivi</c:v>
                </c:pt>
                <c:pt idx="8">
                  <c:v>Livraison et retours</c:v>
                </c:pt>
                <c:pt idx="9">
                  <c:v>ADV, Finance et Comptabilité</c:v>
                </c:pt>
                <c:pt idx="10">
                  <c:v>Autres besoins</c:v>
                </c:pt>
              </c:strCache>
            </c:strRef>
          </c:cat>
          <c:val>
            <c:numRef>
              <c:f>'SYNTHESE SCORING'!$F$38:$F$48</c:f>
              <c:numCache>
                <c:formatCode>0%</c:formatCode>
                <c:ptCount val="11"/>
                <c:pt idx="0">
                  <c:v>0.86854460093896713</c:v>
                </c:pt>
                <c:pt idx="1">
                  <c:v>0.68566176470588236</c:v>
                </c:pt>
                <c:pt idx="2">
                  <c:v>0.79629629629629628</c:v>
                </c:pt>
                <c:pt idx="3">
                  <c:v>0.84459459459459463</c:v>
                </c:pt>
                <c:pt idx="4">
                  <c:v>0.77960526315789469</c:v>
                </c:pt>
                <c:pt idx="5">
                  <c:v>0.70454545454545459</c:v>
                </c:pt>
                <c:pt idx="6">
                  <c:v>0.86567164179104472</c:v>
                </c:pt>
                <c:pt idx="7">
                  <c:v>0.82075471698113212</c:v>
                </c:pt>
                <c:pt idx="8">
                  <c:v>0.72222222222222221</c:v>
                </c:pt>
                <c:pt idx="9">
                  <c:v>0.7680555555555556</c:v>
                </c:pt>
                <c:pt idx="10">
                  <c:v>0.9859154929577465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150-439B-8771-7F936867DA52}"/>
            </c:ext>
          </c:extLst>
        </c:ser>
        <c:ser>
          <c:idx val="3"/>
          <c:order val="3"/>
          <c:spPr>
            <a:ln w="12700" cap="rnd">
              <a:solidFill>
                <a:srgbClr val="D24899"/>
              </a:solidFill>
              <a:round/>
            </a:ln>
            <a:effectLst/>
          </c:spPr>
          <c:marker>
            <c:symbol val="none"/>
          </c:marker>
          <c:cat>
            <c:strRef>
              <c:f>'SYNTHESE SCORING'!$C$38:$C$48</c:f>
              <c:strCache>
                <c:ptCount val="11"/>
                <c:pt idx="0">
                  <c:v>Données référentielles</c:v>
                </c:pt>
                <c:pt idx="1">
                  <c:v>Saisons, permanents et carry-over</c:v>
                </c:pt>
                <c:pt idx="2">
                  <c:v>Planning, capacités et matières</c:v>
                </c:pt>
                <c:pt idx="3">
                  <c:v>Gestion des commandes d'achat</c:v>
                </c:pt>
                <c:pt idx="4">
                  <c:v>Gestion des commandes de vente</c:v>
                </c:pt>
                <c:pt idx="5">
                  <c:v>Allocations</c:v>
                </c:pt>
                <c:pt idx="6">
                  <c:v>Gestion des stocks</c:v>
                </c:pt>
                <c:pt idx="7">
                  <c:v>Expédition et suivi</c:v>
                </c:pt>
                <c:pt idx="8">
                  <c:v>Livraison et retours</c:v>
                </c:pt>
                <c:pt idx="9">
                  <c:v>ADV, Finance et Comptabilité</c:v>
                </c:pt>
                <c:pt idx="10">
                  <c:v>Autres besoins</c:v>
                </c:pt>
              </c:strCache>
            </c:strRef>
          </c:cat>
          <c:val>
            <c:numRef>
              <c:f>'SYNTHESE SCORING'!$G$38:$G$48</c:f>
              <c:numCache>
                <c:formatCode>0%</c:formatCode>
                <c:ptCount val="11"/>
                <c:pt idx="0">
                  <c:v>0.79694835680751175</c:v>
                </c:pt>
                <c:pt idx="1">
                  <c:v>0.84742647058823528</c:v>
                </c:pt>
                <c:pt idx="2">
                  <c:v>0.67592592592592593</c:v>
                </c:pt>
                <c:pt idx="3">
                  <c:v>0.57094594594594594</c:v>
                </c:pt>
                <c:pt idx="4">
                  <c:v>0.73026315789473684</c:v>
                </c:pt>
                <c:pt idx="5">
                  <c:v>0.81980519480519476</c:v>
                </c:pt>
                <c:pt idx="6">
                  <c:v>0.85074626865671643</c:v>
                </c:pt>
                <c:pt idx="7">
                  <c:v>0.80188679245283023</c:v>
                </c:pt>
                <c:pt idx="8">
                  <c:v>0.80555555555555558</c:v>
                </c:pt>
                <c:pt idx="9">
                  <c:v>0.71759259259259256</c:v>
                </c:pt>
                <c:pt idx="10">
                  <c:v>0.971830985915493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150-439B-8771-7F936867DA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34637135"/>
        <c:axId val="434624175"/>
      </c:radarChart>
      <c:catAx>
        <c:axId val="4346371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34624175"/>
        <c:crosses val="autoZero"/>
        <c:auto val="1"/>
        <c:lblAlgn val="ctr"/>
        <c:lblOffset val="100"/>
        <c:noMultiLvlLbl val="0"/>
      </c:catAx>
      <c:valAx>
        <c:axId val="434624175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crossAx val="43463713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B9C4400F-F943-A399-5B80-C16F75B7B9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1163" cy="498853"/>
          </a:xfrm>
          <a:prstGeom prst="rect">
            <a:avLst/>
          </a:prstGeom>
        </p:spPr>
        <p:txBody>
          <a:bodyPr vert="horz" lIns="91449" tIns="45725" rIns="91449" bIns="45725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A3CCCF9-E66B-0415-207D-2F781213E8C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7636" y="0"/>
            <a:ext cx="2951163" cy="498853"/>
          </a:xfrm>
          <a:prstGeom prst="rect">
            <a:avLst/>
          </a:prstGeom>
        </p:spPr>
        <p:txBody>
          <a:bodyPr vert="horz" lIns="91449" tIns="45725" rIns="91449" bIns="45725" rtlCol="0"/>
          <a:lstStyle>
            <a:lvl1pPr algn="r">
              <a:defRPr sz="1200"/>
            </a:lvl1pPr>
          </a:lstStyle>
          <a:p>
            <a:fld id="{FAA1E2C1-C4FB-7A4A-B024-1D058918BFD7}" type="datetimeFigureOut">
              <a:rPr lang="fr-FR" smtClean="0"/>
              <a:t>02/07/2025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57B80AB-7C1E-DDFA-302C-A5AA2551B2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3662"/>
            <a:ext cx="2951163" cy="498852"/>
          </a:xfrm>
          <a:prstGeom prst="rect">
            <a:avLst/>
          </a:prstGeom>
        </p:spPr>
        <p:txBody>
          <a:bodyPr vert="horz" lIns="91449" tIns="45725" rIns="91449" bIns="45725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F19A2B7-366F-228B-A0FF-A837E2DF9C9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7636" y="9443662"/>
            <a:ext cx="2951163" cy="498852"/>
          </a:xfrm>
          <a:prstGeom prst="rect">
            <a:avLst/>
          </a:prstGeom>
        </p:spPr>
        <p:txBody>
          <a:bodyPr vert="horz" lIns="91449" tIns="45725" rIns="91449" bIns="45725" rtlCol="0" anchor="b"/>
          <a:lstStyle>
            <a:lvl1pPr algn="r">
              <a:defRPr sz="1200"/>
            </a:lvl1pPr>
          </a:lstStyle>
          <a:p>
            <a:fld id="{CAB47D5B-9F4E-ED49-9E63-20A33D9C17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99450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1163" cy="498853"/>
          </a:xfrm>
          <a:prstGeom prst="rect">
            <a:avLst/>
          </a:prstGeom>
        </p:spPr>
        <p:txBody>
          <a:bodyPr vert="horz" lIns="91449" tIns="45725" rIns="91449" bIns="45725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7636" y="0"/>
            <a:ext cx="2951163" cy="498853"/>
          </a:xfrm>
          <a:prstGeom prst="rect">
            <a:avLst/>
          </a:prstGeom>
        </p:spPr>
        <p:txBody>
          <a:bodyPr vert="horz" lIns="91449" tIns="45725" rIns="91449" bIns="45725" rtlCol="0"/>
          <a:lstStyle>
            <a:lvl1pPr algn="r">
              <a:defRPr sz="1200"/>
            </a:lvl1pPr>
          </a:lstStyle>
          <a:p>
            <a:fld id="{65130E4D-4536-0347-A037-F27A7B0AE2F2}" type="datetimeFigureOut">
              <a:rPr lang="fr-FR" smtClean="0"/>
              <a:t>02/07/2025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23863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9" tIns="45725" rIns="91449" bIns="45725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1038" y="4784835"/>
            <a:ext cx="5448300" cy="3914864"/>
          </a:xfrm>
          <a:prstGeom prst="rect">
            <a:avLst/>
          </a:prstGeom>
        </p:spPr>
        <p:txBody>
          <a:bodyPr vert="horz" lIns="91449" tIns="45725" rIns="91449" bIns="45725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51163" cy="498852"/>
          </a:xfrm>
          <a:prstGeom prst="rect">
            <a:avLst/>
          </a:prstGeom>
        </p:spPr>
        <p:txBody>
          <a:bodyPr vert="horz" lIns="91449" tIns="45725" rIns="91449" bIns="45725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7636" y="9443662"/>
            <a:ext cx="2951163" cy="498852"/>
          </a:xfrm>
          <a:prstGeom prst="rect">
            <a:avLst/>
          </a:prstGeom>
        </p:spPr>
        <p:txBody>
          <a:bodyPr vert="horz" lIns="91449" tIns="45725" rIns="91449" bIns="45725" rtlCol="0" anchor="b"/>
          <a:lstStyle>
            <a:lvl1pPr algn="r">
              <a:defRPr sz="1200"/>
            </a:lvl1pPr>
          </a:lstStyle>
          <a:p>
            <a:fld id="{CB0CB572-A526-994D-9F24-8144F6FD4F4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9260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CB572-A526-994D-9F24-8144F6FD4F44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78930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2E9B9-49CE-262B-4226-3DC2C5CA0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18D4623-0383-F8DA-E02F-8A9369EFA9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85E50F3-C6B4-A45D-776E-AD619C990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59A4913-E920-D49C-676A-6538CFAEF8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CB572-A526-994D-9F24-8144F6FD4F44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64847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CB572-A526-994D-9F24-8144F6FD4F44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9761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C43C7-2A7B-E4FF-06BB-7B9AF85A1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9029468-BB5E-BA18-921E-8B7AFE27EB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75D89CE-E23D-4B29-3311-AAE1EDCC67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71F1F81-FDC1-65E4-AAD3-C18A7A0225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CB572-A526-994D-9F24-8144F6FD4F44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86542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E92C0-E206-A225-E229-A0DD49DF3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10B46EC-1E12-B541-A800-7FD407F67A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42A933A-5A97-B11C-84F4-9EBD331DC0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890667E-6C0A-BA79-F0E8-0FF2AED627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CB572-A526-994D-9F24-8144F6FD4F44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20054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4C78F-FF10-20B9-7017-3DB37A1EF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6E74567-2E21-F3AD-D047-98A2B50FCF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16609C3-9AA1-F1A0-DBEB-683D981957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0488" indent="-90488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fr-FR" sz="1200">
                <a:solidFill>
                  <a:srgbClr val="1A1C30"/>
                </a:solidFill>
                <a:cs typeface="Calibri" panose="020F0502020204030204" pitchFamily="34" charset="0"/>
              </a:rPr>
              <a:t>SEI :</a:t>
            </a:r>
          </a:p>
          <a:p>
            <a:pPr marL="547688" lvl="1" indent="-90488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fr-FR" sz="1200">
                <a:solidFill>
                  <a:srgbClr val="1A1C30"/>
                </a:solidFill>
                <a:cs typeface="Calibri" panose="020F0502020204030204" pitchFamily="34" charset="0"/>
              </a:rPr>
              <a:t>Gestion des variantes à l’EAN : suffisant pour piloter l’activité et les stocks ?</a:t>
            </a:r>
          </a:p>
          <a:p>
            <a:pPr marL="547688" lvl="1" indent="-90488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fr-FR" sz="1200">
                <a:solidFill>
                  <a:schemeClr val="tx1"/>
                </a:solidFill>
                <a:cs typeface="Calibri" panose="020F0502020204030204" pitchFamily="34" charset="0"/>
              </a:rPr>
              <a:t>Gestion des saisons à adapter (outil -&gt; métier ou vice-versa).</a:t>
            </a:r>
          </a:p>
          <a:p>
            <a:pPr marL="547688" lvl="1" indent="-90488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fr-FR" sz="1200">
                <a:solidFill>
                  <a:schemeClr val="tx1"/>
                </a:solidFill>
                <a:cs typeface="Calibri" panose="020F0502020204030204" pitchFamily="34" charset="0"/>
              </a:rPr>
              <a:t>Gestion trop « basique » des allocations en standard ? Moteur de calcul multicritères sans pondération, sans optimisation / colisage, blocage manuel des clients, pas de réallocation automatique,,,</a:t>
            </a:r>
          </a:p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2080067-F750-D50A-A10C-09EDE26BE9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CB572-A526-994D-9F24-8144F6FD4F44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31876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C0EF7-2226-9857-34B9-B7EFADE5E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9632337-9471-6BD0-3C27-409BB320AA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4FF7917-589E-871F-AE5D-9358CBBBC5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DC68A6C-6483-D3FC-DA31-051A6A2454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CB572-A526-994D-9F24-8144F6FD4F44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71721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22DF9-1514-F0FC-EA35-03951BE52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589B6F4-AA88-F403-2319-6411D3469F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6C6675A-7230-450C-00D7-D0E6DD1C4C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C8BFDBC-8387-CEA2-2D70-576AF37ED0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CB572-A526-994D-9F24-8144F6FD4F44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38171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B2AD2-979F-506C-8FA9-D0CF616EB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46F2994-1FD3-5EC4-E122-0458F8AED6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E154286-E762-69E1-B66D-C215FB2ED5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0110E56-5134-C860-4F4E-6D3D83B3A7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CB572-A526-994D-9F24-8144F6FD4F44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24663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88E12-7E8E-F2D9-077D-5DE190E51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FD7E864-7DBD-3274-CF16-4C28AE73C5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63BE9FF-9171-81C1-E38B-FEC69982DD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E3F0167-426D-FAC7-822F-064C0B1842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CB572-A526-994D-9F24-8144F6FD4F44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39427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42784-7AF6-B42E-3E3D-7D29144F0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0114240-94A9-9645-84E8-697F516A2B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38245B8-E3ED-6197-FA19-AA929488F0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BCC3D75-E75B-BA77-4311-D7190C1C79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CB572-A526-994D-9F24-8144F6FD4F44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18443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6E9E6-2435-3391-55F6-725381DF6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30FB454-A21D-BE39-CE9A-56B9C6BB2B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A0E30C2-2D8D-A2D8-D2C5-9F41A570DC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1469A3D-C045-D50A-2097-24C4512192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CB572-A526-994D-9F24-8144F6FD4F44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97553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79C08-12B1-65AC-5662-27ED0F274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6A75B11-189E-74FC-ED95-5F274C3F9F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750623F-0E6A-F92B-2D9A-96BE0D3568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Odoo + Orisha : expédition et suivi.</a:t>
            </a:r>
          </a:p>
          <a:p>
            <a:r>
              <a:rPr lang="fr-FR"/>
              <a:t>* Une majorité des besoins liés à la préparation des commandes (évènements de préparation et expédition distincts, optimums logistiques, mise en expédition automatique des allocations sur stock) nécessitent du </a:t>
            </a:r>
            <a:r>
              <a:rPr lang="fr-FR" err="1"/>
              <a:t>dév</a:t>
            </a:r>
            <a:r>
              <a:rPr lang="fr-FR"/>
              <a:t> ou custom =&gt; besoins essentiels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3B91417-36E7-D3F5-D36D-7208689173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CB572-A526-994D-9F24-8144F6FD4F44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93384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8F6F9-6CD4-405E-5E29-4195FEF24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AE6EF3D-F280-06C3-6870-84EEFE1E23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D9D3CE8-678F-EBA4-28FB-46F265EEBD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Odoo + Orisha : expédition et suivi.</a:t>
            </a:r>
          </a:p>
          <a:p>
            <a:r>
              <a:rPr lang="fr-FR"/>
              <a:t>* Une majorité des besoins liés à la préparation des commandes (évènements de préparation et expédition distincts, optimums logistiques, mise en expédition automatique des allocations sur stock) nécessitent du </a:t>
            </a:r>
            <a:r>
              <a:rPr lang="fr-FR" err="1"/>
              <a:t>dév</a:t>
            </a:r>
            <a:r>
              <a:rPr lang="fr-FR"/>
              <a:t> ou custom =&gt; besoins essentiels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211830E-0236-EB1E-B9EE-D25E14CCA1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CB572-A526-994D-9F24-8144F6FD4F44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3014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.svg"/><Relationship Id="rId18" Type="http://schemas.openxmlformats.org/officeDocument/2006/relationships/image" Target="../media/image26.png"/><Relationship Id="rId26" Type="http://schemas.openxmlformats.org/officeDocument/2006/relationships/image" Target="../media/image34.svg"/><Relationship Id="rId21" Type="http://schemas.openxmlformats.org/officeDocument/2006/relationships/image" Target="../media/image29.svg"/><Relationship Id="rId34" Type="http://schemas.openxmlformats.org/officeDocument/2006/relationships/image" Target="../media/image42.sv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svg"/><Relationship Id="rId25" Type="http://schemas.openxmlformats.org/officeDocument/2006/relationships/image" Target="../media/image33.png"/><Relationship Id="rId33" Type="http://schemas.openxmlformats.org/officeDocument/2006/relationships/image" Target="../media/image41.png"/><Relationship Id="rId38" Type="http://schemas.openxmlformats.org/officeDocument/2006/relationships/image" Target="../media/image8.svg"/><Relationship Id="rId2" Type="http://schemas.openxmlformats.org/officeDocument/2006/relationships/image" Target="../media/image10.png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29" Type="http://schemas.openxmlformats.org/officeDocument/2006/relationships/image" Target="../media/image3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emf"/><Relationship Id="rId11" Type="http://schemas.openxmlformats.org/officeDocument/2006/relationships/image" Target="../media/image19.png"/><Relationship Id="rId24" Type="http://schemas.openxmlformats.org/officeDocument/2006/relationships/image" Target="../media/image32.svg"/><Relationship Id="rId32" Type="http://schemas.openxmlformats.org/officeDocument/2006/relationships/image" Target="../media/image40.svg"/><Relationship Id="rId37" Type="http://schemas.openxmlformats.org/officeDocument/2006/relationships/image" Target="../media/image7.png"/><Relationship Id="rId5" Type="http://schemas.openxmlformats.org/officeDocument/2006/relationships/image" Target="../media/image13.png"/><Relationship Id="rId15" Type="http://schemas.openxmlformats.org/officeDocument/2006/relationships/image" Target="../media/image23.svg"/><Relationship Id="rId23" Type="http://schemas.openxmlformats.org/officeDocument/2006/relationships/image" Target="../media/image31.png"/><Relationship Id="rId28" Type="http://schemas.openxmlformats.org/officeDocument/2006/relationships/image" Target="../media/image36.svg"/><Relationship Id="rId36" Type="http://schemas.openxmlformats.org/officeDocument/2006/relationships/image" Target="../media/image44.svg"/><Relationship Id="rId10" Type="http://schemas.openxmlformats.org/officeDocument/2006/relationships/image" Target="../media/image18.jpeg"/><Relationship Id="rId19" Type="http://schemas.openxmlformats.org/officeDocument/2006/relationships/image" Target="../media/image27.svg"/><Relationship Id="rId31" Type="http://schemas.openxmlformats.org/officeDocument/2006/relationships/image" Target="../media/image39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Relationship Id="rId22" Type="http://schemas.openxmlformats.org/officeDocument/2006/relationships/image" Target="../media/image30.png"/><Relationship Id="rId27" Type="http://schemas.openxmlformats.org/officeDocument/2006/relationships/image" Target="../media/image35.png"/><Relationship Id="rId30" Type="http://schemas.openxmlformats.org/officeDocument/2006/relationships/image" Target="../media/image38.svg"/><Relationship Id="rId35" Type="http://schemas.openxmlformats.org/officeDocument/2006/relationships/image" Target="../media/image43.png"/><Relationship Id="rId8" Type="http://schemas.openxmlformats.org/officeDocument/2006/relationships/image" Target="../media/image16.svg"/><Relationship Id="rId3" Type="http://schemas.openxmlformats.org/officeDocument/2006/relationships/image" Target="../media/image11.png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image" Target="../media/image4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8.jpe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image" Target="../media/image51.jpe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emf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emf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emf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image" Target="../media/image58.jpe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emf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emf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emf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image" Target="../media/image63.jpe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6.pn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emf"/><Relationship Id="rId2" Type="http://schemas.openxmlformats.org/officeDocument/2006/relationships/image" Target="../media/image67.jpe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uverture (old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que 18">
            <a:extLst>
              <a:ext uri="{FF2B5EF4-FFF2-40B4-BE49-F238E27FC236}">
                <a16:creationId xmlns:a16="http://schemas.microsoft.com/office/drawing/2014/main" id="{2B140582-2FD4-E64E-BA3E-C4B74FEBB6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67187" y="5985626"/>
            <a:ext cx="1446611" cy="321469"/>
          </a:xfrm>
          <a:prstGeom prst="rect">
            <a:avLst/>
          </a:prstGeom>
        </p:spPr>
      </p:pic>
      <p:sp>
        <p:nvSpPr>
          <p:cNvPr id="12" name="Espace réservé du texte 10">
            <a:extLst>
              <a:ext uri="{FF2B5EF4-FFF2-40B4-BE49-F238E27FC236}">
                <a16:creationId xmlns:a16="http://schemas.microsoft.com/office/drawing/2014/main" id="{EAFEA285-3E13-6A69-7915-EC5B33FE044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2596" y="4363655"/>
            <a:ext cx="4460798" cy="32146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>
                <a:solidFill>
                  <a:schemeClr val="tx1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/>
              <a:t>Date (JJ.MM.AAAA)</a:t>
            </a:r>
          </a:p>
        </p:txBody>
      </p:sp>
      <p:sp>
        <p:nvSpPr>
          <p:cNvPr id="15" name="Espace réservé du texte 10">
            <a:extLst>
              <a:ext uri="{FF2B5EF4-FFF2-40B4-BE49-F238E27FC236}">
                <a16:creationId xmlns:a16="http://schemas.microsoft.com/office/drawing/2014/main" id="{8CA02F23-4FF3-BB0B-BFC9-B8CF29080A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2596" y="4017444"/>
            <a:ext cx="4460798" cy="321468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>
                <a:solidFill>
                  <a:schemeClr val="tx1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/>
              <a:t>Client - Auteur</a:t>
            </a:r>
          </a:p>
        </p:txBody>
      </p:sp>
      <p:sp>
        <p:nvSpPr>
          <p:cNvPr id="18" name="Espace réservé du texte 10">
            <a:extLst>
              <a:ext uri="{FF2B5EF4-FFF2-40B4-BE49-F238E27FC236}">
                <a16:creationId xmlns:a16="http://schemas.microsoft.com/office/drawing/2014/main" id="{F94D5557-3C17-3ABE-8227-635D0E262D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3105" y="3059577"/>
            <a:ext cx="4460798" cy="32146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1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/>
              <a:t>Sous titre de la présentation</a:t>
            </a:r>
          </a:p>
        </p:txBody>
      </p:sp>
      <p:sp>
        <p:nvSpPr>
          <p:cNvPr id="23" name="Espace réservé pour une image  13">
            <a:extLst>
              <a:ext uri="{FF2B5EF4-FFF2-40B4-BE49-F238E27FC236}">
                <a16:creationId xmlns:a16="http://schemas.microsoft.com/office/drawing/2014/main" id="{E5A67A79-BACF-C48A-8FB5-67DA8895C5B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r>
              <a:rPr lang="fr-FR"/>
              <a:t>Illustration</a:t>
            </a:r>
          </a:p>
        </p:txBody>
      </p:sp>
      <p:pic>
        <p:nvPicPr>
          <p:cNvPr id="2" name="Graphique 18">
            <a:extLst>
              <a:ext uri="{FF2B5EF4-FFF2-40B4-BE49-F238E27FC236}">
                <a16:creationId xmlns:a16="http://schemas.microsoft.com/office/drawing/2014/main" id="{20B6F76C-2746-9C69-AC22-8CDF7C632B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67187" y="5985626"/>
            <a:ext cx="1446611" cy="321469"/>
          </a:xfrm>
          <a:prstGeom prst="rect">
            <a:avLst/>
          </a:prstGeom>
        </p:spPr>
      </p:pic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E66B2E2F-E895-5887-C725-40CF74A8E8A0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72596" y="1687089"/>
            <a:ext cx="5330825" cy="1341437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600" b="1" i="0">
                <a:solidFill>
                  <a:schemeClr val="accent1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/>
              <a:t>Titre de la présentation</a:t>
            </a:r>
          </a:p>
        </p:txBody>
      </p:sp>
    </p:spTree>
    <p:extLst>
      <p:ext uri="{BB962C8B-B14F-4D97-AF65-F5344CB8AC3E}">
        <p14:creationId xmlns:p14="http://schemas.microsoft.com/office/powerpoint/2010/main" val="3064229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 (old logo) sans illust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que 18">
            <a:extLst>
              <a:ext uri="{FF2B5EF4-FFF2-40B4-BE49-F238E27FC236}">
                <a16:creationId xmlns:a16="http://schemas.microsoft.com/office/drawing/2014/main" id="{2B140582-2FD4-E64E-BA3E-C4B74FEBB6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67187" y="5985626"/>
            <a:ext cx="1446611" cy="321469"/>
          </a:xfrm>
          <a:prstGeom prst="rect">
            <a:avLst/>
          </a:prstGeom>
        </p:spPr>
      </p:pic>
      <p:pic>
        <p:nvPicPr>
          <p:cNvPr id="2" name="Graphique 18">
            <a:extLst>
              <a:ext uri="{FF2B5EF4-FFF2-40B4-BE49-F238E27FC236}">
                <a16:creationId xmlns:a16="http://schemas.microsoft.com/office/drawing/2014/main" id="{D8774CAF-CEB4-19AC-46A5-8A3A049244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67187" y="5985626"/>
            <a:ext cx="1446611" cy="321469"/>
          </a:xfrm>
          <a:prstGeom prst="rect">
            <a:avLst/>
          </a:prstGeom>
        </p:spPr>
      </p:pic>
      <p:sp>
        <p:nvSpPr>
          <p:cNvPr id="3" name="Espace réservé du texte 10">
            <a:extLst>
              <a:ext uri="{FF2B5EF4-FFF2-40B4-BE49-F238E27FC236}">
                <a16:creationId xmlns:a16="http://schemas.microsoft.com/office/drawing/2014/main" id="{AECFF1F7-B916-C16A-44B8-25BD4E192E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2596" y="4363655"/>
            <a:ext cx="4460798" cy="32146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>
                <a:solidFill>
                  <a:schemeClr val="tx1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/>
              <a:t>Date (JJ.MM.AAAA)</a:t>
            </a:r>
          </a:p>
        </p:txBody>
      </p:sp>
      <p:sp>
        <p:nvSpPr>
          <p:cNvPr id="5" name="Espace réservé du texte 10">
            <a:extLst>
              <a:ext uri="{FF2B5EF4-FFF2-40B4-BE49-F238E27FC236}">
                <a16:creationId xmlns:a16="http://schemas.microsoft.com/office/drawing/2014/main" id="{6EEF997C-8C83-0CD0-ADAB-E337E82FB2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2596" y="4017444"/>
            <a:ext cx="4460798" cy="321468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>
                <a:solidFill>
                  <a:schemeClr val="tx1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/>
              <a:t>Client - Auteur</a:t>
            </a:r>
          </a:p>
        </p:txBody>
      </p:sp>
      <p:sp>
        <p:nvSpPr>
          <p:cNvPr id="7" name="Espace réservé du texte 10">
            <a:extLst>
              <a:ext uri="{FF2B5EF4-FFF2-40B4-BE49-F238E27FC236}">
                <a16:creationId xmlns:a16="http://schemas.microsoft.com/office/drawing/2014/main" id="{1D399635-64DC-0D8E-D059-5E1E8CFE946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3105" y="3059577"/>
            <a:ext cx="4460798" cy="32146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1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/>
              <a:t>Sous titre de la présentation</a:t>
            </a:r>
          </a:p>
        </p:txBody>
      </p:sp>
      <p:sp>
        <p:nvSpPr>
          <p:cNvPr id="19" name="Espace réservé du texte 14">
            <a:extLst>
              <a:ext uri="{FF2B5EF4-FFF2-40B4-BE49-F238E27FC236}">
                <a16:creationId xmlns:a16="http://schemas.microsoft.com/office/drawing/2014/main" id="{8977B396-8D69-0B95-F48E-EF44DB0E3AB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2596" y="1816100"/>
            <a:ext cx="5331304" cy="1219200"/>
          </a:xfrm>
        </p:spPr>
        <p:txBody>
          <a:bodyPr anchor="b" anchorCtr="0"/>
          <a:lstStyle>
            <a:lvl1pPr marL="0" indent="0">
              <a:buNone/>
              <a:defRPr b="1" i="0">
                <a:latin typeface="Plus Jakarta Sans" pitchFamily="2" charset="77"/>
                <a:cs typeface="Plus Jakarta Sa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600" b="1" i="0" u="none" strike="noStrike" kern="1200" cap="none" spc="0" normalizeH="0" baseline="0" noProof="0">
                <a:ln>
                  <a:noFill/>
                </a:ln>
                <a:solidFill>
                  <a:srgbClr val="6E8DFF"/>
                </a:solidFill>
                <a:effectLst/>
                <a:uLnTx/>
                <a:uFillTx/>
                <a:latin typeface="Plus Jakarta Sans ExtraBold" pitchFamily="2" charset="77"/>
                <a:ea typeface="Noto Sans" panose="020B0502040504020204" pitchFamily="34" charset="0"/>
                <a:cs typeface="Plus Jakarta Sans ExtraBold" pitchFamily="2" charset="77"/>
              </a:rPr>
              <a:t>Titre de la présentation</a:t>
            </a:r>
          </a:p>
        </p:txBody>
      </p:sp>
    </p:spTree>
    <p:extLst>
      <p:ext uri="{BB962C8B-B14F-4D97-AF65-F5344CB8AC3E}">
        <p14:creationId xmlns:p14="http://schemas.microsoft.com/office/powerpoint/2010/main" val="1102482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rcalaire Bleu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F08085D-A091-AAF0-15AB-7F150712F8E5}"/>
              </a:ext>
            </a:extLst>
          </p:cNvPr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 b="1">
              <a:solidFill>
                <a:srgbClr val="1A1C3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Espace réservé pour une image  16">
            <a:extLst>
              <a:ext uri="{FF2B5EF4-FFF2-40B4-BE49-F238E27FC236}">
                <a16:creationId xmlns:a16="http://schemas.microsoft.com/office/drawing/2014/main" id="{970B1F16-6576-CFC1-1DEE-1F3A3188CCE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5999" y="0"/>
            <a:ext cx="6094473" cy="68580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/>
            </a:lvl1pPr>
          </a:lstStyle>
          <a:p>
            <a:r>
              <a:rPr lang="fr-FR"/>
              <a:t>Insérer une image dans les tons bleus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2925EBB3-03A8-FA25-9906-7AAF1993380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3992" y="4050286"/>
            <a:ext cx="5127401" cy="593725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accent2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/>
              <a:t>Partie 0 :</a:t>
            </a:r>
          </a:p>
        </p:txBody>
      </p:sp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509AF101-78C2-51C1-ECBA-8DB9F6BFE1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5330" y="4557439"/>
            <a:ext cx="5146063" cy="8636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 i="0">
                <a:solidFill>
                  <a:schemeClr val="accent2"/>
                </a:solidFill>
                <a:latin typeface="Plus Jakarta Sans SemiBold" pitchFamily="2" charset="77"/>
                <a:cs typeface="Plus Jakarta Sans SemiBold" pitchFamily="2" charset="77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grpSp>
        <p:nvGrpSpPr>
          <p:cNvPr id="4" name="Graphique 3">
            <a:extLst>
              <a:ext uri="{FF2B5EF4-FFF2-40B4-BE49-F238E27FC236}">
                <a16:creationId xmlns:a16="http://schemas.microsoft.com/office/drawing/2014/main" id="{A8057DFD-79F4-3274-6C5B-46F90D296C5F}"/>
              </a:ext>
            </a:extLst>
          </p:cNvPr>
          <p:cNvGrpSpPr/>
          <p:nvPr/>
        </p:nvGrpSpPr>
        <p:grpSpPr>
          <a:xfrm>
            <a:off x="612225" y="3155563"/>
            <a:ext cx="739702" cy="475141"/>
            <a:chOff x="612225" y="3155563"/>
            <a:chExt cx="739702" cy="475141"/>
          </a:xfrm>
          <a:solidFill>
            <a:schemeClr val="accent2"/>
          </a:solidFill>
        </p:grpSpPr>
        <p:sp>
          <p:nvSpPr>
            <p:cNvPr id="5" name="Forme libre 4">
              <a:extLst>
                <a:ext uri="{FF2B5EF4-FFF2-40B4-BE49-F238E27FC236}">
                  <a16:creationId xmlns:a16="http://schemas.microsoft.com/office/drawing/2014/main" id="{84413371-60DA-E714-0221-D55E6D0FB0E4}"/>
                </a:ext>
              </a:extLst>
            </p:cNvPr>
            <p:cNvSpPr/>
            <p:nvPr/>
          </p:nvSpPr>
          <p:spPr>
            <a:xfrm>
              <a:off x="818751" y="3155563"/>
              <a:ext cx="306839" cy="474600"/>
            </a:xfrm>
            <a:custGeom>
              <a:avLst/>
              <a:gdLst>
                <a:gd name="connsiteX0" fmla="*/ 171403 w 306839"/>
                <a:gd name="connsiteY0" fmla="*/ 56281 h 474600"/>
                <a:gd name="connsiteX1" fmla="*/ 123635 w 306839"/>
                <a:gd name="connsiteY1" fmla="*/ 166678 h 474600"/>
                <a:gd name="connsiteX2" fmla="*/ 101718 w 306839"/>
                <a:gd name="connsiteY2" fmla="*/ 321992 h 474600"/>
                <a:gd name="connsiteX3" fmla="*/ 0 w 306839"/>
                <a:gd name="connsiteY3" fmla="*/ 474600 h 474600"/>
                <a:gd name="connsiteX4" fmla="*/ 13487 w 306839"/>
                <a:gd name="connsiteY4" fmla="*/ 474600 h 474600"/>
                <a:gd name="connsiteX5" fmla="*/ 135436 w 306839"/>
                <a:gd name="connsiteY5" fmla="*/ 418319 h 474600"/>
                <a:gd name="connsiteX6" fmla="*/ 183204 w 306839"/>
                <a:gd name="connsiteY6" fmla="*/ 307922 h 474600"/>
                <a:gd name="connsiteX7" fmla="*/ 205122 w 306839"/>
                <a:gd name="connsiteY7" fmla="*/ 152608 h 474600"/>
                <a:gd name="connsiteX8" fmla="*/ 306839 w 306839"/>
                <a:gd name="connsiteY8" fmla="*/ 0 h 474600"/>
                <a:gd name="connsiteX9" fmla="*/ 293352 w 306839"/>
                <a:gd name="connsiteY9" fmla="*/ 0 h 474600"/>
                <a:gd name="connsiteX10" fmla="*/ 171403 w 306839"/>
                <a:gd name="connsiteY10" fmla="*/ 56281 h 47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6839" h="474600">
                  <a:moveTo>
                    <a:pt x="171403" y="56281"/>
                  </a:moveTo>
                  <a:cubicBezTo>
                    <a:pt x="146114" y="84421"/>
                    <a:pt x="130379" y="121762"/>
                    <a:pt x="123635" y="166678"/>
                  </a:cubicBezTo>
                  <a:lnTo>
                    <a:pt x="101718" y="321992"/>
                  </a:lnTo>
                  <a:cubicBezTo>
                    <a:pt x="93288" y="382603"/>
                    <a:pt x="55074" y="439425"/>
                    <a:pt x="0" y="474600"/>
                  </a:cubicBezTo>
                  <a:cubicBezTo>
                    <a:pt x="4496" y="474600"/>
                    <a:pt x="8992" y="474600"/>
                    <a:pt x="13487" y="474600"/>
                  </a:cubicBezTo>
                  <a:cubicBezTo>
                    <a:pt x="58446" y="474600"/>
                    <a:pt x="102842" y="454577"/>
                    <a:pt x="135436" y="418319"/>
                  </a:cubicBezTo>
                  <a:cubicBezTo>
                    <a:pt x="160725" y="390179"/>
                    <a:pt x="176461" y="352839"/>
                    <a:pt x="183204" y="307922"/>
                  </a:cubicBezTo>
                  <a:lnTo>
                    <a:pt x="205122" y="152608"/>
                  </a:lnTo>
                  <a:cubicBezTo>
                    <a:pt x="213551" y="91998"/>
                    <a:pt x="251766" y="35176"/>
                    <a:pt x="306839" y="0"/>
                  </a:cubicBezTo>
                  <a:cubicBezTo>
                    <a:pt x="302344" y="0"/>
                    <a:pt x="297848" y="0"/>
                    <a:pt x="293352" y="0"/>
                  </a:cubicBezTo>
                  <a:cubicBezTo>
                    <a:pt x="248394" y="0"/>
                    <a:pt x="203998" y="20023"/>
                    <a:pt x="171403" y="5628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6" name="Forme libre 5">
              <a:extLst>
                <a:ext uri="{FF2B5EF4-FFF2-40B4-BE49-F238E27FC236}">
                  <a16:creationId xmlns:a16="http://schemas.microsoft.com/office/drawing/2014/main" id="{687FD5A5-D0B6-1DE9-67B2-A1F68C96197C}"/>
                </a:ext>
              </a:extLst>
            </p:cNvPr>
            <p:cNvSpPr/>
            <p:nvPr/>
          </p:nvSpPr>
          <p:spPr>
            <a:xfrm>
              <a:off x="612225" y="3160974"/>
              <a:ext cx="222823" cy="456200"/>
            </a:xfrm>
            <a:custGeom>
              <a:avLst/>
              <a:gdLst>
                <a:gd name="connsiteX0" fmla="*/ 138527 w 222823"/>
                <a:gd name="connsiteY0" fmla="*/ 104986 h 456200"/>
                <a:gd name="connsiteX1" fmla="*/ 195849 w 222823"/>
                <a:gd name="connsiteY1" fmla="*/ 76304 h 456200"/>
                <a:gd name="connsiteX2" fmla="*/ 195849 w 222823"/>
                <a:gd name="connsiteY2" fmla="*/ 0 h 456200"/>
                <a:gd name="connsiteX3" fmla="*/ 160444 w 222823"/>
                <a:gd name="connsiteY3" fmla="*/ 9200 h 456200"/>
                <a:gd name="connsiteX4" fmla="*/ 64908 w 222823"/>
                <a:gd name="connsiteY4" fmla="*/ 70351 h 456200"/>
                <a:gd name="connsiteX5" fmla="*/ 64908 w 222823"/>
                <a:gd name="connsiteY5" fmla="*/ 70351 h 456200"/>
                <a:gd name="connsiteX6" fmla="*/ 64908 w 222823"/>
                <a:gd name="connsiteY6" fmla="*/ 70351 h 456200"/>
                <a:gd name="connsiteX7" fmla="*/ 64908 w 222823"/>
                <a:gd name="connsiteY7" fmla="*/ 393967 h 456200"/>
                <a:gd name="connsiteX8" fmla="*/ 64908 w 222823"/>
                <a:gd name="connsiteY8" fmla="*/ 393967 h 456200"/>
                <a:gd name="connsiteX9" fmla="*/ 163254 w 222823"/>
                <a:gd name="connsiteY9" fmla="*/ 456201 h 456200"/>
                <a:gd name="connsiteX10" fmla="*/ 222824 w 222823"/>
                <a:gd name="connsiteY10" fmla="*/ 393426 h 456200"/>
                <a:gd name="connsiteX11" fmla="*/ 81206 w 222823"/>
                <a:gd name="connsiteY11" fmla="*/ 276534 h 456200"/>
                <a:gd name="connsiteX12" fmla="*/ 137965 w 222823"/>
                <a:gd name="connsiteY12" fmla="*/ 104986 h 45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2823" h="456200">
                  <a:moveTo>
                    <a:pt x="138527" y="104986"/>
                  </a:moveTo>
                  <a:cubicBezTo>
                    <a:pt x="155387" y="91998"/>
                    <a:pt x="175056" y="82257"/>
                    <a:pt x="195849" y="76304"/>
                  </a:cubicBezTo>
                  <a:lnTo>
                    <a:pt x="195849" y="0"/>
                  </a:lnTo>
                  <a:cubicBezTo>
                    <a:pt x="183485" y="2165"/>
                    <a:pt x="171684" y="5412"/>
                    <a:pt x="160444" y="9200"/>
                  </a:cubicBezTo>
                  <a:cubicBezTo>
                    <a:pt x="123354" y="21647"/>
                    <a:pt x="90759" y="43293"/>
                    <a:pt x="64908" y="70351"/>
                  </a:cubicBezTo>
                  <a:cubicBezTo>
                    <a:pt x="64908" y="70351"/>
                    <a:pt x="64908" y="70351"/>
                    <a:pt x="64908" y="70351"/>
                  </a:cubicBezTo>
                  <a:lnTo>
                    <a:pt x="64908" y="70351"/>
                  </a:lnTo>
                  <a:cubicBezTo>
                    <a:pt x="-21636" y="160184"/>
                    <a:pt x="-21636" y="304134"/>
                    <a:pt x="64908" y="393967"/>
                  </a:cubicBezTo>
                  <a:lnTo>
                    <a:pt x="64908" y="393967"/>
                  </a:lnTo>
                  <a:cubicBezTo>
                    <a:pt x="91883" y="422107"/>
                    <a:pt x="126164" y="443754"/>
                    <a:pt x="163254" y="456201"/>
                  </a:cubicBezTo>
                  <a:cubicBezTo>
                    <a:pt x="187419" y="439425"/>
                    <a:pt x="207650" y="417778"/>
                    <a:pt x="222824" y="393426"/>
                  </a:cubicBezTo>
                  <a:cubicBezTo>
                    <a:pt x="156511" y="386391"/>
                    <a:pt x="99189" y="339309"/>
                    <a:pt x="81206" y="276534"/>
                  </a:cubicBezTo>
                  <a:cubicBezTo>
                    <a:pt x="63222" y="213760"/>
                    <a:pt x="86263" y="145032"/>
                    <a:pt x="137965" y="10498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7" name="Forme libre 6">
              <a:extLst>
                <a:ext uri="{FF2B5EF4-FFF2-40B4-BE49-F238E27FC236}">
                  <a16:creationId xmlns:a16="http://schemas.microsoft.com/office/drawing/2014/main" id="{64131AB6-0BB8-2848-A3E3-46E85CCCD7B2}"/>
                </a:ext>
              </a:extLst>
            </p:cNvPr>
            <p:cNvSpPr/>
            <p:nvPr/>
          </p:nvSpPr>
          <p:spPr>
            <a:xfrm>
              <a:off x="1116037" y="3166927"/>
              <a:ext cx="235889" cy="463776"/>
            </a:xfrm>
            <a:custGeom>
              <a:avLst/>
              <a:gdLst>
                <a:gd name="connsiteX0" fmla="*/ 60694 w 235889"/>
                <a:gd name="connsiteY0" fmla="*/ 0 h 463776"/>
                <a:gd name="connsiteX1" fmla="*/ 0 w 235889"/>
                <a:gd name="connsiteY1" fmla="*/ 63316 h 463776"/>
                <a:gd name="connsiteX2" fmla="*/ 152296 w 235889"/>
                <a:gd name="connsiteY2" fmla="*/ 182913 h 463776"/>
                <a:gd name="connsiteX3" fmla="*/ 94412 w 235889"/>
                <a:gd name="connsiteY3" fmla="*/ 356085 h 463776"/>
                <a:gd name="connsiteX4" fmla="*/ 23603 w 235889"/>
                <a:gd name="connsiteY4" fmla="*/ 387473 h 463776"/>
                <a:gd name="connsiteX5" fmla="*/ 23603 w 235889"/>
                <a:gd name="connsiteY5" fmla="*/ 463777 h 463776"/>
                <a:gd name="connsiteX6" fmla="*/ 71933 w 235889"/>
                <a:gd name="connsiteY6" fmla="*/ 452413 h 463776"/>
                <a:gd name="connsiteX7" fmla="*/ 169717 w 235889"/>
                <a:gd name="connsiteY7" fmla="*/ 390720 h 463776"/>
                <a:gd name="connsiteX8" fmla="*/ 169717 w 235889"/>
                <a:gd name="connsiteY8" fmla="*/ 390720 h 463776"/>
                <a:gd name="connsiteX9" fmla="*/ 169717 w 235889"/>
                <a:gd name="connsiteY9" fmla="*/ 390720 h 463776"/>
                <a:gd name="connsiteX10" fmla="*/ 169717 w 235889"/>
                <a:gd name="connsiteY10" fmla="*/ 64398 h 463776"/>
                <a:gd name="connsiteX11" fmla="*/ 169717 w 235889"/>
                <a:gd name="connsiteY11" fmla="*/ 64398 h 463776"/>
                <a:gd name="connsiteX12" fmla="*/ 61255 w 235889"/>
                <a:gd name="connsiteY12" fmla="*/ 541 h 463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5889" h="463776">
                  <a:moveTo>
                    <a:pt x="60694" y="0"/>
                  </a:moveTo>
                  <a:cubicBezTo>
                    <a:pt x="35967" y="17317"/>
                    <a:pt x="15173" y="38964"/>
                    <a:pt x="0" y="63316"/>
                  </a:cubicBezTo>
                  <a:cubicBezTo>
                    <a:pt x="67437" y="70351"/>
                    <a:pt x="133751" y="119597"/>
                    <a:pt x="152296" y="182913"/>
                  </a:cubicBezTo>
                  <a:cubicBezTo>
                    <a:pt x="170841" y="246229"/>
                    <a:pt x="147238" y="315498"/>
                    <a:pt x="94412" y="356085"/>
                  </a:cubicBezTo>
                  <a:cubicBezTo>
                    <a:pt x="73619" y="371779"/>
                    <a:pt x="49454" y="382603"/>
                    <a:pt x="23603" y="387473"/>
                  </a:cubicBezTo>
                  <a:lnTo>
                    <a:pt x="23603" y="463777"/>
                  </a:lnTo>
                  <a:cubicBezTo>
                    <a:pt x="40462" y="461612"/>
                    <a:pt x="56760" y="457824"/>
                    <a:pt x="71933" y="452413"/>
                  </a:cubicBezTo>
                  <a:cubicBezTo>
                    <a:pt x="109585" y="439425"/>
                    <a:pt x="142742" y="418319"/>
                    <a:pt x="169717" y="390720"/>
                  </a:cubicBezTo>
                  <a:cubicBezTo>
                    <a:pt x="169717" y="390720"/>
                    <a:pt x="169717" y="390720"/>
                    <a:pt x="169717" y="390720"/>
                  </a:cubicBezTo>
                  <a:lnTo>
                    <a:pt x="169717" y="390720"/>
                  </a:lnTo>
                  <a:cubicBezTo>
                    <a:pt x="257947" y="299805"/>
                    <a:pt x="257947" y="154773"/>
                    <a:pt x="169717" y="64398"/>
                  </a:cubicBezTo>
                  <a:lnTo>
                    <a:pt x="169717" y="64398"/>
                  </a:lnTo>
                  <a:cubicBezTo>
                    <a:pt x="142180" y="35717"/>
                    <a:pt x="99470" y="12988"/>
                    <a:pt x="61255" y="54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1103413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rcalaire Vert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38E555E-C0E8-CE17-7DC3-AB0395393FE7}"/>
              </a:ext>
            </a:extLst>
          </p:cNvPr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 b="1">
              <a:solidFill>
                <a:srgbClr val="1A1C3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Espace réservé pour une image  16">
            <a:extLst>
              <a:ext uri="{FF2B5EF4-FFF2-40B4-BE49-F238E27FC236}">
                <a16:creationId xmlns:a16="http://schemas.microsoft.com/office/drawing/2014/main" id="{970B1F16-6576-CFC1-1DEE-1F3A3188CCE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5999" y="0"/>
            <a:ext cx="6094473" cy="68580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/>
            </a:lvl1pPr>
          </a:lstStyle>
          <a:p>
            <a:r>
              <a:rPr lang="fr-FR"/>
              <a:t>Insérer une image dans les tons verts</a:t>
            </a:r>
          </a:p>
        </p:txBody>
      </p:sp>
      <p:grpSp>
        <p:nvGrpSpPr>
          <p:cNvPr id="2" name="Graphique 3">
            <a:extLst>
              <a:ext uri="{FF2B5EF4-FFF2-40B4-BE49-F238E27FC236}">
                <a16:creationId xmlns:a16="http://schemas.microsoft.com/office/drawing/2014/main" id="{4FC4A916-2E09-1849-C721-62B87DC430FC}"/>
              </a:ext>
            </a:extLst>
          </p:cNvPr>
          <p:cNvGrpSpPr/>
          <p:nvPr/>
        </p:nvGrpSpPr>
        <p:grpSpPr>
          <a:xfrm>
            <a:off x="612225" y="3155563"/>
            <a:ext cx="739702" cy="475141"/>
            <a:chOff x="612225" y="3155563"/>
            <a:chExt cx="739702" cy="475141"/>
          </a:xfrm>
          <a:solidFill>
            <a:schemeClr val="accent6"/>
          </a:solidFill>
        </p:grpSpPr>
        <p:sp>
          <p:nvSpPr>
            <p:cNvPr id="5" name="Forme libre 4">
              <a:extLst>
                <a:ext uri="{FF2B5EF4-FFF2-40B4-BE49-F238E27FC236}">
                  <a16:creationId xmlns:a16="http://schemas.microsoft.com/office/drawing/2014/main" id="{E9B8E1BC-7089-2ED0-79E4-39F4A09BA8ED}"/>
                </a:ext>
              </a:extLst>
            </p:cNvPr>
            <p:cNvSpPr/>
            <p:nvPr/>
          </p:nvSpPr>
          <p:spPr>
            <a:xfrm>
              <a:off x="818751" y="3155563"/>
              <a:ext cx="306839" cy="474600"/>
            </a:xfrm>
            <a:custGeom>
              <a:avLst/>
              <a:gdLst>
                <a:gd name="connsiteX0" fmla="*/ 171403 w 306839"/>
                <a:gd name="connsiteY0" fmla="*/ 56281 h 474600"/>
                <a:gd name="connsiteX1" fmla="*/ 123635 w 306839"/>
                <a:gd name="connsiteY1" fmla="*/ 166678 h 474600"/>
                <a:gd name="connsiteX2" fmla="*/ 101718 w 306839"/>
                <a:gd name="connsiteY2" fmla="*/ 321992 h 474600"/>
                <a:gd name="connsiteX3" fmla="*/ 0 w 306839"/>
                <a:gd name="connsiteY3" fmla="*/ 474600 h 474600"/>
                <a:gd name="connsiteX4" fmla="*/ 13487 w 306839"/>
                <a:gd name="connsiteY4" fmla="*/ 474600 h 474600"/>
                <a:gd name="connsiteX5" fmla="*/ 135436 w 306839"/>
                <a:gd name="connsiteY5" fmla="*/ 418319 h 474600"/>
                <a:gd name="connsiteX6" fmla="*/ 183204 w 306839"/>
                <a:gd name="connsiteY6" fmla="*/ 307922 h 474600"/>
                <a:gd name="connsiteX7" fmla="*/ 205122 w 306839"/>
                <a:gd name="connsiteY7" fmla="*/ 152608 h 474600"/>
                <a:gd name="connsiteX8" fmla="*/ 306839 w 306839"/>
                <a:gd name="connsiteY8" fmla="*/ 0 h 474600"/>
                <a:gd name="connsiteX9" fmla="*/ 293352 w 306839"/>
                <a:gd name="connsiteY9" fmla="*/ 0 h 474600"/>
                <a:gd name="connsiteX10" fmla="*/ 171403 w 306839"/>
                <a:gd name="connsiteY10" fmla="*/ 56281 h 47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6839" h="474600">
                  <a:moveTo>
                    <a:pt x="171403" y="56281"/>
                  </a:moveTo>
                  <a:cubicBezTo>
                    <a:pt x="146114" y="84421"/>
                    <a:pt x="130379" y="121762"/>
                    <a:pt x="123635" y="166678"/>
                  </a:cubicBezTo>
                  <a:lnTo>
                    <a:pt x="101718" y="321992"/>
                  </a:lnTo>
                  <a:cubicBezTo>
                    <a:pt x="93288" y="382603"/>
                    <a:pt x="55074" y="439425"/>
                    <a:pt x="0" y="474600"/>
                  </a:cubicBezTo>
                  <a:cubicBezTo>
                    <a:pt x="4496" y="474600"/>
                    <a:pt x="8992" y="474600"/>
                    <a:pt x="13487" y="474600"/>
                  </a:cubicBezTo>
                  <a:cubicBezTo>
                    <a:pt x="58446" y="474600"/>
                    <a:pt x="102842" y="454577"/>
                    <a:pt x="135436" y="418319"/>
                  </a:cubicBezTo>
                  <a:cubicBezTo>
                    <a:pt x="160725" y="390179"/>
                    <a:pt x="176461" y="352839"/>
                    <a:pt x="183204" y="307922"/>
                  </a:cubicBezTo>
                  <a:lnTo>
                    <a:pt x="205122" y="152608"/>
                  </a:lnTo>
                  <a:cubicBezTo>
                    <a:pt x="213551" y="91998"/>
                    <a:pt x="251766" y="35176"/>
                    <a:pt x="306839" y="0"/>
                  </a:cubicBezTo>
                  <a:cubicBezTo>
                    <a:pt x="302344" y="0"/>
                    <a:pt x="297848" y="0"/>
                    <a:pt x="293352" y="0"/>
                  </a:cubicBezTo>
                  <a:cubicBezTo>
                    <a:pt x="248394" y="0"/>
                    <a:pt x="203998" y="20023"/>
                    <a:pt x="171403" y="5628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6" name="Forme libre 5">
              <a:extLst>
                <a:ext uri="{FF2B5EF4-FFF2-40B4-BE49-F238E27FC236}">
                  <a16:creationId xmlns:a16="http://schemas.microsoft.com/office/drawing/2014/main" id="{A1A7B245-776E-8039-3754-0C298FF41FFD}"/>
                </a:ext>
              </a:extLst>
            </p:cNvPr>
            <p:cNvSpPr/>
            <p:nvPr/>
          </p:nvSpPr>
          <p:spPr>
            <a:xfrm>
              <a:off x="612225" y="3160974"/>
              <a:ext cx="222823" cy="456200"/>
            </a:xfrm>
            <a:custGeom>
              <a:avLst/>
              <a:gdLst>
                <a:gd name="connsiteX0" fmla="*/ 138527 w 222823"/>
                <a:gd name="connsiteY0" fmla="*/ 104986 h 456200"/>
                <a:gd name="connsiteX1" fmla="*/ 195849 w 222823"/>
                <a:gd name="connsiteY1" fmla="*/ 76304 h 456200"/>
                <a:gd name="connsiteX2" fmla="*/ 195849 w 222823"/>
                <a:gd name="connsiteY2" fmla="*/ 0 h 456200"/>
                <a:gd name="connsiteX3" fmla="*/ 160444 w 222823"/>
                <a:gd name="connsiteY3" fmla="*/ 9200 h 456200"/>
                <a:gd name="connsiteX4" fmla="*/ 64908 w 222823"/>
                <a:gd name="connsiteY4" fmla="*/ 70351 h 456200"/>
                <a:gd name="connsiteX5" fmla="*/ 64908 w 222823"/>
                <a:gd name="connsiteY5" fmla="*/ 70351 h 456200"/>
                <a:gd name="connsiteX6" fmla="*/ 64908 w 222823"/>
                <a:gd name="connsiteY6" fmla="*/ 70351 h 456200"/>
                <a:gd name="connsiteX7" fmla="*/ 64908 w 222823"/>
                <a:gd name="connsiteY7" fmla="*/ 393967 h 456200"/>
                <a:gd name="connsiteX8" fmla="*/ 64908 w 222823"/>
                <a:gd name="connsiteY8" fmla="*/ 393967 h 456200"/>
                <a:gd name="connsiteX9" fmla="*/ 163254 w 222823"/>
                <a:gd name="connsiteY9" fmla="*/ 456201 h 456200"/>
                <a:gd name="connsiteX10" fmla="*/ 222824 w 222823"/>
                <a:gd name="connsiteY10" fmla="*/ 393426 h 456200"/>
                <a:gd name="connsiteX11" fmla="*/ 81206 w 222823"/>
                <a:gd name="connsiteY11" fmla="*/ 276534 h 456200"/>
                <a:gd name="connsiteX12" fmla="*/ 137965 w 222823"/>
                <a:gd name="connsiteY12" fmla="*/ 104986 h 45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2823" h="456200">
                  <a:moveTo>
                    <a:pt x="138527" y="104986"/>
                  </a:moveTo>
                  <a:cubicBezTo>
                    <a:pt x="155387" y="91998"/>
                    <a:pt x="175056" y="82257"/>
                    <a:pt x="195849" y="76304"/>
                  </a:cubicBezTo>
                  <a:lnTo>
                    <a:pt x="195849" y="0"/>
                  </a:lnTo>
                  <a:cubicBezTo>
                    <a:pt x="183485" y="2165"/>
                    <a:pt x="171684" y="5412"/>
                    <a:pt x="160444" y="9200"/>
                  </a:cubicBezTo>
                  <a:cubicBezTo>
                    <a:pt x="123354" y="21647"/>
                    <a:pt x="90759" y="43293"/>
                    <a:pt x="64908" y="70351"/>
                  </a:cubicBezTo>
                  <a:cubicBezTo>
                    <a:pt x="64908" y="70351"/>
                    <a:pt x="64908" y="70351"/>
                    <a:pt x="64908" y="70351"/>
                  </a:cubicBezTo>
                  <a:lnTo>
                    <a:pt x="64908" y="70351"/>
                  </a:lnTo>
                  <a:cubicBezTo>
                    <a:pt x="-21636" y="160184"/>
                    <a:pt x="-21636" y="304134"/>
                    <a:pt x="64908" y="393967"/>
                  </a:cubicBezTo>
                  <a:lnTo>
                    <a:pt x="64908" y="393967"/>
                  </a:lnTo>
                  <a:cubicBezTo>
                    <a:pt x="91883" y="422107"/>
                    <a:pt x="126164" y="443754"/>
                    <a:pt x="163254" y="456201"/>
                  </a:cubicBezTo>
                  <a:cubicBezTo>
                    <a:pt x="187419" y="439425"/>
                    <a:pt x="207650" y="417778"/>
                    <a:pt x="222824" y="393426"/>
                  </a:cubicBezTo>
                  <a:cubicBezTo>
                    <a:pt x="156511" y="386391"/>
                    <a:pt x="99189" y="339309"/>
                    <a:pt x="81206" y="276534"/>
                  </a:cubicBezTo>
                  <a:cubicBezTo>
                    <a:pt x="63222" y="213760"/>
                    <a:pt x="86263" y="145032"/>
                    <a:pt x="137965" y="10498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7" name="Forme libre 6">
              <a:extLst>
                <a:ext uri="{FF2B5EF4-FFF2-40B4-BE49-F238E27FC236}">
                  <a16:creationId xmlns:a16="http://schemas.microsoft.com/office/drawing/2014/main" id="{558B6826-A06C-DEC8-018E-12A0CA30CF47}"/>
                </a:ext>
              </a:extLst>
            </p:cNvPr>
            <p:cNvSpPr/>
            <p:nvPr/>
          </p:nvSpPr>
          <p:spPr>
            <a:xfrm>
              <a:off x="1116037" y="3166927"/>
              <a:ext cx="235889" cy="463776"/>
            </a:xfrm>
            <a:custGeom>
              <a:avLst/>
              <a:gdLst>
                <a:gd name="connsiteX0" fmla="*/ 60694 w 235889"/>
                <a:gd name="connsiteY0" fmla="*/ 0 h 463776"/>
                <a:gd name="connsiteX1" fmla="*/ 0 w 235889"/>
                <a:gd name="connsiteY1" fmla="*/ 63316 h 463776"/>
                <a:gd name="connsiteX2" fmla="*/ 152296 w 235889"/>
                <a:gd name="connsiteY2" fmla="*/ 182913 h 463776"/>
                <a:gd name="connsiteX3" fmla="*/ 94412 w 235889"/>
                <a:gd name="connsiteY3" fmla="*/ 356085 h 463776"/>
                <a:gd name="connsiteX4" fmla="*/ 23603 w 235889"/>
                <a:gd name="connsiteY4" fmla="*/ 387473 h 463776"/>
                <a:gd name="connsiteX5" fmla="*/ 23603 w 235889"/>
                <a:gd name="connsiteY5" fmla="*/ 463777 h 463776"/>
                <a:gd name="connsiteX6" fmla="*/ 71933 w 235889"/>
                <a:gd name="connsiteY6" fmla="*/ 452413 h 463776"/>
                <a:gd name="connsiteX7" fmla="*/ 169717 w 235889"/>
                <a:gd name="connsiteY7" fmla="*/ 390720 h 463776"/>
                <a:gd name="connsiteX8" fmla="*/ 169717 w 235889"/>
                <a:gd name="connsiteY8" fmla="*/ 390720 h 463776"/>
                <a:gd name="connsiteX9" fmla="*/ 169717 w 235889"/>
                <a:gd name="connsiteY9" fmla="*/ 390720 h 463776"/>
                <a:gd name="connsiteX10" fmla="*/ 169717 w 235889"/>
                <a:gd name="connsiteY10" fmla="*/ 64398 h 463776"/>
                <a:gd name="connsiteX11" fmla="*/ 169717 w 235889"/>
                <a:gd name="connsiteY11" fmla="*/ 64398 h 463776"/>
                <a:gd name="connsiteX12" fmla="*/ 61255 w 235889"/>
                <a:gd name="connsiteY12" fmla="*/ 541 h 463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5889" h="463776">
                  <a:moveTo>
                    <a:pt x="60694" y="0"/>
                  </a:moveTo>
                  <a:cubicBezTo>
                    <a:pt x="35967" y="17317"/>
                    <a:pt x="15173" y="38964"/>
                    <a:pt x="0" y="63316"/>
                  </a:cubicBezTo>
                  <a:cubicBezTo>
                    <a:pt x="67437" y="70351"/>
                    <a:pt x="133751" y="119597"/>
                    <a:pt x="152296" y="182913"/>
                  </a:cubicBezTo>
                  <a:cubicBezTo>
                    <a:pt x="170841" y="246229"/>
                    <a:pt x="147238" y="315498"/>
                    <a:pt x="94412" y="356085"/>
                  </a:cubicBezTo>
                  <a:cubicBezTo>
                    <a:pt x="73619" y="371779"/>
                    <a:pt x="49454" y="382603"/>
                    <a:pt x="23603" y="387473"/>
                  </a:cubicBezTo>
                  <a:lnTo>
                    <a:pt x="23603" y="463777"/>
                  </a:lnTo>
                  <a:cubicBezTo>
                    <a:pt x="40462" y="461612"/>
                    <a:pt x="56760" y="457824"/>
                    <a:pt x="71933" y="452413"/>
                  </a:cubicBezTo>
                  <a:cubicBezTo>
                    <a:pt x="109585" y="439425"/>
                    <a:pt x="142742" y="418319"/>
                    <a:pt x="169717" y="390720"/>
                  </a:cubicBezTo>
                  <a:cubicBezTo>
                    <a:pt x="169717" y="390720"/>
                    <a:pt x="169717" y="390720"/>
                    <a:pt x="169717" y="390720"/>
                  </a:cubicBezTo>
                  <a:lnTo>
                    <a:pt x="169717" y="390720"/>
                  </a:lnTo>
                  <a:cubicBezTo>
                    <a:pt x="257947" y="299805"/>
                    <a:pt x="257947" y="154773"/>
                    <a:pt x="169717" y="64398"/>
                  </a:cubicBezTo>
                  <a:lnTo>
                    <a:pt x="169717" y="64398"/>
                  </a:lnTo>
                  <a:cubicBezTo>
                    <a:pt x="142180" y="35717"/>
                    <a:pt x="99470" y="12988"/>
                    <a:pt x="61255" y="54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13" name="Espace réservé du texte 8">
            <a:extLst>
              <a:ext uri="{FF2B5EF4-FFF2-40B4-BE49-F238E27FC236}">
                <a16:creationId xmlns:a16="http://schemas.microsoft.com/office/drawing/2014/main" id="{C1E81CD5-827E-939B-673D-ACF7F21DA45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3992" y="4051760"/>
            <a:ext cx="5127401" cy="593725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accent6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/>
              <a:t>Partie 0 :</a:t>
            </a:r>
          </a:p>
        </p:txBody>
      </p:sp>
      <p:sp>
        <p:nvSpPr>
          <p:cNvPr id="14" name="Espace réservé du texte 8">
            <a:extLst>
              <a:ext uri="{FF2B5EF4-FFF2-40B4-BE49-F238E27FC236}">
                <a16:creationId xmlns:a16="http://schemas.microsoft.com/office/drawing/2014/main" id="{C40B2A5C-FEB3-EB99-9204-C382D3A971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5330" y="4557439"/>
            <a:ext cx="5146063" cy="8636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 i="0">
                <a:solidFill>
                  <a:schemeClr val="accent6"/>
                </a:solidFill>
                <a:latin typeface="Plus Jakarta Sans SemiBold" pitchFamily="2" charset="77"/>
                <a:cs typeface="Plus Jakarta Sans SemiBold" pitchFamily="2" charset="77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749029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rcalaire Rouge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38E555E-C0E8-CE17-7DC3-AB0395393FE7}"/>
              </a:ext>
            </a:extLst>
          </p:cNvPr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 b="1">
              <a:solidFill>
                <a:srgbClr val="1A1C3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Espace réservé pour une image  16">
            <a:extLst>
              <a:ext uri="{FF2B5EF4-FFF2-40B4-BE49-F238E27FC236}">
                <a16:creationId xmlns:a16="http://schemas.microsoft.com/office/drawing/2014/main" id="{970B1F16-6576-CFC1-1DEE-1F3A3188CCE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5999" y="0"/>
            <a:ext cx="6094473" cy="68580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/>
            </a:lvl1pPr>
          </a:lstStyle>
          <a:p>
            <a:r>
              <a:rPr lang="fr-FR"/>
              <a:t>Insérer une image dans les tons rouges</a:t>
            </a:r>
          </a:p>
        </p:txBody>
      </p:sp>
      <p:grpSp>
        <p:nvGrpSpPr>
          <p:cNvPr id="2" name="Graphique 3">
            <a:extLst>
              <a:ext uri="{FF2B5EF4-FFF2-40B4-BE49-F238E27FC236}">
                <a16:creationId xmlns:a16="http://schemas.microsoft.com/office/drawing/2014/main" id="{4FC4A916-2E09-1849-C721-62B87DC430FC}"/>
              </a:ext>
            </a:extLst>
          </p:cNvPr>
          <p:cNvGrpSpPr/>
          <p:nvPr/>
        </p:nvGrpSpPr>
        <p:grpSpPr>
          <a:xfrm>
            <a:off x="612225" y="3155563"/>
            <a:ext cx="739702" cy="475141"/>
            <a:chOff x="612225" y="3155563"/>
            <a:chExt cx="739702" cy="475141"/>
          </a:xfrm>
          <a:solidFill>
            <a:schemeClr val="accent4"/>
          </a:solidFill>
        </p:grpSpPr>
        <p:sp>
          <p:nvSpPr>
            <p:cNvPr id="5" name="Forme libre 4">
              <a:extLst>
                <a:ext uri="{FF2B5EF4-FFF2-40B4-BE49-F238E27FC236}">
                  <a16:creationId xmlns:a16="http://schemas.microsoft.com/office/drawing/2014/main" id="{E9B8E1BC-7089-2ED0-79E4-39F4A09BA8ED}"/>
                </a:ext>
              </a:extLst>
            </p:cNvPr>
            <p:cNvSpPr/>
            <p:nvPr/>
          </p:nvSpPr>
          <p:spPr>
            <a:xfrm>
              <a:off x="818751" y="3155563"/>
              <a:ext cx="306839" cy="474600"/>
            </a:xfrm>
            <a:custGeom>
              <a:avLst/>
              <a:gdLst>
                <a:gd name="connsiteX0" fmla="*/ 171403 w 306839"/>
                <a:gd name="connsiteY0" fmla="*/ 56281 h 474600"/>
                <a:gd name="connsiteX1" fmla="*/ 123635 w 306839"/>
                <a:gd name="connsiteY1" fmla="*/ 166678 h 474600"/>
                <a:gd name="connsiteX2" fmla="*/ 101718 w 306839"/>
                <a:gd name="connsiteY2" fmla="*/ 321992 h 474600"/>
                <a:gd name="connsiteX3" fmla="*/ 0 w 306839"/>
                <a:gd name="connsiteY3" fmla="*/ 474600 h 474600"/>
                <a:gd name="connsiteX4" fmla="*/ 13487 w 306839"/>
                <a:gd name="connsiteY4" fmla="*/ 474600 h 474600"/>
                <a:gd name="connsiteX5" fmla="*/ 135436 w 306839"/>
                <a:gd name="connsiteY5" fmla="*/ 418319 h 474600"/>
                <a:gd name="connsiteX6" fmla="*/ 183204 w 306839"/>
                <a:gd name="connsiteY6" fmla="*/ 307922 h 474600"/>
                <a:gd name="connsiteX7" fmla="*/ 205122 w 306839"/>
                <a:gd name="connsiteY7" fmla="*/ 152608 h 474600"/>
                <a:gd name="connsiteX8" fmla="*/ 306839 w 306839"/>
                <a:gd name="connsiteY8" fmla="*/ 0 h 474600"/>
                <a:gd name="connsiteX9" fmla="*/ 293352 w 306839"/>
                <a:gd name="connsiteY9" fmla="*/ 0 h 474600"/>
                <a:gd name="connsiteX10" fmla="*/ 171403 w 306839"/>
                <a:gd name="connsiteY10" fmla="*/ 56281 h 47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6839" h="474600">
                  <a:moveTo>
                    <a:pt x="171403" y="56281"/>
                  </a:moveTo>
                  <a:cubicBezTo>
                    <a:pt x="146114" y="84421"/>
                    <a:pt x="130379" y="121762"/>
                    <a:pt x="123635" y="166678"/>
                  </a:cubicBezTo>
                  <a:lnTo>
                    <a:pt x="101718" y="321992"/>
                  </a:lnTo>
                  <a:cubicBezTo>
                    <a:pt x="93288" y="382603"/>
                    <a:pt x="55074" y="439425"/>
                    <a:pt x="0" y="474600"/>
                  </a:cubicBezTo>
                  <a:cubicBezTo>
                    <a:pt x="4496" y="474600"/>
                    <a:pt x="8992" y="474600"/>
                    <a:pt x="13487" y="474600"/>
                  </a:cubicBezTo>
                  <a:cubicBezTo>
                    <a:pt x="58446" y="474600"/>
                    <a:pt x="102842" y="454577"/>
                    <a:pt x="135436" y="418319"/>
                  </a:cubicBezTo>
                  <a:cubicBezTo>
                    <a:pt x="160725" y="390179"/>
                    <a:pt x="176461" y="352839"/>
                    <a:pt x="183204" y="307922"/>
                  </a:cubicBezTo>
                  <a:lnTo>
                    <a:pt x="205122" y="152608"/>
                  </a:lnTo>
                  <a:cubicBezTo>
                    <a:pt x="213551" y="91998"/>
                    <a:pt x="251766" y="35176"/>
                    <a:pt x="306839" y="0"/>
                  </a:cubicBezTo>
                  <a:cubicBezTo>
                    <a:pt x="302344" y="0"/>
                    <a:pt x="297848" y="0"/>
                    <a:pt x="293352" y="0"/>
                  </a:cubicBezTo>
                  <a:cubicBezTo>
                    <a:pt x="248394" y="0"/>
                    <a:pt x="203998" y="20023"/>
                    <a:pt x="171403" y="5628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6" name="Forme libre 5">
              <a:extLst>
                <a:ext uri="{FF2B5EF4-FFF2-40B4-BE49-F238E27FC236}">
                  <a16:creationId xmlns:a16="http://schemas.microsoft.com/office/drawing/2014/main" id="{A1A7B245-776E-8039-3754-0C298FF41FFD}"/>
                </a:ext>
              </a:extLst>
            </p:cNvPr>
            <p:cNvSpPr/>
            <p:nvPr/>
          </p:nvSpPr>
          <p:spPr>
            <a:xfrm>
              <a:off x="612225" y="3160974"/>
              <a:ext cx="222823" cy="456200"/>
            </a:xfrm>
            <a:custGeom>
              <a:avLst/>
              <a:gdLst>
                <a:gd name="connsiteX0" fmla="*/ 138527 w 222823"/>
                <a:gd name="connsiteY0" fmla="*/ 104986 h 456200"/>
                <a:gd name="connsiteX1" fmla="*/ 195849 w 222823"/>
                <a:gd name="connsiteY1" fmla="*/ 76304 h 456200"/>
                <a:gd name="connsiteX2" fmla="*/ 195849 w 222823"/>
                <a:gd name="connsiteY2" fmla="*/ 0 h 456200"/>
                <a:gd name="connsiteX3" fmla="*/ 160444 w 222823"/>
                <a:gd name="connsiteY3" fmla="*/ 9200 h 456200"/>
                <a:gd name="connsiteX4" fmla="*/ 64908 w 222823"/>
                <a:gd name="connsiteY4" fmla="*/ 70351 h 456200"/>
                <a:gd name="connsiteX5" fmla="*/ 64908 w 222823"/>
                <a:gd name="connsiteY5" fmla="*/ 70351 h 456200"/>
                <a:gd name="connsiteX6" fmla="*/ 64908 w 222823"/>
                <a:gd name="connsiteY6" fmla="*/ 70351 h 456200"/>
                <a:gd name="connsiteX7" fmla="*/ 64908 w 222823"/>
                <a:gd name="connsiteY7" fmla="*/ 393967 h 456200"/>
                <a:gd name="connsiteX8" fmla="*/ 64908 w 222823"/>
                <a:gd name="connsiteY8" fmla="*/ 393967 h 456200"/>
                <a:gd name="connsiteX9" fmla="*/ 163254 w 222823"/>
                <a:gd name="connsiteY9" fmla="*/ 456201 h 456200"/>
                <a:gd name="connsiteX10" fmla="*/ 222824 w 222823"/>
                <a:gd name="connsiteY10" fmla="*/ 393426 h 456200"/>
                <a:gd name="connsiteX11" fmla="*/ 81206 w 222823"/>
                <a:gd name="connsiteY11" fmla="*/ 276534 h 456200"/>
                <a:gd name="connsiteX12" fmla="*/ 137965 w 222823"/>
                <a:gd name="connsiteY12" fmla="*/ 104986 h 45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2823" h="456200">
                  <a:moveTo>
                    <a:pt x="138527" y="104986"/>
                  </a:moveTo>
                  <a:cubicBezTo>
                    <a:pt x="155387" y="91998"/>
                    <a:pt x="175056" y="82257"/>
                    <a:pt x="195849" y="76304"/>
                  </a:cubicBezTo>
                  <a:lnTo>
                    <a:pt x="195849" y="0"/>
                  </a:lnTo>
                  <a:cubicBezTo>
                    <a:pt x="183485" y="2165"/>
                    <a:pt x="171684" y="5412"/>
                    <a:pt x="160444" y="9200"/>
                  </a:cubicBezTo>
                  <a:cubicBezTo>
                    <a:pt x="123354" y="21647"/>
                    <a:pt x="90759" y="43293"/>
                    <a:pt x="64908" y="70351"/>
                  </a:cubicBezTo>
                  <a:cubicBezTo>
                    <a:pt x="64908" y="70351"/>
                    <a:pt x="64908" y="70351"/>
                    <a:pt x="64908" y="70351"/>
                  </a:cubicBezTo>
                  <a:lnTo>
                    <a:pt x="64908" y="70351"/>
                  </a:lnTo>
                  <a:cubicBezTo>
                    <a:pt x="-21636" y="160184"/>
                    <a:pt x="-21636" y="304134"/>
                    <a:pt x="64908" y="393967"/>
                  </a:cubicBezTo>
                  <a:lnTo>
                    <a:pt x="64908" y="393967"/>
                  </a:lnTo>
                  <a:cubicBezTo>
                    <a:pt x="91883" y="422107"/>
                    <a:pt x="126164" y="443754"/>
                    <a:pt x="163254" y="456201"/>
                  </a:cubicBezTo>
                  <a:cubicBezTo>
                    <a:pt x="187419" y="439425"/>
                    <a:pt x="207650" y="417778"/>
                    <a:pt x="222824" y="393426"/>
                  </a:cubicBezTo>
                  <a:cubicBezTo>
                    <a:pt x="156511" y="386391"/>
                    <a:pt x="99189" y="339309"/>
                    <a:pt x="81206" y="276534"/>
                  </a:cubicBezTo>
                  <a:cubicBezTo>
                    <a:pt x="63222" y="213760"/>
                    <a:pt x="86263" y="145032"/>
                    <a:pt x="137965" y="10498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7" name="Forme libre 6">
              <a:extLst>
                <a:ext uri="{FF2B5EF4-FFF2-40B4-BE49-F238E27FC236}">
                  <a16:creationId xmlns:a16="http://schemas.microsoft.com/office/drawing/2014/main" id="{558B6826-A06C-DEC8-018E-12A0CA30CF47}"/>
                </a:ext>
              </a:extLst>
            </p:cNvPr>
            <p:cNvSpPr/>
            <p:nvPr/>
          </p:nvSpPr>
          <p:spPr>
            <a:xfrm>
              <a:off x="1116037" y="3166927"/>
              <a:ext cx="235889" cy="463776"/>
            </a:xfrm>
            <a:custGeom>
              <a:avLst/>
              <a:gdLst>
                <a:gd name="connsiteX0" fmla="*/ 60694 w 235889"/>
                <a:gd name="connsiteY0" fmla="*/ 0 h 463776"/>
                <a:gd name="connsiteX1" fmla="*/ 0 w 235889"/>
                <a:gd name="connsiteY1" fmla="*/ 63316 h 463776"/>
                <a:gd name="connsiteX2" fmla="*/ 152296 w 235889"/>
                <a:gd name="connsiteY2" fmla="*/ 182913 h 463776"/>
                <a:gd name="connsiteX3" fmla="*/ 94412 w 235889"/>
                <a:gd name="connsiteY3" fmla="*/ 356085 h 463776"/>
                <a:gd name="connsiteX4" fmla="*/ 23603 w 235889"/>
                <a:gd name="connsiteY4" fmla="*/ 387473 h 463776"/>
                <a:gd name="connsiteX5" fmla="*/ 23603 w 235889"/>
                <a:gd name="connsiteY5" fmla="*/ 463777 h 463776"/>
                <a:gd name="connsiteX6" fmla="*/ 71933 w 235889"/>
                <a:gd name="connsiteY6" fmla="*/ 452413 h 463776"/>
                <a:gd name="connsiteX7" fmla="*/ 169717 w 235889"/>
                <a:gd name="connsiteY7" fmla="*/ 390720 h 463776"/>
                <a:gd name="connsiteX8" fmla="*/ 169717 w 235889"/>
                <a:gd name="connsiteY8" fmla="*/ 390720 h 463776"/>
                <a:gd name="connsiteX9" fmla="*/ 169717 w 235889"/>
                <a:gd name="connsiteY9" fmla="*/ 390720 h 463776"/>
                <a:gd name="connsiteX10" fmla="*/ 169717 w 235889"/>
                <a:gd name="connsiteY10" fmla="*/ 64398 h 463776"/>
                <a:gd name="connsiteX11" fmla="*/ 169717 w 235889"/>
                <a:gd name="connsiteY11" fmla="*/ 64398 h 463776"/>
                <a:gd name="connsiteX12" fmla="*/ 61255 w 235889"/>
                <a:gd name="connsiteY12" fmla="*/ 541 h 463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5889" h="463776">
                  <a:moveTo>
                    <a:pt x="60694" y="0"/>
                  </a:moveTo>
                  <a:cubicBezTo>
                    <a:pt x="35967" y="17317"/>
                    <a:pt x="15173" y="38964"/>
                    <a:pt x="0" y="63316"/>
                  </a:cubicBezTo>
                  <a:cubicBezTo>
                    <a:pt x="67437" y="70351"/>
                    <a:pt x="133751" y="119597"/>
                    <a:pt x="152296" y="182913"/>
                  </a:cubicBezTo>
                  <a:cubicBezTo>
                    <a:pt x="170841" y="246229"/>
                    <a:pt x="147238" y="315498"/>
                    <a:pt x="94412" y="356085"/>
                  </a:cubicBezTo>
                  <a:cubicBezTo>
                    <a:pt x="73619" y="371779"/>
                    <a:pt x="49454" y="382603"/>
                    <a:pt x="23603" y="387473"/>
                  </a:cubicBezTo>
                  <a:lnTo>
                    <a:pt x="23603" y="463777"/>
                  </a:lnTo>
                  <a:cubicBezTo>
                    <a:pt x="40462" y="461612"/>
                    <a:pt x="56760" y="457824"/>
                    <a:pt x="71933" y="452413"/>
                  </a:cubicBezTo>
                  <a:cubicBezTo>
                    <a:pt x="109585" y="439425"/>
                    <a:pt x="142742" y="418319"/>
                    <a:pt x="169717" y="390720"/>
                  </a:cubicBezTo>
                  <a:cubicBezTo>
                    <a:pt x="169717" y="390720"/>
                    <a:pt x="169717" y="390720"/>
                    <a:pt x="169717" y="390720"/>
                  </a:cubicBezTo>
                  <a:lnTo>
                    <a:pt x="169717" y="390720"/>
                  </a:lnTo>
                  <a:cubicBezTo>
                    <a:pt x="257947" y="299805"/>
                    <a:pt x="257947" y="154773"/>
                    <a:pt x="169717" y="64398"/>
                  </a:cubicBezTo>
                  <a:lnTo>
                    <a:pt x="169717" y="64398"/>
                  </a:lnTo>
                  <a:cubicBezTo>
                    <a:pt x="142180" y="35717"/>
                    <a:pt x="99470" y="12988"/>
                    <a:pt x="61255" y="54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11" name="Espace réservé du texte 8">
            <a:extLst>
              <a:ext uri="{FF2B5EF4-FFF2-40B4-BE49-F238E27FC236}">
                <a16:creationId xmlns:a16="http://schemas.microsoft.com/office/drawing/2014/main" id="{8CFB0C61-5752-3657-C119-062DDA01A9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3992" y="4051760"/>
            <a:ext cx="5127401" cy="593725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accent4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/>
              <a:t>Partie 0 :</a:t>
            </a:r>
          </a:p>
        </p:txBody>
      </p:sp>
      <p:sp>
        <p:nvSpPr>
          <p:cNvPr id="12" name="Espace réservé du texte 8">
            <a:extLst>
              <a:ext uri="{FF2B5EF4-FFF2-40B4-BE49-F238E27FC236}">
                <a16:creationId xmlns:a16="http://schemas.microsoft.com/office/drawing/2014/main" id="{48AD976B-BA4D-C1F7-8AE5-CEB2BD764E0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5330" y="4557439"/>
            <a:ext cx="5146063" cy="8636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 i="0">
                <a:solidFill>
                  <a:schemeClr val="accent4"/>
                </a:solidFill>
                <a:latin typeface="Plus Jakarta Sans SemiBold" pitchFamily="2" charset="77"/>
                <a:cs typeface="Plus Jakarta Sans SemiBold" pitchFamily="2" charset="77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3389589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rcalaire Bleu - u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EAACD5-43D3-ADB9-78D3-54F17D687643}"/>
              </a:ext>
            </a:extLst>
          </p:cNvPr>
          <p:cNvSpPr/>
          <p:nvPr/>
        </p:nvSpPr>
        <p:spPr>
          <a:xfrm>
            <a:off x="6096000" y="11022"/>
            <a:ext cx="6096000" cy="686902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CEDA3C-BD0C-79E6-D7E8-2814E14D5E34}"/>
              </a:ext>
            </a:extLst>
          </p:cNvPr>
          <p:cNvSpPr/>
          <p:nvPr/>
        </p:nvSpPr>
        <p:spPr>
          <a:xfrm>
            <a:off x="0" y="11022"/>
            <a:ext cx="6096000" cy="6858000"/>
          </a:xfrm>
          <a:prstGeom prst="rect">
            <a:avLst/>
          </a:prstGeom>
          <a:solidFill>
            <a:srgbClr val="1B094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509AF101-78C2-51C1-ECBA-8DB9F6BFE1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5330" y="3923129"/>
            <a:ext cx="5146063" cy="8636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 i="0">
                <a:solidFill>
                  <a:srgbClr val="6F8DFF"/>
                </a:solidFill>
                <a:latin typeface="Plus Jakarta Sans SemiBold" pitchFamily="2" charset="77"/>
              </a:defRPr>
            </a:lvl1pPr>
          </a:lstStyle>
          <a:p>
            <a:pPr lvl="0"/>
            <a:r>
              <a:rPr lang="fr-FR"/>
              <a:t>Partie 0</a:t>
            </a:r>
          </a:p>
        </p:txBody>
      </p:sp>
      <p:pic>
        <p:nvPicPr>
          <p:cNvPr id="19" name="Graphique 18">
            <a:extLst>
              <a:ext uri="{FF2B5EF4-FFF2-40B4-BE49-F238E27FC236}">
                <a16:creationId xmlns:a16="http://schemas.microsoft.com/office/drawing/2014/main" id="{E58C2475-B253-93F3-2F9F-C82DF81EAB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506" y="3155563"/>
            <a:ext cx="730570" cy="487047"/>
          </a:xfrm>
          <a:prstGeom prst="rect">
            <a:avLst/>
          </a:prstGeom>
        </p:spPr>
      </p:pic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7D4E6F9F-6E80-830D-331F-2945CD29C9EB}"/>
              </a:ext>
            </a:extLst>
          </p:cNvPr>
          <p:cNvCxnSpPr>
            <a:cxnSpLocks/>
          </p:cNvCxnSpPr>
          <p:nvPr/>
        </p:nvCxnSpPr>
        <p:spPr>
          <a:xfrm>
            <a:off x="6335486" y="6479692"/>
            <a:ext cx="5260407" cy="0"/>
          </a:xfrm>
          <a:prstGeom prst="line">
            <a:avLst/>
          </a:prstGeom>
          <a:ln w="12700">
            <a:solidFill>
              <a:srgbClr val="1B09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Espace réservé du texte 11">
            <a:extLst>
              <a:ext uri="{FF2B5EF4-FFF2-40B4-BE49-F238E27FC236}">
                <a16:creationId xmlns:a16="http://schemas.microsoft.com/office/drawing/2014/main" id="{6A7937CE-902F-FEC9-1C45-691ED1B5515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18238" y="3122001"/>
            <a:ext cx="615950" cy="484277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>
                <a:solidFill>
                  <a:srgbClr val="1B084E"/>
                </a:solidFill>
                <a:latin typeface="Plus Jakarta Sans" pitchFamily="2" charset="77"/>
                <a:cs typeface="Plus Jakarta Sans" pitchFamily="2" charset="77"/>
              </a:defRPr>
            </a:lvl1pPr>
            <a:lvl2pPr>
              <a:defRPr b="1" i="0">
                <a:latin typeface="Galano Grotesque" pitchFamily="2" charset="77"/>
              </a:defRPr>
            </a:lvl2pPr>
            <a:lvl3pPr>
              <a:defRPr b="1" i="0">
                <a:latin typeface="Galano Grotesque" pitchFamily="2" charset="77"/>
              </a:defRPr>
            </a:lvl3pPr>
            <a:lvl4pPr>
              <a:defRPr b="1" i="0">
                <a:latin typeface="Galano Grotesque" pitchFamily="2" charset="77"/>
              </a:defRPr>
            </a:lvl4pPr>
            <a:lvl5pPr>
              <a:defRPr b="1" i="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01</a:t>
            </a:r>
          </a:p>
        </p:txBody>
      </p:sp>
      <p:sp>
        <p:nvSpPr>
          <p:cNvPr id="29" name="Espace réservé du texte 11">
            <a:extLst>
              <a:ext uri="{FF2B5EF4-FFF2-40B4-BE49-F238E27FC236}">
                <a16:creationId xmlns:a16="http://schemas.microsoft.com/office/drawing/2014/main" id="{DFED1392-64ED-6531-5449-B33589D867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18238" y="3661720"/>
            <a:ext cx="615950" cy="484277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>
                <a:solidFill>
                  <a:srgbClr val="1B084E"/>
                </a:solidFill>
                <a:latin typeface="Plus Jakarta Sans" pitchFamily="2" charset="77"/>
                <a:cs typeface="Plus Jakarta Sans" pitchFamily="2" charset="77"/>
              </a:defRPr>
            </a:lvl1pPr>
            <a:lvl2pPr>
              <a:defRPr b="1" i="0">
                <a:latin typeface="Galano Grotesque" pitchFamily="2" charset="77"/>
              </a:defRPr>
            </a:lvl2pPr>
            <a:lvl3pPr>
              <a:defRPr b="1" i="0">
                <a:latin typeface="Galano Grotesque" pitchFamily="2" charset="77"/>
              </a:defRPr>
            </a:lvl3pPr>
            <a:lvl4pPr>
              <a:defRPr b="1" i="0">
                <a:latin typeface="Galano Grotesque" pitchFamily="2" charset="77"/>
              </a:defRPr>
            </a:lvl4pPr>
            <a:lvl5pPr>
              <a:defRPr b="1" i="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02</a:t>
            </a:r>
          </a:p>
        </p:txBody>
      </p:sp>
      <p:sp>
        <p:nvSpPr>
          <p:cNvPr id="30" name="Espace réservé du texte 11">
            <a:extLst>
              <a:ext uri="{FF2B5EF4-FFF2-40B4-BE49-F238E27FC236}">
                <a16:creationId xmlns:a16="http://schemas.microsoft.com/office/drawing/2014/main" id="{65316F1D-0C52-86BC-D346-114C1AB870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18238" y="4201439"/>
            <a:ext cx="615950" cy="484277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>
                <a:solidFill>
                  <a:srgbClr val="1B084E"/>
                </a:solidFill>
                <a:latin typeface="Plus Jakarta Sans" pitchFamily="2" charset="77"/>
                <a:cs typeface="Plus Jakarta Sans" pitchFamily="2" charset="77"/>
              </a:defRPr>
            </a:lvl1pPr>
            <a:lvl2pPr>
              <a:defRPr b="1" i="0">
                <a:latin typeface="Galano Grotesque" pitchFamily="2" charset="77"/>
              </a:defRPr>
            </a:lvl2pPr>
            <a:lvl3pPr>
              <a:defRPr b="1" i="0">
                <a:latin typeface="Galano Grotesque" pitchFamily="2" charset="77"/>
              </a:defRPr>
            </a:lvl3pPr>
            <a:lvl4pPr>
              <a:defRPr b="1" i="0">
                <a:latin typeface="Galano Grotesque" pitchFamily="2" charset="77"/>
              </a:defRPr>
            </a:lvl4pPr>
            <a:lvl5pPr>
              <a:defRPr b="1" i="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03</a:t>
            </a:r>
          </a:p>
        </p:txBody>
      </p:sp>
      <p:sp>
        <p:nvSpPr>
          <p:cNvPr id="31" name="Espace réservé du texte 11">
            <a:extLst>
              <a:ext uri="{FF2B5EF4-FFF2-40B4-BE49-F238E27FC236}">
                <a16:creationId xmlns:a16="http://schemas.microsoft.com/office/drawing/2014/main" id="{ADB5336A-9386-CACC-11EC-E73BFE0BA0E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18238" y="4742127"/>
            <a:ext cx="615950" cy="484277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>
                <a:solidFill>
                  <a:srgbClr val="1B084E"/>
                </a:solidFill>
                <a:latin typeface="Plus Jakarta Sans" pitchFamily="2" charset="77"/>
                <a:cs typeface="Plus Jakarta Sans" pitchFamily="2" charset="77"/>
              </a:defRPr>
            </a:lvl1pPr>
            <a:lvl2pPr>
              <a:defRPr b="1" i="0">
                <a:latin typeface="Galano Grotesque" pitchFamily="2" charset="77"/>
              </a:defRPr>
            </a:lvl2pPr>
            <a:lvl3pPr>
              <a:defRPr b="1" i="0">
                <a:latin typeface="Galano Grotesque" pitchFamily="2" charset="77"/>
              </a:defRPr>
            </a:lvl3pPr>
            <a:lvl4pPr>
              <a:defRPr b="1" i="0">
                <a:latin typeface="Galano Grotesque" pitchFamily="2" charset="77"/>
              </a:defRPr>
            </a:lvl4pPr>
            <a:lvl5pPr>
              <a:defRPr b="1" i="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04</a:t>
            </a:r>
          </a:p>
        </p:txBody>
      </p:sp>
      <p:sp>
        <p:nvSpPr>
          <p:cNvPr id="32" name="Espace réservé du texte 11">
            <a:extLst>
              <a:ext uri="{FF2B5EF4-FFF2-40B4-BE49-F238E27FC236}">
                <a16:creationId xmlns:a16="http://schemas.microsoft.com/office/drawing/2014/main" id="{4E4FC6BC-0A3D-1A08-F97E-AA2C96EF1A5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18238" y="5282816"/>
            <a:ext cx="615950" cy="484277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>
                <a:solidFill>
                  <a:srgbClr val="1B084E"/>
                </a:solidFill>
                <a:latin typeface="Plus Jakarta Sans" pitchFamily="2" charset="77"/>
                <a:cs typeface="Plus Jakarta Sans" pitchFamily="2" charset="77"/>
              </a:defRPr>
            </a:lvl1pPr>
            <a:lvl2pPr>
              <a:defRPr b="1" i="0">
                <a:latin typeface="Galano Grotesque" pitchFamily="2" charset="77"/>
              </a:defRPr>
            </a:lvl2pPr>
            <a:lvl3pPr>
              <a:defRPr b="1" i="0">
                <a:latin typeface="Galano Grotesque" pitchFamily="2" charset="77"/>
              </a:defRPr>
            </a:lvl3pPr>
            <a:lvl4pPr>
              <a:defRPr b="1" i="0">
                <a:latin typeface="Galano Grotesque" pitchFamily="2" charset="77"/>
              </a:defRPr>
            </a:lvl4pPr>
            <a:lvl5pPr>
              <a:defRPr b="1" i="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05</a:t>
            </a:r>
          </a:p>
        </p:txBody>
      </p:sp>
      <p:sp>
        <p:nvSpPr>
          <p:cNvPr id="34" name="Espace réservé du texte 11">
            <a:extLst>
              <a:ext uri="{FF2B5EF4-FFF2-40B4-BE49-F238E27FC236}">
                <a16:creationId xmlns:a16="http://schemas.microsoft.com/office/drawing/2014/main" id="{182EF8E4-AF31-3ADB-D846-ECD694B9525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18238" y="5823505"/>
            <a:ext cx="615950" cy="484277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>
                <a:solidFill>
                  <a:srgbClr val="1B084E"/>
                </a:solidFill>
                <a:latin typeface="Plus Jakarta Sans" pitchFamily="2" charset="77"/>
                <a:cs typeface="Plus Jakarta Sans" pitchFamily="2" charset="77"/>
              </a:defRPr>
            </a:lvl1pPr>
            <a:lvl2pPr>
              <a:defRPr b="1" i="0">
                <a:latin typeface="Galano Grotesque" pitchFamily="2" charset="77"/>
              </a:defRPr>
            </a:lvl2pPr>
            <a:lvl3pPr>
              <a:defRPr b="1" i="0">
                <a:latin typeface="Galano Grotesque" pitchFamily="2" charset="77"/>
              </a:defRPr>
            </a:lvl3pPr>
            <a:lvl4pPr>
              <a:defRPr b="1" i="0">
                <a:latin typeface="Galano Grotesque" pitchFamily="2" charset="77"/>
              </a:defRPr>
            </a:lvl4pPr>
            <a:lvl5pPr>
              <a:defRPr b="1" i="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06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F299FA3-24B0-D169-FBD8-72EF933951EE}"/>
              </a:ext>
            </a:extLst>
          </p:cNvPr>
          <p:cNvSpPr txBox="1"/>
          <p:nvPr/>
        </p:nvSpPr>
        <p:spPr>
          <a:xfrm>
            <a:off x="11283301" y="6507574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>
                <a:solidFill>
                  <a:schemeClr val="bg2">
                    <a:lumMod val="50000"/>
                  </a:schemeClr>
                </a:solidFill>
              </a:rPr>
              <a:pPr lvl="0" algn="r"/>
              <a:t>‹N°›</a:t>
            </a:fld>
            <a:endParaRPr lang="fr-FR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Espace réservé du texte 13">
            <a:extLst>
              <a:ext uri="{FF2B5EF4-FFF2-40B4-BE49-F238E27FC236}">
                <a16:creationId xmlns:a16="http://schemas.microsoft.com/office/drawing/2014/main" id="{93542760-8052-81CF-27FF-641B06288B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11430" y="3122002"/>
            <a:ext cx="4622800" cy="4842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None/>
              <a:defRPr sz="1600" b="0" i="0">
                <a:solidFill>
                  <a:schemeClr val="accent2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>
                <a:latin typeface="Plus Jakarta Sans" pitchFamily="2" charset="77"/>
                <a:cs typeface="Plus Jakarta Sans" pitchFamily="2" charset="77"/>
              </a:rPr>
              <a:t>Nom de la partie</a:t>
            </a:r>
          </a:p>
        </p:txBody>
      </p:sp>
      <p:sp>
        <p:nvSpPr>
          <p:cNvPr id="8" name="Espace réservé du texte 13">
            <a:extLst>
              <a:ext uri="{FF2B5EF4-FFF2-40B4-BE49-F238E27FC236}">
                <a16:creationId xmlns:a16="http://schemas.microsoft.com/office/drawing/2014/main" id="{7E0BBA2F-DADC-43EA-0D7B-8DDDBD0345A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911430" y="3666182"/>
            <a:ext cx="4622800" cy="4842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None/>
              <a:defRPr sz="1600" b="0" i="0">
                <a:solidFill>
                  <a:schemeClr val="accent2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>
                <a:latin typeface="Plus Jakarta Sans" pitchFamily="2" charset="77"/>
                <a:cs typeface="Plus Jakarta Sans" pitchFamily="2" charset="77"/>
              </a:rPr>
              <a:t>Nom de la partie</a:t>
            </a:r>
          </a:p>
        </p:txBody>
      </p:sp>
      <p:sp>
        <p:nvSpPr>
          <p:cNvPr id="9" name="Espace réservé du texte 13">
            <a:extLst>
              <a:ext uri="{FF2B5EF4-FFF2-40B4-BE49-F238E27FC236}">
                <a16:creationId xmlns:a16="http://schemas.microsoft.com/office/drawing/2014/main" id="{ED751EFE-1C89-FFE3-3327-50C442E8CA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911430" y="4210362"/>
            <a:ext cx="4622800" cy="4842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None/>
              <a:defRPr sz="1600" b="0" i="0">
                <a:solidFill>
                  <a:schemeClr val="accent2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>
                <a:latin typeface="Plus Jakarta Sans" pitchFamily="2" charset="77"/>
                <a:cs typeface="Plus Jakarta Sans" pitchFamily="2" charset="77"/>
              </a:rPr>
              <a:t>Nom de la partie</a:t>
            </a:r>
          </a:p>
        </p:txBody>
      </p:sp>
      <p:sp>
        <p:nvSpPr>
          <p:cNvPr id="11" name="Espace réservé du texte 13">
            <a:extLst>
              <a:ext uri="{FF2B5EF4-FFF2-40B4-BE49-F238E27FC236}">
                <a16:creationId xmlns:a16="http://schemas.microsoft.com/office/drawing/2014/main" id="{7DA8FA47-1905-3B23-9B81-DC9C06DA37D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911430" y="4754542"/>
            <a:ext cx="4622800" cy="4842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None/>
              <a:defRPr sz="1600" b="0" i="0">
                <a:solidFill>
                  <a:schemeClr val="accent2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>
                <a:latin typeface="Plus Jakarta Sans" pitchFamily="2" charset="77"/>
                <a:cs typeface="Plus Jakarta Sans" pitchFamily="2" charset="77"/>
              </a:rPr>
              <a:t>Nom de la partie</a:t>
            </a:r>
          </a:p>
        </p:txBody>
      </p:sp>
      <p:sp>
        <p:nvSpPr>
          <p:cNvPr id="12" name="Espace réservé du texte 13">
            <a:extLst>
              <a:ext uri="{FF2B5EF4-FFF2-40B4-BE49-F238E27FC236}">
                <a16:creationId xmlns:a16="http://schemas.microsoft.com/office/drawing/2014/main" id="{CE0B523C-5A73-1221-0B7B-7ACD00E0CB1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911430" y="5282417"/>
            <a:ext cx="4622800" cy="4842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None/>
              <a:defRPr sz="1600" b="0" i="0">
                <a:solidFill>
                  <a:schemeClr val="accent2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>
                <a:latin typeface="Plus Jakarta Sans" pitchFamily="2" charset="77"/>
                <a:cs typeface="Plus Jakarta Sans" pitchFamily="2" charset="77"/>
              </a:rPr>
              <a:t>Nom de la partie</a:t>
            </a:r>
          </a:p>
        </p:txBody>
      </p:sp>
      <p:sp>
        <p:nvSpPr>
          <p:cNvPr id="13" name="Espace réservé du texte 13">
            <a:extLst>
              <a:ext uri="{FF2B5EF4-FFF2-40B4-BE49-F238E27FC236}">
                <a16:creationId xmlns:a16="http://schemas.microsoft.com/office/drawing/2014/main" id="{72E624F7-D608-9E70-6634-67331CB061F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11430" y="5826597"/>
            <a:ext cx="4622800" cy="4842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None/>
              <a:defRPr sz="1600" b="0" i="0">
                <a:solidFill>
                  <a:schemeClr val="accent2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>
                <a:latin typeface="Plus Jakarta Sans" pitchFamily="2" charset="77"/>
                <a:cs typeface="Plus Jakarta Sans" pitchFamily="2" charset="77"/>
              </a:rPr>
              <a:t>Nom de la partie</a:t>
            </a:r>
          </a:p>
        </p:txBody>
      </p:sp>
    </p:spTree>
    <p:extLst>
      <p:ext uri="{BB962C8B-B14F-4D97-AF65-F5344CB8AC3E}">
        <p14:creationId xmlns:p14="http://schemas.microsoft.com/office/powerpoint/2010/main" val="1811097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rcalaire Vert - u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EAACD5-43D3-ADB9-78D3-54F17D687643}"/>
              </a:ext>
            </a:extLst>
          </p:cNvPr>
          <p:cNvSpPr/>
          <p:nvPr/>
        </p:nvSpPr>
        <p:spPr>
          <a:xfrm>
            <a:off x="6096000" y="0"/>
            <a:ext cx="6096000" cy="68690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CEDA3C-BD0C-79E6-D7E8-2814E14D5E34}"/>
              </a:ext>
            </a:extLst>
          </p:cNvPr>
          <p:cNvSpPr/>
          <p:nvPr/>
        </p:nvSpPr>
        <p:spPr>
          <a:xfrm>
            <a:off x="0" y="11022"/>
            <a:ext cx="6096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509AF101-78C2-51C1-ECBA-8DB9F6BFE1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5330" y="3923129"/>
            <a:ext cx="5146063" cy="8636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 i="0">
                <a:solidFill>
                  <a:schemeClr val="accent5">
                    <a:lumMod val="20000"/>
                    <a:lumOff val="80000"/>
                  </a:schemeClr>
                </a:solidFill>
                <a:latin typeface="Plus Jakarta Sans SemiBold" pitchFamily="2" charset="77"/>
              </a:defRPr>
            </a:lvl1pPr>
          </a:lstStyle>
          <a:p>
            <a:pPr lvl="0"/>
            <a:r>
              <a:rPr lang="fr-FR"/>
              <a:t>Partie 0</a:t>
            </a:r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7D4E6F9F-6E80-830D-331F-2945CD29C9EB}"/>
              </a:ext>
            </a:extLst>
          </p:cNvPr>
          <p:cNvCxnSpPr>
            <a:cxnSpLocks/>
          </p:cNvCxnSpPr>
          <p:nvPr/>
        </p:nvCxnSpPr>
        <p:spPr>
          <a:xfrm>
            <a:off x="6335486" y="6479692"/>
            <a:ext cx="5260407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ZoneTexte 3">
            <a:extLst>
              <a:ext uri="{FF2B5EF4-FFF2-40B4-BE49-F238E27FC236}">
                <a16:creationId xmlns:a16="http://schemas.microsoft.com/office/drawing/2014/main" id="{CF299FA3-24B0-D169-FBD8-72EF933951EE}"/>
              </a:ext>
            </a:extLst>
          </p:cNvPr>
          <p:cNvSpPr txBox="1"/>
          <p:nvPr/>
        </p:nvSpPr>
        <p:spPr>
          <a:xfrm>
            <a:off x="11283301" y="6507574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>
                <a:solidFill>
                  <a:schemeClr val="bg2">
                    <a:lumMod val="50000"/>
                  </a:schemeClr>
                </a:solidFill>
              </a:rPr>
              <a:pPr lvl="0" algn="r"/>
              <a:t>‹N°›</a:t>
            </a:fld>
            <a:endParaRPr lang="fr-FR">
              <a:solidFill>
                <a:schemeClr val="bg2">
                  <a:lumMod val="50000"/>
                </a:schemeClr>
              </a:solidFill>
            </a:endParaRPr>
          </a:p>
        </p:txBody>
      </p:sp>
      <p:grpSp>
        <p:nvGrpSpPr>
          <p:cNvPr id="7" name="Graphique 18">
            <a:extLst>
              <a:ext uri="{FF2B5EF4-FFF2-40B4-BE49-F238E27FC236}">
                <a16:creationId xmlns:a16="http://schemas.microsoft.com/office/drawing/2014/main" id="{058A79FE-4054-7674-01BE-2AB79A96CB85}"/>
              </a:ext>
            </a:extLst>
          </p:cNvPr>
          <p:cNvGrpSpPr/>
          <p:nvPr/>
        </p:nvGrpSpPr>
        <p:grpSpPr>
          <a:xfrm>
            <a:off x="612225" y="3155563"/>
            <a:ext cx="739702" cy="475141"/>
            <a:chOff x="612225" y="3155563"/>
            <a:chExt cx="739702" cy="475141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8" name="Forme libre 7">
              <a:extLst>
                <a:ext uri="{FF2B5EF4-FFF2-40B4-BE49-F238E27FC236}">
                  <a16:creationId xmlns:a16="http://schemas.microsoft.com/office/drawing/2014/main" id="{091AA00B-E3BC-13AA-70D4-832C859A7B71}"/>
                </a:ext>
              </a:extLst>
            </p:cNvPr>
            <p:cNvSpPr/>
            <p:nvPr/>
          </p:nvSpPr>
          <p:spPr>
            <a:xfrm>
              <a:off x="818751" y="3155563"/>
              <a:ext cx="306839" cy="474600"/>
            </a:xfrm>
            <a:custGeom>
              <a:avLst/>
              <a:gdLst>
                <a:gd name="connsiteX0" fmla="*/ 171403 w 306839"/>
                <a:gd name="connsiteY0" fmla="*/ 56281 h 474600"/>
                <a:gd name="connsiteX1" fmla="*/ 123635 w 306839"/>
                <a:gd name="connsiteY1" fmla="*/ 166678 h 474600"/>
                <a:gd name="connsiteX2" fmla="*/ 101718 w 306839"/>
                <a:gd name="connsiteY2" fmla="*/ 321992 h 474600"/>
                <a:gd name="connsiteX3" fmla="*/ 0 w 306839"/>
                <a:gd name="connsiteY3" fmla="*/ 474600 h 474600"/>
                <a:gd name="connsiteX4" fmla="*/ 13487 w 306839"/>
                <a:gd name="connsiteY4" fmla="*/ 474600 h 474600"/>
                <a:gd name="connsiteX5" fmla="*/ 135436 w 306839"/>
                <a:gd name="connsiteY5" fmla="*/ 418319 h 474600"/>
                <a:gd name="connsiteX6" fmla="*/ 183204 w 306839"/>
                <a:gd name="connsiteY6" fmla="*/ 307922 h 474600"/>
                <a:gd name="connsiteX7" fmla="*/ 205122 w 306839"/>
                <a:gd name="connsiteY7" fmla="*/ 152608 h 474600"/>
                <a:gd name="connsiteX8" fmla="*/ 306839 w 306839"/>
                <a:gd name="connsiteY8" fmla="*/ 0 h 474600"/>
                <a:gd name="connsiteX9" fmla="*/ 293352 w 306839"/>
                <a:gd name="connsiteY9" fmla="*/ 0 h 474600"/>
                <a:gd name="connsiteX10" fmla="*/ 171403 w 306839"/>
                <a:gd name="connsiteY10" fmla="*/ 56281 h 47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6839" h="474600">
                  <a:moveTo>
                    <a:pt x="171403" y="56281"/>
                  </a:moveTo>
                  <a:cubicBezTo>
                    <a:pt x="146114" y="84421"/>
                    <a:pt x="130379" y="121762"/>
                    <a:pt x="123635" y="166678"/>
                  </a:cubicBezTo>
                  <a:lnTo>
                    <a:pt x="101718" y="321992"/>
                  </a:lnTo>
                  <a:cubicBezTo>
                    <a:pt x="93288" y="382603"/>
                    <a:pt x="55074" y="439425"/>
                    <a:pt x="0" y="474600"/>
                  </a:cubicBezTo>
                  <a:cubicBezTo>
                    <a:pt x="4496" y="474600"/>
                    <a:pt x="8992" y="474600"/>
                    <a:pt x="13487" y="474600"/>
                  </a:cubicBezTo>
                  <a:cubicBezTo>
                    <a:pt x="58446" y="474600"/>
                    <a:pt x="102842" y="454577"/>
                    <a:pt x="135436" y="418319"/>
                  </a:cubicBezTo>
                  <a:cubicBezTo>
                    <a:pt x="160725" y="390179"/>
                    <a:pt x="176461" y="352839"/>
                    <a:pt x="183204" y="307922"/>
                  </a:cubicBezTo>
                  <a:lnTo>
                    <a:pt x="205122" y="152608"/>
                  </a:lnTo>
                  <a:cubicBezTo>
                    <a:pt x="213551" y="91998"/>
                    <a:pt x="251766" y="35176"/>
                    <a:pt x="306839" y="0"/>
                  </a:cubicBezTo>
                  <a:cubicBezTo>
                    <a:pt x="302344" y="0"/>
                    <a:pt x="297848" y="0"/>
                    <a:pt x="293352" y="0"/>
                  </a:cubicBezTo>
                  <a:cubicBezTo>
                    <a:pt x="248394" y="0"/>
                    <a:pt x="203998" y="20023"/>
                    <a:pt x="171403" y="5628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>
                <a:solidFill>
                  <a:schemeClr val="accent5"/>
                </a:solidFill>
              </a:endParaRPr>
            </a:p>
          </p:txBody>
        </p:sp>
        <p:sp>
          <p:nvSpPr>
            <p:cNvPr id="9" name="Forme libre 8">
              <a:extLst>
                <a:ext uri="{FF2B5EF4-FFF2-40B4-BE49-F238E27FC236}">
                  <a16:creationId xmlns:a16="http://schemas.microsoft.com/office/drawing/2014/main" id="{65E49B2B-EAF5-66E6-F2D8-4F9596219DE5}"/>
                </a:ext>
              </a:extLst>
            </p:cNvPr>
            <p:cNvSpPr/>
            <p:nvPr/>
          </p:nvSpPr>
          <p:spPr>
            <a:xfrm>
              <a:off x="612225" y="3160974"/>
              <a:ext cx="222823" cy="456200"/>
            </a:xfrm>
            <a:custGeom>
              <a:avLst/>
              <a:gdLst>
                <a:gd name="connsiteX0" fmla="*/ 138527 w 222823"/>
                <a:gd name="connsiteY0" fmla="*/ 104986 h 456200"/>
                <a:gd name="connsiteX1" fmla="*/ 195849 w 222823"/>
                <a:gd name="connsiteY1" fmla="*/ 76304 h 456200"/>
                <a:gd name="connsiteX2" fmla="*/ 195849 w 222823"/>
                <a:gd name="connsiteY2" fmla="*/ 0 h 456200"/>
                <a:gd name="connsiteX3" fmla="*/ 160444 w 222823"/>
                <a:gd name="connsiteY3" fmla="*/ 9200 h 456200"/>
                <a:gd name="connsiteX4" fmla="*/ 64908 w 222823"/>
                <a:gd name="connsiteY4" fmla="*/ 70351 h 456200"/>
                <a:gd name="connsiteX5" fmla="*/ 64908 w 222823"/>
                <a:gd name="connsiteY5" fmla="*/ 70351 h 456200"/>
                <a:gd name="connsiteX6" fmla="*/ 64908 w 222823"/>
                <a:gd name="connsiteY6" fmla="*/ 70351 h 456200"/>
                <a:gd name="connsiteX7" fmla="*/ 64908 w 222823"/>
                <a:gd name="connsiteY7" fmla="*/ 393967 h 456200"/>
                <a:gd name="connsiteX8" fmla="*/ 64908 w 222823"/>
                <a:gd name="connsiteY8" fmla="*/ 393967 h 456200"/>
                <a:gd name="connsiteX9" fmla="*/ 163254 w 222823"/>
                <a:gd name="connsiteY9" fmla="*/ 456201 h 456200"/>
                <a:gd name="connsiteX10" fmla="*/ 222824 w 222823"/>
                <a:gd name="connsiteY10" fmla="*/ 393426 h 456200"/>
                <a:gd name="connsiteX11" fmla="*/ 81206 w 222823"/>
                <a:gd name="connsiteY11" fmla="*/ 276534 h 456200"/>
                <a:gd name="connsiteX12" fmla="*/ 137965 w 222823"/>
                <a:gd name="connsiteY12" fmla="*/ 104986 h 45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2823" h="456200">
                  <a:moveTo>
                    <a:pt x="138527" y="104986"/>
                  </a:moveTo>
                  <a:cubicBezTo>
                    <a:pt x="155387" y="91998"/>
                    <a:pt x="175056" y="82257"/>
                    <a:pt x="195849" y="76304"/>
                  </a:cubicBezTo>
                  <a:lnTo>
                    <a:pt x="195849" y="0"/>
                  </a:lnTo>
                  <a:cubicBezTo>
                    <a:pt x="183485" y="2165"/>
                    <a:pt x="171684" y="5412"/>
                    <a:pt x="160444" y="9200"/>
                  </a:cubicBezTo>
                  <a:cubicBezTo>
                    <a:pt x="123354" y="21647"/>
                    <a:pt x="90759" y="43293"/>
                    <a:pt x="64908" y="70351"/>
                  </a:cubicBezTo>
                  <a:cubicBezTo>
                    <a:pt x="64908" y="70351"/>
                    <a:pt x="64908" y="70351"/>
                    <a:pt x="64908" y="70351"/>
                  </a:cubicBezTo>
                  <a:lnTo>
                    <a:pt x="64908" y="70351"/>
                  </a:lnTo>
                  <a:cubicBezTo>
                    <a:pt x="-21636" y="160184"/>
                    <a:pt x="-21636" y="304134"/>
                    <a:pt x="64908" y="393967"/>
                  </a:cubicBezTo>
                  <a:lnTo>
                    <a:pt x="64908" y="393967"/>
                  </a:lnTo>
                  <a:cubicBezTo>
                    <a:pt x="91883" y="422107"/>
                    <a:pt x="126164" y="443754"/>
                    <a:pt x="163254" y="456201"/>
                  </a:cubicBezTo>
                  <a:cubicBezTo>
                    <a:pt x="187419" y="439425"/>
                    <a:pt x="207650" y="417778"/>
                    <a:pt x="222824" y="393426"/>
                  </a:cubicBezTo>
                  <a:cubicBezTo>
                    <a:pt x="156511" y="386391"/>
                    <a:pt x="99189" y="339309"/>
                    <a:pt x="81206" y="276534"/>
                  </a:cubicBezTo>
                  <a:cubicBezTo>
                    <a:pt x="63222" y="213760"/>
                    <a:pt x="86263" y="145032"/>
                    <a:pt x="137965" y="10498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>
                <a:solidFill>
                  <a:schemeClr val="accent5"/>
                </a:solidFill>
              </a:endParaRPr>
            </a:p>
          </p:txBody>
        </p:sp>
        <p:sp>
          <p:nvSpPr>
            <p:cNvPr id="11" name="Forme libre 10">
              <a:extLst>
                <a:ext uri="{FF2B5EF4-FFF2-40B4-BE49-F238E27FC236}">
                  <a16:creationId xmlns:a16="http://schemas.microsoft.com/office/drawing/2014/main" id="{A1F56059-9621-13E3-D209-2C06236075DD}"/>
                </a:ext>
              </a:extLst>
            </p:cNvPr>
            <p:cNvSpPr/>
            <p:nvPr/>
          </p:nvSpPr>
          <p:spPr>
            <a:xfrm>
              <a:off x="1116037" y="3166927"/>
              <a:ext cx="235889" cy="463776"/>
            </a:xfrm>
            <a:custGeom>
              <a:avLst/>
              <a:gdLst>
                <a:gd name="connsiteX0" fmla="*/ 60694 w 235889"/>
                <a:gd name="connsiteY0" fmla="*/ 0 h 463776"/>
                <a:gd name="connsiteX1" fmla="*/ 0 w 235889"/>
                <a:gd name="connsiteY1" fmla="*/ 63316 h 463776"/>
                <a:gd name="connsiteX2" fmla="*/ 152296 w 235889"/>
                <a:gd name="connsiteY2" fmla="*/ 182913 h 463776"/>
                <a:gd name="connsiteX3" fmla="*/ 94412 w 235889"/>
                <a:gd name="connsiteY3" fmla="*/ 356085 h 463776"/>
                <a:gd name="connsiteX4" fmla="*/ 23603 w 235889"/>
                <a:gd name="connsiteY4" fmla="*/ 387473 h 463776"/>
                <a:gd name="connsiteX5" fmla="*/ 23603 w 235889"/>
                <a:gd name="connsiteY5" fmla="*/ 463777 h 463776"/>
                <a:gd name="connsiteX6" fmla="*/ 71933 w 235889"/>
                <a:gd name="connsiteY6" fmla="*/ 452413 h 463776"/>
                <a:gd name="connsiteX7" fmla="*/ 169717 w 235889"/>
                <a:gd name="connsiteY7" fmla="*/ 390720 h 463776"/>
                <a:gd name="connsiteX8" fmla="*/ 169717 w 235889"/>
                <a:gd name="connsiteY8" fmla="*/ 390720 h 463776"/>
                <a:gd name="connsiteX9" fmla="*/ 169717 w 235889"/>
                <a:gd name="connsiteY9" fmla="*/ 390720 h 463776"/>
                <a:gd name="connsiteX10" fmla="*/ 169717 w 235889"/>
                <a:gd name="connsiteY10" fmla="*/ 64398 h 463776"/>
                <a:gd name="connsiteX11" fmla="*/ 169717 w 235889"/>
                <a:gd name="connsiteY11" fmla="*/ 64398 h 463776"/>
                <a:gd name="connsiteX12" fmla="*/ 61255 w 235889"/>
                <a:gd name="connsiteY12" fmla="*/ 541 h 463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5889" h="463776">
                  <a:moveTo>
                    <a:pt x="60694" y="0"/>
                  </a:moveTo>
                  <a:cubicBezTo>
                    <a:pt x="35967" y="17317"/>
                    <a:pt x="15173" y="38964"/>
                    <a:pt x="0" y="63316"/>
                  </a:cubicBezTo>
                  <a:cubicBezTo>
                    <a:pt x="67437" y="70351"/>
                    <a:pt x="133751" y="119597"/>
                    <a:pt x="152296" y="182913"/>
                  </a:cubicBezTo>
                  <a:cubicBezTo>
                    <a:pt x="170841" y="246229"/>
                    <a:pt x="147238" y="315498"/>
                    <a:pt x="94412" y="356085"/>
                  </a:cubicBezTo>
                  <a:cubicBezTo>
                    <a:pt x="73619" y="371779"/>
                    <a:pt x="49454" y="382603"/>
                    <a:pt x="23603" y="387473"/>
                  </a:cubicBezTo>
                  <a:lnTo>
                    <a:pt x="23603" y="463777"/>
                  </a:lnTo>
                  <a:cubicBezTo>
                    <a:pt x="40462" y="461612"/>
                    <a:pt x="56760" y="457824"/>
                    <a:pt x="71933" y="452413"/>
                  </a:cubicBezTo>
                  <a:cubicBezTo>
                    <a:pt x="109585" y="439425"/>
                    <a:pt x="142742" y="418319"/>
                    <a:pt x="169717" y="390720"/>
                  </a:cubicBezTo>
                  <a:cubicBezTo>
                    <a:pt x="169717" y="390720"/>
                    <a:pt x="169717" y="390720"/>
                    <a:pt x="169717" y="390720"/>
                  </a:cubicBezTo>
                  <a:lnTo>
                    <a:pt x="169717" y="390720"/>
                  </a:lnTo>
                  <a:cubicBezTo>
                    <a:pt x="257947" y="299805"/>
                    <a:pt x="257947" y="154773"/>
                    <a:pt x="169717" y="64398"/>
                  </a:cubicBezTo>
                  <a:lnTo>
                    <a:pt x="169717" y="64398"/>
                  </a:lnTo>
                  <a:cubicBezTo>
                    <a:pt x="142180" y="35717"/>
                    <a:pt x="99470" y="12988"/>
                    <a:pt x="61255" y="54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>
                <a:solidFill>
                  <a:schemeClr val="accent5"/>
                </a:solidFill>
              </a:endParaRPr>
            </a:p>
          </p:txBody>
        </p:sp>
      </p:grp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1E4D3C9A-B046-CFC5-B4B5-408B7C185FA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18238" y="3122001"/>
            <a:ext cx="615950" cy="484277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>
                <a:solidFill>
                  <a:schemeClr val="accent6"/>
                </a:solidFill>
                <a:latin typeface="Plus Jakarta Sans" pitchFamily="2" charset="77"/>
                <a:cs typeface="Plus Jakarta Sans" pitchFamily="2" charset="77"/>
              </a:defRPr>
            </a:lvl1pPr>
            <a:lvl2pPr>
              <a:defRPr b="1" i="0">
                <a:latin typeface="Galano Grotesque" pitchFamily="2" charset="77"/>
              </a:defRPr>
            </a:lvl2pPr>
            <a:lvl3pPr>
              <a:defRPr b="1" i="0">
                <a:latin typeface="Galano Grotesque" pitchFamily="2" charset="77"/>
              </a:defRPr>
            </a:lvl3pPr>
            <a:lvl4pPr>
              <a:defRPr b="1" i="0">
                <a:latin typeface="Galano Grotesque" pitchFamily="2" charset="77"/>
              </a:defRPr>
            </a:lvl4pPr>
            <a:lvl5pPr>
              <a:defRPr b="1" i="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01</a:t>
            </a:r>
          </a:p>
        </p:txBody>
      </p:sp>
      <p:sp>
        <p:nvSpPr>
          <p:cNvPr id="13" name="Espace réservé du texte 11">
            <a:extLst>
              <a:ext uri="{FF2B5EF4-FFF2-40B4-BE49-F238E27FC236}">
                <a16:creationId xmlns:a16="http://schemas.microsoft.com/office/drawing/2014/main" id="{5DCB78D4-1003-49F9-ACE3-294F388454C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18238" y="3661720"/>
            <a:ext cx="615950" cy="484277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>
                <a:solidFill>
                  <a:schemeClr val="accent6"/>
                </a:solidFill>
                <a:latin typeface="Plus Jakarta Sans" pitchFamily="2" charset="77"/>
                <a:cs typeface="Plus Jakarta Sans" pitchFamily="2" charset="77"/>
              </a:defRPr>
            </a:lvl1pPr>
            <a:lvl2pPr>
              <a:defRPr b="1" i="0">
                <a:latin typeface="Galano Grotesque" pitchFamily="2" charset="77"/>
              </a:defRPr>
            </a:lvl2pPr>
            <a:lvl3pPr>
              <a:defRPr b="1" i="0">
                <a:latin typeface="Galano Grotesque" pitchFamily="2" charset="77"/>
              </a:defRPr>
            </a:lvl3pPr>
            <a:lvl4pPr>
              <a:defRPr b="1" i="0">
                <a:latin typeface="Galano Grotesque" pitchFamily="2" charset="77"/>
              </a:defRPr>
            </a:lvl4pPr>
            <a:lvl5pPr>
              <a:defRPr b="1" i="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02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09F8D23B-437B-B9CD-4C46-E21C43B3B5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18238" y="4201439"/>
            <a:ext cx="615950" cy="484277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>
                <a:solidFill>
                  <a:schemeClr val="accent6"/>
                </a:solidFill>
                <a:latin typeface="Plus Jakarta Sans" pitchFamily="2" charset="77"/>
                <a:cs typeface="Plus Jakarta Sans" pitchFamily="2" charset="77"/>
              </a:defRPr>
            </a:lvl1pPr>
            <a:lvl2pPr>
              <a:defRPr b="1" i="0">
                <a:latin typeface="Galano Grotesque" pitchFamily="2" charset="77"/>
              </a:defRPr>
            </a:lvl2pPr>
            <a:lvl3pPr>
              <a:defRPr b="1" i="0">
                <a:latin typeface="Galano Grotesque" pitchFamily="2" charset="77"/>
              </a:defRPr>
            </a:lvl3pPr>
            <a:lvl4pPr>
              <a:defRPr b="1" i="0">
                <a:latin typeface="Galano Grotesque" pitchFamily="2" charset="77"/>
              </a:defRPr>
            </a:lvl4pPr>
            <a:lvl5pPr>
              <a:defRPr b="1" i="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03</a:t>
            </a:r>
          </a:p>
        </p:txBody>
      </p:sp>
      <p:sp>
        <p:nvSpPr>
          <p:cNvPr id="15" name="Espace réservé du texte 11">
            <a:extLst>
              <a:ext uri="{FF2B5EF4-FFF2-40B4-BE49-F238E27FC236}">
                <a16:creationId xmlns:a16="http://schemas.microsoft.com/office/drawing/2014/main" id="{7C7DC363-0408-B184-2CE8-538FDCB072B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18238" y="4742127"/>
            <a:ext cx="615950" cy="484277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>
                <a:solidFill>
                  <a:schemeClr val="accent6"/>
                </a:solidFill>
                <a:latin typeface="Plus Jakarta Sans" pitchFamily="2" charset="77"/>
                <a:cs typeface="Plus Jakarta Sans" pitchFamily="2" charset="77"/>
              </a:defRPr>
            </a:lvl1pPr>
            <a:lvl2pPr>
              <a:defRPr b="1" i="0">
                <a:latin typeface="Galano Grotesque" pitchFamily="2" charset="77"/>
              </a:defRPr>
            </a:lvl2pPr>
            <a:lvl3pPr>
              <a:defRPr b="1" i="0">
                <a:latin typeface="Galano Grotesque" pitchFamily="2" charset="77"/>
              </a:defRPr>
            </a:lvl3pPr>
            <a:lvl4pPr>
              <a:defRPr b="1" i="0">
                <a:latin typeface="Galano Grotesque" pitchFamily="2" charset="77"/>
              </a:defRPr>
            </a:lvl4pPr>
            <a:lvl5pPr>
              <a:defRPr b="1" i="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04</a:t>
            </a:r>
          </a:p>
        </p:txBody>
      </p:sp>
      <p:sp>
        <p:nvSpPr>
          <p:cNvPr id="16" name="Espace réservé du texte 11">
            <a:extLst>
              <a:ext uri="{FF2B5EF4-FFF2-40B4-BE49-F238E27FC236}">
                <a16:creationId xmlns:a16="http://schemas.microsoft.com/office/drawing/2014/main" id="{68FBBC33-8A2A-7815-A86E-020CBD6E8CD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18238" y="5282816"/>
            <a:ext cx="615950" cy="484277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>
                <a:solidFill>
                  <a:schemeClr val="accent6"/>
                </a:solidFill>
                <a:latin typeface="Plus Jakarta Sans" pitchFamily="2" charset="77"/>
                <a:cs typeface="Plus Jakarta Sans" pitchFamily="2" charset="77"/>
              </a:defRPr>
            </a:lvl1pPr>
            <a:lvl2pPr>
              <a:defRPr b="1" i="0">
                <a:latin typeface="Galano Grotesque" pitchFamily="2" charset="77"/>
              </a:defRPr>
            </a:lvl2pPr>
            <a:lvl3pPr>
              <a:defRPr b="1" i="0">
                <a:latin typeface="Galano Grotesque" pitchFamily="2" charset="77"/>
              </a:defRPr>
            </a:lvl3pPr>
            <a:lvl4pPr>
              <a:defRPr b="1" i="0">
                <a:latin typeface="Galano Grotesque" pitchFamily="2" charset="77"/>
              </a:defRPr>
            </a:lvl4pPr>
            <a:lvl5pPr>
              <a:defRPr b="1" i="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05</a:t>
            </a:r>
          </a:p>
        </p:txBody>
      </p:sp>
      <p:sp>
        <p:nvSpPr>
          <p:cNvPr id="17" name="Espace réservé du texte 11">
            <a:extLst>
              <a:ext uri="{FF2B5EF4-FFF2-40B4-BE49-F238E27FC236}">
                <a16:creationId xmlns:a16="http://schemas.microsoft.com/office/drawing/2014/main" id="{7DC5A428-8ED5-D3B4-6C4E-C088B034479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18238" y="5823505"/>
            <a:ext cx="615950" cy="484277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>
                <a:solidFill>
                  <a:schemeClr val="accent6"/>
                </a:solidFill>
                <a:latin typeface="Plus Jakarta Sans" pitchFamily="2" charset="77"/>
                <a:cs typeface="Plus Jakarta Sans" pitchFamily="2" charset="77"/>
              </a:defRPr>
            </a:lvl1pPr>
            <a:lvl2pPr>
              <a:defRPr b="1" i="0">
                <a:latin typeface="Galano Grotesque" pitchFamily="2" charset="77"/>
              </a:defRPr>
            </a:lvl2pPr>
            <a:lvl3pPr>
              <a:defRPr b="1" i="0">
                <a:latin typeface="Galano Grotesque" pitchFamily="2" charset="77"/>
              </a:defRPr>
            </a:lvl3pPr>
            <a:lvl4pPr>
              <a:defRPr b="1" i="0">
                <a:latin typeface="Galano Grotesque" pitchFamily="2" charset="77"/>
              </a:defRPr>
            </a:lvl4pPr>
            <a:lvl5pPr>
              <a:defRPr b="1" i="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06</a:t>
            </a:r>
          </a:p>
        </p:txBody>
      </p:sp>
      <p:sp>
        <p:nvSpPr>
          <p:cNvPr id="18" name="Espace réservé du texte 13">
            <a:extLst>
              <a:ext uri="{FF2B5EF4-FFF2-40B4-BE49-F238E27FC236}">
                <a16:creationId xmlns:a16="http://schemas.microsoft.com/office/drawing/2014/main" id="{D80A8CA0-2ED4-B0E9-7AC6-FDBE13419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11430" y="3122002"/>
            <a:ext cx="4622800" cy="4842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None/>
              <a:defRPr sz="1600" b="0" i="0">
                <a:solidFill>
                  <a:schemeClr val="accent6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>
                <a:latin typeface="Plus Jakarta Sans" pitchFamily="2" charset="77"/>
                <a:cs typeface="Plus Jakarta Sans" pitchFamily="2" charset="77"/>
              </a:rPr>
              <a:t>Nom de la partie</a:t>
            </a:r>
          </a:p>
        </p:txBody>
      </p:sp>
      <p:sp>
        <p:nvSpPr>
          <p:cNvPr id="19" name="Espace réservé du texte 13">
            <a:extLst>
              <a:ext uri="{FF2B5EF4-FFF2-40B4-BE49-F238E27FC236}">
                <a16:creationId xmlns:a16="http://schemas.microsoft.com/office/drawing/2014/main" id="{63F46625-9D0F-742D-0006-AC809F8ED4D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911430" y="3666182"/>
            <a:ext cx="4622800" cy="4842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None/>
              <a:defRPr sz="1600" b="0" i="0">
                <a:solidFill>
                  <a:schemeClr val="accent6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>
                <a:latin typeface="Plus Jakarta Sans" pitchFamily="2" charset="77"/>
                <a:cs typeface="Plus Jakarta Sans" pitchFamily="2" charset="77"/>
              </a:rPr>
              <a:t>Nom de la partie</a:t>
            </a:r>
          </a:p>
        </p:txBody>
      </p:sp>
      <p:sp>
        <p:nvSpPr>
          <p:cNvPr id="20" name="Espace réservé du texte 13">
            <a:extLst>
              <a:ext uri="{FF2B5EF4-FFF2-40B4-BE49-F238E27FC236}">
                <a16:creationId xmlns:a16="http://schemas.microsoft.com/office/drawing/2014/main" id="{F2559124-D4A5-23E1-41B4-DAF93355B65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911430" y="4210362"/>
            <a:ext cx="4622800" cy="4842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None/>
              <a:defRPr sz="1600" b="0" i="0">
                <a:solidFill>
                  <a:schemeClr val="accent6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>
                <a:latin typeface="Plus Jakarta Sans" pitchFamily="2" charset="77"/>
                <a:cs typeface="Plus Jakarta Sans" pitchFamily="2" charset="77"/>
              </a:rPr>
              <a:t>Nom de la partie</a:t>
            </a:r>
          </a:p>
        </p:txBody>
      </p:sp>
      <p:sp>
        <p:nvSpPr>
          <p:cNvPr id="21" name="Espace réservé du texte 13">
            <a:extLst>
              <a:ext uri="{FF2B5EF4-FFF2-40B4-BE49-F238E27FC236}">
                <a16:creationId xmlns:a16="http://schemas.microsoft.com/office/drawing/2014/main" id="{07D521EC-F1F8-AE59-12AC-6B851BC1ECA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911430" y="4754542"/>
            <a:ext cx="4622800" cy="4842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None/>
              <a:defRPr sz="1600" b="0" i="0">
                <a:solidFill>
                  <a:schemeClr val="accent6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>
                <a:latin typeface="Plus Jakarta Sans" pitchFamily="2" charset="77"/>
                <a:cs typeface="Plus Jakarta Sans" pitchFamily="2" charset="77"/>
              </a:rPr>
              <a:t>Nom de la partie</a:t>
            </a:r>
          </a:p>
        </p:txBody>
      </p:sp>
      <p:sp>
        <p:nvSpPr>
          <p:cNvPr id="22" name="Espace réservé du texte 13">
            <a:extLst>
              <a:ext uri="{FF2B5EF4-FFF2-40B4-BE49-F238E27FC236}">
                <a16:creationId xmlns:a16="http://schemas.microsoft.com/office/drawing/2014/main" id="{E8FAE4EC-0D1F-CEA4-43B8-D73979F208E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911430" y="5282417"/>
            <a:ext cx="4622800" cy="4842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None/>
              <a:defRPr sz="1600" b="0" i="0">
                <a:solidFill>
                  <a:schemeClr val="accent6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>
                <a:latin typeface="Plus Jakarta Sans" pitchFamily="2" charset="77"/>
                <a:cs typeface="Plus Jakarta Sans" pitchFamily="2" charset="77"/>
              </a:rPr>
              <a:t>Nom de la partie</a:t>
            </a:r>
          </a:p>
        </p:txBody>
      </p:sp>
      <p:sp>
        <p:nvSpPr>
          <p:cNvPr id="23" name="Espace réservé du texte 13">
            <a:extLst>
              <a:ext uri="{FF2B5EF4-FFF2-40B4-BE49-F238E27FC236}">
                <a16:creationId xmlns:a16="http://schemas.microsoft.com/office/drawing/2014/main" id="{7404A6EB-ABC3-A637-7440-EE7DA9EE001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11430" y="5826597"/>
            <a:ext cx="4622800" cy="4842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None/>
              <a:defRPr sz="1600" b="0" i="0">
                <a:solidFill>
                  <a:schemeClr val="accent6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>
                <a:latin typeface="Plus Jakarta Sans" pitchFamily="2" charset="77"/>
                <a:cs typeface="Plus Jakarta Sans" pitchFamily="2" charset="77"/>
              </a:rPr>
              <a:t>Nom de la partie</a:t>
            </a:r>
          </a:p>
        </p:txBody>
      </p:sp>
    </p:spTree>
    <p:extLst>
      <p:ext uri="{BB962C8B-B14F-4D97-AF65-F5344CB8AC3E}">
        <p14:creationId xmlns:p14="http://schemas.microsoft.com/office/powerpoint/2010/main" val="1206008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rcalaire Rouge - u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EAACD5-43D3-ADB9-78D3-54F17D687643}"/>
              </a:ext>
            </a:extLst>
          </p:cNvPr>
          <p:cNvSpPr/>
          <p:nvPr/>
        </p:nvSpPr>
        <p:spPr>
          <a:xfrm>
            <a:off x="6096000" y="0"/>
            <a:ext cx="6096000" cy="686902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CEDA3C-BD0C-79E6-D7E8-2814E14D5E34}"/>
              </a:ext>
            </a:extLst>
          </p:cNvPr>
          <p:cNvSpPr/>
          <p:nvPr/>
        </p:nvSpPr>
        <p:spPr>
          <a:xfrm>
            <a:off x="0" y="11022"/>
            <a:ext cx="6096000" cy="684697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509AF101-78C2-51C1-ECBA-8DB9F6BFE1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5330" y="3923129"/>
            <a:ext cx="5146063" cy="8636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 i="0">
                <a:solidFill>
                  <a:schemeClr val="accent3">
                    <a:lumMod val="20000"/>
                    <a:lumOff val="80000"/>
                  </a:schemeClr>
                </a:solidFill>
                <a:latin typeface="Plus Jakarta Sans SemiBold" pitchFamily="2" charset="77"/>
              </a:defRPr>
            </a:lvl1pPr>
          </a:lstStyle>
          <a:p>
            <a:pPr lvl="0"/>
            <a:r>
              <a:rPr lang="fr-FR"/>
              <a:t>Partie 0</a:t>
            </a:r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7D4E6F9F-6E80-830D-331F-2945CD29C9EB}"/>
              </a:ext>
            </a:extLst>
          </p:cNvPr>
          <p:cNvCxnSpPr>
            <a:cxnSpLocks/>
          </p:cNvCxnSpPr>
          <p:nvPr/>
        </p:nvCxnSpPr>
        <p:spPr>
          <a:xfrm>
            <a:off x="6335486" y="6479692"/>
            <a:ext cx="5260407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ZoneTexte 3">
            <a:extLst>
              <a:ext uri="{FF2B5EF4-FFF2-40B4-BE49-F238E27FC236}">
                <a16:creationId xmlns:a16="http://schemas.microsoft.com/office/drawing/2014/main" id="{CF299FA3-24B0-D169-FBD8-72EF933951EE}"/>
              </a:ext>
            </a:extLst>
          </p:cNvPr>
          <p:cNvSpPr txBox="1"/>
          <p:nvPr/>
        </p:nvSpPr>
        <p:spPr>
          <a:xfrm>
            <a:off x="11283301" y="6507574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>
                <a:solidFill>
                  <a:schemeClr val="bg2">
                    <a:lumMod val="50000"/>
                  </a:schemeClr>
                </a:solidFill>
              </a:rPr>
              <a:pPr lvl="0" algn="r"/>
              <a:t>‹N°›</a:t>
            </a:fld>
            <a:endParaRPr lang="fr-FR">
              <a:solidFill>
                <a:schemeClr val="bg2">
                  <a:lumMod val="50000"/>
                </a:schemeClr>
              </a:solidFill>
            </a:endParaRPr>
          </a:p>
        </p:txBody>
      </p:sp>
      <p:grpSp>
        <p:nvGrpSpPr>
          <p:cNvPr id="7" name="Graphique 18">
            <a:extLst>
              <a:ext uri="{FF2B5EF4-FFF2-40B4-BE49-F238E27FC236}">
                <a16:creationId xmlns:a16="http://schemas.microsoft.com/office/drawing/2014/main" id="{058A79FE-4054-7674-01BE-2AB79A96CB85}"/>
              </a:ext>
            </a:extLst>
          </p:cNvPr>
          <p:cNvGrpSpPr/>
          <p:nvPr/>
        </p:nvGrpSpPr>
        <p:grpSpPr>
          <a:xfrm>
            <a:off x="612225" y="3155563"/>
            <a:ext cx="739702" cy="475141"/>
            <a:chOff x="612225" y="3155563"/>
            <a:chExt cx="739702" cy="475141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8" name="Forme libre 7">
              <a:extLst>
                <a:ext uri="{FF2B5EF4-FFF2-40B4-BE49-F238E27FC236}">
                  <a16:creationId xmlns:a16="http://schemas.microsoft.com/office/drawing/2014/main" id="{091AA00B-E3BC-13AA-70D4-832C859A7B71}"/>
                </a:ext>
              </a:extLst>
            </p:cNvPr>
            <p:cNvSpPr/>
            <p:nvPr/>
          </p:nvSpPr>
          <p:spPr>
            <a:xfrm>
              <a:off x="818751" y="3155563"/>
              <a:ext cx="306839" cy="474600"/>
            </a:xfrm>
            <a:custGeom>
              <a:avLst/>
              <a:gdLst>
                <a:gd name="connsiteX0" fmla="*/ 171403 w 306839"/>
                <a:gd name="connsiteY0" fmla="*/ 56281 h 474600"/>
                <a:gd name="connsiteX1" fmla="*/ 123635 w 306839"/>
                <a:gd name="connsiteY1" fmla="*/ 166678 h 474600"/>
                <a:gd name="connsiteX2" fmla="*/ 101718 w 306839"/>
                <a:gd name="connsiteY2" fmla="*/ 321992 h 474600"/>
                <a:gd name="connsiteX3" fmla="*/ 0 w 306839"/>
                <a:gd name="connsiteY3" fmla="*/ 474600 h 474600"/>
                <a:gd name="connsiteX4" fmla="*/ 13487 w 306839"/>
                <a:gd name="connsiteY4" fmla="*/ 474600 h 474600"/>
                <a:gd name="connsiteX5" fmla="*/ 135436 w 306839"/>
                <a:gd name="connsiteY5" fmla="*/ 418319 h 474600"/>
                <a:gd name="connsiteX6" fmla="*/ 183204 w 306839"/>
                <a:gd name="connsiteY6" fmla="*/ 307922 h 474600"/>
                <a:gd name="connsiteX7" fmla="*/ 205122 w 306839"/>
                <a:gd name="connsiteY7" fmla="*/ 152608 h 474600"/>
                <a:gd name="connsiteX8" fmla="*/ 306839 w 306839"/>
                <a:gd name="connsiteY8" fmla="*/ 0 h 474600"/>
                <a:gd name="connsiteX9" fmla="*/ 293352 w 306839"/>
                <a:gd name="connsiteY9" fmla="*/ 0 h 474600"/>
                <a:gd name="connsiteX10" fmla="*/ 171403 w 306839"/>
                <a:gd name="connsiteY10" fmla="*/ 56281 h 47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6839" h="474600">
                  <a:moveTo>
                    <a:pt x="171403" y="56281"/>
                  </a:moveTo>
                  <a:cubicBezTo>
                    <a:pt x="146114" y="84421"/>
                    <a:pt x="130379" y="121762"/>
                    <a:pt x="123635" y="166678"/>
                  </a:cubicBezTo>
                  <a:lnTo>
                    <a:pt x="101718" y="321992"/>
                  </a:lnTo>
                  <a:cubicBezTo>
                    <a:pt x="93288" y="382603"/>
                    <a:pt x="55074" y="439425"/>
                    <a:pt x="0" y="474600"/>
                  </a:cubicBezTo>
                  <a:cubicBezTo>
                    <a:pt x="4496" y="474600"/>
                    <a:pt x="8992" y="474600"/>
                    <a:pt x="13487" y="474600"/>
                  </a:cubicBezTo>
                  <a:cubicBezTo>
                    <a:pt x="58446" y="474600"/>
                    <a:pt x="102842" y="454577"/>
                    <a:pt x="135436" y="418319"/>
                  </a:cubicBezTo>
                  <a:cubicBezTo>
                    <a:pt x="160725" y="390179"/>
                    <a:pt x="176461" y="352839"/>
                    <a:pt x="183204" y="307922"/>
                  </a:cubicBezTo>
                  <a:lnTo>
                    <a:pt x="205122" y="152608"/>
                  </a:lnTo>
                  <a:cubicBezTo>
                    <a:pt x="213551" y="91998"/>
                    <a:pt x="251766" y="35176"/>
                    <a:pt x="306839" y="0"/>
                  </a:cubicBezTo>
                  <a:cubicBezTo>
                    <a:pt x="302344" y="0"/>
                    <a:pt x="297848" y="0"/>
                    <a:pt x="293352" y="0"/>
                  </a:cubicBezTo>
                  <a:cubicBezTo>
                    <a:pt x="248394" y="0"/>
                    <a:pt x="203998" y="20023"/>
                    <a:pt x="171403" y="5628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>
                <a:solidFill>
                  <a:schemeClr val="accent5"/>
                </a:solidFill>
              </a:endParaRPr>
            </a:p>
          </p:txBody>
        </p:sp>
        <p:sp>
          <p:nvSpPr>
            <p:cNvPr id="9" name="Forme libre 8">
              <a:extLst>
                <a:ext uri="{FF2B5EF4-FFF2-40B4-BE49-F238E27FC236}">
                  <a16:creationId xmlns:a16="http://schemas.microsoft.com/office/drawing/2014/main" id="{65E49B2B-EAF5-66E6-F2D8-4F9596219DE5}"/>
                </a:ext>
              </a:extLst>
            </p:cNvPr>
            <p:cNvSpPr/>
            <p:nvPr/>
          </p:nvSpPr>
          <p:spPr>
            <a:xfrm>
              <a:off x="612225" y="3160974"/>
              <a:ext cx="222823" cy="456200"/>
            </a:xfrm>
            <a:custGeom>
              <a:avLst/>
              <a:gdLst>
                <a:gd name="connsiteX0" fmla="*/ 138527 w 222823"/>
                <a:gd name="connsiteY0" fmla="*/ 104986 h 456200"/>
                <a:gd name="connsiteX1" fmla="*/ 195849 w 222823"/>
                <a:gd name="connsiteY1" fmla="*/ 76304 h 456200"/>
                <a:gd name="connsiteX2" fmla="*/ 195849 w 222823"/>
                <a:gd name="connsiteY2" fmla="*/ 0 h 456200"/>
                <a:gd name="connsiteX3" fmla="*/ 160444 w 222823"/>
                <a:gd name="connsiteY3" fmla="*/ 9200 h 456200"/>
                <a:gd name="connsiteX4" fmla="*/ 64908 w 222823"/>
                <a:gd name="connsiteY4" fmla="*/ 70351 h 456200"/>
                <a:gd name="connsiteX5" fmla="*/ 64908 w 222823"/>
                <a:gd name="connsiteY5" fmla="*/ 70351 h 456200"/>
                <a:gd name="connsiteX6" fmla="*/ 64908 w 222823"/>
                <a:gd name="connsiteY6" fmla="*/ 70351 h 456200"/>
                <a:gd name="connsiteX7" fmla="*/ 64908 w 222823"/>
                <a:gd name="connsiteY7" fmla="*/ 393967 h 456200"/>
                <a:gd name="connsiteX8" fmla="*/ 64908 w 222823"/>
                <a:gd name="connsiteY8" fmla="*/ 393967 h 456200"/>
                <a:gd name="connsiteX9" fmla="*/ 163254 w 222823"/>
                <a:gd name="connsiteY9" fmla="*/ 456201 h 456200"/>
                <a:gd name="connsiteX10" fmla="*/ 222824 w 222823"/>
                <a:gd name="connsiteY10" fmla="*/ 393426 h 456200"/>
                <a:gd name="connsiteX11" fmla="*/ 81206 w 222823"/>
                <a:gd name="connsiteY11" fmla="*/ 276534 h 456200"/>
                <a:gd name="connsiteX12" fmla="*/ 137965 w 222823"/>
                <a:gd name="connsiteY12" fmla="*/ 104986 h 45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2823" h="456200">
                  <a:moveTo>
                    <a:pt x="138527" y="104986"/>
                  </a:moveTo>
                  <a:cubicBezTo>
                    <a:pt x="155387" y="91998"/>
                    <a:pt x="175056" y="82257"/>
                    <a:pt x="195849" y="76304"/>
                  </a:cubicBezTo>
                  <a:lnTo>
                    <a:pt x="195849" y="0"/>
                  </a:lnTo>
                  <a:cubicBezTo>
                    <a:pt x="183485" y="2165"/>
                    <a:pt x="171684" y="5412"/>
                    <a:pt x="160444" y="9200"/>
                  </a:cubicBezTo>
                  <a:cubicBezTo>
                    <a:pt x="123354" y="21647"/>
                    <a:pt x="90759" y="43293"/>
                    <a:pt x="64908" y="70351"/>
                  </a:cubicBezTo>
                  <a:cubicBezTo>
                    <a:pt x="64908" y="70351"/>
                    <a:pt x="64908" y="70351"/>
                    <a:pt x="64908" y="70351"/>
                  </a:cubicBezTo>
                  <a:lnTo>
                    <a:pt x="64908" y="70351"/>
                  </a:lnTo>
                  <a:cubicBezTo>
                    <a:pt x="-21636" y="160184"/>
                    <a:pt x="-21636" y="304134"/>
                    <a:pt x="64908" y="393967"/>
                  </a:cubicBezTo>
                  <a:lnTo>
                    <a:pt x="64908" y="393967"/>
                  </a:lnTo>
                  <a:cubicBezTo>
                    <a:pt x="91883" y="422107"/>
                    <a:pt x="126164" y="443754"/>
                    <a:pt x="163254" y="456201"/>
                  </a:cubicBezTo>
                  <a:cubicBezTo>
                    <a:pt x="187419" y="439425"/>
                    <a:pt x="207650" y="417778"/>
                    <a:pt x="222824" y="393426"/>
                  </a:cubicBezTo>
                  <a:cubicBezTo>
                    <a:pt x="156511" y="386391"/>
                    <a:pt x="99189" y="339309"/>
                    <a:pt x="81206" y="276534"/>
                  </a:cubicBezTo>
                  <a:cubicBezTo>
                    <a:pt x="63222" y="213760"/>
                    <a:pt x="86263" y="145032"/>
                    <a:pt x="137965" y="10498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>
                <a:solidFill>
                  <a:schemeClr val="accent5"/>
                </a:solidFill>
              </a:endParaRPr>
            </a:p>
          </p:txBody>
        </p:sp>
        <p:sp>
          <p:nvSpPr>
            <p:cNvPr id="11" name="Forme libre 10">
              <a:extLst>
                <a:ext uri="{FF2B5EF4-FFF2-40B4-BE49-F238E27FC236}">
                  <a16:creationId xmlns:a16="http://schemas.microsoft.com/office/drawing/2014/main" id="{A1F56059-9621-13E3-D209-2C06236075DD}"/>
                </a:ext>
              </a:extLst>
            </p:cNvPr>
            <p:cNvSpPr/>
            <p:nvPr/>
          </p:nvSpPr>
          <p:spPr>
            <a:xfrm>
              <a:off x="1116037" y="3166927"/>
              <a:ext cx="235889" cy="463776"/>
            </a:xfrm>
            <a:custGeom>
              <a:avLst/>
              <a:gdLst>
                <a:gd name="connsiteX0" fmla="*/ 60694 w 235889"/>
                <a:gd name="connsiteY0" fmla="*/ 0 h 463776"/>
                <a:gd name="connsiteX1" fmla="*/ 0 w 235889"/>
                <a:gd name="connsiteY1" fmla="*/ 63316 h 463776"/>
                <a:gd name="connsiteX2" fmla="*/ 152296 w 235889"/>
                <a:gd name="connsiteY2" fmla="*/ 182913 h 463776"/>
                <a:gd name="connsiteX3" fmla="*/ 94412 w 235889"/>
                <a:gd name="connsiteY3" fmla="*/ 356085 h 463776"/>
                <a:gd name="connsiteX4" fmla="*/ 23603 w 235889"/>
                <a:gd name="connsiteY4" fmla="*/ 387473 h 463776"/>
                <a:gd name="connsiteX5" fmla="*/ 23603 w 235889"/>
                <a:gd name="connsiteY5" fmla="*/ 463777 h 463776"/>
                <a:gd name="connsiteX6" fmla="*/ 71933 w 235889"/>
                <a:gd name="connsiteY6" fmla="*/ 452413 h 463776"/>
                <a:gd name="connsiteX7" fmla="*/ 169717 w 235889"/>
                <a:gd name="connsiteY7" fmla="*/ 390720 h 463776"/>
                <a:gd name="connsiteX8" fmla="*/ 169717 w 235889"/>
                <a:gd name="connsiteY8" fmla="*/ 390720 h 463776"/>
                <a:gd name="connsiteX9" fmla="*/ 169717 w 235889"/>
                <a:gd name="connsiteY9" fmla="*/ 390720 h 463776"/>
                <a:gd name="connsiteX10" fmla="*/ 169717 w 235889"/>
                <a:gd name="connsiteY10" fmla="*/ 64398 h 463776"/>
                <a:gd name="connsiteX11" fmla="*/ 169717 w 235889"/>
                <a:gd name="connsiteY11" fmla="*/ 64398 h 463776"/>
                <a:gd name="connsiteX12" fmla="*/ 61255 w 235889"/>
                <a:gd name="connsiteY12" fmla="*/ 541 h 463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5889" h="463776">
                  <a:moveTo>
                    <a:pt x="60694" y="0"/>
                  </a:moveTo>
                  <a:cubicBezTo>
                    <a:pt x="35967" y="17317"/>
                    <a:pt x="15173" y="38964"/>
                    <a:pt x="0" y="63316"/>
                  </a:cubicBezTo>
                  <a:cubicBezTo>
                    <a:pt x="67437" y="70351"/>
                    <a:pt x="133751" y="119597"/>
                    <a:pt x="152296" y="182913"/>
                  </a:cubicBezTo>
                  <a:cubicBezTo>
                    <a:pt x="170841" y="246229"/>
                    <a:pt x="147238" y="315498"/>
                    <a:pt x="94412" y="356085"/>
                  </a:cubicBezTo>
                  <a:cubicBezTo>
                    <a:pt x="73619" y="371779"/>
                    <a:pt x="49454" y="382603"/>
                    <a:pt x="23603" y="387473"/>
                  </a:cubicBezTo>
                  <a:lnTo>
                    <a:pt x="23603" y="463777"/>
                  </a:lnTo>
                  <a:cubicBezTo>
                    <a:pt x="40462" y="461612"/>
                    <a:pt x="56760" y="457824"/>
                    <a:pt x="71933" y="452413"/>
                  </a:cubicBezTo>
                  <a:cubicBezTo>
                    <a:pt x="109585" y="439425"/>
                    <a:pt x="142742" y="418319"/>
                    <a:pt x="169717" y="390720"/>
                  </a:cubicBezTo>
                  <a:cubicBezTo>
                    <a:pt x="169717" y="390720"/>
                    <a:pt x="169717" y="390720"/>
                    <a:pt x="169717" y="390720"/>
                  </a:cubicBezTo>
                  <a:lnTo>
                    <a:pt x="169717" y="390720"/>
                  </a:lnTo>
                  <a:cubicBezTo>
                    <a:pt x="257947" y="299805"/>
                    <a:pt x="257947" y="154773"/>
                    <a:pt x="169717" y="64398"/>
                  </a:cubicBezTo>
                  <a:lnTo>
                    <a:pt x="169717" y="64398"/>
                  </a:lnTo>
                  <a:cubicBezTo>
                    <a:pt x="142180" y="35717"/>
                    <a:pt x="99470" y="12988"/>
                    <a:pt x="61255" y="54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>
                <a:solidFill>
                  <a:schemeClr val="accent5"/>
                </a:solidFill>
              </a:endParaRPr>
            </a:p>
          </p:txBody>
        </p:sp>
      </p:grp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A888CD31-D8F8-79CB-32BC-396B417A55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18238" y="3122001"/>
            <a:ext cx="615950" cy="484277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>
                <a:solidFill>
                  <a:schemeClr val="accent4"/>
                </a:solidFill>
                <a:latin typeface="Plus Jakarta Sans" pitchFamily="2" charset="77"/>
                <a:cs typeface="Plus Jakarta Sans" pitchFamily="2" charset="77"/>
              </a:defRPr>
            </a:lvl1pPr>
            <a:lvl2pPr>
              <a:defRPr b="1" i="0">
                <a:latin typeface="Galano Grotesque" pitchFamily="2" charset="77"/>
              </a:defRPr>
            </a:lvl2pPr>
            <a:lvl3pPr>
              <a:defRPr b="1" i="0">
                <a:latin typeface="Galano Grotesque" pitchFamily="2" charset="77"/>
              </a:defRPr>
            </a:lvl3pPr>
            <a:lvl4pPr>
              <a:defRPr b="1" i="0">
                <a:latin typeface="Galano Grotesque" pitchFamily="2" charset="77"/>
              </a:defRPr>
            </a:lvl4pPr>
            <a:lvl5pPr>
              <a:defRPr b="1" i="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01</a:t>
            </a:r>
          </a:p>
        </p:txBody>
      </p:sp>
      <p:sp>
        <p:nvSpPr>
          <p:cNvPr id="13" name="Espace réservé du texte 11">
            <a:extLst>
              <a:ext uri="{FF2B5EF4-FFF2-40B4-BE49-F238E27FC236}">
                <a16:creationId xmlns:a16="http://schemas.microsoft.com/office/drawing/2014/main" id="{03E5E9E2-004B-2EBE-18FC-FFDA2E49A7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18238" y="3661720"/>
            <a:ext cx="615950" cy="484277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>
                <a:solidFill>
                  <a:schemeClr val="accent4"/>
                </a:solidFill>
                <a:latin typeface="Plus Jakarta Sans" pitchFamily="2" charset="77"/>
                <a:cs typeface="Plus Jakarta Sans" pitchFamily="2" charset="77"/>
              </a:defRPr>
            </a:lvl1pPr>
            <a:lvl2pPr>
              <a:defRPr b="1" i="0">
                <a:latin typeface="Galano Grotesque" pitchFamily="2" charset="77"/>
              </a:defRPr>
            </a:lvl2pPr>
            <a:lvl3pPr>
              <a:defRPr b="1" i="0">
                <a:latin typeface="Galano Grotesque" pitchFamily="2" charset="77"/>
              </a:defRPr>
            </a:lvl3pPr>
            <a:lvl4pPr>
              <a:defRPr b="1" i="0">
                <a:latin typeface="Galano Grotesque" pitchFamily="2" charset="77"/>
              </a:defRPr>
            </a:lvl4pPr>
            <a:lvl5pPr>
              <a:defRPr b="1" i="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02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CB13172A-C87D-5D96-DEB2-BE15942163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18238" y="4201439"/>
            <a:ext cx="615950" cy="484277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>
                <a:solidFill>
                  <a:schemeClr val="accent4"/>
                </a:solidFill>
                <a:latin typeface="Plus Jakarta Sans" pitchFamily="2" charset="77"/>
                <a:cs typeface="Plus Jakarta Sans" pitchFamily="2" charset="77"/>
              </a:defRPr>
            </a:lvl1pPr>
            <a:lvl2pPr>
              <a:defRPr b="1" i="0">
                <a:latin typeface="Galano Grotesque" pitchFamily="2" charset="77"/>
              </a:defRPr>
            </a:lvl2pPr>
            <a:lvl3pPr>
              <a:defRPr b="1" i="0">
                <a:latin typeface="Galano Grotesque" pitchFamily="2" charset="77"/>
              </a:defRPr>
            </a:lvl3pPr>
            <a:lvl4pPr>
              <a:defRPr b="1" i="0">
                <a:latin typeface="Galano Grotesque" pitchFamily="2" charset="77"/>
              </a:defRPr>
            </a:lvl4pPr>
            <a:lvl5pPr>
              <a:defRPr b="1" i="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03</a:t>
            </a:r>
          </a:p>
        </p:txBody>
      </p:sp>
      <p:sp>
        <p:nvSpPr>
          <p:cNvPr id="15" name="Espace réservé du texte 11">
            <a:extLst>
              <a:ext uri="{FF2B5EF4-FFF2-40B4-BE49-F238E27FC236}">
                <a16:creationId xmlns:a16="http://schemas.microsoft.com/office/drawing/2014/main" id="{8B5CAA73-A0BC-BBD1-48C9-138DC53435C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18238" y="4742127"/>
            <a:ext cx="615950" cy="484277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>
                <a:solidFill>
                  <a:schemeClr val="accent4"/>
                </a:solidFill>
                <a:latin typeface="Plus Jakarta Sans" pitchFamily="2" charset="77"/>
                <a:cs typeface="Plus Jakarta Sans" pitchFamily="2" charset="77"/>
              </a:defRPr>
            </a:lvl1pPr>
            <a:lvl2pPr>
              <a:defRPr b="1" i="0">
                <a:latin typeface="Galano Grotesque" pitchFamily="2" charset="77"/>
              </a:defRPr>
            </a:lvl2pPr>
            <a:lvl3pPr>
              <a:defRPr b="1" i="0">
                <a:latin typeface="Galano Grotesque" pitchFamily="2" charset="77"/>
              </a:defRPr>
            </a:lvl3pPr>
            <a:lvl4pPr>
              <a:defRPr b="1" i="0">
                <a:latin typeface="Galano Grotesque" pitchFamily="2" charset="77"/>
              </a:defRPr>
            </a:lvl4pPr>
            <a:lvl5pPr>
              <a:defRPr b="1" i="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04</a:t>
            </a:r>
          </a:p>
        </p:txBody>
      </p:sp>
      <p:sp>
        <p:nvSpPr>
          <p:cNvPr id="16" name="Espace réservé du texte 11">
            <a:extLst>
              <a:ext uri="{FF2B5EF4-FFF2-40B4-BE49-F238E27FC236}">
                <a16:creationId xmlns:a16="http://schemas.microsoft.com/office/drawing/2014/main" id="{0CC7159F-33D6-E496-759E-6330FCEA3AB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18238" y="5282816"/>
            <a:ext cx="615950" cy="484277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>
                <a:solidFill>
                  <a:schemeClr val="accent4"/>
                </a:solidFill>
                <a:latin typeface="Plus Jakarta Sans" pitchFamily="2" charset="77"/>
                <a:cs typeface="Plus Jakarta Sans" pitchFamily="2" charset="77"/>
              </a:defRPr>
            </a:lvl1pPr>
            <a:lvl2pPr>
              <a:defRPr b="1" i="0">
                <a:latin typeface="Galano Grotesque" pitchFamily="2" charset="77"/>
              </a:defRPr>
            </a:lvl2pPr>
            <a:lvl3pPr>
              <a:defRPr b="1" i="0">
                <a:latin typeface="Galano Grotesque" pitchFamily="2" charset="77"/>
              </a:defRPr>
            </a:lvl3pPr>
            <a:lvl4pPr>
              <a:defRPr b="1" i="0">
                <a:latin typeface="Galano Grotesque" pitchFamily="2" charset="77"/>
              </a:defRPr>
            </a:lvl4pPr>
            <a:lvl5pPr>
              <a:defRPr b="1" i="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05</a:t>
            </a:r>
          </a:p>
        </p:txBody>
      </p:sp>
      <p:sp>
        <p:nvSpPr>
          <p:cNvPr id="17" name="Espace réservé du texte 11">
            <a:extLst>
              <a:ext uri="{FF2B5EF4-FFF2-40B4-BE49-F238E27FC236}">
                <a16:creationId xmlns:a16="http://schemas.microsoft.com/office/drawing/2014/main" id="{A03ADBDF-EE13-554A-E45D-02DA02E30FF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18238" y="5823505"/>
            <a:ext cx="615950" cy="484277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>
                <a:solidFill>
                  <a:schemeClr val="accent4"/>
                </a:solidFill>
                <a:latin typeface="Plus Jakarta Sans" pitchFamily="2" charset="77"/>
                <a:cs typeface="Plus Jakarta Sans" pitchFamily="2" charset="77"/>
              </a:defRPr>
            </a:lvl1pPr>
            <a:lvl2pPr>
              <a:defRPr b="1" i="0">
                <a:latin typeface="Galano Grotesque" pitchFamily="2" charset="77"/>
              </a:defRPr>
            </a:lvl2pPr>
            <a:lvl3pPr>
              <a:defRPr b="1" i="0">
                <a:latin typeface="Galano Grotesque" pitchFamily="2" charset="77"/>
              </a:defRPr>
            </a:lvl3pPr>
            <a:lvl4pPr>
              <a:defRPr b="1" i="0">
                <a:latin typeface="Galano Grotesque" pitchFamily="2" charset="77"/>
              </a:defRPr>
            </a:lvl4pPr>
            <a:lvl5pPr>
              <a:defRPr b="1" i="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06</a:t>
            </a:r>
          </a:p>
        </p:txBody>
      </p:sp>
      <p:sp>
        <p:nvSpPr>
          <p:cNvPr id="18" name="Espace réservé du texte 13">
            <a:extLst>
              <a:ext uri="{FF2B5EF4-FFF2-40B4-BE49-F238E27FC236}">
                <a16:creationId xmlns:a16="http://schemas.microsoft.com/office/drawing/2014/main" id="{1F650689-D9E8-1929-7BD7-0D2ADDE60B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11430" y="3122002"/>
            <a:ext cx="4622800" cy="4842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None/>
              <a:defRPr sz="1600" b="0" i="0">
                <a:solidFill>
                  <a:schemeClr val="accent4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>
                <a:latin typeface="Plus Jakarta Sans" pitchFamily="2" charset="77"/>
                <a:cs typeface="Plus Jakarta Sans" pitchFamily="2" charset="77"/>
              </a:rPr>
              <a:t>Nom de la partie</a:t>
            </a:r>
          </a:p>
        </p:txBody>
      </p:sp>
      <p:sp>
        <p:nvSpPr>
          <p:cNvPr id="19" name="Espace réservé du texte 13">
            <a:extLst>
              <a:ext uri="{FF2B5EF4-FFF2-40B4-BE49-F238E27FC236}">
                <a16:creationId xmlns:a16="http://schemas.microsoft.com/office/drawing/2014/main" id="{E33DB651-F829-BDD1-7EB1-E5114BEA586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911430" y="3666182"/>
            <a:ext cx="4622800" cy="4842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None/>
              <a:defRPr sz="1600" b="0" i="0">
                <a:solidFill>
                  <a:schemeClr val="accent4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>
                <a:latin typeface="Plus Jakarta Sans" pitchFamily="2" charset="77"/>
                <a:cs typeface="Plus Jakarta Sans" pitchFamily="2" charset="77"/>
              </a:rPr>
              <a:t>Nom de la partie</a:t>
            </a:r>
          </a:p>
        </p:txBody>
      </p:sp>
      <p:sp>
        <p:nvSpPr>
          <p:cNvPr id="20" name="Espace réservé du texte 13">
            <a:extLst>
              <a:ext uri="{FF2B5EF4-FFF2-40B4-BE49-F238E27FC236}">
                <a16:creationId xmlns:a16="http://schemas.microsoft.com/office/drawing/2014/main" id="{72C12F95-4518-C449-2BF6-9AABFF59C88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911430" y="4210362"/>
            <a:ext cx="4622800" cy="4842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None/>
              <a:defRPr sz="1600" b="0" i="0">
                <a:solidFill>
                  <a:schemeClr val="accent4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>
                <a:latin typeface="Plus Jakarta Sans" pitchFamily="2" charset="77"/>
                <a:cs typeface="Plus Jakarta Sans" pitchFamily="2" charset="77"/>
              </a:rPr>
              <a:t>Nom de la partie</a:t>
            </a:r>
          </a:p>
        </p:txBody>
      </p:sp>
      <p:sp>
        <p:nvSpPr>
          <p:cNvPr id="21" name="Espace réservé du texte 13">
            <a:extLst>
              <a:ext uri="{FF2B5EF4-FFF2-40B4-BE49-F238E27FC236}">
                <a16:creationId xmlns:a16="http://schemas.microsoft.com/office/drawing/2014/main" id="{C4D5DDB2-8477-C611-71B5-B926BB27D06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911430" y="4754542"/>
            <a:ext cx="4622800" cy="4842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None/>
              <a:defRPr sz="1600" b="0" i="0">
                <a:solidFill>
                  <a:schemeClr val="accent4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>
                <a:latin typeface="Plus Jakarta Sans" pitchFamily="2" charset="77"/>
                <a:cs typeface="Plus Jakarta Sans" pitchFamily="2" charset="77"/>
              </a:rPr>
              <a:t>Nom de la partie</a:t>
            </a:r>
          </a:p>
        </p:txBody>
      </p:sp>
      <p:sp>
        <p:nvSpPr>
          <p:cNvPr id="22" name="Espace réservé du texte 13">
            <a:extLst>
              <a:ext uri="{FF2B5EF4-FFF2-40B4-BE49-F238E27FC236}">
                <a16:creationId xmlns:a16="http://schemas.microsoft.com/office/drawing/2014/main" id="{EF323779-AA12-E626-4A55-818CC6AE787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911430" y="5282417"/>
            <a:ext cx="4622800" cy="4842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None/>
              <a:defRPr sz="1600" b="0" i="0">
                <a:solidFill>
                  <a:schemeClr val="accent4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>
                <a:latin typeface="Plus Jakarta Sans" pitchFamily="2" charset="77"/>
                <a:cs typeface="Plus Jakarta Sans" pitchFamily="2" charset="77"/>
              </a:rPr>
              <a:t>Nom de la partie</a:t>
            </a:r>
          </a:p>
        </p:txBody>
      </p:sp>
      <p:sp>
        <p:nvSpPr>
          <p:cNvPr id="23" name="Espace réservé du texte 13">
            <a:extLst>
              <a:ext uri="{FF2B5EF4-FFF2-40B4-BE49-F238E27FC236}">
                <a16:creationId xmlns:a16="http://schemas.microsoft.com/office/drawing/2014/main" id="{A1524D47-BCC5-66F3-C663-38D79F4C200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11430" y="5826597"/>
            <a:ext cx="4622800" cy="4842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None/>
              <a:defRPr sz="1600" b="0" i="0">
                <a:solidFill>
                  <a:schemeClr val="accent4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>
                <a:latin typeface="Plus Jakarta Sans" pitchFamily="2" charset="77"/>
                <a:cs typeface="Plus Jakarta Sans" pitchFamily="2" charset="77"/>
              </a:rPr>
              <a:t>Nom de la partie</a:t>
            </a:r>
          </a:p>
        </p:txBody>
      </p:sp>
    </p:spTree>
    <p:extLst>
      <p:ext uri="{BB962C8B-B14F-4D97-AF65-F5344CB8AC3E}">
        <p14:creationId xmlns:p14="http://schemas.microsoft.com/office/powerpoint/2010/main" val="3722326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AC5046F2-8F16-1A3B-C892-69BF75F950B6}"/>
              </a:ext>
            </a:extLst>
          </p:cNvPr>
          <p:cNvCxnSpPr>
            <a:cxnSpLocks/>
          </p:cNvCxnSpPr>
          <p:nvPr userDrawn="1"/>
        </p:nvCxnSpPr>
        <p:spPr>
          <a:xfrm>
            <a:off x="596107" y="6479692"/>
            <a:ext cx="1099978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AA4547F6-8DFD-B143-5BED-3627BFA58330}"/>
              </a:ext>
            </a:extLst>
          </p:cNvPr>
          <p:cNvSpPr txBox="1"/>
          <p:nvPr userDrawn="1"/>
        </p:nvSpPr>
        <p:spPr>
          <a:xfrm>
            <a:off x="11283301" y="6552610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sp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/>
              <a:pPr lvl="0" algn="r"/>
              <a:t>‹N°›</a:t>
            </a:fld>
            <a:endParaRPr lang="fr-FR"/>
          </a:p>
        </p:txBody>
      </p:sp>
      <p:sp>
        <p:nvSpPr>
          <p:cNvPr id="11" name="Espace réservé du pied de page 9">
            <a:extLst>
              <a:ext uri="{FF2B5EF4-FFF2-40B4-BE49-F238E27FC236}">
                <a16:creationId xmlns:a16="http://schemas.microsoft.com/office/drawing/2014/main" id="{AAF74D6D-692D-A976-75BC-C6A54058DB2A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559535"/>
            <a:ext cx="4114800" cy="216982"/>
          </a:xfrm>
        </p:spPr>
        <p:txBody>
          <a:bodyPr anchor="ctr" anchorCtr="0">
            <a:spAutoFit/>
          </a:bodyPr>
          <a:lstStyle/>
          <a:p>
            <a:r>
              <a:rPr lang="fr-FR"/>
              <a:t>Confidentiel</a:t>
            </a:r>
          </a:p>
        </p:txBody>
      </p:sp>
      <p:pic>
        <p:nvPicPr>
          <p:cNvPr id="12" name="Image 3">
            <a:extLst>
              <a:ext uri="{FF2B5EF4-FFF2-40B4-BE49-F238E27FC236}">
                <a16:creationId xmlns:a16="http://schemas.microsoft.com/office/drawing/2014/main" id="{2A2E83D9-C63E-83F9-2B5B-DE7023041E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pic>
        <p:nvPicPr>
          <p:cNvPr id="14" name="Image 3">
            <a:extLst>
              <a:ext uri="{FF2B5EF4-FFF2-40B4-BE49-F238E27FC236}">
                <a16:creationId xmlns:a16="http://schemas.microsoft.com/office/drawing/2014/main" id="{5813E617-9C02-D680-A4A5-3DCC6C483F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sp>
        <p:nvSpPr>
          <p:cNvPr id="17" name="Titre 16">
            <a:extLst>
              <a:ext uri="{FF2B5EF4-FFF2-40B4-BE49-F238E27FC236}">
                <a16:creationId xmlns:a16="http://schemas.microsoft.com/office/drawing/2014/main" id="{D1447300-8277-F266-5442-178681D81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657775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ement + sous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7408A41C-D594-6F2F-7E89-CDC508301B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245" y="730049"/>
            <a:ext cx="11177364" cy="3128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AC5046F2-8F16-1A3B-C892-69BF75F950B6}"/>
              </a:ext>
            </a:extLst>
          </p:cNvPr>
          <p:cNvCxnSpPr>
            <a:cxnSpLocks/>
          </p:cNvCxnSpPr>
          <p:nvPr userDrawn="1"/>
        </p:nvCxnSpPr>
        <p:spPr>
          <a:xfrm>
            <a:off x="596107" y="6479692"/>
            <a:ext cx="1099978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AA4547F6-8DFD-B143-5BED-3627BFA58330}"/>
              </a:ext>
            </a:extLst>
          </p:cNvPr>
          <p:cNvSpPr txBox="1"/>
          <p:nvPr userDrawn="1"/>
        </p:nvSpPr>
        <p:spPr>
          <a:xfrm>
            <a:off x="11283301" y="6552610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sp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/>
              <a:pPr lvl="0" algn="r"/>
              <a:t>‹N°›</a:t>
            </a:fld>
            <a:endParaRPr lang="fr-FR"/>
          </a:p>
        </p:txBody>
      </p:sp>
      <p:sp>
        <p:nvSpPr>
          <p:cNvPr id="11" name="Espace réservé du pied de page 9">
            <a:extLst>
              <a:ext uri="{FF2B5EF4-FFF2-40B4-BE49-F238E27FC236}">
                <a16:creationId xmlns:a16="http://schemas.microsoft.com/office/drawing/2014/main" id="{AAF74D6D-692D-A976-75BC-C6A54058DB2A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559535"/>
            <a:ext cx="4114800" cy="216982"/>
          </a:xfrm>
        </p:spPr>
        <p:txBody>
          <a:bodyPr anchor="ctr" anchorCtr="0">
            <a:spAutoFit/>
          </a:bodyPr>
          <a:lstStyle/>
          <a:p>
            <a:r>
              <a:rPr lang="fr-FR"/>
              <a:t>Confidentiel</a:t>
            </a:r>
          </a:p>
        </p:txBody>
      </p:sp>
      <p:pic>
        <p:nvPicPr>
          <p:cNvPr id="12" name="Image 3">
            <a:extLst>
              <a:ext uri="{FF2B5EF4-FFF2-40B4-BE49-F238E27FC236}">
                <a16:creationId xmlns:a16="http://schemas.microsoft.com/office/drawing/2014/main" id="{2A2E83D9-C63E-83F9-2B5B-DE7023041E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pic>
        <p:nvPicPr>
          <p:cNvPr id="14" name="Image 3">
            <a:extLst>
              <a:ext uri="{FF2B5EF4-FFF2-40B4-BE49-F238E27FC236}">
                <a16:creationId xmlns:a16="http://schemas.microsoft.com/office/drawing/2014/main" id="{5813E617-9C02-D680-A4A5-3DCC6C483F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sp>
        <p:nvSpPr>
          <p:cNvPr id="17" name="Titre 16">
            <a:extLst>
              <a:ext uri="{FF2B5EF4-FFF2-40B4-BE49-F238E27FC236}">
                <a16:creationId xmlns:a16="http://schemas.microsoft.com/office/drawing/2014/main" id="{D1447300-8277-F266-5442-178681D81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242094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7408A41C-D594-6F2F-7E89-CDC508301B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245" y="730049"/>
            <a:ext cx="11177364" cy="3128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F3DB7E0-3460-575F-C752-E124B92DB6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6900" y="1764253"/>
            <a:ext cx="10998200" cy="4552409"/>
          </a:xfrm>
          <a:prstGeom prst="rect">
            <a:avLst/>
          </a:prstGeom>
        </p:spPr>
        <p:txBody>
          <a:bodyPr/>
          <a:lstStyle>
            <a:lvl1pPr marL="228600" indent="-228600">
              <a:buFontTx/>
              <a:buBlip>
                <a:blip r:embed="rId2"/>
              </a:buBlip>
              <a:defRPr sz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Ajouter du texte</a:t>
            </a: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1108D5AD-F7A3-3DAA-999E-A809992326C3}"/>
              </a:ext>
            </a:extLst>
          </p:cNvPr>
          <p:cNvCxnSpPr>
            <a:cxnSpLocks/>
          </p:cNvCxnSpPr>
          <p:nvPr userDrawn="1"/>
        </p:nvCxnSpPr>
        <p:spPr>
          <a:xfrm>
            <a:off x="596107" y="6479692"/>
            <a:ext cx="1099978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>
            <a:extLst>
              <a:ext uri="{FF2B5EF4-FFF2-40B4-BE49-F238E27FC236}">
                <a16:creationId xmlns:a16="http://schemas.microsoft.com/office/drawing/2014/main" id="{7E178D58-7437-56CD-07E1-0B72ACCBDFE7}"/>
              </a:ext>
            </a:extLst>
          </p:cNvPr>
          <p:cNvSpPr txBox="1"/>
          <p:nvPr userDrawn="1"/>
        </p:nvSpPr>
        <p:spPr>
          <a:xfrm>
            <a:off x="11283301" y="6552610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sp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/>
              <a:pPr lvl="0" algn="r"/>
              <a:t>‹N°›</a:t>
            </a:fld>
            <a:endParaRPr lang="fr-FR"/>
          </a:p>
        </p:txBody>
      </p:sp>
      <p:sp>
        <p:nvSpPr>
          <p:cNvPr id="13" name="Espace réservé du pied de page 9">
            <a:extLst>
              <a:ext uri="{FF2B5EF4-FFF2-40B4-BE49-F238E27FC236}">
                <a16:creationId xmlns:a16="http://schemas.microsoft.com/office/drawing/2014/main" id="{9A20A858-7D11-D557-18E3-9EF7098D841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559535"/>
            <a:ext cx="4114800" cy="216982"/>
          </a:xfrm>
        </p:spPr>
        <p:txBody>
          <a:bodyPr anchor="ctr" anchorCtr="0">
            <a:spAutoFit/>
          </a:bodyPr>
          <a:lstStyle/>
          <a:p>
            <a:r>
              <a:rPr lang="fr-FR"/>
              <a:t>Confidentiel</a:t>
            </a:r>
          </a:p>
        </p:txBody>
      </p:sp>
      <p:pic>
        <p:nvPicPr>
          <p:cNvPr id="14" name="Image 3">
            <a:extLst>
              <a:ext uri="{FF2B5EF4-FFF2-40B4-BE49-F238E27FC236}">
                <a16:creationId xmlns:a16="http://schemas.microsoft.com/office/drawing/2014/main" id="{2870B9BA-3143-7AED-45D7-DEE04E27072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pic>
        <p:nvPicPr>
          <p:cNvPr id="15" name="Image 3">
            <a:extLst>
              <a:ext uri="{FF2B5EF4-FFF2-40B4-BE49-F238E27FC236}">
                <a16:creationId xmlns:a16="http://schemas.microsoft.com/office/drawing/2014/main" id="{2975F53E-B68D-3C78-1259-D2CBE00F7CB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sp>
        <p:nvSpPr>
          <p:cNvPr id="16" name="Titre 15">
            <a:extLst>
              <a:ext uri="{FF2B5EF4-FFF2-40B4-BE49-F238E27FC236}">
                <a16:creationId xmlns:a16="http://schemas.microsoft.com/office/drawing/2014/main" id="{341F737B-E02F-44DF-CE14-C3DE7D785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3077886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itre + 1 texte + 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7408A41C-D594-6F2F-7E89-CDC508301B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245" y="730049"/>
            <a:ext cx="11177364" cy="3128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F3DB7E0-3460-575F-C752-E124B92DB6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6107" y="3144621"/>
            <a:ext cx="5263205" cy="3172041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E7E64F8A-908E-5A24-6C99-FE4435A0ECB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107" y="1775866"/>
            <a:ext cx="5263204" cy="954107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i="0">
                <a:solidFill>
                  <a:schemeClr val="tx1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17" name="Espace réservé pour une image  15">
            <a:extLst>
              <a:ext uri="{FF2B5EF4-FFF2-40B4-BE49-F238E27FC236}">
                <a16:creationId xmlns:a16="http://schemas.microsoft.com/office/drawing/2014/main" id="{869398E2-12C5-863E-834E-0CCA9BF8DAD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332538" y="1775866"/>
            <a:ext cx="5262562" cy="45407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/>
              <a:t>Insérez une image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D0C348B5-787C-DCCE-8867-191697024A82}"/>
              </a:ext>
            </a:extLst>
          </p:cNvPr>
          <p:cNvCxnSpPr>
            <a:cxnSpLocks/>
          </p:cNvCxnSpPr>
          <p:nvPr userDrawn="1"/>
        </p:nvCxnSpPr>
        <p:spPr>
          <a:xfrm>
            <a:off x="596107" y="6479692"/>
            <a:ext cx="1099978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>
            <a:extLst>
              <a:ext uri="{FF2B5EF4-FFF2-40B4-BE49-F238E27FC236}">
                <a16:creationId xmlns:a16="http://schemas.microsoft.com/office/drawing/2014/main" id="{D896EFF5-795A-0838-FA4F-561A2BDF2570}"/>
              </a:ext>
            </a:extLst>
          </p:cNvPr>
          <p:cNvSpPr txBox="1"/>
          <p:nvPr userDrawn="1"/>
        </p:nvSpPr>
        <p:spPr>
          <a:xfrm>
            <a:off x="11283301" y="6552610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sp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/>
              <a:pPr lvl="0" algn="r"/>
              <a:t>‹N°›</a:t>
            </a:fld>
            <a:endParaRPr lang="fr-FR"/>
          </a:p>
        </p:txBody>
      </p:sp>
      <p:sp>
        <p:nvSpPr>
          <p:cNvPr id="13" name="Espace réservé du pied de page 9">
            <a:extLst>
              <a:ext uri="{FF2B5EF4-FFF2-40B4-BE49-F238E27FC236}">
                <a16:creationId xmlns:a16="http://schemas.microsoft.com/office/drawing/2014/main" id="{E1D1BA10-296B-FB8E-7CDC-52F77B2A0484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559535"/>
            <a:ext cx="4114800" cy="216982"/>
          </a:xfrm>
        </p:spPr>
        <p:txBody>
          <a:bodyPr anchor="ctr" anchorCtr="0">
            <a:spAutoFit/>
          </a:bodyPr>
          <a:lstStyle/>
          <a:p>
            <a:r>
              <a:rPr lang="fr-FR"/>
              <a:t>Confidentiel</a:t>
            </a:r>
          </a:p>
        </p:txBody>
      </p:sp>
      <p:pic>
        <p:nvPicPr>
          <p:cNvPr id="15" name="Image 3">
            <a:extLst>
              <a:ext uri="{FF2B5EF4-FFF2-40B4-BE49-F238E27FC236}">
                <a16:creationId xmlns:a16="http://schemas.microsoft.com/office/drawing/2014/main" id="{6D504448-4EFB-90AA-EC2F-B818B282E06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pic>
        <p:nvPicPr>
          <p:cNvPr id="16" name="Image 3">
            <a:extLst>
              <a:ext uri="{FF2B5EF4-FFF2-40B4-BE49-F238E27FC236}">
                <a16:creationId xmlns:a16="http://schemas.microsoft.com/office/drawing/2014/main" id="{2DF8545C-0A46-1B55-B28F-E5416641164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sp>
        <p:nvSpPr>
          <p:cNvPr id="18" name="Titre 17">
            <a:extLst>
              <a:ext uri="{FF2B5EF4-FFF2-40B4-BE49-F238E27FC236}">
                <a16:creationId xmlns:a16="http://schemas.microsoft.com/office/drawing/2014/main" id="{803149AA-E9B7-6918-3439-8E4BBD3FC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7502299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image + 1 titre + 1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7408A41C-D594-6F2F-7E89-CDC508301B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245" y="730049"/>
            <a:ext cx="11177364" cy="3128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F3DB7E0-3460-575F-C752-E124B92DB6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32538" y="3144621"/>
            <a:ext cx="5263205" cy="3172041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E7E64F8A-908E-5A24-6C99-FE4435A0ECB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32538" y="1775866"/>
            <a:ext cx="5263204" cy="954107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i="0">
                <a:solidFill>
                  <a:schemeClr val="tx1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3" name="Espace réservé pour une image  15">
            <a:extLst>
              <a:ext uri="{FF2B5EF4-FFF2-40B4-BE49-F238E27FC236}">
                <a16:creationId xmlns:a16="http://schemas.microsoft.com/office/drawing/2014/main" id="{2C3CC083-8521-8256-0FA1-067D6126632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6757" y="1775866"/>
            <a:ext cx="5262562" cy="45407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/>
              <a:t>Insérez une image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0BD96FA5-431A-770C-8BC7-106C3BCC8AD5}"/>
              </a:ext>
            </a:extLst>
          </p:cNvPr>
          <p:cNvCxnSpPr>
            <a:cxnSpLocks/>
          </p:cNvCxnSpPr>
          <p:nvPr userDrawn="1"/>
        </p:nvCxnSpPr>
        <p:spPr>
          <a:xfrm>
            <a:off x="596107" y="6479692"/>
            <a:ext cx="1099978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86A691F9-FBCF-49E8-BFDF-908E68EB486D}"/>
              </a:ext>
            </a:extLst>
          </p:cNvPr>
          <p:cNvSpPr txBox="1"/>
          <p:nvPr userDrawn="1"/>
        </p:nvSpPr>
        <p:spPr>
          <a:xfrm>
            <a:off x="11283301" y="6552610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sp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/>
              <a:pPr lvl="0" algn="r"/>
              <a:t>‹N°›</a:t>
            </a:fld>
            <a:endParaRPr lang="fr-FR"/>
          </a:p>
        </p:txBody>
      </p:sp>
      <p:sp>
        <p:nvSpPr>
          <p:cNvPr id="15" name="Espace réservé du pied de page 9">
            <a:extLst>
              <a:ext uri="{FF2B5EF4-FFF2-40B4-BE49-F238E27FC236}">
                <a16:creationId xmlns:a16="http://schemas.microsoft.com/office/drawing/2014/main" id="{E8725499-01BC-6785-97DD-B1E70771163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559535"/>
            <a:ext cx="4114800" cy="216982"/>
          </a:xfrm>
        </p:spPr>
        <p:txBody>
          <a:bodyPr anchor="ctr" anchorCtr="0">
            <a:spAutoFit/>
          </a:bodyPr>
          <a:lstStyle/>
          <a:p>
            <a:r>
              <a:rPr lang="fr-FR"/>
              <a:t>Confidentiel</a:t>
            </a:r>
          </a:p>
        </p:txBody>
      </p:sp>
      <p:pic>
        <p:nvPicPr>
          <p:cNvPr id="16" name="Image 3">
            <a:extLst>
              <a:ext uri="{FF2B5EF4-FFF2-40B4-BE49-F238E27FC236}">
                <a16:creationId xmlns:a16="http://schemas.microsoft.com/office/drawing/2014/main" id="{FD6C28E0-0550-9454-30D5-8B9C0130BA4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pic>
        <p:nvPicPr>
          <p:cNvPr id="17" name="Image 3">
            <a:extLst>
              <a:ext uri="{FF2B5EF4-FFF2-40B4-BE49-F238E27FC236}">
                <a16:creationId xmlns:a16="http://schemas.microsoft.com/office/drawing/2014/main" id="{70682556-1B05-472E-3105-CDA17F037E3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sp>
        <p:nvSpPr>
          <p:cNvPr id="18" name="Titre 17">
            <a:extLst>
              <a:ext uri="{FF2B5EF4-FFF2-40B4-BE49-F238E27FC236}">
                <a16:creationId xmlns:a16="http://schemas.microsoft.com/office/drawing/2014/main" id="{974F51D9-B4FB-FA81-066F-D6007CC0E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5859918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e + 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7408A41C-D594-6F2F-7E89-CDC508301B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245" y="730049"/>
            <a:ext cx="11177364" cy="3128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F3DB7E0-3460-575F-C752-E124B92DB6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6107" y="1770849"/>
            <a:ext cx="5263205" cy="4545814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7" name="Espace réservé pour une image  15">
            <a:extLst>
              <a:ext uri="{FF2B5EF4-FFF2-40B4-BE49-F238E27FC236}">
                <a16:creationId xmlns:a16="http://schemas.microsoft.com/office/drawing/2014/main" id="{869398E2-12C5-863E-834E-0CCA9BF8DAD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332538" y="1775866"/>
            <a:ext cx="5262562" cy="45407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/>
              <a:t>Insérez une image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594E57A7-EE0C-1C84-2C93-F2B18B49DF2E}"/>
              </a:ext>
            </a:extLst>
          </p:cNvPr>
          <p:cNvCxnSpPr>
            <a:cxnSpLocks/>
          </p:cNvCxnSpPr>
          <p:nvPr userDrawn="1"/>
        </p:nvCxnSpPr>
        <p:spPr>
          <a:xfrm>
            <a:off x="596107" y="6479692"/>
            <a:ext cx="1099978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>
            <a:extLst>
              <a:ext uri="{FF2B5EF4-FFF2-40B4-BE49-F238E27FC236}">
                <a16:creationId xmlns:a16="http://schemas.microsoft.com/office/drawing/2014/main" id="{6051505E-BBB7-01C4-B6F8-945FBEB955EF}"/>
              </a:ext>
            </a:extLst>
          </p:cNvPr>
          <p:cNvSpPr txBox="1"/>
          <p:nvPr userDrawn="1"/>
        </p:nvSpPr>
        <p:spPr>
          <a:xfrm>
            <a:off x="11283301" y="6552610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sp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/>
              <a:pPr lvl="0" algn="r"/>
              <a:t>‹N°›</a:t>
            </a:fld>
            <a:endParaRPr lang="fr-FR"/>
          </a:p>
        </p:txBody>
      </p:sp>
      <p:sp>
        <p:nvSpPr>
          <p:cNvPr id="13" name="Espace réservé du pied de page 9">
            <a:extLst>
              <a:ext uri="{FF2B5EF4-FFF2-40B4-BE49-F238E27FC236}">
                <a16:creationId xmlns:a16="http://schemas.microsoft.com/office/drawing/2014/main" id="{7D950580-4926-6EB6-4F84-B2B747955DC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559535"/>
            <a:ext cx="4114800" cy="216982"/>
          </a:xfrm>
        </p:spPr>
        <p:txBody>
          <a:bodyPr anchor="ctr" anchorCtr="0">
            <a:spAutoFit/>
          </a:bodyPr>
          <a:lstStyle/>
          <a:p>
            <a:r>
              <a:rPr lang="fr-FR"/>
              <a:t>Confidentiel</a:t>
            </a:r>
          </a:p>
        </p:txBody>
      </p:sp>
      <p:pic>
        <p:nvPicPr>
          <p:cNvPr id="14" name="Image 3">
            <a:extLst>
              <a:ext uri="{FF2B5EF4-FFF2-40B4-BE49-F238E27FC236}">
                <a16:creationId xmlns:a16="http://schemas.microsoft.com/office/drawing/2014/main" id="{F4E08F75-B95E-14EB-AD2B-417DDCE47C8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pic>
        <p:nvPicPr>
          <p:cNvPr id="15" name="Image 3">
            <a:extLst>
              <a:ext uri="{FF2B5EF4-FFF2-40B4-BE49-F238E27FC236}">
                <a16:creationId xmlns:a16="http://schemas.microsoft.com/office/drawing/2014/main" id="{283D38F0-4589-E23D-64B7-957A62B7B01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sp>
        <p:nvSpPr>
          <p:cNvPr id="16" name="Titre 15">
            <a:extLst>
              <a:ext uri="{FF2B5EF4-FFF2-40B4-BE49-F238E27FC236}">
                <a16:creationId xmlns:a16="http://schemas.microsoft.com/office/drawing/2014/main" id="{32AD415B-1129-5F21-427A-D67460C6F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118779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image + 1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7408A41C-D594-6F2F-7E89-CDC508301B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245" y="730049"/>
            <a:ext cx="11177364" cy="3128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F3DB7E0-3460-575F-C752-E124B92DB6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32538" y="1770849"/>
            <a:ext cx="5263205" cy="4545814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" name="Espace réservé pour une image  15">
            <a:extLst>
              <a:ext uri="{FF2B5EF4-FFF2-40B4-BE49-F238E27FC236}">
                <a16:creationId xmlns:a16="http://schemas.microsoft.com/office/drawing/2014/main" id="{5CAC0CC1-804B-F094-F94E-C6E3B2FD763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6756" y="1775866"/>
            <a:ext cx="5262562" cy="45407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/>
              <a:t>Insérez une image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8A525F95-00DD-8B20-1D5D-C4521445DC8D}"/>
              </a:ext>
            </a:extLst>
          </p:cNvPr>
          <p:cNvCxnSpPr>
            <a:cxnSpLocks/>
          </p:cNvCxnSpPr>
          <p:nvPr userDrawn="1"/>
        </p:nvCxnSpPr>
        <p:spPr>
          <a:xfrm>
            <a:off x="596107" y="6479692"/>
            <a:ext cx="1099978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F9B7A656-E4C0-03C1-F577-A056E4CD072E}"/>
              </a:ext>
            </a:extLst>
          </p:cNvPr>
          <p:cNvSpPr txBox="1"/>
          <p:nvPr userDrawn="1"/>
        </p:nvSpPr>
        <p:spPr>
          <a:xfrm>
            <a:off x="11283301" y="6552610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sp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/>
              <a:pPr lvl="0" algn="r"/>
              <a:t>‹N°›</a:t>
            </a:fld>
            <a:endParaRPr lang="fr-FR"/>
          </a:p>
        </p:txBody>
      </p:sp>
      <p:sp>
        <p:nvSpPr>
          <p:cNvPr id="14" name="Espace réservé du pied de page 9">
            <a:extLst>
              <a:ext uri="{FF2B5EF4-FFF2-40B4-BE49-F238E27FC236}">
                <a16:creationId xmlns:a16="http://schemas.microsoft.com/office/drawing/2014/main" id="{35F50AFE-5226-FD74-6165-DCE70A561E8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559535"/>
            <a:ext cx="4114800" cy="216982"/>
          </a:xfrm>
        </p:spPr>
        <p:txBody>
          <a:bodyPr anchor="ctr" anchorCtr="0">
            <a:spAutoFit/>
          </a:bodyPr>
          <a:lstStyle/>
          <a:p>
            <a:r>
              <a:rPr lang="fr-FR"/>
              <a:t>Confidentiel</a:t>
            </a:r>
          </a:p>
        </p:txBody>
      </p:sp>
      <p:pic>
        <p:nvPicPr>
          <p:cNvPr id="15" name="Image 3">
            <a:extLst>
              <a:ext uri="{FF2B5EF4-FFF2-40B4-BE49-F238E27FC236}">
                <a16:creationId xmlns:a16="http://schemas.microsoft.com/office/drawing/2014/main" id="{E6FC1E7F-A0E1-1AEB-D3C8-5A47990D48A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pic>
        <p:nvPicPr>
          <p:cNvPr id="16" name="Image 3">
            <a:extLst>
              <a:ext uri="{FF2B5EF4-FFF2-40B4-BE49-F238E27FC236}">
                <a16:creationId xmlns:a16="http://schemas.microsoft.com/office/drawing/2014/main" id="{FC84EA64-76A5-2CAE-7E39-E833A25154E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sp>
        <p:nvSpPr>
          <p:cNvPr id="17" name="Titre 16">
            <a:extLst>
              <a:ext uri="{FF2B5EF4-FFF2-40B4-BE49-F238E27FC236}">
                <a16:creationId xmlns:a16="http://schemas.microsoft.com/office/drawing/2014/main" id="{56726840-999C-DA95-46A0-C993EA61B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4417198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es + pic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7408A41C-D594-6F2F-7E89-CDC508301B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245" y="730049"/>
            <a:ext cx="11177364" cy="3128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F3DB7E0-3460-575F-C752-E124B92DB6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6107" y="3357615"/>
            <a:ext cx="5263205" cy="2959047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785282-1A22-9C1A-882B-84A8773A840D}"/>
              </a:ext>
            </a:extLst>
          </p:cNvPr>
          <p:cNvSpPr/>
          <p:nvPr/>
        </p:nvSpPr>
        <p:spPr>
          <a:xfrm>
            <a:off x="593558" y="1764172"/>
            <a:ext cx="5265821" cy="1372060"/>
          </a:xfrm>
          <a:prstGeom prst="rect">
            <a:avLst/>
          </a:prstGeom>
          <a:solidFill>
            <a:srgbClr val="F7F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DA9C0F2E-DB3B-0161-93F4-E864122546DE}"/>
              </a:ext>
            </a:extLst>
          </p:cNvPr>
          <p:cNvCxnSpPr>
            <a:cxnSpLocks/>
          </p:cNvCxnSpPr>
          <p:nvPr/>
        </p:nvCxnSpPr>
        <p:spPr>
          <a:xfrm flipV="1">
            <a:off x="6096000" y="1777252"/>
            <a:ext cx="0" cy="2942561"/>
          </a:xfrm>
          <a:prstGeom prst="line">
            <a:avLst/>
          </a:prstGeom>
          <a:ln w="12700">
            <a:solidFill>
              <a:srgbClr val="DBD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space réservé du texte 3">
            <a:extLst>
              <a:ext uri="{FF2B5EF4-FFF2-40B4-BE49-F238E27FC236}">
                <a16:creationId xmlns:a16="http://schemas.microsoft.com/office/drawing/2014/main" id="{65829204-43A7-09F7-6BFA-817C914930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33716" y="3357615"/>
            <a:ext cx="5263205" cy="2959047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FF8295FD-07BC-3EC2-AC74-6F94F4B769E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08697" y="2760440"/>
            <a:ext cx="4235544" cy="30777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400" b="1" i="0">
                <a:solidFill>
                  <a:schemeClr val="tx1"/>
                </a:solidFill>
                <a:latin typeface="Plus Jakarta Sans SemiBold" pitchFamily="2" charset="77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27" name="Espace réservé du contenu 25">
            <a:extLst>
              <a:ext uri="{FF2B5EF4-FFF2-40B4-BE49-F238E27FC236}">
                <a16:creationId xmlns:a16="http://schemas.microsoft.com/office/drawing/2014/main" id="{AEFEE505-D301-CBC3-3989-1C62611A302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848083" y="1923779"/>
            <a:ext cx="756771" cy="7650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7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6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6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Insérez un logo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B72D130-7062-E76E-C876-BE32719C5BE5}"/>
              </a:ext>
            </a:extLst>
          </p:cNvPr>
          <p:cNvSpPr/>
          <p:nvPr/>
        </p:nvSpPr>
        <p:spPr>
          <a:xfrm>
            <a:off x="6337865" y="1764172"/>
            <a:ext cx="5265821" cy="1372060"/>
          </a:xfrm>
          <a:prstGeom prst="rect">
            <a:avLst/>
          </a:prstGeom>
          <a:solidFill>
            <a:srgbClr val="F7F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Espace réservé du texte 18">
            <a:extLst>
              <a:ext uri="{FF2B5EF4-FFF2-40B4-BE49-F238E27FC236}">
                <a16:creationId xmlns:a16="http://schemas.microsoft.com/office/drawing/2014/main" id="{C6ED7034-E65B-C01B-356A-F97F377DC18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53004" y="2760440"/>
            <a:ext cx="4235544" cy="30777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400" b="1" i="0">
                <a:solidFill>
                  <a:schemeClr val="tx1"/>
                </a:solidFill>
                <a:latin typeface="Plus Jakarta Sans SemiBold" pitchFamily="2" charset="77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30" name="Espace réservé du contenu 25">
            <a:extLst>
              <a:ext uri="{FF2B5EF4-FFF2-40B4-BE49-F238E27FC236}">
                <a16:creationId xmlns:a16="http://schemas.microsoft.com/office/drawing/2014/main" id="{755AD89F-1B66-E429-0FC1-EBFB7D4AD10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8592390" y="1923779"/>
            <a:ext cx="756771" cy="7650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7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6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6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Insérez un logo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7F938CDB-2008-87B4-2B9B-EF516571A501}"/>
              </a:ext>
            </a:extLst>
          </p:cNvPr>
          <p:cNvCxnSpPr>
            <a:cxnSpLocks/>
          </p:cNvCxnSpPr>
          <p:nvPr userDrawn="1"/>
        </p:nvCxnSpPr>
        <p:spPr>
          <a:xfrm>
            <a:off x="596107" y="6479692"/>
            <a:ext cx="1099978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A92C6CFD-01B8-FE8C-2FAD-FCAD86DCB745}"/>
              </a:ext>
            </a:extLst>
          </p:cNvPr>
          <p:cNvSpPr txBox="1"/>
          <p:nvPr userDrawn="1"/>
        </p:nvSpPr>
        <p:spPr>
          <a:xfrm>
            <a:off x="11283301" y="6552610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sp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/>
              <a:pPr lvl="0" algn="r"/>
              <a:t>‹N°›</a:t>
            </a:fld>
            <a:endParaRPr lang="fr-FR"/>
          </a:p>
        </p:txBody>
      </p:sp>
      <p:sp>
        <p:nvSpPr>
          <p:cNvPr id="16" name="Espace réservé du pied de page 9">
            <a:extLst>
              <a:ext uri="{FF2B5EF4-FFF2-40B4-BE49-F238E27FC236}">
                <a16:creationId xmlns:a16="http://schemas.microsoft.com/office/drawing/2014/main" id="{89C42785-BBF7-9A1A-8E3D-DB57C4E0C449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559535"/>
            <a:ext cx="4114800" cy="216982"/>
          </a:xfrm>
        </p:spPr>
        <p:txBody>
          <a:bodyPr anchor="ctr" anchorCtr="0">
            <a:spAutoFit/>
          </a:bodyPr>
          <a:lstStyle/>
          <a:p>
            <a:r>
              <a:rPr lang="fr-FR"/>
              <a:t>Confidentiel</a:t>
            </a:r>
          </a:p>
        </p:txBody>
      </p:sp>
      <p:pic>
        <p:nvPicPr>
          <p:cNvPr id="17" name="Image 3">
            <a:extLst>
              <a:ext uri="{FF2B5EF4-FFF2-40B4-BE49-F238E27FC236}">
                <a16:creationId xmlns:a16="http://schemas.microsoft.com/office/drawing/2014/main" id="{059B6D07-32A3-90D8-4019-B660E0BF919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pic>
        <p:nvPicPr>
          <p:cNvPr id="18" name="Image 3">
            <a:extLst>
              <a:ext uri="{FF2B5EF4-FFF2-40B4-BE49-F238E27FC236}">
                <a16:creationId xmlns:a16="http://schemas.microsoft.com/office/drawing/2014/main" id="{CF899B9F-5E73-BBEC-9718-9A28A2C084D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sp>
        <p:nvSpPr>
          <p:cNvPr id="21" name="Titre 20">
            <a:extLst>
              <a:ext uri="{FF2B5EF4-FFF2-40B4-BE49-F238E27FC236}">
                <a16:creationId xmlns:a16="http://schemas.microsoft.com/office/drawing/2014/main" id="{68BC9CFE-9DBD-7E52-87C1-9217BBBAE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341850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textes + pic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7408A41C-D594-6F2F-7E89-CDC508301B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245" y="730049"/>
            <a:ext cx="11177364" cy="3128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DA9C0F2E-DB3B-0161-93F4-E864122546DE}"/>
              </a:ext>
            </a:extLst>
          </p:cNvPr>
          <p:cNvCxnSpPr>
            <a:cxnSpLocks/>
          </p:cNvCxnSpPr>
          <p:nvPr/>
        </p:nvCxnSpPr>
        <p:spPr>
          <a:xfrm flipV="1">
            <a:off x="6096000" y="1777252"/>
            <a:ext cx="0" cy="4003062"/>
          </a:xfrm>
          <a:prstGeom prst="line">
            <a:avLst/>
          </a:prstGeom>
          <a:ln w="12700">
            <a:solidFill>
              <a:srgbClr val="DBD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space réservé du texte 3">
            <a:extLst>
              <a:ext uri="{FF2B5EF4-FFF2-40B4-BE49-F238E27FC236}">
                <a16:creationId xmlns:a16="http://schemas.microsoft.com/office/drawing/2014/main" id="{65829204-43A7-09F7-6BFA-817C914930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33716" y="4835488"/>
            <a:ext cx="5263205" cy="1481173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7" name="Espace réservé du contenu 25">
            <a:extLst>
              <a:ext uri="{FF2B5EF4-FFF2-40B4-BE49-F238E27FC236}">
                <a16:creationId xmlns:a16="http://schemas.microsoft.com/office/drawing/2014/main" id="{AEFEE505-D301-CBC3-3989-1C62611A302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98694" y="1434079"/>
            <a:ext cx="5258029" cy="31705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7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6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6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Insérez un logo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7F938CDB-2008-87B4-2B9B-EF516571A501}"/>
              </a:ext>
            </a:extLst>
          </p:cNvPr>
          <p:cNvCxnSpPr>
            <a:cxnSpLocks/>
          </p:cNvCxnSpPr>
          <p:nvPr userDrawn="1"/>
        </p:nvCxnSpPr>
        <p:spPr>
          <a:xfrm>
            <a:off x="596107" y="6479692"/>
            <a:ext cx="1099978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A92C6CFD-01B8-FE8C-2FAD-FCAD86DCB745}"/>
              </a:ext>
            </a:extLst>
          </p:cNvPr>
          <p:cNvSpPr txBox="1"/>
          <p:nvPr userDrawn="1"/>
        </p:nvSpPr>
        <p:spPr>
          <a:xfrm>
            <a:off x="11283301" y="6552610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sp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/>
              <a:pPr lvl="0" algn="r"/>
              <a:t>‹N°›</a:t>
            </a:fld>
            <a:endParaRPr lang="fr-FR"/>
          </a:p>
        </p:txBody>
      </p:sp>
      <p:sp>
        <p:nvSpPr>
          <p:cNvPr id="16" name="Espace réservé du pied de page 9">
            <a:extLst>
              <a:ext uri="{FF2B5EF4-FFF2-40B4-BE49-F238E27FC236}">
                <a16:creationId xmlns:a16="http://schemas.microsoft.com/office/drawing/2014/main" id="{89C42785-BBF7-9A1A-8E3D-DB57C4E0C449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559535"/>
            <a:ext cx="4114800" cy="216982"/>
          </a:xfrm>
        </p:spPr>
        <p:txBody>
          <a:bodyPr anchor="ctr" anchorCtr="0">
            <a:spAutoFit/>
          </a:bodyPr>
          <a:lstStyle/>
          <a:p>
            <a:r>
              <a:rPr lang="fr-FR"/>
              <a:t>Confidentiel</a:t>
            </a:r>
          </a:p>
        </p:txBody>
      </p:sp>
      <p:pic>
        <p:nvPicPr>
          <p:cNvPr id="17" name="Image 3">
            <a:extLst>
              <a:ext uri="{FF2B5EF4-FFF2-40B4-BE49-F238E27FC236}">
                <a16:creationId xmlns:a16="http://schemas.microsoft.com/office/drawing/2014/main" id="{059B6D07-32A3-90D8-4019-B660E0BF919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pic>
        <p:nvPicPr>
          <p:cNvPr id="18" name="Image 3">
            <a:extLst>
              <a:ext uri="{FF2B5EF4-FFF2-40B4-BE49-F238E27FC236}">
                <a16:creationId xmlns:a16="http://schemas.microsoft.com/office/drawing/2014/main" id="{CF899B9F-5E73-BBEC-9718-9A28A2C084D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sp>
        <p:nvSpPr>
          <p:cNvPr id="21" name="Titre 20">
            <a:extLst>
              <a:ext uri="{FF2B5EF4-FFF2-40B4-BE49-F238E27FC236}">
                <a16:creationId xmlns:a16="http://schemas.microsoft.com/office/drawing/2014/main" id="{68BC9CFE-9DBD-7E52-87C1-9217BBBAE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5" name="Espace réservé du contenu 25">
            <a:extLst>
              <a:ext uri="{FF2B5EF4-FFF2-40B4-BE49-F238E27FC236}">
                <a16:creationId xmlns:a16="http://schemas.microsoft.com/office/drawing/2014/main" id="{3EF87B23-09EE-46ED-EB0C-D659D6809D7B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337864" y="1447730"/>
            <a:ext cx="5258029" cy="31705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7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6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6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Insérez un logo</a:t>
            </a:r>
          </a:p>
        </p:txBody>
      </p:sp>
      <p:sp>
        <p:nvSpPr>
          <p:cNvPr id="2" name="Espace réservé du texte 3">
            <a:extLst>
              <a:ext uri="{FF2B5EF4-FFF2-40B4-BE49-F238E27FC236}">
                <a16:creationId xmlns:a16="http://schemas.microsoft.com/office/drawing/2014/main" id="{5BDD7845-4C9E-B7D1-4BBF-32E1D3C4803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0932" y="4825452"/>
            <a:ext cx="5263205" cy="1481173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8547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itres + 2 tex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7408A41C-D594-6F2F-7E89-CDC508301B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245" y="730049"/>
            <a:ext cx="11177364" cy="3128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7EA62686-1755-637A-4FDF-EF61284EBCA5}"/>
              </a:ext>
            </a:extLst>
          </p:cNvPr>
          <p:cNvCxnSpPr>
            <a:cxnSpLocks/>
          </p:cNvCxnSpPr>
          <p:nvPr/>
        </p:nvCxnSpPr>
        <p:spPr>
          <a:xfrm flipV="1">
            <a:off x="6096000" y="1777252"/>
            <a:ext cx="0" cy="2942561"/>
          </a:xfrm>
          <a:prstGeom prst="line">
            <a:avLst/>
          </a:prstGeom>
          <a:ln w="12700">
            <a:solidFill>
              <a:srgbClr val="DBD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ce réservé du texte 13">
            <a:extLst>
              <a:ext uri="{FF2B5EF4-FFF2-40B4-BE49-F238E27FC236}">
                <a16:creationId xmlns:a16="http://schemas.microsoft.com/office/drawing/2014/main" id="{1BD4CAC6-7ECD-9188-0AB5-67D344A3AC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107" y="1775866"/>
            <a:ext cx="5263204" cy="954107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i="0">
                <a:solidFill>
                  <a:schemeClr val="tx1"/>
                </a:solidFill>
                <a:latin typeface="Plus Jakarta Sans" pitchFamily="2" charset="77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9" name="Espace réservé du texte 13">
            <a:extLst>
              <a:ext uri="{FF2B5EF4-FFF2-40B4-BE49-F238E27FC236}">
                <a16:creationId xmlns:a16="http://schemas.microsoft.com/office/drawing/2014/main" id="{3A0164D9-8E5A-F9AB-EF85-98844CA44F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6507" y="1775866"/>
            <a:ext cx="5263204" cy="954107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i="0">
                <a:solidFill>
                  <a:schemeClr val="tx1"/>
                </a:solidFill>
                <a:latin typeface="Plus Jakarta Sans" pitchFamily="2" charset="77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11" name="Espace réservé du texte 3">
            <a:extLst>
              <a:ext uri="{FF2B5EF4-FFF2-40B4-BE49-F238E27FC236}">
                <a16:creationId xmlns:a16="http://schemas.microsoft.com/office/drawing/2014/main" id="{3D3CDDF1-EBC8-7401-1782-B8628EE704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32538" y="3144621"/>
            <a:ext cx="5263205" cy="3172041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" name="Espace réservé du texte 3">
            <a:extLst>
              <a:ext uri="{FF2B5EF4-FFF2-40B4-BE49-F238E27FC236}">
                <a16:creationId xmlns:a16="http://schemas.microsoft.com/office/drawing/2014/main" id="{B272A987-8628-9470-EAB5-56681A85CA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2138" y="3144621"/>
            <a:ext cx="5263205" cy="3172041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58A5379F-EDA8-00C2-CFEA-96454C73901D}"/>
              </a:ext>
            </a:extLst>
          </p:cNvPr>
          <p:cNvCxnSpPr>
            <a:cxnSpLocks/>
          </p:cNvCxnSpPr>
          <p:nvPr userDrawn="1"/>
        </p:nvCxnSpPr>
        <p:spPr>
          <a:xfrm>
            <a:off x="596107" y="6479692"/>
            <a:ext cx="1099978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0C92F72C-F01B-BAAD-7467-2B5B1AE97390}"/>
              </a:ext>
            </a:extLst>
          </p:cNvPr>
          <p:cNvSpPr txBox="1"/>
          <p:nvPr userDrawn="1"/>
        </p:nvSpPr>
        <p:spPr>
          <a:xfrm>
            <a:off x="11283301" y="6552610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sp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/>
              <a:pPr lvl="0" algn="r"/>
              <a:t>‹N°›</a:t>
            </a:fld>
            <a:endParaRPr lang="fr-FR"/>
          </a:p>
        </p:txBody>
      </p:sp>
      <p:sp>
        <p:nvSpPr>
          <p:cNvPr id="17" name="Espace réservé du pied de page 9">
            <a:extLst>
              <a:ext uri="{FF2B5EF4-FFF2-40B4-BE49-F238E27FC236}">
                <a16:creationId xmlns:a16="http://schemas.microsoft.com/office/drawing/2014/main" id="{6056C20B-3ACE-D90A-231D-5A96EC36211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559535"/>
            <a:ext cx="4114800" cy="216982"/>
          </a:xfrm>
        </p:spPr>
        <p:txBody>
          <a:bodyPr anchor="ctr" anchorCtr="0">
            <a:spAutoFit/>
          </a:bodyPr>
          <a:lstStyle/>
          <a:p>
            <a:r>
              <a:rPr lang="fr-FR"/>
              <a:t>Confidentiel</a:t>
            </a:r>
          </a:p>
        </p:txBody>
      </p:sp>
      <p:pic>
        <p:nvPicPr>
          <p:cNvPr id="18" name="Image 3">
            <a:extLst>
              <a:ext uri="{FF2B5EF4-FFF2-40B4-BE49-F238E27FC236}">
                <a16:creationId xmlns:a16="http://schemas.microsoft.com/office/drawing/2014/main" id="{4E6E521B-A15F-1ED0-EB38-1321AE3E99E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pic>
        <p:nvPicPr>
          <p:cNvPr id="19" name="Image 3">
            <a:extLst>
              <a:ext uri="{FF2B5EF4-FFF2-40B4-BE49-F238E27FC236}">
                <a16:creationId xmlns:a16="http://schemas.microsoft.com/office/drawing/2014/main" id="{FC5E108E-8420-0277-1ED9-04AE1335D9C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sp>
        <p:nvSpPr>
          <p:cNvPr id="20" name="Titre 19">
            <a:extLst>
              <a:ext uri="{FF2B5EF4-FFF2-40B4-BE49-F238E27FC236}">
                <a16:creationId xmlns:a16="http://schemas.microsoft.com/office/drawing/2014/main" id="{8A0E1A0D-398D-AC6C-AB10-903F1ABA9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4301619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7408A41C-D594-6F2F-7E89-CDC508301B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245" y="730049"/>
            <a:ext cx="11177364" cy="3128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F3DB7E0-3460-575F-C752-E124B92DB6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6107" y="1770849"/>
            <a:ext cx="5263205" cy="4545814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" name="Espace réservé du texte 3">
            <a:extLst>
              <a:ext uri="{FF2B5EF4-FFF2-40B4-BE49-F238E27FC236}">
                <a16:creationId xmlns:a16="http://schemas.microsoft.com/office/drawing/2014/main" id="{BC48111D-7D4B-68F3-DF0B-FB727426CC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32538" y="1770849"/>
            <a:ext cx="5263205" cy="4545814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7EA62686-1755-637A-4FDF-EF61284EBCA5}"/>
              </a:ext>
            </a:extLst>
          </p:cNvPr>
          <p:cNvCxnSpPr>
            <a:cxnSpLocks/>
          </p:cNvCxnSpPr>
          <p:nvPr/>
        </p:nvCxnSpPr>
        <p:spPr>
          <a:xfrm flipV="1">
            <a:off x="6096000" y="1777252"/>
            <a:ext cx="0" cy="2942561"/>
          </a:xfrm>
          <a:prstGeom prst="line">
            <a:avLst/>
          </a:prstGeom>
          <a:ln w="12700">
            <a:solidFill>
              <a:srgbClr val="DBD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B72D0A29-2A81-1222-243B-358506C08039}"/>
              </a:ext>
            </a:extLst>
          </p:cNvPr>
          <p:cNvCxnSpPr>
            <a:cxnSpLocks/>
          </p:cNvCxnSpPr>
          <p:nvPr userDrawn="1"/>
        </p:nvCxnSpPr>
        <p:spPr>
          <a:xfrm>
            <a:off x="596107" y="6479692"/>
            <a:ext cx="1099978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56250A2D-767D-3878-8C12-529E1FBC275F}"/>
              </a:ext>
            </a:extLst>
          </p:cNvPr>
          <p:cNvSpPr txBox="1"/>
          <p:nvPr userDrawn="1"/>
        </p:nvSpPr>
        <p:spPr>
          <a:xfrm>
            <a:off x="11283301" y="6552610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sp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/>
              <a:pPr lvl="0" algn="r"/>
              <a:t>‹N°›</a:t>
            </a:fld>
            <a:endParaRPr lang="fr-FR"/>
          </a:p>
        </p:txBody>
      </p:sp>
      <p:sp>
        <p:nvSpPr>
          <p:cNvPr id="15" name="Espace réservé du pied de page 9">
            <a:extLst>
              <a:ext uri="{FF2B5EF4-FFF2-40B4-BE49-F238E27FC236}">
                <a16:creationId xmlns:a16="http://schemas.microsoft.com/office/drawing/2014/main" id="{42B30E9B-D413-F895-BC80-DBEE0696C38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559535"/>
            <a:ext cx="4114800" cy="216982"/>
          </a:xfrm>
        </p:spPr>
        <p:txBody>
          <a:bodyPr anchor="ctr" anchorCtr="0">
            <a:spAutoFit/>
          </a:bodyPr>
          <a:lstStyle/>
          <a:p>
            <a:r>
              <a:rPr lang="fr-FR"/>
              <a:t>Confidentiel</a:t>
            </a:r>
          </a:p>
        </p:txBody>
      </p:sp>
      <p:pic>
        <p:nvPicPr>
          <p:cNvPr id="16" name="Image 3">
            <a:extLst>
              <a:ext uri="{FF2B5EF4-FFF2-40B4-BE49-F238E27FC236}">
                <a16:creationId xmlns:a16="http://schemas.microsoft.com/office/drawing/2014/main" id="{8703ABED-D973-D6FE-6E1F-336188E4CF9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pic>
        <p:nvPicPr>
          <p:cNvPr id="17" name="Image 3">
            <a:extLst>
              <a:ext uri="{FF2B5EF4-FFF2-40B4-BE49-F238E27FC236}">
                <a16:creationId xmlns:a16="http://schemas.microsoft.com/office/drawing/2014/main" id="{7522E65A-1D6C-11F0-C7CE-27D6DDEAC3C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sp>
        <p:nvSpPr>
          <p:cNvPr id="18" name="Titre 17">
            <a:extLst>
              <a:ext uri="{FF2B5EF4-FFF2-40B4-BE49-F238E27FC236}">
                <a16:creationId xmlns:a16="http://schemas.microsoft.com/office/drawing/2014/main" id="{20C84E48-15AC-4990-59FE-774165A40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734585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part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7408A41C-D594-6F2F-7E89-CDC508301B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245" y="730049"/>
            <a:ext cx="11177364" cy="3128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7EA62686-1755-637A-4FDF-EF61284EBCA5}"/>
              </a:ext>
            </a:extLst>
          </p:cNvPr>
          <p:cNvCxnSpPr>
            <a:cxnSpLocks/>
          </p:cNvCxnSpPr>
          <p:nvPr/>
        </p:nvCxnSpPr>
        <p:spPr>
          <a:xfrm flipV="1">
            <a:off x="6096000" y="1777251"/>
            <a:ext cx="0" cy="3888000"/>
          </a:xfrm>
          <a:prstGeom prst="line">
            <a:avLst/>
          </a:prstGeom>
          <a:ln w="12700">
            <a:solidFill>
              <a:srgbClr val="DBD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D4D019D9-6800-A2C7-9EDF-3C01542FD0A4}"/>
              </a:ext>
            </a:extLst>
          </p:cNvPr>
          <p:cNvCxnSpPr>
            <a:cxnSpLocks/>
          </p:cNvCxnSpPr>
          <p:nvPr userDrawn="1"/>
        </p:nvCxnSpPr>
        <p:spPr>
          <a:xfrm>
            <a:off x="596107" y="6479692"/>
            <a:ext cx="1099978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A4894DD9-5B94-55D5-E2DC-8266B901604C}"/>
              </a:ext>
            </a:extLst>
          </p:cNvPr>
          <p:cNvSpPr txBox="1"/>
          <p:nvPr userDrawn="1"/>
        </p:nvSpPr>
        <p:spPr>
          <a:xfrm>
            <a:off x="11283301" y="6552610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sp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/>
              <a:pPr lvl="0" algn="r"/>
              <a:t>‹N°›</a:t>
            </a:fld>
            <a:endParaRPr lang="fr-FR"/>
          </a:p>
        </p:txBody>
      </p:sp>
      <p:sp>
        <p:nvSpPr>
          <p:cNvPr id="11" name="Espace réservé du pied de page 9">
            <a:extLst>
              <a:ext uri="{FF2B5EF4-FFF2-40B4-BE49-F238E27FC236}">
                <a16:creationId xmlns:a16="http://schemas.microsoft.com/office/drawing/2014/main" id="{62343BC5-2F9F-57C1-C9F2-1BC4272E1929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559535"/>
            <a:ext cx="4114800" cy="216982"/>
          </a:xfrm>
        </p:spPr>
        <p:txBody>
          <a:bodyPr anchor="ctr" anchorCtr="0">
            <a:spAutoFit/>
          </a:bodyPr>
          <a:lstStyle/>
          <a:p>
            <a:r>
              <a:rPr lang="fr-FR"/>
              <a:t>Confidentiel</a:t>
            </a:r>
          </a:p>
        </p:txBody>
      </p:sp>
      <p:pic>
        <p:nvPicPr>
          <p:cNvPr id="13" name="Image 3">
            <a:extLst>
              <a:ext uri="{FF2B5EF4-FFF2-40B4-BE49-F238E27FC236}">
                <a16:creationId xmlns:a16="http://schemas.microsoft.com/office/drawing/2014/main" id="{3EA91823-2F57-C619-DC7A-BD4C88577AA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pic>
        <p:nvPicPr>
          <p:cNvPr id="15" name="Image 3">
            <a:extLst>
              <a:ext uri="{FF2B5EF4-FFF2-40B4-BE49-F238E27FC236}">
                <a16:creationId xmlns:a16="http://schemas.microsoft.com/office/drawing/2014/main" id="{C0929161-7E83-FAE6-59FD-4E17151C79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sp>
        <p:nvSpPr>
          <p:cNvPr id="16" name="Titre 15">
            <a:extLst>
              <a:ext uri="{FF2B5EF4-FFF2-40B4-BE49-F238E27FC236}">
                <a16:creationId xmlns:a16="http://schemas.microsoft.com/office/drawing/2014/main" id="{49136422-14EB-B7E7-6605-691C32C7F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5948061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itres + 3 tex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7408A41C-D594-6F2F-7E89-CDC508301B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245" y="730049"/>
            <a:ext cx="11177364" cy="3128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7EA62686-1755-637A-4FDF-EF61284EBCA5}"/>
              </a:ext>
            </a:extLst>
          </p:cNvPr>
          <p:cNvCxnSpPr>
            <a:cxnSpLocks/>
          </p:cNvCxnSpPr>
          <p:nvPr/>
        </p:nvCxnSpPr>
        <p:spPr>
          <a:xfrm flipV="1">
            <a:off x="8015611" y="1777252"/>
            <a:ext cx="0" cy="2942561"/>
          </a:xfrm>
          <a:prstGeom prst="line">
            <a:avLst/>
          </a:prstGeom>
          <a:ln w="12700">
            <a:solidFill>
              <a:srgbClr val="DBD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C2B4AFAC-A110-2735-276D-AFDEC5FBC8A8}"/>
              </a:ext>
            </a:extLst>
          </p:cNvPr>
          <p:cNvCxnSpPr>
            <a:cxnSpLocks/>
          </p:cNvCxnSpPr>
          <p:nvPr/>
        </p:nvCxnSpPr>
        <p:spPr>
          <a:xfrm flipV="1">
            <a:off x="4180211" y="1777252"/>
            <a:ext cx="0" cy="2942561"/>
          </a:xfrm>
          <a:prstGeom prst="line">
            <a:avLst/>
          </a:prstGeom>
          <a:ln w="12700">
            <a:solidFill>
              <a:srgbClr val="DBD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10CDACC7-FD41-1D12-DF55-E0CCFB995C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107" y="1775866"/>
            <a:ext cx="3340668" cy="954107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i="0">
                <a:solidFill>
                  <a:schemeClr val="tx1"/>
                </a:solidFill>
                <a:latin typeface="Plus Jakarta Sans" pitchFamily="2" charset="77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15" name="Espace réservé du texte 3">
            <a:extLst>
              <a:ext uri="{FF2B5EF4-FFF2-40B4-BE49-F238E27FC236}">
                <a16:creationId xmlns:a16="http://schemas.microsoft.com/office/drawing/2014/main" id="{EA07F4D7-57AF-92D3-8F4E-6338170C957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2138" y="3144621"/>
            <a:ext cx="3340669" cy="3172041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6" name="Espace réservé du texte 13">
            <a:extLst>
              <a:ext uri="{FF2B5EF4-FFF2-40B4-BE49-F238E27FC236}">
                <a16:creationId xmlns:a16="http://schemas.microsoft.com/office/drawing/2014/main" id="{6AC08038-AF60-292E-E610-1F724C4CFA1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31507" y="1775866"/>
            <a:ext cx="3340668" cy="954107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i="0">
                <a:solidFill>
                  <a:schemeClr val="tx1"/>
                </a:solidFill>
                <a:latin typeface="Plus Jakarta Sans" pitchFamily="2" charset="77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17" name="Espace réservé du texte 3">
            <a:extLst>
              <a:ext uri="{FF2B5EF4-FFF2-40B4-BE49-F238E27FC236}">
                <a16:creationId xmlns:a16="http://schemas.microsoft.com/office/drawing/2014/main" id="{2059A5FF-136C-3DC2-FF63-E41B2A1C8D2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27538" y="3144621"/>
            <a:ext cx="3340669" cy="3172041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8" name="Espace réservé du texte 13">
            <a:extLst>
              <a:ext uri="{FF2B5EF4-FFF2-40B4-BE49-F238E27FC236}">
                <a16:creationId xmlns:a16="http://schemas.microsoft.com/office/drawing/2014/main" id="{CDAD8012-BBE3-BBEC-E71C-D568BA5418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54207" y="1775866"/>
            <a:ext cx="3340668" cy="954107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i="0">
                <a:solidFill>
                  <a:schemeClr val="tx1"/>
                </a:solidFill>
                <a:latin typeface="Plus Jakarta Sans" pitchFamily="2" charset="77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19" name="Espace réservé du texte 3">
            <a:extLst>
              <a:ext uri="{FF2B5EF4-FFF2-40B4-BE49-F238E27FC236}">
                <a16:creationId xmlns:a16="http://schemas.microsoft.com/office/drawing/2014/main" id="{0D0F3236-3064-3CCB-317B-DF894DBA912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50238" y="3144621"/>
            <a:ext cx="3340669" cy="3172041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04A4A261-37AB-DA90-F142-886AC0E5A319}"/>
              </a:ext>
            </a:extLst>
          </p:cNvPr>
          <p:cNvCxnSpPr>
            <a:cxnSpLocks/>
          </p:cNvCxnSpPr>
          <p:nvPr userDrawn="1"/>
        </p:nvCxnSpPr>
        <p:spPr>
          <a:xfrm>
            <a:off x="596107" y="6479692"/>
            <a:ext cx="1099978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944D4B1B-ED46-B953-FD93-5F6C53A316C3}"/>
              </a:ext>
            </a:extLst>
          </p:cNvPr>
          <p:cNvSpPr txBox="1"/>
          <p:nvPr userDrawn="1"/>
        </p:nvSpPr>
        <p:spPr>
          <a:xfrm>
            <a:off x="11283301" y="6552610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sp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/>
              <a:pPr lvl="0" algn="r"/>
              <a:t>‹N°›</a:t>
            </a:fld>
            <a:endParaRPr lang="fr-FR"/>
          </a:p>
        </p:txBody>
      </p:sp>
      <p:sp>
        <p:nvSpPr>
          <p:cNvPr id="13" name="Espace réservé du pied de page 9">
            <a:extLst>
              <a:ext uri="{FF2B5EF4-FFF2-40B4-BE49-F238E27FC236}">
                <a16:creationId xmlns:a16="http://schemas.microsoft.com/office/drawing/2014/main" id="{4642A7FB-06A0-1C32-92CD-DFFE2F60B975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4038600" y="6559535"/>
            <a:ext cx="4114800" cy="216982"/>
          </a:xfrm>
        </p:spPr>
        <p:txBody>
          <a:bodyPr anchor="ctr" anchorCtr="0">
            <a:spAutoFit/>
          </a:bodyPr>
          <a:lstStyle/>
          <a:p>
            <a:r>
              <a:rPr lang="fr-FR"/>
              <a:t>Confidentiel</a:t>
            </a:r>
          </a:p>
        </p:txBody>
      </p:sp>
      <p:pic>
        <p:nvPicPr>
          <p:cNvPr id="21" name="Image 3">
            <a:extLst>
              <a:ext uri="{FF2B5EF4-FFF2-40B4-BE49-F238E27FC236}">
                <a16:creationId xmlns:a16="http://schemas.microsoft.com/office/drawing/2014/main" id="{A81B0036-0F57-AB91-0860-6C34F96BEEC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pic>
        <p:nvPicPr>
          <p:cNvPr id="22" name="Image 3">
            <a:extLst>
              <a:ext uri="{FF2B5EF4-FFF2-40B4-BE49-F238E27FC236}">
                <a16:creationId xmlns:a16="http://schemas.microsoft.com/office/drawing/2014/main" id="{CBA5260A-A35C-B009-39CC-1313FD9D437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sp>
        <p:nvSpPr>
          <p:cNvPr id="23" name="Titre 22">
            <a:extLst>
              <a:ext uri="{FF2B5EF4-FFF2-40B4-BE49-F238E27FC236}">
                <a16:creationId xmlns:a16="http://schemas.microsoft.com/office/drawing/2014/main" id="{75BF813A-811B-C7E6-88F8-F2C880809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5482419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 + 3 tex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7408A41C-D594-6F2F-7E89-CDC508301B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245" y="730049"/>
            <a:ext cx="11177364" cy="3128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7EA62686-1755-637A-4FDF-EF61284EBCA5}"/>
              </a:ext>
            </a:extLst>
          </p:cNvPr>
          <p:cNvCxnSpPr>
            <a:cxnSpLocks/>
          </p:cNvCxnSpPr>
          <p:nvPr/>
        </p:nvCxnSpPr>
        <p:spPr>
          <a:xfrm flipV="1">
            <a:off x="8015611" y="1777252"/>
            <a:ext cx="0" cy="4539410"/>
          </a:xfrm>
          <a:prstGeom prst="line">
            <a:avLst/>
          </a:prstGeom>
          <a:ln w="12700">
            <a:solidFill>
              <a:srgbClr val="DBD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C2B4AFAC-A110-2735-276D-AFDEC5FBC8A8}"/>
              </a:ext>
            </a:extLst>
          </p:cNvPr>
          <p:cNvCxnSpPr>
            <a:cxnSpLocks/>
          </p:cNvCxnSpPr>
          <p:nvPr/>
        </p:nvCxnSpPr>
        <p:spPr>
          <a:xfrm flipV="1">
            <a:off x="4180211" y="1777252"/>
            <a:ext cx="0" cy="4539410"/>
          </a:xfrm>
          <a:prstGeom prst="line">
            <a:avLst/>
          </a:prstGeom>
          <a:ln w="12700">
            <a:solidFill>
              <a:srgbClr val="DBD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ce réservé du texte 3">
            <a:extLst>
              <a:ext uri="{FF2B5EF4-FFF2-40B4-BE49-F238E27FC236}">
                <a16:creationId xmlns:a16="http://schemas.microsoft.com/office/drawing/2014/main" id="{EA07F4D7-57AF-92D3-8F4E-6338170C957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2138" y="4311168"/>
            <a:ext cx="3340669" cy="2005494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7" name="Espace réservé du texte 3">
            <a:extLst>
              <a:ext uri="{FF2B5EF4-FFF2-40B4-BE49-F238E27FC236}">
                <a16:creationId xmlns:a16="http://schemas.microsoft.com/office/drawing/2014/main" id="{2059A5FF-136C-3DC2-FF63-E41B2A1C8D2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27538" y="4311168"/>
            <a:ext cx="3340669" cy="2005494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9" name="Espace réservé du texte 3">
            <a:extLst>
              <a:ext uri="{FF2B5EF4-FFF2-40B4-BE49-F238E27FC236}">
                <a16:creationId xmlns:a16="http://schemas.microsoft.com/office/drawing/2014/main" id="{0D0F3236-3064-3CCB-317B-DF894DBA912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50238" y="4311168"/>
            <a:ext cx="3340669" cy="2005494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04A4A261-37AB-DA90-F142-886AC0E5A319}"/>
              </a:ext>
            </a:extLst>
          </p:cNvPr>
          <p:cNvCxnSpPr>
            <a:cxnSpLocks/>
          </p:cNvCxnSpPr>
          <p:nvPr userDrawn="1"/>
        </p:nvCxnSpPr>
        <p:spPr>
          <a:xfrm>
            <a:off x="596107" y="6479692"/>
            <a:ext cx="1099978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944D4B1B-ED46-B953-FD93-5F6C53A316C3}"/>
              </a:ext>
            </a:extLst>
          </p:cNvPr>
          <p:cNvSpPr txBox="1"/>
          <p:nvPr userDrawn="1"/>
        </p:nvSpPr>
        <p:spPr>
          <a:xfrm>
            <a:off x="11283301" y="6552610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sp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/>
              <a:pPr lvl="0" algn="r"/>
              <a:t>‹N°›</a:t>
            </a:fld>
            <a:endParaRPr lang="fr-FR"/>
          </a:p>
        </p:txBody>
      </p:sp>
      <p:sp>
        <p:nvSpPr>
          <p:cNvPr id="13" name="Espace réservé du pied de page 9">
            <a:extLst>
              <a:ext uri="{FF2B5EF4-FFF2-40B4-BE49-F238E27FC236}">
                <a16:creationId xmlns:a16="http://schemas.microsoft.com/office/drawing/2014/main" id="{4642A7FB-06A0-1C32-92CD-DFFE2F60B975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4038600" y="6559535"/>
            <a:ext cx="4114800" cy="216982"/>
          </a:xfrm>
        </p:spPr>
        <p:txBody>
          <a:bodyPr anchor="ctr" anchorCtr="0">
            <a:spAutoFit/>
          </a:bodyPr>
          <a:lstStyle/>
          <a:p>
            <a:r>
              <a:rPr lang="fr-FR"/>
              <a:t>Confidentiel</a:t>
            </a:r>
          </a:p>
        </p:txBody>
      </p:sp>
      <p:pic>
        <p:nvPicPr>
          <p:cNvPr id="21" name="Image 3">
            <a:extLst>
              <a:ext uri="{FF2B5EF4-FFF2-40B4-BE49-F238E27FC236}">
                <a16:creationId xmlns:a16="http://schemas.microsoft.com/office/drawing/2014/main" id="{A81B0036-0F57-AB91-0860-6C34F96BEEC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pic>
        <p:nvPicPr>
          <p:cNvPr id="22" name="Image 3">
            <a:extLst>
              <a:ext uri="{FF2B5EF4-FFF2-40B4-BE49-F238E27FC236}">
                <a16:creationId xmlns:a16="http://schemas.microsoft.com/office/drawing/2014/main" id="{CBA5260A-A35C-B009-39CC-1313FD9D437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sp>
        <p:nvSpPr>
          <p:cNvPr id="23" name="Titre 22">
            <a:extLst>
              <a:ext uri="{FF2B5EF4-FFF2-40B4-BE49-F238E27FC236}">
                <a16:creationId xmlns:a16="http://schemas.microsoft.com/office/drawing/2014/main" id="{75BF813A-811B-C7E6-88F8-F2C880809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BFE73CC8-61DF-7741-2AF4-379414529F8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427538" y="1776413"/>
            <a:ext cx="3340100" cy="23717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fr-FR"/>
          </a:p>
        </p:txBody>
      </p:sp>
      <p:sp>
        <p:nvSpPr>
          <p:cNvPr id="20" name="Espace réservé pour une image  8">
            <a:extLst>
              <a:ext uri="{FF2B5EF4-FFF2-40B4-BE49-F238E27FC236}">
                <a16:creationId xmlns:a16="http://schemas.microsoft.com/office/drawing/2014/main" id="{13E0C86F-62FC-F17A-1AA1-B46F3BB6CD3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248424" y="1776413"/>
            <a:ext cx="3340100" cy="23717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fr-FR"/>
          </a:p>
        </p:txBody>
      </p:sp>
      <p:sp>
        <p:nvSpPr>
          <p:cNvPr id="24" name="Espace réservé pour une image  8">
            <a:extLst>
              <a:ext uri="{FF2B5EF4-FFF2-40B4-BE49-F238E27FC236}">
                <a16:creationId xmlns:a16="http://schemas.microsoft.com/office/drawing/2014/main" id="{47CD1336-F383-07B7-AF44-8FC071288081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89755" y="1756328"/>
            <a:ext cx="3340100" cy="23717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33087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7408A41C-D594-6F2F-7E89-CDC508301B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245" y="730049"/>
            <a:ext cx="11177364" cy="3128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7EA62686-1755-637A-4FDF-EF61284EBCA5}"/>
              </a:ext>
            </a:extLst>
          </p:cNvPr>
          <p:cNvCxnSpPr>
            <a:cxnSpLocks/>
          </p:cNvCxnSpPr>
          <p:nvPr/>
        </p:nvCxnSpPr>
        <p:spPr>
          <a:xfrm flipV="1">
            <a:off x="8015611" y="1777252"/>
            <a:ext cx="0" cy="2942561"/>
          </a:xfrm>
          <a:prstGeom prst="line">
            <a:avLst/>
          </a:prstGeom>
          <a:ln w="12700">
            <a:solidFill>
              <a:srgbClr val="DBD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ce réservé du texte 3">
            <a:extLst>
              <a:ext uri="{FF2B5EF4-FFF2-40B4-BE49-F238E27FC236}">
                <a16:creationId xmlns:a16="http://schemas.microsoft.com/office/drawing/2014/main" id="{1DF1BF75-72D3-9F2F-653F-90CD22CEB8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3552" y="1765829"/>
            <a:ext cx="3353922" cy="4550806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" name="Espace réservé du texte 3">
            <a:extLst>
              <a:ext uri="{FF2B5EF4-FFF2-40B4-BE49-F238E27FC236}">
                <a16:creationId xmlns:a16="http://schemas.microsoft.com/office/drawing/2014/main" id="{181AFECA-AA25-73EC-AD5D-CFC52C53F5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19039" y="1765819"/>
            <a:ext cx="3353922" cy="4550831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1" name="Espace réservé du texte 3">
            <a:extLst>
              <a:ext uri="{FF2B5EF4-FFF2-40B4-BE49-F238E27FC236}">
                <a16:creationId xmlns:a16="http://schemas.microsoft.com/office/drawing/2014/main" id="{76E35219-9A49-5BAA-BF72-2360BAAA26B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59193" y="1765819"/>
            <a:ext cx="3353922" cy="4550831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C2B4AFAC-A110-2735-276D-AFDEC5FBC8A8}"/>
              </a:ext>
            </a:extLst>
          </p:cNvPr>
          <p:cNvCxnSpPr>
            <a:cxnSpLocks/>
          </p:cNvCxnSpPr>
          <p:nvPr/>
        </p:nvCxnSpPr>
        <p:spPr>
          <a:xfrm flipV="1">
            <a:off x="4180211" y="1777252"/>
            <a:ext cx="0" cy="2942561"/>
          </a:xfrm>
          <a:prstGeom prst="line">
            <a:avLst/>
          </a:prstGeom>
          <a:ln w="12700">
            <a:solidFill>
              <a:srgbClr val="DBD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4E2D4E07-4E51-417C-E5FB-1AEBE822BCC4}"/>
              </a:ext>
            </a:extLst>
          </p:cNvPr>
          <p:cNvCxnSpPr>
            <a:cxnSpLocks/>
          </p:cNvCxnSpPr>
          <p:nvPr userDrawn="1"/>
        </p:nvCxnSpPr>
        <p:spPr>
          <a:xfrm>
            <a:off x="596107" y="6479692"/>
            <a:ext cx="1099978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8D96A097-906B-C6EF-36BE-FEBF08766A8E}"/>
              </a:ext>
            </a:extLst>
          </p:cNvPr>
          <p:cNvSpPr txBox="1"/>
          <p:nvPr userDrawn="1"/>
        </p:nvSpPr>
        <p:spPr>
          <a:xfrm>
            <a:off x="11283301" y="6552610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sp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/>
              <a:pPr lvl="0" algn="r"/>
              <a:t>‹N°›</a:t>
            </a:fld>
            <a:endParaRPr lang="fr-FR"/>
          </a:p>
        </p:txBody>
      </p:sp>
      <p:sp>
        <p:nvSpPr>
          <p:cNvPr id="17" name="Espace réservé du pied de page 9">
            <a:extLst>
              <a:ext uri="{FF2B5EF4-FFF2-40B4-BE49-F238E27FC236}">
                <a16:creationId xmlns:a16="http://schemas.microsoft.com/office/drawing/2014/main" id="{BC90BDC5-6AE4-369F-CA2F-500666692B2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559535"/>
            <a:ext cx="4114800" cy="216982"/>
          </a:xfrm>
        </p:spPr>
        <p:txBody>
          <a:bodyPr anchor="ctr" anchorCtr="0">
            <a:spAutoFit/>
          </a:bodyPr>
          <a:lstStyle/>
          <a:p>
            <a:r>
              <a:rPr lang="fr-FR"/>
              <a:t>Confidentiel</a:t>
            </a:r>
          </a:p>
        </p:txBody>
      </p:sp>
      <p:pic>
        <p:nvPicPr>
          <p:cNvPr id="18" name="Image 3">
            <a:extLst>
              <a:ext uri="{FF2B5EF4-FFF2-40B4-BE49-F238E27FC236}">
                <a16:creationId xmlns:a16="http://schemas.microsoft.com/office/drawing/2014/main" id="{4AA04FD6-B356-AECB-12E3-4568FDF9B27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pic>
        <p:nvPicPr>
          <p:cNvPr id="19" name="Image 3">
            <a:extLst>
              <a:ext uri="{FF2B5EF4-FFF2-40B4-BE49-F238E27FC236}">
                <a16:creationId xmlns:a16="http://schemas.microsoft.com/office/drawing/2014/main" id="{5FF173E9-3BD4-CAC5-1E71-BB9E4E3D3D0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sp>
        <p:nvSpPr>
          <p:cNvPr id="20" name="Titre 19">
            <a:extLst>
              <a:ext uri="{FF2B5EF4-FFF2-40B4-BE49-F238E27FC236}">
                <a16:creationId xmlns:a16="http://schemas.microsoft.com/office/drawing/2014/main" id="{0F1483C0-1D33-DC9E-BF91-9713BA13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58510974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art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7408A41C-D594-6F2F-7E89-CDC508301B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245" y="730049"/>
            <a:ext cx="11177364" cy="3128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7EA62686-1755-637A-4FDF-EF61284EBCA5}"/>
              </a:ext>
            </a:extLst>
          </p:cNvPr>
          <p:cNvCxnSpPr>
            <a:cxnSpLocks/>
          </p:cNvCxnSpPr>
          <p:nvPr/>
        </p:nvCxnSpPr>
        <p:spPr>
          <a:xfrm flipV="1">
            <a:off x="8015611" y="1777252"/>
            <a:ext cx="0" cy="2942561"/>
          </a:xfrm>
          <a:prstGeom prst="line">
            <a:avLst/>
          </a:prstGeom>
          <a:ln w="12700">
            <a:solidFill>
              <a:srgbClr val="DBD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C2B4AFAC-A110-2735-276D-AFDEC5FBC8A8}"/>
              </a:ext>
            </a:extLst>
          </p:cNvPr>
          <p:cNvCxnSpPr>
            <a:cxnSpLocks/>
          </p:cNvCxnSpPr>
          <p:nvPr/>
        </p:nvCxnSpPr>
        <p:spPr>
          <a:xfrm flipV="1">
            <a:off x="4180211" y="1777252"/>
            <a:ext cx="0" cy="2942561"/>
          </a:xfrm>
          <a:prstGeom prst="line">
            <a:avLst/>
          </a:prstGeom>
          <a:ln w="12700">
            <a:solidFill>
              <a:srgbClr val="DBD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9D208F8B-0F7A-225D-A872-7D19654EA7D2}"/>
              </a:ext>
            </a:extLst>
          </p:cNvPr>
          <p:cNvCxnSpPr>
            <a:cxnSpLocks/>
          </p:cNvCxnSpPr>
          <p:nvPr userDrawn="1"/>
        </p:nvCxnSpPr>
        <p:spPr>
          <a:xfrm>
            <a:off x="596107" y="6479692"/>
            <a:ext cx="1099978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8EDC7974-B935-79FF-3D74-9689E4784091}"/>
              </a:ext>
            </a:extLst>
          </p:cNvPr>
          <p:cNvSpPr txBox="1"/>
          <p:nvPr userDrawn="1"/>
        </p:nvSpPr>
        <p:spPr>
          <a:xfrm>
            <a:off x="11283301" y="6552610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sp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/>
              <a:pPr lvl="0" algn="r"/>
              <a:t>‹N°›</a:t>
            </a:fld>
            <a:endParaRPr lang="fr-FR"/>
          </a:p>
        </p:txBody>
      </p:sp>
      <p:sp>
        <p:nvSpPr>
          <p:cNvPr id="11" name="Espace réservé du pied de page 9">
            <a:extLst>
              <a:ext uri="{FF2B5EF4-FFF2-40B4-BE49-F238E27FC236}">
                <a16:creationId xmlns:a16="http://schemas.microsoft.com/office/drawing/2014/main" id="{4E17154A-080C-75DC-759F-925545500F8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559535"/>
            <a:ext cx="4114800" cy="216982"/>
          </a:xfrm>
        </p:spPr>
        <p:txBody>
          <a:bodyPr anchor="ctr" anchorCtr="0">
            <a:spAutoFit/>
          </a:bodyPr>
          <a:lstStyle/>
          <a:p>
            <a:r>
              <a:rPr lang="fr-FR"/>
              <a:t>Confidentiel</a:t>
            </a:r>
          </a:p>
        </p:txBody>
      </p:sp>
      <p:pic>
        <p:nvPicPr>
          <p:cNvPr id="13" name="Image 3">
            <a:extLst>
              <a:ext uri="{FF2B5EF4-FFF2-40B4-BE49-F238E27FC236}">
                <a16:creationId xmlns:a16="http://schemas.microsoft.com/office/drawing/2014/main" id="{6A6447A5-1FBD-B7AC-1F25-61708ADC16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pic>
        <p:nvPicPr>
          <p:cNvPr id="14" name="Image 3">
            <a:extLst>
              <a:ext uri="{FF2B5EF4-FFF2-40B4-BE49-F238E27FC236}">
                <a16:creationId xmlns:a16="http://schemas.microsoft.com/office/drawing/2014/main" id="{59630943-6655-7219-6930-6F7FE03673E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sp>
        <p:nvSpPr>
          <p:cNvPr id="17" name="Titre 16">
            <a:extLst>
              <a:ext uri="{FF2B5EF4-FFF2-40B4-BE49-F238E27FC236}">
                <a16:creationId xmlns:a16="http://schemas.microsoft.com/office/drawing/2014/main" id="{82626659-2047-9772-7DDB-1C55C4BB4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412790064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es + pic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7408A41C-D594-6F2F-7E89-CDC508301B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245" y="730049"/>
            <a:ext cx="11177364" cy="3128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F3DB7E0-3460-575F-C752-E124B92DB6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3552" y="3365227"/>
            <a:ext cx="3353922" cy="2951407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3" name="Espace réservé du texte 3">
            <a:extLst>
              <a:ext uri="{FF2B5EF4-FFF2-40B4-BE49-F238E27FC236}">
                <a16:creationId xmlns:a16="http://schemas.microsoft.com/office/drawing/2014/main" id="{62632C4D-13B9-BEEA-986C-6EBEB7D33DE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19039" y="3365227"/>
            <a:ext cx="3353922" cy="2951423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4" name="Espace réservé du texte 3">
            <a:extLst>
              <a:ext uri="{FF2B5EF4-FFF2-40B4-BE49-F238E27FC236}">
                <a16:creationId xmlns:a16="http://schemas.microsoft.com/office/drawing/2014/main" id="{47395A5B-F130-E642-5A9F-64AC28B02A6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59193" y="3365227"/>
            <a:ext cx="3353922" cy="2951423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7" name="Espace réservé du contenu 25">
            <a:extLst>
              <a:ext uri="{FF2B5EF4-FFF2-40B4-BE49-F238E27FC236}">
                <a16:creationId xmlns:a16="http://schemas.microsoft.com/office/drawing/2014/main" id="{0504A56B-AE8A-BF31-C214-49FCB86A04B4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884464" y="1918652"/>
            <a:ext cx="752096" cy="75209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algn="ctr">
              <a:defRPr sz="1600">
                <a:latin typeface="Galano Grotesque" pitchFamily="2" charset="77"/>
              </a:defRPr>
            </a:lvl2pPr>
            <a:lvl3pPr algn="ctr">
              <a:defRPr sz="1400">
                <a:latin typeface="Galano Grotesque" pitchFamily="2" charset="77"/>
              </a:defRPr>
            </a:lvl3pPr>
            <a:lvl4pPr algn="ctr">
              <a:defRPr sz="1200">
                <a:latin typeface="Galano Grotesque" pitchFamily="2" charset="77"/>
              </a:defRPr>
            </a:lvl4pPr>
            <a:lvl5pPr algn="ctr">
              <a:defRPr sz="120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Insérez une icône</a:t>
            </a:r>
          </a:p>
        </p:txBody>
      </p:sp>
      <p:sp>
        <p:nvSpPr>
          <p:cNvPr id="29" name="Espace réservé du texte 28">
            <a:extLst>
              <a:ext uri="{FF2B5EF4-FFF2-40B4-BE49-F238E27FC236}">
                <a16:creationId xmlns:a16="http://schemas.microsoft.com/office/drawing/2014/main" id="{1D7EA426-A86C-0278-15F5-F8341F9BAD3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33362" y="2762250"/>
            <a:ext cx="2654300" cy="30638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Plus Jakarta Sans SemiBold" pitchFamily="2" charset="77"/>
              </a:defRPr>
            </a:lvl1pPr>
            <a:lvl2pPr>
              <a:defRPr sz="1200">
                <a:latin typeface="Galano Grotesque" pitchFamily="2" charset="77"/>
              </a:defRPr>
            </a:lvl2pPr>
            <a:lvl3pPr>
              <a:defRPr sz="1100">
                <a:latin typeface="Galano Grotesque" pitchFamily="2" charset="77"/>
              </a:defRPr>
            </a:lvl3pPr>
            <a:lvl4pPr>
              <a:defRPr sz="1050">
                <a:latin typeface="Galano Grotesque" pitchFamily="2" charset="77"/>
              </a:defRPr>
            </a:lvl4pPr>
            <a:lvl5pPr>
              <a:defRPr sz="105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31" name="Espace réservé du contenu 25">
            <a:extLst>
              <a:ext uri="{FF2B5EF4-FFF2-40B4-BE49-F238E27FC236}">
                <a16:creationId xmlns:a16="http://schemas.microsoft.com/office/drawing/2014/main" id="{4C10C506-7890-A9F0-F9C2-1F5BB61F01D1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5719952" y="1918652"/>
            <a:ext cx="752096" cy="75209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algn="ctr">
              <a:defRPr sz="1600">
                <a:latin typeface="Galano Grotesque" pitchFamily="2" charset="77"/>
              </a:defRPr>
            </a:lvl2pPr>
            <a:lvl3pPr algn="ctr">
              <a:defRPr sz="1400">
                <a:latin typeface="Galano Grotesque" pitchFamily="2" charset="77"/>
              </a:defRPr>
            </a:lvl3pPr>
            <a:lvl4pPr algn="ctr">
              <a:defRPr sz="1200">
                <a:latin typeface="Galano Grotesque" pitchFamily="2" charset="77"/>
              </a:defRPr>
            </a:lvl4pPr>
            <a:lvl5pPr algn="ctr">
              <a:defRPr sz="120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Insérez une icône</a:t>
            </a:r>
          </a:p>
        </p:txBody>
      </p:sp>
      <p:sp>
        <p:nvSpPr>
          <p:cNvPr id="32" name="Espace réservé du texte 28">
            <a:extLst>
              <a:ext uri="{FF2B5EF4-FFF2-40B4-BE49-F238E27FC236}">
                <a16:creationId xmlns:a16="http://schemas.microsoft.com/office/drawing/2014/main" id="{DA84ED17-7BE1-8384-1A4D-988007F6A72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768850" y="2762250"/>
            <a:ext cx="2654300" cy="30638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Plus Jakarta Sans SemiBold" pitchFamily="2" charset="77"/>
              </a:defRPr>
            </a:lvl1pPr>
            <a:lvl2pPr>
              <a:defRPr sz="1200">
                <a:latin typeface="Galano Grotesque" pitchFamily="2" charset="77"/>
              </a:defRPr>
            </a:lvl2pPr>
            <a:lvl3pPr>
              <a:defRPr sz="1100">
                <a:latin typeface="Galano Grotesque" pitchFamily="2" charset="77"/>
              </a:defRPr>
            </a:lvl3pPr>
            <a:lvl4pPr>
              <a:defRPr sz="1050">
                <a:latin typeface="Galano Grotesque" pitchFamily="2" charset="77"/>
              </a:defRPr>
            </a:lvl4pPr>
            <a:lvl5pPr>
              <a:defRPr sz="105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34" name="Espace réservé du contenu 25">
            <a:extLst>
              <a:ext uri="{FF2B5EF4-FFF2-40B4-BE49-F238E27FC236}">
                <a16:creationId xmlns:a16="http://schemas.microsoft.com/office/drawing/2014/main" id="{1188EF79-413C-AF9C-BBA1-D654CBC1E430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9555106" y="1918652"/>
            <a:ext cx="752096" cy="75209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algn="ctr">
              <a:defRPr sz="1600">
                <a:latin typeface="Galano Grotesque" pitchFamily="2" charset="77"/>
              </a:defRPr>
            </a:lvl2pPr>
            <a:lvl3pPr algn="ctr">
              <a:defRPr sz="1400">
                <a:latin typeface="Galano Grotesque" pitchFamily="2" charset="77"/>
              </a:defRPr>
            </a:lvl3pPr>
            <a:lvl4pPr algn="ctr">
              <a:defRPr sz="1200">
                <a:latin typeface="Galano Grotesque" pitchFamily="2" charset="77"/>
              </a:defRPr>
            </a:lvl4pPr>
            <a:lvl5pPr algn="ctr">
              <a:defRPr sz="120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Insérez une icône</a:t>
            </a:r>
          </a:p>
        </p:txBody>
      </p:sp>
      <p:sp>
        <p:nvSpPr>
          <p:cNvPr id="35" name="Espace réservé du texte 28">
            <a:extLst>
              <a:ext uri="{FF2B5EF4-FFF2-40B4-BE49-F238E27FC236}">
                <a16:creationId xmlns:a16="http://schemas.microsoft.com/office/drawing/2014/main" id="{2AA2318D-E1BA-8A57-5408-5420750115E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604004" y="2762250"/>
            <a:ext cx="2654300" cy="30638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Plus Jakarta Sans SemiBold" pitchFamily="2" charset="77"/>
              </a:defRPr>
            </a:lvl1pPr>
            <a:lvl2pPr>
              <a:defRPr sz="1200">
                <a:latin typeface="Galano Grotesque" pitchFamily="2" charset="77"/>
              </a:defRPr>
            </a:lvl2pPr>
            <a:lvl3pPr>
              <a:defRPr sz="1100">
                <a:latin typeface="Galano Grotesque" pitchFamily="2" charset="77"/>
              </a:defRPr>
            </a:lvl3pPr>
            <a:lvl4pPr>
              <a:defRPr sz="1050">
                <a:latin typeface="Galano Grotesque" pitchFamily="2" charset="77"/>
              </a:defRPr>
            </a:lvl4pPr>
            <a:lvl5pPr>
              <a:defRPr sz="105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Titre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5A82CF64-4BD0-2FD7-D313-2434FB791BEB}"/>
              </a:ext>
            </a:extLst>
          </p:cNvPr>
          <p:cNvCxnSpPr>
            <a:cxnSpLocks/>
          </p:cNvCxnSpPr>
          <p:nvPr userDrawn="1"/>
        </p:nvCxnSpPr>
        <p:spPr>
          <a:xfrm>
            <a:off x="596107" y="6479692"/>
            <a:ext cx="1099978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51ABFBBD-A4E2-A859-A8A2-1B055AF948E1}"/>
              </a:ext>
            </a:extLst>
          </p:cNvPr>
          <p:cNvSpPr txBox="1"/>
          <p:nvPr userDrawn="1"/>
        </p:nvSpPr>
        <p:spPr>
          <a:xfrm>
            <a:off x="11283301" y="6552610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sp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/>
              <a:pPr lvl="0" algn="r"/>
              <a:t>‹N°›</a:t>
            </a:fld>
            <a:endParaRPr lang="fr-FR"/>
          </a:p>
        </p:txBody>
      </p:sp>
      <p:sp>
        <p:nvSpPr>
          <p:cNvPr id="14" name="Espace réservé du pied de page 9">
            <a:extLst>
              <a:ext uri="{FF2B5EF4-FFF2-40B4-BE49-F238E27FC236}">
                <a16:creationId xmlns:a16="http://schemas.microsoft.com/office/drawing/2014/main" id="{1C6B30C8-A7BD-36EC-5E87-AD2C08DF004E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4038600" y="6559535"/>
            <a:ext cx="4114800" cy="216982"/>
          </a:xfrm>
        </p:spPr>
        <p:txBody>
          <a:bodyPr anchor="ctr" anchorCtr="0">
            <a:spAutoFit/>
          </a:bodyPr>
          <a:lstStyle/>
          <a:p>
            <a:r>
              <a:rPr lang="fr-FR"/>
              <a:t>Confidentiel</a:t>
            </a:r>
          </a:p>
        </p:txBody>
      </p:sp>
      <p:pic>
        <p:nvPicPr>
          <p:cNvPr id="15" name="Image 3">
            <a:extLst>
              <a:ext uri="{FF2B5EF4-FFF2-40B4-BE49-F238E27FC236}">
                <a16:creationId xmlns:a16="http://schemas.microsoft.com/office/drawing/2014/main" id="{0ABF63AB-C871-4C41-D251-80BEE98A324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pic>
        <p:nvPicPr>
          <p:cNvPr id="16" name="Image 3">
            <a:extLst>
              <a:ext uri="{FF2B5EF4-FFF2-40B4-BE49-F238E27FC236}">
                <a16:creationId xmlns:a16="http://schemas.microsoft.com/office/drawing/2014/main" id="{265EAAE0-9135-091B-56F6-E29A507CF73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sp>
        <p:nvSpPr>
          <p:cNvPr id="17" name="Titre 16">
            <a:extLst>
              <a:ext uri="{FF2B5EF4-FFF2-40B4-BE49-F238E27FC236}">
                <a16:creationId xmlns:a16="http://schemas.microsoft.com/office/drawing/2014/main" id="{8022A0C8-C1E6-BDFC-4492-3078B80AF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20946529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ic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7408A41C-D594-6F2F-7E89-CDC508301B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245" y="730049"/>
            <a:ext cx="11177364" cy="3128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21" name="Espace réservé du contenu 19">
            <a:extLst>
              <a:ext uri="{FF2B5EF4-FFF2-40B4-BE49-F238E27FC236}">
                <a16:creationId xmlns:a16="http://schemas.microsoft.com/office/drawing/2014/main" id="{10C45F0B-0698-34F1-9C6F-67420E3FEC46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54885" y="1987946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23" name="Espace réservé du contenu 19">
            <a:extLst>
              <a:ext uri="{FF2B5EF4-FFF2-40B4-BE49-F238E27FC236}">
                <a16:creationId xmlns:a16="http://schemas.microsoft.com/office/drawing/2014/main" id="{478D6787-7E01-D2AF-3290-B6AC79DA096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54885" y="3581404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25" name="Espace réservé du contenu 19">
            <a:extLst>
              <a:ext uri="{FF2B5EF4-FFF2-40B4-BE49-F238E27FC236}">
                <a16:creationId xmlns:a16="http://schemas.microsoft.com/office/drawing/2014/main" id="{3EF04D55-99B6-6260-6E5C-E6F5550961C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54885" y="5171992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29" name="Espace réservé du contenu 19">
            <a:extLst>
              <a:ext uri="{FF2B5EF4-FFF2-40B4-BE49-F238E27FC236}">
                <a16:creationId xmlns:a16="http://schemas.microsoft.com/office/drawing/2014/main" id="{7E9BDC09-5094-2B94-7253-07F8D4ECBF1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607985" y="1987946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30" name="Espace réservé du contenu 19">
            <a:extLst>
              <a:ext uri="{FF2B5EF4-FFF2-40B4-BE49-F238E27FC236}">
                <a16:creationId xmlns:a16="http://schemas.microsoft.com/office/drawing/2014/main" id="{D2275F22-67A5-44D4-0D14-979374F8C606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607985" y="3581404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31" name="Espace réservé du contenu 19">
            <a:extLst>
              <a:ext uri="{FF2B5EF4-FFF2-40B4-BE49-F238E27FC236}">
                <a16:creationId xmlns:a16="http://schemas.microsoft.com/office/drawing/2014/main" id="{B5718FAD-5541-CCA0-FDC3-90D60B28969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607985" y="5171992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33" name="Espace réservé du texte 32">
            <a:extLst>
              <a:ext uri="{FF2B5EF4-FFF2-40B4-BE49-F238E27FC236}">
                <a16:creationId xmlns:a16="http://schemas.microsoft.com/office/drawing/2014/main" id="{7EE8819D-9707-593E-B882-D21D36A3541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022361" y="1983579"/>
            <a:ext cx="3831771" cy="923134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34" name="Espace réservé du texte 32">
            <a:extLst>
              <a:ext uri="{FF2B5EF4-FFF2-40B4-BE49-F238E27FC236}">
                <a16:creationId xmlns:a16="http://schemas.microsoft.com/office/drawing/2014/main" id="{08B8CC02-EE99-95FA-BBC9-C1124DCC1C1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022361" y="3594835"/>
            <a:ext cx="3831771" cy="88409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35" name="Espace réservé du texte 32">
            <a:extLst>
              <a:ext uri="{FF2B5EF4-FFF2-40B4-BE49-F238E27FC236}">
                <a16:creationId xmlns:a16="http://schemas.microsoft.com/office/drawing/2014/main" id="{86E3972E-B52F-1AB3-35DD-C021DE4B831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022361" y="5160088"/>
            <a:ext cx="3831771" cy="93705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36" name="Espace réservé du texte 32">
            <a:extLst>
              <a:ext uri="{FF2B5EF4-FFF2-40B4-BE49-F238E27FC236}">
                <a16:creationId xmlns:a16="http://schemas.microsoft.com/office/drawing/2014/main" id="{3FE9A64A-4CCF-DEDC-752E-78ED91D0A1F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773788" y="1983579"/>
            <a:ext cx="3831771" cy="923134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37" name="Espace réservé du texte 32">
            <a:extLst>
              <a:ext uri="{FF2B5EF4-FFF2-40B4-BE49-F238E27FC236}">
                <a16:creationId xmlns:a16="http://schemas.microsoft.com/office/drawing/2014/main" id="{7FF1668E-7B8D-67AF-0951-530E60B39CC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773788" y="3581405"/>
            <a:ext cx="3831771" cy="91095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38" name="Espace réservé du texte 32">
            <a:extLst>
              <a:ext uri="{FF2B5EF4-FFF2-40B4-BE49-F238E27FC236}">
                <a16:creationId xmlns:a16="http://schemas.microsoft.com/office/drawing/2014/main" id="{A18371FB-E00A-B7F2-CF77-3A36BB49ACA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773788" y="5167038"/>
            <a:ext cx="3831771" cy="92315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Texte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9C483E41-4218-4714-A11B-77B5EB42515D}"/>
              </a:ext>
            </a:extLst>
          </p:cNvPr>
          <p:cNvCxnSpPr>
            <a:cxnSpLocks/>
          </p:cNvCxnSpPr>
          <p:nvPr userDrawn="1"/>
        </p:nvCxnSpPr>
        <p:spPr>
          <a:xfrm>
            <a:off x="596107" y="6479692"/>
            <a:ext cx="1099978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0AF655B6-52D0-1962-1870-FEBF23478F43}"/>
              </a:ext>
            </a:extLst>
          </p:cNvPr>
          <p:cNvSpPr txBox="1"/>
          <p:nvPr userDrawn="1"/>
        </p:nvSpPr>
        <p:spPr>
          <a:xfrm>
            <a:off x="11283301" y="6552610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sp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/>
              <a:pPr lvl="0" algn="r"/>
              <a:t>‹N°›</a:t>
            </a:fld>
            <a:endParaRPr lang="fr-FR"/>
          </a:p>
        </p:txBody>
      </p:sp>
      <p:sp>
        <p:nvSpPr>
          <p:cNvPr id="12" name="Espace réservé du pied de page 9">
            <a:extLst>
              <a:ext uri="{FF2B5EF4-FFF2-40B4-BE49-F238E27FC236}">
                <a16:creationId xmlns:a16="http://schemas.microsoft.com/office/drawing/2014/main" id="{F5F4C28A-2B39-3166-7029-B4D163ADB838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4038600" y="6559535"/>
            <a:ext cx="4114800" cy="216982"/>
          </a:xfrm>
        </p:spPr>
        <p:txBody>
          <a:bodyPr anchor="ctr" anchorCtr="0">
            <a:spAutoFit/>
          </a:bodyPr>
          <a:lstStyle/>
          <a:p>
            <a:r>
              <a:rPr lang="fr-FR"/>
              <a:t>Confidentiel</a:t>
            </a:r>
          </a:p>
        </p:txBody>
      </p:sp>
      <p:pic>
        <p:nvPicPr>
          <p:cNvPr id="13" name="Image 3">
            <a:extLst>
              <a:ext uri="{FF2B5EF4-FFF2-40B4-BE49-F238E27FC236}">
                <a16:creationId xmlns:a16="http://schemas.microsoft.com/office/drawing/2014/main" id="{E33809B8-1304-390E-5B30-8A85CB2A953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pic>
        <p:nvPicPr>
          <p:cNvPr id="14" name="Image 3">
            <a:extLst>
              <a:ext uri="{FF2B5EF4-FFF2-40B4-BE49-F238E27FC236}">
                <a16:creationId xmlns:a16="http://schemas.microsoft.com/office/drawing/2014/main" id="{376E5E1F-DD41-1FC5-5145-1140DBFFA6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sp>
        <p:nvSpPr>
          <p:cNvPr id="15" name="Titre 14">
            <a:extLst>
              <a:ext uri="{FF2B5EF4-FFF2-40B4-BE49-F238E27FC236}">
                <a16:creationId xmlns:a16="http://schemas.microsoft.com/office/drawing/2014/main" id="{F228E636-4E00-E524-26CD-D2D7A0C2C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0225334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Équi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7408A41C-D594-6F2F-7E89-CDC508301B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245" y="730049"/>
            <a:ext cx="11177364" cy="3128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38B27E2F-1ACB-60D8-0F28-55360E3BB4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16332" y="3151456"/>
            <a:ext cx="1915712" cy="317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1">
                <a:solidFill>
                  <a:schemeClr val="accent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12" name="Espace réservé du texte 10">
            <a:extLst>
              <a:ext uri="{FF2B5EF4-FFF2-40B4-BE49-F238E27FC236}">
                <a16:creationId xmlns:a16="http://schemas.microsoft.com/office/drawing/2014/main" id="{1D70E975-CD65-D489-CBB3-919E02BAC6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16332" y="3568990"/>
            <a:ext cx="1915712" cy="31749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Rôle</a:t>
            </a:r>
          </a:p>
        </p:txBody>
      </p:sp>
      <p:sp>
        <p:nvSpPr>
          <p:cNvPr id="15" name="Espace réservé du texte 10">
            <a:extLst>
              <a:ext uri="{FF2B5EF4-FFF2-40B4-BE49-F238E27FC236}">
                <a16:creationId xmlns:a16="http://schemas.microsoft.com/office/drawing/2014/main" id="{5BD3B682-F1D5-A6FB-B07C-B0C958C40F2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59517" y="3151456"/>
            <a:ext cx="1915712" cy="317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1">
                <a:solidFill>
                  <a:schemeClr val="accent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16" name="Espace réservé du texte 10">
            <a:extLst>
              <a:ext uri="{FF2B5EF4-FFF2-40B4-BE49-F238E27FC236}">
                <a16:creationId xmlns:a16="http://schemas.microsoft.com/office/drawing/2014/main" id="{7FF2E9D3-89E1-AB93-6527-DFAB6A7FC0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63739" y="3568990"/>
            <a:ext cx="1915712" cy="31749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Rôle</a:t>
            </a:r>
          </a:p>
        </p:txBody>
      </p:sp>
      <p:sp>
        <p:nvSpPr>
          <p:cNvPr id="19" name="Espace réservé du texte 10">
            <a:extLst>
              <a:ext uri="{FF2B5EF4-FFF2-40B4-BE49-F238E27FC236}">
                <a16:creationId xmlns:a16="http://schemas.microsoft.com/office/drawing/2014/main" id="{CC7A9A66-4639-6E5F-ABF3-C19CD09513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02703" y="3151456"/>
            <a:ext cx="1915712" cy="317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1">
                <a:solidFill>
                  <a:schemeClr val="accent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20" name="Espace réservé du texte 10">
            <a:extLst>
              <a:ext uri="{FF2B5EF4-FFF2-40B4-BE49-F238E27FC236}">
                <a16:creationId xmlns:a16="http://schemas.microsoft.com/office/drawing/2014/main" id="{6501984C-6526-1650-C964-E3B0D68FA14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02703" y="3568989"/>
            <a:ext cx="1915712" cy="31749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Rôle</a:t>
            </a:r>
          </a:p>
        </p:txBody>
      </p:sp>
      <p:sp>
        <p:nvSpPr>
          <p:cNvPr id="22" name="Espace réservé du texte 10">
            <a:extLst>
              <a:ext uri="{FF2B5EF4-FFF2-40B4-BE49-F238E27FC236}">
                <a16:creationId xmlns:a16="http://schemas.microsoft.com/office/drawing/2014/main" id="{C3BE79D3-957B-5BA5-889C-97B856A8B24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45889" y="3151456"/>
            <a:ext cx="1915712" cy="317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1">
                <a:solidFill>
                  <a:schemeClr val="accent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23" name="Espace réservé du texte 10">
            <a:extLst>
              <a:ext uri="{FF2B5EF4-FFF2-40B4-BE49-F238E27FC236}">
                <a16:creationId xmlns:a16="http://schemas.microsoft.com/office/drawing/2014/main" id="{9999C88C-B9A8-81E2-C8B4-5352ABAD0D1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945889" y="3568990"/>
            <a:ext cx="1915712" cy="31749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Rôle</a:t>
            </a:r>
          </a:p>
        </p:txBody>
      </p:sp>
      <p:sp>
        <p:nvSpPr>
          <p:cNvPr id="36" name="Espace réservé du texte 10">
            <a:extLst>
              <a:ext uri="{FF2B5EF4-FFF2-40B4-BE49-F238E27FC236}">
                <a16:creationId xmlns:a16="http://schemas.microsoft.com/office/drawing/2014/main" id="{ACCEA465-5500-345D-2811-9A10EE6DB55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16332" y="5575341"/>
            <a:ext cx="1915712" cy="317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1">
                <a:solidFill>
                  <a:schemeClr val="accent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37" name="Espace réservé du texte 10">
            <a:extLst>
              <a:ext uri="{FF2B5EF4-FFF2-40B4-BE49-F238E27FC236}">
                <a16:creationId xmlns:a16="http://schemas.microsoft.com/office/drawing/2014/main" id="{46021353-6E4E-7EE9-B1C0-334586504AE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16332" y="5992875"/>
            <a:ext cx="1915712" cy="31749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Rôle</a:t>
            </a:r>
          </a:p>
        </p:txBody>
      </p:sp>
      <p:sp>
        <p:nvSpPr>
          <p:cNvPr id="38" name="Espace réservé du texte 10">
            <a:extLst>
              <a:ext uri="{FF2B5EF4-FFF2-40B4-BE49-F238E27FC236}">
                <a16:creationId xmlns:a16="http://schemas.microsoft.com/office/drawing/2014/main" id="{821DBFAB-ACFB-35C3-FC85-EE12D3066D4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859517" y="5575341"/>
            <a:ext cx="1915712" cy="317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1">
                <a:solidFill>
                  <a:schemeClr val="accent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39" name="Espace réservé du texte 10">
            <a:extLst>
              <a:ext uri="{FF2B5EF4-FFF2-40B4-BE49-F238E27FC236}">
                <a16:creationId xmlns:a16="http://schemas.microsoft.com/office/drawing/2014/main" id="{DFAD602D-0CF2-3F8B-7649-13EF004B042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863739" y="5992874"/>
            <a:ext cx="1915712" cy="31749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Rôle</a:t>
            </a:r>
          </a:p>
        </p:txBody>
      </p:sp>
      <p:sp>
        <p:nvSpPr>
          <p:cNvPr id="40" name="Espace réservé du texte 10">
            <a:extLst>
              <a:ext uri="{FF2B5EF4-FFF2-40B4-BE49-F238E27FC236}">
                <a16:creationId xmlns:a16="http://schemas.microsoft.com/office/drawing/2014/main" id="{7E999209-7481-95C6-FC06-D9F5EF73B7A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402703" y="5575341"/>
            <a:ext cx="1915712" cy="317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1">
                <a:solidFill>
                  <a:schemeClr val="accent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41" name="Espace réservé du texte 10">
            <a:extLst>
              <a:ext uri="{FF2B5EF4-FFF2-40B4-BE49-F238E27FC236}">
                <a16:creationId xmlns:a16="http://schemas.microsoft.com/office/drawing/2014/main" id="{DE252284-FCCD-1E4C-462B-9864B384A71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02703" y="5992874"/>
            <a:ext cx="1915712" cy="31749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Rôle</a:t>
            </a:r>
          </a:p>
        </p:txBody>
      </p:sp>
      <p:sp>
        <p:nvSpPr>
          <p:cNvPr id="42" name="Espace réservé du texte 10">
            <a:extLst>
              <a:ext uri="{FF2B5EF4-FFF2-40B4-BE49-F238E27FC236}">
                <a16:creationId xmlns:a16="http://schemas.microsoft.com/office/drawing/2014/main" id="{5C4E80B6-C3EF-69AD-FD4F-C31AE6DB0C0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945889" y="5575341"/>
            <a:ext cx="1915712" cy="317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1">
                <a:solidFill>
                  <a:schemeClr val="accent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43" name="Espace réservé du texte 10">
            <a:extLst>
              <a:ext uri="{FF2B5EF4-FFF2-40B4-BE49-F238E27FC236}">
                <a16:creationId xmlns:a16="http://schemas.microsoft.com/office/drawing/2014/main" id="{0FBF36B6-61B8-3B2D-FF5D-8728901DCE6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945889" y="5992875"/>
            <a:ext cx="1915712" cy="31749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Rôle</a:t>
            </a:r>
          </a:p>
        </p:txBody>
      </p:sp>
      <p:sp>
        <p:nvSpPr>
          <p:cNvPr id="45" name="Espace réservé pour une image  44">
            <a:extLst>
              <a:ext uri="{FF2B5EF4-FFF2-40B4-BE49-F238E27FC236}">
                <a16:creationId xmlns:a16="http://schemas.microsoft.com/office/drawing/2014/main" id="{C5B8CF65-4727-21ED-4178-5DF4D80F03E5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1664588" y="4215201"/>
            <a:ext cx="1219200" cy="1219200"/>
          </a:xfrm>
          <a:prstGeom prst="ellipse">
            <a:avLst/>
          </a:prstGeom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/>
              <a:t>Insérez une image</a:t>
            </a:r>
          </a:p>
        </p:txBody>
      </p:sp>
      <p:sp>
        <p:nvSpPr>
          <p:cNvPr id="46" name="Espace réservé pour une image  44">
            <a:extLst>
              <a:ext uri="{FF2B5EF4-FFF2-40B4-BE49-F238E27FC236}">
                <a16:creationId xmlns:a16="http://schemas.microsoft.com/office/drawing/2014/main" id="{B9478C6C-B663-5083-F076-BB0C82B69CC4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4213824" y="4215201"/>
            <a:ext cx="1219200" cy="1219200"/>
          </a:xfrm>
          <a:prstGeom prst="ellipse">
            <a:avLst/>
          </a:prstGeom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/>
              <a:t>Insérez une image</a:t>
            </a:r>
          </a:p>
        </p:txBody>
      </p:sp>
      <p:sp>
        <p:nvSpPr>
          <p:cNvPr id="47" name="Espace réservé pour une image  44">
            <a:extLst>
              <a:ext uri="{FF2B5EF4-FFF2-40B4-BE49-F238E27FC236}">
                <a16:creationId xmlns:a16="http://schemas.microsoft.com/office/drawing/2014/main" id="{74396AAD-2217-4245-5769-3CD5D43224F5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753824" y="4215201"/>
            <a:ext cx="1219200" cy="1219200"/>
          </a:xfrm>
          <a:prstGeom prst="ellipse">
            <a:avLst/>
          </a:prstGeom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/>
              <a:t>Insérez une image</a:t>
            </a:r>
          </a:p>
        </p:txBody>
      </p:sp>
      <p:sp>
        <p:nvSpPr>
          <p:cNvPr id="48" name="Espace réservé pour une image  44">
            <a:extLst>
              <a:ext uri="{FF2B5EF4-FFF2-40B4-BE49-F238E27FC236}">
                <a16:creationId xmlns:a16="http://schemas.microsoft.com/office/drawing/2014/main" id="{45FF0A3C-46BD-260A-AFDF-C143183764DB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9293824" y="4215201"/>
            <a:ext cx="1219200" cy="1219200"/>
          </a:xfrm>
          <a:prstGeom prst="ellipse">
            <a:avLst/>
          </a:prstGeom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/>
              <a:t>Insérez une image</a:t>
            </a:r>
          </a:p>
        </p:txBody>
      </p:sp>
      <p:sp>
        <p:nvSpPr>
          <p:cNvPr id="49" name="Espace réservé pour une image  44">
            <a:extLst>
              <a:ext uri="{FF2B5EF4-FFF2-40B4-BE49-F238E27FC236}">
                <a16:creationId xmlns:a16="http://schemas.microsoft.com/office/drawing/2014/main" id="{D3F10F35-0C2F-36F6-8D01-5C90A08379A4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664588" y="1776556"/>
            <a:ext cx="1219200" cy="1219200"/>
          </a:xfrm>
          <a:prstGeom prst="ellipse">
            <a:avLst/>
          </a:prstGeom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/>
              <a:t>Insérez une image</a:t>
            </a:r>
          </a:p>
        </p:txBody>
      </p:sp>
      <p:sp>
        <p:nvSpPr>
          <p:cNvPr id="50" name="Espace réservé pour une image  44">
            <a:extLst>
              <a:ext uri="{FF2B5EF4-FFF2-40B4-BE49-F238E27FC236}">
                <a16:creationId xmlns:a16="http://schemas.microsoft.com/office/drawing/2014/main" id="{2673D2B1-6E06-D01C-C88C-A2D773A3DF6A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213824" y="1776556"/>
            <a:ext cx="1219200" cy="1219200"/>
          </a:xfrm>
          <a:prstGeom prst="ellipse">
            <a:avLst/>
          </a:prstGeom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/>
              <a:t>Insérez une image</a:t>
            </a:r>
          </a:p>
        </p:txBody>
      </p:sp>
      <p:sp>
        <p:nvSpPr>
          <p:cNvPr id="51" name="Espace réservé pour une image  44">
            <a:extLst>
              <a:ext uri="{FF2B5EF4-FFF2-40B4-BE49-F238E27FC236}">
                <a16:creationId xmlns:a16="http://schemas.microsoft.com/office/drawing/2014/main" id="{ADB24ED6-F9BA-AF04-0E2F-7774BD4F3CD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6753824" y="1776556"/>
            <a:ext cx="1219200" cy="1219200"/>
          </a:xfrm>
          <a:prstGeom prst="ellipse">
            <a:avLst/>
          </a:prstGeom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/>
              <a:t>Insérez une image</a:t>
            </a:r>
          </a:p>
        </p:txBody>
      </p:sp>
      <p:sp>
        <p:nvSpPr>
          <p:cNvPr id="52" name="Espace réservé pour une image  44">
            <a:extLst>
              <a:ext uri="{FF2B5EF4-FFF2-40B4-BE49-F238E27FC236}">
                <a16:creationId xmlns:a16="http://schemas.microsoft.com/office/drawing/2014/main" id="{5555D964-3E94-94D0-E08F-7307473118CB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9293824" y="1776556"/>
            <a:ext cx="1219200" cy="1219200"/>
          </a:xfrm>
          <a:prstGeom prst="ellipse">
            <a:avLst/>
          </a:prstGeom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/>
              <a:t>Insérez une image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56A123EC-5297-FA91-E86A-DBCE9617E4A1}"/>
              </a:ext>
            </a:extLst>
          </p:cNvPr>
          <p:cNvCxnSpPr>
            <a:cxnSpLocks/>
          </p:cNvCxnSpPr>
          <p:nvPr userDrawn="1"/>
        </p:nvCxnSpPr>
        <p:spPr>
          <a:xfrm>
            <a:off x="596107" y="6479692"/>
            <a:ext cx="1099978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D1A0D689-BA0B-8FDB-8996-3DAF642B38CB}"/>
              </a:ext>
            </a:extLst>
          </p:cNvPr>
          <p:cNvSpPr txBox="1"/>
          <p:nvPr userDrawn="1"/>
        </p:nvSpPr>
        <p:spPr>
          <a:xfrm>
            <a:off x="11283301" y="6552610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sp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/>
              <a:pPr lvl="0" algn="r"/>
              <a:t>‹N°›</a:t>
            </a:fld>
            <a:endParaRPr lang="fr-FR"/>
          </a:p>
        </p:txBody>
      </p:sp>
      <p:sp>
        <p:nvSpPr>
          <p:cNvPr id="13" name="Espace réservé du pied de page 9">
            <a:extLst>
              <a:ext uri="{FF2B5EF4-FFF2-40B4-BE49-F238E27FC236}">
                <a16:creationId xmlns:a16="http://schemas.microsoft.com/office/drawing/2014/main" id="{0F30FA4F-9EF6-FEEF-8617-43BE435F001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559535"/>
            <a:ext cx="4114800" cy="216982"/>
          </a:xfrm>
        </p:spPr>
        <p:txBody>
          <a:bodyPr anchor="ctr" anchorCtr="0">
            <a:spAutoFit/>
          </a:bodyPr>
          <a:lstStyle/>
          <a:p>
            <a:r>
              <a:rPr lang="fr-FR"/>
              <a:t>Confidentiel</a:t>
            </a:r>
          </a:p>
        </p:txBody>
      </p:sp>
      <p:pic>
        <p:nvPicPr>
          <p:cNvPr id="17" name="Image 3">
            <a:extLst>
              <a:ext uri="{FF2B5EF4-FFF2-40B4-BE49-F238E27FC236}">
                <a16:creationId xmlns:a16="http://schemas.microsoft.com/office/drawing/2014/main" id="{5A9463E3-D888-6823-5F74-146141F4591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pic>
        <p:nvPicPr>
          <p:cNvPr id="18" name="Image 3">
            <a:extLst>
              <a:ext uri="{FF2B5EF4-FFF2-40B4-BE49-F238E27FC236}">
                <a16:creationId xmlns:a16="http://schemas.microsoft.com/office/drawing/2014/main" id="{092BCE15-4767-4572-4297-254A484908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sp>
        <p:nvSpPr>
          <p:cNvPr id="21" name="Titre 20">
            <a:extLst>
              <a:ext uri="{FF2B5EF4-FFF2-40B4-BE49-F238E27FC236}">
                <a16:creationId xmlns:a16="http://schemas.microsoft.com/office/drawing/2014/main" id="{3874C391-18E4-8497-D595-E2BE66FBB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87890142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e VIS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ZoneTexte 52">
            <a:extLst>
              <a:ext uri="{FF2B5EF4-FFF2-40B4-BE49-F238E27FC236}">
                <a16:creationId xmlns:a16="http://schemas.microsoft.com/office/drawing/2014/main" id="{D474D3CF-AA1D-B975-CC4D-777D37F67294}"/>
              </a:ext>
            </a:extLst>
          </p:cNvPr>
          <p:cNvSpPr txBox="1"/>
          <p:nvPr/>
        </p:nvSpPr>
        <p:spPr>
          <a:xfrm>
            <a:off x="8261990" y="4662932"/>
            <a:ext cx="116773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544213">
              <a:lnSpc>
                <a:spcPct val="150000"/>
              </a:lnSpc>
            </a:pPr>
            <a:r>
              <a:rPr lang="en-US" sz="1000" b="1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IMAGINE</a:t>
            </a:r>
          </a:p>
          <a:p>
            <a:pPr algn="ctr" defTabSz="544213">
              <a:lnSpc>
                <a:spcPct val="150000"/>
              </a:lnSpc>
            </a:pPr>
            <a:endParaRPr lang="en-US" sz="10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ctr" defTabSz="544213"/>
            <a:r>
              <a:rPr lang="en-US" sz="10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Advisory
Ideation
Architecture 
</a:t>
            </a:r>
            <a:endParaRPr lang="en-US" sz="11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E49F29F2-62D4-D5B0-224D-BC30E05F6B17}"/>
              </a:ext>
            </a:extLst>
          </p:cNvPr>
          <p:cNvSpPr txBox="1"/>
          <p:nvPr/>
        </p:nvSpPr>
        <p:spPr>
          <a:xfrm>
            <a:off x="9298209" y="4662932"/>
            <a:ext cx="1237130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544213">
              <a:lnSpc>
                <a:spcPct val="150000"/>
              </a:lnSpc>
            </a:pPr>
            <a:r>
              <a:rPr lang="en-US" sz="1000" b="1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BUILD</a:t>
            </a:r>
          </a:p>
          <a:p>
            <a:pPr algn="ctr" defTabSz="544213">
              <a:lnSpc>
                <a:spcPct val="150000"/>
              </a:lnSpc>
            </a:pPr>
            <a:endParaRPr lang="en-US" sz="1200" baseline="300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ctr" defTabSz="544213"/>
            <a:r>
              <a:rPr lang="en-US" sz="10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Design 
Development
Implementation</a:t>
            </a:r>
          </a:p>
          <a:p>
            <a:pPr algn="ctr" defTabSz="544213"/>
            <a:r>
              <a:rPr lang="en-US" sz="10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Integration
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8F276EEA-251A-D409-CD46-BB2384272578}"/>
              </a:ext>
            </a:extLst>
          </p:cNvPr>
          <p:cNvSpPr txBox="1"/>
          <p:nvPr/>
        </p:nvSpPr>
        <p:spPr>
          <a:xfrm>
            <a:off x="10416905" y="4662932"/>
            <a:ext cx="1162897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544213">
              <a:lnSpc>
                <a:spcPct val="150000"/>
              </a:lnSpc>
            </a:pPr>
            <a:r>
              <a:rPr lang="en-US" sz="1000" b="1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PERFORM</a:t>
            </a:r>
          </a:p>
          <a:p>
            <a:pPr algn="ctr" defTabSz="544213">
              <a:lnSpc>
                <a:spcPct val="150000"/>
              </a:lnSpc>
            </a:pPr>
            <a:endParaRPr lang="en-US" sz="1100" baseline="300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ctr" defTabSz="544213"/>
            <a:r>
              <a:rPr lang="en-US" sz="10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Deployment
Change management
Maintenance &amp; monitoring
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C0D9AB4-C134-941A-B367-5C6BB0A83062}"/>
              </a:ext>
            </a:extLst>
          </p:cNvPr>
          <p:cNvSpPr/>
          <p:nvPr/>
        </p:nvSpPr>
        <p:spPr>
          <a:xfrm>
            <a:off x="8633237" y="4994030"/>
            <a:ext cx="425239" cy="4353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4213"/>
            <a:endParaRPr lang="en-US" sz="12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B717289-732D-08E5-F11C-C3F70F3AE433}"/>
              </a:ext>
            </a:extLst>
          </p:cNvPr>
          <p:cNvSpPr/>
          <p:nvPr/>
        </p:nvSpPr>
        <p:spPr>
          <a:xfrm>
            <a:off x="9704155" y="5001398"/>
            <a:ext cx="425239" cy="4353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4213"/>
            <a:endParaRPr lang="en-US" sz="12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B88B8D2-D387-3810-F6E7-2865963898F8}"/>
              </a:ext>
            </a:extLst>
          </p:cNvPr>
          <p:cNvSpPr/>
          <p:nvPr/>
        </p:nvSpPr>
        <p:spPr>
          <a:xfrm>
            <a:off x="10784407" y="4991565"/>
            <a:ext cx="425239" cy="4353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4213"/>
            <a:endParaRPr lang="en-US" sz="12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9CA750F4-25B7-69E5-43E6-E8BC39723FFF}"/>
              </a:ext>
            </a:extLst>
          </p:cNvPr>
          <p:cNvSpPr txBox="1"/>
          <p:nvPr/>
        </p:nvSpPr>
        <p:spPr>
          <a:xfrm>
            <a:off x="2508858" y="4697765"/>
            <a:ext cx="1445344" cy="1712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544213">
              <a:lnSpc>
                <a:spcPct val="150000"/>
              </a:lnSpc>
            </a:pPr>
            <a:r>
              <a:rPr lang="en-US" sz="900" b="1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DIGITAL </a:t>
            </a:r>
          </a:p>
          <a:p>
            <a:pPr algn="ctr" defTabSz="544213">
              <a:lnSpc>
                <a:spcPct val="150000"/>
              </a:lnSpc>
            </a:pPr>
            <a:r>
              <a:rPr lang="en-US" sz="900" b="1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TRANSFORMATION</a:t>
            </a:r>
          </a:p>
          <a:p>
            <a:pPr marL="0" lvl="1" algn="ctr" defTabSz="544213">
              <a:lnSpc>
                <a:spcPct val="150000"/>
              </a:lnSpc>
              <a:spcBef>
                <a:spcPct val="20000"/>
              </a:spcBef>
            </a:pPr>
            <a:endParaRPr lang="en-US" sz="9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lvl="1" algn="ctr" defTabSz="544213"/>
            <a:r>
              <a:rPr lang="en-US" sz="9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Reinvent your customer experience, distribution, offer or business model to meet new customer expectations 
</a:t>
            </a:r>
          </a:p>
        </p:txBody>
      </p:sp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7408A41C-D594-6F2F-7E89-CDC508301B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245" y="730049"/>
            <a:ext cx="11177364" cy="3128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A5DA34CD-DB3C-6E1E-5261-2DFC9603A0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29246" y="3142785"/>
            <a:ext cx="646664" cy="142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4823CC3B-EBB8-4386-286D-9C913512CA64}"/>
              </a:ext>
            </a:extLst>
          </p:cNvPr>
          <p:cNvSpPr/>
          <p:nvPr/>
        </p:nvSpPr>
        <p:spPr>
          <a:xfrm rot="20725521">
            <a:off x="4550324" y="4198210"/>
            <a:ext cx="3004226" cy="128672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algn="ctr"/>
            <a:endParaRPr lang="en-US" sz="14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54A4A26-77B5-87D3-699F-B77A4CAFBC9D}"/>
              </a:ext>
            </a:extLst>
          </p:cNvPr>
          <p:cNvSpPr txBox="1"/>
          <p:nvPr/>
        </p:nvSpPr>
        <p:spPr>
          <a:xfrm>
            <a:off x="605525" y="2592934"/>
            <a:ext cx="1410252" cy="719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544213"/>
            <a:r>
              <a:rPr lang="en-US" b="1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300 M€</a:t>
            </a:r>
          </a:p>
          <a:p>
            <a:pPr algn="ctr" defTabSz="544213">
              <a:lnSpc>
                <a:spcPct val="150000"/>
              </a:lnSpc>
            </a:pPr>
            <a:endParaRPr lang="en-US" sz="1050" b="1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ctr" defTabSz="544213"/>
            <a:r>
              <a:rPr lang="en-US" sz="7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2022 REVENUE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515DA12-52A7-D445-B154-F16241B6FF6D}"/>
              </a:ext>
            </a:extLst>
          </p:cNvPr>
          <p:cNvSpPr txBox="1"/>
          <p:nvPr/>
        </p:nvSpPr>
        <p:spPr>
          <a:xfrm>
            <a:off x="2520667" y="2592934"/>
            <a:ext cx="1421726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544213"/>
            <a:r>
              <a:rPr lang="en-US" b="1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2 700</a:t>
            </a:r>
          </a:p>
          <a:p>
            <a:pPr algn="ctr" defTabSz="544213"/>
            <a:endParaRPr lang="en-US" baseline="300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ctr" defTabSz="544213"/>
            <a:r>
              <a:rPr lang="en-US" sz="7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HEADCOUNT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1B8AF2-F733-A347-14A3-90B473C05E7C}"/>
              </a:ext>
            </a:extLst>
          </p:cNvPr>
          <p:cNvSpPr/>
          <p:nvPr/>
        </p:nvSpPr>
        <p:spPr>
          <a:xfrm>
            <a:off x="1098032" y="2949101"/>
            <a:ext cx="425239" cy="4353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4213"/>
            <a:endParaRPr lang="en-US" sz="12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2B4259D3-6062-B4C6-F790-E0DBDC8119C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52658" y="2568420"/>
            <a:ext cx="599841" cy="314917"/>
          </a:xfrm>
          <a:prstGeom prst="rect">
            <a:avLst/>
          </a:prstGeom>
        </p:spPr>
      </p:pic>
      <p:pic>
        <p:nvPicPr>
          <p:cNvPr id="12" name="Picture 5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125E0E77-8336-B8E2-26E1-71B0298BFC2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64525" y="1917253"/>
            <a:ext cx="704499" cy="468812"/>
          </a:xfrm>
          <a:prstGeom prst="rect">
            <a:avLst/>
          </a:prstGeom>
        </p:spPr>
      </p:pic>
      <p:pic>
        <p:nvPicPr>
          <p:cNvPr id="14" name="Picture 2" descr="Image result for microsoft azure">
            <a:extLst>
              <a:ext uri="{FF2B5EF4-FFF2-40B4-BE49-F238E27FC236}">
                <a16:creationId xmlns:a16="http://schemas.microsoft.com/office/drawing/2014/main" id="{78220938-8488-4334-ACFC-F1A7709C03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09458" y="2572219"/>
            <a:ext cx="614633" cy="307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358B6C7-8161-42B0-8CEF-53E83AF5B2FF}"/>
              </a:ext>
            </a:extLst>
          </p:cNvPr>
          <p:cNvSpPr/>
          <p:nvPr/>
        </p:nvSpPr>
        <p:spPr>
          <a:xfrm>
            <a:off x="3018911" y="2948754"/>
            <a:ext cx="425239" cy="4353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4213"/>
            <a:endParaRPr lang="en-US" sz="12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1F07EBD-5F56-936D-39B2-4DAB784E6939}"/>
              </a:ext>
            </a:extLst>
          </p:cNvPr>
          <p:cNvSpPr txBox="1"/>
          <p:nvPr/>
        </p:nvSpPr>
        <p:spPr>
          <a:xfrm>
            <a:off x="605525" y="4699887"/>
            <a:ext cx="1410252" cy="1546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544213">
              <a:lnSpc>
                <a:spcPct val="150000"/>
              </a:lnSpc>
            </a:pPr>
            <a:r>
              <a:rPr lang="en-US" sz="900" b="1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DIGITAL </a:t>
            </a:r>
          </a:p>
          <a:p>
            <a:pPr algn="ctr" defTabSz="544213">
              <a:lnSpc>
                <a:spcPct val="150000"/>
              </a:lnSpc>
            </a:pPr>
            <a:r>
              <a:rPr lang="en-US" sz="900" b="1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OPTIMIZATION</a:t>
            </a:r>
          </a:p>
          <a:p>
            <a:pPr algn="ctr" defTabSz="544213">
              <a:lnSpc>
                <a:spcPct val="150000"/>
              </a:lnSpc>
            </a:pPr>
            <a:endParaRPr lang="en-US" sz="9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lvl="1" algn="ctr" defTabSz="544213"/>
            <a:r>
              <a:rPr lang="en-US" sz="9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Make your business more resilient, more efficient and able to win digital competition
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3C8FA2F-30C3-4911-B996-1337EAA613DB}"/>
              </a:ext>
            </a:extLst>
          </p:cNvPr>
          <p:cNvSpPr/>
          <p:nvPr/>
        </p:nvSpPr>
        <p:spPr>
          <a:xfrm>
            <a:off x="1098032" y="5186080"/>
            <a:ext cx="425239" cy="4353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4213"/>
            <a:endParaRPr lang="en-US" sz="12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98EE963-F232-9B7F-9FE8-F97B079A981B}"/>
              </a:ext>
            </a:extLst>
          </p:cNvPr>
          <p:cNvSpPr/>
          <p:nvPr/>
        </p:nvSpPr>
        <p:spPr>
          <a:xfrm>
            <a:off x="3018911" y="5186080"/>
            <a:ext cx="425239" cy="4353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4213"/>
            <a:endParaRPr lang="en-US" sz="12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83AB7B71-519F-2B7D-50A0-D4B7BB21AE81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2480" y="1952251"/>
            <a:ext cx="2747040" cy="1386525"/>
          </a:xfrm>
          <a:prstGeom prst="rect">
            <a:avLst/>
          </a:prstGeom>
        </p:spPr>
      </p:pic>
      <p:pic>
        <p:nvPicPr>
          <p:cNvPr id="20" name="Graphique 19" descr="Repère">
            <a:extLst>
              <a:ext uri="{FF2B5EF4-FFF2-40B4-BE49-F238E27FC236}">
                <a16:creationId xmlns:a16="http://schemas.microsoft.com/office/drawing/2014/main" id="{FE7CC943-DD9C-6845-9D01-EBFA50FDEE53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65491" y="2411405"/>
            <a:ext cx="98888" cy="93094"/>
          </a:xfrm>
          <a:prstGeom prst="rect">
            <a:avLst/>
          </a:prstGeom>
        </p:spPr>
      </p:pic>
      <p:grpSp>
        <p:nvGrpSpPr>
          <p:cNvPr id="21" name="Groupe 20">
            <a:extLst>
              <a:ext uri="{FF2B5EF4-FFF2-40B4-BE49-F238E27FC236}">
                <a16:creationId xmlns:a16="http://schemas.microsoft.com/office/drawing/2014/main" id="{AEADC8BE-DFC0-F1A5-E908-B6F06F0781ED}"/>
              </a:ext>
            </a:extLst>
          </p:cNvPr>
          <p:cNvGrpSpPr/>
          <p:nvPr/>
        </p:nvGrpSpPr>
        <p:grpSpPr>
          <a:xfrm>
            <a:off x="5528571" y="1931667"/>
            <a:ext cx="682696" cy="642692"/>
            <a:chOff x="-3696571" y="1356702"/>
            <a:chExt cx="2768600" cy="2768600"/>
          </a:xfrm>
        </p:grpSpPr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273246B8-E619-26B5-36AE-F013D7E206A7}"/>
                </a:ext>
              </a:extLst>
            </p:cNvPr>
            <p:cNvSpPr/>
            <p:nvPr/>
          </p:nvSpPr>
          <p:spPr>
            <a:xfrm>
              <a:off x="-3696571" y="1356702"/>
              <a:ext cx="2768600" cy="2768600"/>
            </a:xfrm>
            <a:prstGeom prst="ellipse">
              <a:avLst/>
            </a:prstGeom>
            <a:solidFill>
              <a:schemeClr val="bg1"/>
            </a:solidFill>
            <a:ln w="12700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pic>
          <p:nvPicPr>
            <p:cNvPr id="23" name="Image 22">
              <a:extLst>
                <a:ext uri="{FF2B5EF4-FFF2-40B4-BE49-F238E27FC236}">
                  <a16:creationId xmlns:a16="http://schemas.microsoft.com/office/drawing/2014/main" id="{5E537737-3C2E-CBFC-BB79-ACAC3E1A07F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44766" t="30878" r="48771" b="57067"/>
            <a:stretch>
              <a:fillRect/>
            </a:stretch>
          </p:blipFill>
          <p:spPr>
            <a:xfrm>
              <a:off x="-3696571" y="1356702"/>
              <a:ext cx="2768600" cy="2768600"/>
            </a:xfrm>
            <a:custGeom>
              <a:avLst/>
              <a:gdLst>
                <a:gd name="connsiteX0" fmla="*/ 360000 w 720000"/>
                <a:gd name="connsiteY0" fmla="*/ 0 h 720000"/>
                <a:gd name="connsiteX1" fmla="*/ 720000 w 720000"/>
                <a:gd name="connsiteY1" fmla="*/ 360000 h 720000"/>
                <a:gd name="connsiteX2" fmla="*/ 360000 w 720000"/>
                <a:gd name="connsiteY2" fmla="*/ 720000 h 720000"/>
                <a:gd name="connsiteX3" fmla="*/ 0 w 720000"/>
                <a:gd name="connsiteY3" fmla="*/ 360000 h 720000"/>
                <a:gd name="connsiteX4" fmla="*/ 360000 w 720000"/>
                <a:gd name="connsiteY4" fmla="*/ 0 h 72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0000" h="720000">
                  <a:moveTo>
                    <a:pt x="360000" y="0"/>
                  </a:moveTo>
                  <a:cubicBezTo>
                    <a:pt x="558823" y="0"/>
                    <a:pt x="720000" y="161177"/>
                    <a:pt x="720000" y="360000"/>
                  </a:cubicBezTo>
                  <a:cubicBezTo>
                    <a:pt x="720000" y="558823"/>
                    <a:pt x="558823" y="720000"/>
                    <a:pt x="360000" y="720000"/>
                  </a:cubicBezTo>
                  <a:cubicBezTo>
                    <a:pt x="161177" y="720000"/>
                    <a:pt x="0" y="558823"/>
                    <a:pt x="0" y="360000"/>
                  </a:cubicBezTo>
                  <a:cubicBezTo>
                    <a:pt x="0" y="161177"/>
                    <a:pt x="161177" y="0"/>
                    <a:pt x="360000" y="0"/>
                  </a:cubicBezTo>
                  <a:close/>
                </a:path>
              </a:pathLst>
            </a:custGeom>
            <a:noFill/>
            <a:ln>
              <a:noFill/>
            </a:ln>
            <a:effectLst/>
          </p:spPr>
        </p:pic>
      </p:grpSp>
      <p:pic>
        <p:nvPicPr>
          <p:cNvPr id="24" name="Graphique 23" descr="Repère">
            <a:extLst>
              <a:ext uri="{FF2B5EF4-FFF2-40B4-BE49-F238E27FC236}">
                <a16:creationId xmlns:a16="http://schemas.microsoft.com/office/drawing/2014/main" id="{13B38997-DA1C-C7DD-0F65-7D702C5EAC3D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57147" y="1989598"/>
            <a:ext cx="104654" cy="98522"/>
          </a:xfrm>
          <a:prstGeom prst="rect">
            <a:avLst/>
          </a:prstGeom>
        </p:spPr>
      </p:pic>
      <p:pic>
        <p:nvPicPr>
          <p:cNvPr id="25" name="Graphique 24" descr="Repère">
            <a:extLst>
              <a:ext uri="{FF2B5EF4-FFF2-40B4-BE49-F238E27FC236}">
                <a16:creationId xmlns:a16="http://schemas.microsoft.com/office/drawing/2014/main" id="{129D43B0-FBB8-BF9B-F682-09BD3E4E63AE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79934" y="2000831"/>
            <a:ext cx="104654" cy="98522"/>
          </a:xfrm>
          <a:prstGeom prst="rect">
            <a:avLst/>
          </a:prstGeom>
        </p:spPr>
      </p:pic>
      <p:pic>
        <p:nvPicPr>
          <p:cNvPr id="26" name="Graphique 25" descr="Repère">
            <a:extLst>
              <a:ext uri="{FF2B5EF4-FFF2-40B4-BE49-F238E27FC236}">
                <a16:creationId xmlns:a16="http://schemas.microsoft.com/office/drawing/2014/main" id="{F3F6D81D-7515-00B9-0472-ED2023D236B4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10204" y="2194697"/>
            <a:ext cx="104654" cy="98522"/>
          </a:xfrm>
          <a:prstGeom prst="rect">
            <a:avLst/>
          </a:prstGeom>
        </p:spPr>
      </p:pic>
      <p:pic>
        <p:nvPicPr>
          <p:cNvPr id="27" name="Graphique 26" descr="Repère">
            <a:extLst>
              <a:ext uri="{FF2B5EF4-FFF2-40B4-BE49-F238E27FC236}">
                <a16:creationId xmlns:a16="http://schemas.microsoft.com/office/drawing/2014/main" id="{3048EF52-488F-D9B1-0CE1-33F984491FAB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38617" y="2106735"/>
            <a:ext cx="104654" cy="98522"/>
          </a:xfrm>
          <a:prstGeom prst="rect">
            <a:avLst/>
          </a:prstGeom>
        </p:spPr>
      </p:pic>
      <p:pic>
        <p:nvPicPr>
          <p:cNvPr id="28" name="Graphique 27" descr="Repère">
            <a:extLst>
              <a:ext uri="{FF2B5EF4-FFF2-40B4-BE49-F238E27FC236}">
                <a16:creationId xmlns:a16="http://schemas.microsoft.com/office/drawing/2014/main" id="{5A0000A1-90EE-7433-D8D8-C6484418688C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70853" y="2124005"/>
            <a:ext cx="104654" cy="98522"/>
          </a:xfrm>
          <a:prstGeom prst="rect">
            <a:avLst/>
          </a:prstGeom>
        </p:spPr>
      </p:pic>
      <p:pic>
        <p:nvPicPr>
          <p:cNvPr id="29" name="Graphique 28" descr="Repère">
            <a:extLst>
              <a:ext uri="{FF2B5EF4-FFF2-40B4-BE49-F238E27FC236}">
                <a16:creationId xmlns:a16="http://schemas.microsoft.com/office/drawing/2014/main" id="{1A689664-F567-E3E8-A44D-D9E5CE7B67FE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53934" y="2187551"/>
            <a:ext cx="104654" cy="98522"/>
          </a:xfrm>
          <a:prstGeom prst="rect">
            <a:avLst/>
          </a:prstGeom>
        </p:spPr>
      </p:pic>
      <p:pic>
        <p:nvPicPr>
          <p:cNvPr id="30" name="Graphique 29" descr="Repère">
            <a:extLst>
              <a:ext uri="{FF2B5EF4-FFF2-40B4-BE49-F238E27FC236}">
                <a16:creationId xmlns:a16="http://schemas.microsoft.com/office/drawing/2014/main" id="{9DBDB8A9-300E-9DAD-3BB9-6E307495665C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47784" y="2264279"/>
            <a:ext cx="104654" cy="98522"/>
          </a:xfrm>
          <a:prstGeom prst="rect">
            <a:avLst/>
          </a:prstGeom>
        </p:spPr>
      </p:pic>
      <p:pic>
        <p:nvPicPr>
          <p:cNvPr id="31" name="Graphique 30" descr="Repère">
            <a:extLst>
              <a:ext uri="{FF2B5EF4-FFF2-40B4-BE49-F238E27FC236}">
                <a16:creationId xmlns:a16="http://schemas.microsoft.com/office/drawing/2014/main" id="{560DC012-7035-3C0E-645B-A78FA3E732EB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76984" y="2309716"/>
            <a:ext cx="104654" cy="98522"/>
          </a:xfrm>
          <a:prstGeom prst="rect">
            <a:avLst/>
          </a:prstGeom>
        </p:spPr>
      </p:pic>
      <p:pic>
        <p:nvPicPr>
          <p:cNvPr id="32" name="Graphique 31" descr="Repère">
            <a:extLst>
              <a:ext uri="{FF2B5EF4-FFF2-40B4-BE49-F238E27FC236}">
                <a16:creationId xmlns:a16="http://schemas.microsoft.com/office/drawing/2014/main" id="{F81B6233-0A39-C785-E6C5-2DDE4FB648F0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32415" y="2522333"/>
            <a:ext cx="98888" cy="93094"/>
          </a:xfrm>
          <a:prstGeom prst="rect">
            <a:avLst/>
          </a:prstGeom>
        </p:spPr>
      </p:pic>
      <p:pic>
        <p:nvPicPr>
          <p:cNvPr id="33" name="Graphique 32" descr="Repère">
            <a:extLst>
              <a:ext uri="{FF2B5EF4-FFF2-40B4-BE49-F238E27FC236}">
                <a16:creationId xmlns:a16="http://schemas.microsoft.com/office/drawing/2014/main" id="{2E8D4DDC-6B4D-CA45-C8D5-D2249F98D6C9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81073" y="2737784"/>
            <a:ext cx="98888" cy="93094"/>
          </a:xfrm>
          <a:prstGeom prst="rect">
            <a:avLst/>
          </a:prstGeom>
        </p:spPr>
      </p:pic>
      <p:pic>
        <p:nvPicPr>
          <p:cNvPr id="34" name="Graphique 33" descr="Repère">
            <a:extLst>
              <a:ext uri="{FF2B5EF4-FFF2-40B4-BE49-F238E27FC236}">
                <a16:creationId xmlns:a16="http://schemas.microsoft.com/office/drawing/2014/main" id="{7E3085B1-DCB0-B764-DBF8-18B01085F4ED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27651" y="2668538"/>
            <a:ext cx="98888" cy="93094"/>
          </a:xfrm>
          <a:prstGeom prst="rect">
            <a:avLst/>
          </a:prstGeom>
        </p:spPr>
      </p:pic>
      <p:pic>
        <p:nvPicPr>
          <p:cNvPr id="35" name="Graphique 34" descr="Repère">
            <a:extLst>
              <a:ext uri="{FF2B5EF4-FFF2-40B4-BE49-F238E27FC236}">
                <a16:creationId xmlns:a16="http://schemas.microsoft.com/office/drawing/2014/main" id="{75E79F64-5568-64C5-83C4-E2F3D4F881FA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65850" y="2568880"/>
            <a:ext cx="98888" cy="93094"/>
          </a:xfrm>
          <a:prstGeom prst="rect">
            <a:avLst/>
          </a:prstGeom>
        </p:spPr>
      </p:pic>
      <p:pic>
        <p:nvPicPr>
          <p:cNvPr id="36" name="Graphique 35" descr="Repère">
            <a:extLst>
              <a:ext uri="{FF2B5EF4-FFF2-40B4-BE49-F238E27FC236}">
                <a16:creationId xmlns:a16="http://schemas.microsoft.com/office/drawing/2014/main" id="{770EF5E4-132F-55D4-906D-1553C469E0AC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31092" y="3016150"/>
            <a:ext cx="98888" cy="93094"/>
          </a:xfrm>
          <a:prstGeom prst="rect">
            <a:avLst/>
          </a:prstGeom>
        </p:spPr>
      </p:pic>
      <p:pic>
        <p:nvPicPr>
          <p:cNvPr id="37" name="Graphique 36" descr="Repère">
            <a:extLst>
              <a:ext uri="{FF2B5EF4-FFF2-40B4-BE49-F238E27FC236}">
                <a16:creationId xmlns:a16="http://schemas.microsoft.com/office/drawing/2014/main" id="{FF64F579-861D-DD0B-251A-34969CE48CB1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45368" y="2805354"/>
            <a:ext cx="98888" cy="93094"/>
          </a:xfrm>
          <a:prstGeom prst="rect">
            <a:avLst/>
          </a:prstGeom>
        </p:spPr>
      </p:pic>
      <p:pic>
        <p:nvPicPr>
          <p:cNvPr id="38" name="Graphique 37" descr="Repère">
            <a:extLst>
              <a:ext uri="{FF2B5EF4-FFF2-40B4-BE49-F238E27FC236}">
                <a16:creationId xmlns:a16="http://schemas.microsoft.com/office/drawing/2014/main" id="{35006E11-0111-DC61-4598-A9F0B9BE21A7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91315" y="2605730"/>
            <a:ext cx="98888" cy="93094"/>
          </a:xfrm>
          <a:prstGeom prst="rect">
            <a:avLst/>
          </a:prstGeom>
        </p:spPr>
      </p:pic>
      <p:pic>
        <p:nvPicPr>
          <p:cNvPr id="39" name="Graphique 38" descr="Repère">
            <a:extLst>
              <a:ext uri="{FF2B5EF4-FFF2-40B4-BE49-F238E27FC236}">
                <a16:creationId xmlns:a16="http://schemas.microsoft.com/office/drawing/2014/main" id="{F039D916-30C5-E203-C6D6-307DD0A1FFBE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23378" y="2680174"/>
            <a:ext cx="98888" cy="93094"/>
          </a:xfrm>
          <a:prstGeom prst="rect">
            <a:avLst/>
          </a:prstGeom>
        </p:spPr>
      </p:pic>
      <p:pic>
        <p:nvPicPr>
          <p:cNvPr id="40" name="Graphique 39" descr="Repère">
            <a:extLst>
              <a:ext uri="{FF2B5EF4-FFF2-40B4-BE49-F238E27FC236}">
                <a16:creationId xmlns:a16="http://schemas.microsoft.com/office/drawing/2014/main" id="{EE147828-6506-8648-B2D3-05CBE63057B4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82948" y="2660221"/>
            <a:ext cx="98888" cy="93094"/>
          </a:xfrm>
          <a:prstGeom prst="rect">
            <a:avLst/>
          </a:prstGeom>
        </p:spPr>
      </p:pic>
      <p:pic>
        <p:nvPicPr>
          <p:cNvPr id="41" name="Graphique 40" descr="Repère">
            <a:extLst>
              <a:ext uri="{FF2B5EF4-FFF2-40B4-BE49-F238E27FC236}">
                <a16:creationId xmlns:a16="http://schemas.microsoft.com/office/drawing/2014/main" id="{39BD0718-588F-07C4-12D5-BEC48982BEEC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20783" y="2050359"/>
            <a:ext cx="104655" cy="98522"/>
          </a:xfrm>
          <a:prstGeom prst="rect">
            <a:avLst/>
          </a:prstGeom>
        </p:spPr>
      </p:pic>
      <p:pic>
        <p:nvPicPr>
          <p:cNvPr id="42" name="Graphique 41" descr="Repère">
            <a:extLst>
              <a:ext uri="{FF2B5EF4-FFF2-40B4-BE49-F238E27FC236}">
                <a16:creationId xmlns:a16="http://schemas.microsoft.com/office/drawing/2014/main" id="{1C511C84-24F0-863C-B9DC-30EDC58C3B1C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94416" y="3057987"/>
            <a:ext cx="98889" cy="93094"/>
          </a:xfrm>
          <a:prstGeom prst="rect">
            <a:avLst/>
          </a:prstGeom>
        </p:spPr>
      </p:pic>
      <p:pic>
        <p:nvPicPr>
          <p:cNvPr id="43" name="Graphique 42" descr="Repère">
            <a:extLst>
              <a:ext uri="{FF2B5EF4-FFF2-40B4-BE49-F238E27FC236}">
                <a16:creationId xmlns:a16="http://schemas.microsoft.com/office/drawing/2014/main" id="{E101F249-D83F-964A-4B5E-4A7F44FBC64A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84888" y="2408238"/>
            <a:ext cx="104654" cy="98522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1736556A-A3E6-A3E6-D5ED-0A03B2E611AB}"/>
              </a:ext>
            </a:extLst>
          </p:cNvPr>
          <p:cNvSpPr/>
          <p:nvPr/>
        </p:nvSpPr>
        <p:spPr>
          <a:xfrm>
            <a:off x="5149582" y="1508987"/>
            <a:ext cx="188770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050" b="1" u="sng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 global footprint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0D92E55-1355-94E1-F355-5A90661670B3}"/>
              </a:ext>
            </a:extLst>
          </p:cNvPr>
          <p:cNvSpPr/>
          <p:nvPr/>
        </p:nvSpPr>
        <p:spPr>
          <a:xfrm>
            <a:off x="8248376" y="1349476"/>
            <a:ext cx="3336797" cy="415498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algn="ctr"/>
            <a:r>
              <a:rPr lang="en-US" sz="1050" b="1" u="sng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Partnerships with leading vendors in the digital transformation of companies 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C42E2D7-759F-F923-B6F6-E87FECE0988D}"/>
              </a:ext>
            </a:extLst>
          </p:cNvPr>
          <p:cNvSpPr/>
          <p:nvPr/>
        </p:nvSpPr>
        <p:spPr>
          <a:xfrm>
            <a:off x="6270275" y="5157762"/>
            <a:ext cx="1534025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000" b="1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DESIGN &amp; DEVELOPMENT</a:t>
            </a:r>
          </a:p>
          <a:p>
            <a:pPr algn="r"/>
            <a:r>
              <a:rPr lang="en-US" sz="7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Initiating and scaling innovation through digital 
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64E3014-C386-27DF-1CF5-BF1E3A026D2E}"/>
              </a:ext>
            </a:extLst>
          </p:cNvPr>
          <p:cNvSpPr/>
          <p:nvPr/>
        </p:nvSpPr>
        <p:spPr>
          <a:xfrm>
            <a:off x="4651441" y="5762254"/>
            <a:ext cx="28180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b="1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DATA &amp; ANALYTICS</a:t>
            </a:r>
          </a:p>
          <a:p>
            <a:r>
              <a:rPr lang="en-US" sz="7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Implement smart business and data-driven strategies
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DC5DF2E-5BBB-D4E8-EAA8-1E249D4BFD46}"/>
              </a:ext>
            </a:extLst>
          </p:cNvPr>
          <p:cNvSpPr/>
          <p:nvPr/>
        </p:nvSpPr>
        <p:spPr>
          <a:xfrm>
            <a:off x="4952822" y="4667446"/>
            <a:ext cx="1705269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b="1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BUSINESS APPLICATIONS</a:t>
            </a:r>
          </a:p>
          <a:p>
            <a:r>
              <a:rPr lang="en-US" sz="7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Accompanying the digitalization of your lines of business 
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659B2AC-051F-75D4-2150-9E4B21C4B4B1}"/>
              </a:ext>
            </a:extLst>
          </p:cNvPr>
          <p:cNvSpPr/>
          <p:nvPr/>
        </p:nvSpPr>
        <p:spPr>
          <a:xfrm>
            <a:off x="4513915" y="3885311"/>
            <a:ext cx="2053688" cy="7232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r"/>
            <a:r>
              <a:rPr lang="en-US" sz="1000" b="1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INTELLIGENT ERP </a:t>
            </a:r>
          </a:p>
          <a:p>
            <a:pPr algn="r"/>
            <a:r>
              <a:rPr lang="en-US" sz="1000" b="1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&amp; CORE PLATFORMS</a:t>
            </a:r>
          </a:p>
          <a:p>
            <a:pPr algn="r"/>
            <a:r>
              <a:rPr lang="en-US" sz="7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Deploying next-gen ERPs and enterprise platforms 
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DD1283C-04B7-81CE-CD69-BF5882637CFF}"/>
              </a:ext>
            </a:extLst>
          </p:cNvPr>
          <p:cNvSpPr/>
          <p:nvPr/>
        </p:nvSpPr>
        <p:spPr>
          <a:xfrm>
            <a:off x="690735" y="1509503"/>
            <a:ext cx="3165384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050" b="1" u="sng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An independent and solid company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24880C0-3C92-46E8-0DAB-2592733B6D75}"/>
              </a:ext>
            </a:extLst>
          </p:cNvPr>
          <p:cNvSpPr/>
          <p:nvPr/>
        </p:nvSpPr>
        <p:spPr>
          <a:xfrm>
            <a:off x="797998" y="3361169"/>
            <a:ext cx="2933032" cy="415498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algn="ctr"/>
            <a:endParaRPr lang="en-US" sz="1050" b="1" u="sng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ctr"/>
            <a:r>
              <a:rPr lang="en-US" sz="1050" b="1" u="sng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At the heart of digital strategies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55CBF2D-66BC-30B3-E3B8-8410B6CB00F1}"/>
              </a:ext>
            </a:extLst>
          </p:cNvPr>
          <p:cNvSpPr/>
          <p:nvPr/>
        </p:nvSpPr>
        <p:spPr>
          <a:xfrm>
            <a:off x="4490037" y="3361169"/>
            <a:ext cx="3212127" cy="415498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algn="ctr"/>
            <a:endParaRPr lang="en-US" sz="1050" b="1" u="sng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ctr"/>
            <a:r>
              <a:rPr lang="en-US" sz="1050" b="1" u="sng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Global expertise on application services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28A7A00-A840-8EAC-3603-4B8FF90BD226}"/>
              </a:ext>
            </a:extLst>
          </p:cNvPr>
          <p:cNvSpPr/>
          <p:nvPr/>
        </p:nvSpPr>
        <p:spPr>
          <a:xfrm>
            <a:off x="8310711" y="3361169"/>
            <a:ext cx="3212127" cy="415498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algn="ctr"/>
            <a:endParaRPr lang="en-US" sz="1050" b="1" u="sng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ctr"/>
            <a:r>
              <a:rPr lang="en-US" sz="1050" b="1" u="sng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End to end support</a:t>
            </a:r>
          </a:p>
        </p:txBody>
      </p:sp>
      <p:pic>
        <p:nvPicPr>
          <p:cNvPr id="60" name="Graphique 59" descr="Repère">
            <a:extLst>
              <a:ext uri="{FF2B5EF4-FFF2-40B4-BE49-F238E27FC236}">
                <a16:creationId xmlns:a16="http://schemas.microsoft.com/office/drawing/2014/main" id="{73401013-8F64-ACB4-E704-9276DD634252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00933" y="2957968"/>
            <a:ext cx="98889" cy="93094"/>
          </a:xfrm>
          <a:prstGeom prst="rect">
            <a:avLst/>
          </a:prstGeom>
        </p:spPr>
      </p:pic>
      <p:pic>
        <p:nvPicPr>
          <p:cNvPr id="61" name="Image 60" descr="Une image contenant texte&#10;&#10;Description générée automatiquement">
            <a:extLst>
              <a:ext uri="{FF2B5EF4-FFF2-40B4-BE49-F238E27FC236}">
                <a16:creationId xmlns:a16="http://schemas.microsoft.com/office/drawing/2014/main" id="{51FBB58F-77F6-AA4F-0A04-E5B7D1FCEE88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76021" y="1918262"/>
            <a:ext cx="442010" cy="466795"/>
          </a:xfrm>
          <a:prstGeom prst="rect">
            <a:avLst/>
          </a:prstGeom>
        </p:spPr>
      </p:pic>
      <p:pic>
        <p:nvPicPr>
          <p:cNvPr id="62" name="Image 61">
            <a:extLst>
              <a:ext uri="{FF2B5EF4-FFF2-40B4-BE49-F238E27FC236}">
                <a16:creationId xmlns:a16="http://schemas.microsoft.com/office/drawing/2014/main" id="{EE6C23D5-9277-CF55-ECD9-A4748EA29F33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62548" y="1981403"/>
            <a:ext cx="580060" cy="340513"/>
          </a:xfrm>
          <a:prstGeom prst="rect">
            <a:avLst/>
          </a:prstGeom>
        </p:spPr>
      </p:pic>
      <p:pic>
        <p:nvPicPr>
          <p:cNvPr id="63" name="Image 62">
            <a:extLst>
              <a:ext uri="{FF2B5EF4-FFF2-40B4-BE49-F238E27FC236}">
                <a16:creationId xmlns:a16="http://schemas.microsoft.com/office/drawing/2014/main" id="{609F07BF-96DE-20F0-0E8D-24E7ABEAF0C6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17548" y="3158864"/>
            <a:ext cx="758956" cy="110565"/>
          </a:xfrm>
          <a:prstGeom prst="rect">
            <a:avLst/>
          </a:prstGeom>
        </p:spPr>
      </p:pic>
      <p:pic>
        <p:nvPicPr>
          <p:cNvPr id="64" name="Graphique 63">
            <a:extLst>
              <a:ext uri="{FF2B5EF4-FFF2-40B4-BE49-F238E27FC236}">
                <a16:creationId xmlns:a16="http://schemas.microsoft.com/office/drawing/2014/main" id="{0CBACA7C-68D1-6871-86CC-6B6EFA06BF80}"/>
              </a:ext>
            </a:extLst>
          </p:cNvPr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655486" y="3165155"/>
            <a:ext cx="522576" cy="97983"/>
          </a:xfrm>
          <a:prstGeom prst="rect">
            <a:avLst/>
          </a:prstGeom>
        </p:spPr>
      </p:pic>
      <p:sp>
        <p:nvSpPr>
          <p:cNvPr id="65" name="Rectangle 64">
            <a:extLst>
              <a:ext uri="{FF2B5EF4-FFF2-40B4-BE49-F238E27FC236}">
                <a16:creationId xmlns:a16="http://schemas.microsoft.com/office/drawing/2014/main" id="{55C502D2-960B-D3A2-F388-0376BB7B86B1}"/>
              </a:ext>
            </a:extLst>
          </p:cNvPr>
          <p:cNvSpPr/>
          <p:nvPr/>
        </p:nvSpPr>
        <p:spPr>
          <a:xfrm>
            <a:off x="4185488" y="2392857"/>
            <a:ext cx="4355" cy="2652077"/>
          </a:xfrm>
          <a:prstGeom prst="rect">
            <a:avLst/>
          </a:prstGeom>
          <a:solidFill>
            <a:srgbClr val="DBDCED"/>
          </a:solidFill>
          <a:ln>
            <a:solidFill>
              <a:srgbClr val="DBDC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4213"/>
            <a:endParaRPr lang="fr-FR">
              <a:ln>
                <a:solidFill>
                  <a:srgbClr val="DBDCED"/>
                </a:solidFill>
              </a:ln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921F54F-15A2-2FD1-3B8F-6462DE73D101}"/>
              </a:ext>
            </a:extLst>
          </p:cNvPr>
          <p:cNvSpPr/>
          <p:nvPr/>
        </p:nvSpPr>
        <p:spPr>
          <a:xfrm>
            <a:off x="8015039" y="2392857"/>
            <a:ext cx="4355" cy="2652077"/>
          </a:xfrm>
          <a:prstGeom prst="rect">
            <a:avLst/>
          </a:prstGeom>
          <a:solidFill>
            <a:srgbClr val="DBDCED"/>
          </a:solidFill>
          <a:ln>
            <a:solidFill>
              <a:srgbClr val="DBDC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4213"/>
            <a:endParaRPr lang="fr-FR">
              <a:ln>
                <a:solidFill>
                  <a:srgbClr val="DBDCED"/>
                </a:solidFill>
              </a:ln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67" name="Graphique 66" descr="Pièces contour">
            <a:extLst>
              <a:ext uri="{FF2B5EF4-FFF2-40B4-BE49-F238E27FC236}">
                <a16:creationId xmlns:a16="http://schemas.microsoft.com/office/drawing/2014/main" id="{0A43F353-8BA6-2F7D-CE50-5FFA71B738C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97365" y="1899678"/>
            <a:ext cx="626572" cy="626572"/>
          </a:xfrm>
          <a:prstGeom prst="rect">
            <a:avLst/>
          </a:prstGeom>
        </p:spPr>
      </p:pic>
      <p:pic>
        <p:nvPicPr>
          <p:cNvPr id="68" name="Graphique 67" descr="Badge d'employé contour">
            <a:extLst>
              <a:ext uri="{FF2B5EF4-FFF2-40B4-BE49-F238E27FC236}">
                <a16:creationId xmlns:a16="http://schemas.microsoft.com/office/drawing/2014/main" id="{AB4D9BD9-8410-44E4-14B2-2EDC3201F1C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2918244" y="1899678"/>
            <a:ext cx="626572" cy="626572"/>
          </a:xfrm>
          <a:prstGeom prst="rect">
            <a:avLst/>
          </a:prstGeom>
        </p:spPr>
      </p:pic>
      <p:pic>
        <p:nvPicPr>
          <p:cNvPr id="69" name="Graphique 68" descr="Jauge contour">
            <a:extLst>
              <a:ext uri="{FF2B5EF4-FFF2-40B4-BE49-F238E27FC236}">
                <a16:creationId xmlns:a16="http://schemas.microsoft.com/office/drawing/2014/main" id="{ECBC8C69-ADC1-2C6A-4757-181974B5F6E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>
          <a:xfrm>
            <a:off x="997365" y="4010429"/>
            <a:ext cx="626572" cy="626572"/>
          </a:xfrm>
          <a:prstGeom prst="rect">
            <a:avLst/>
          </a:prstGeom>
        </p:spPr>
      </p:pic>
      <p:pic>
        <p:nvPicPr>
          <p:cNvPr id="70" name="Graphique 69" descr="Cercles avec flèches contour">
            <a:extLst>
              <a:ext uri="{FF2B5EF4-FFF2-40B4-BE49-F238E27FC236}">
                <a16:creationId xmlns:a16="http://schemas.microsoft.com/office/drawing/2014/main" id="{A606417B-7E39-2CF2-5AF3-D29D5CBE192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>
          <a:xfrm>
            <a:off x="2918244" y="4028704"/>
            <a:ext cx="626572" cy="626572"/>
          </a:xfrm>
          <a:prstGeom prst="rect">
            <a:avLst/>
          </a:prstGeom>
        </p:spPr>
      </p:pic>
      <p:pic>
        <p:nvPicPr>
          <p:cNvPr id="71" name="Picture 2" descr="Google Cloud Logo et symbole, sens, histoire, PNG, marque">
            <a:extLst>
              <a:ext uri="{FF2B5EF4-FFF2-40B4-BE49-F238E27FC236}">
                <a16:creationId xmlns:a16="http://schemas.microsoft.com/office/drawing/2014/main" id="{B7509D95-F493-8DC9-AA1A-582C6F277F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545017" y="2644685"/>
            <a:ext cx="904018" cy="162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Ellipse 71">
            <a:extLst>
              <a:ext uri="{FF2B5EF4-FFF2-40B4-BE49-F238E27FC236}">
                <a16:creationId xmlns:a16="http://schemas.microsoft.com/office/drawing/2014/main" id="{E53995E5-E66F-E518-AE17-080EEA988275}"/>
              </a:ext>
            </a:extLst>
          </p:cNvPr>
          <p:cNvSpPr/>
          <p:nvPr/>
        </p:nvSpPr>
        <p:spPr>
          <a:xfrm>
            <a:off x="7152299" y="4601744"/>
            <a:ext cx="454181" cy="454181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63500" dist="35287" dir="2700000" sx="94000" sy="94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73" name="Ellipse 72">
            <a:extLst>
              <a:ext uri="{FF2B5EF4-FFF2-40B4-BE49-F238E27FC236}">
                <a16:creationId xmlns:a16="http://schemas.microsoft.com/office/drawing/2014/main" id="{6786AAF1-DF2E-2E55-95CB-E9CA33A07538}"/>
              </a:ext>
            </a:extLst>
          </p:cNvPr>
          <p:cNvSpPr/>
          <p:nvPr/>
        </p:nvSpPr>
        <p:spPr>
          <a:xfrm>
            <a:off x="6494721" y="3890990"/>
            <a:ext cx="454181" cy="454181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63500" dist="35287" dir="2700000" sx="94000" sy="94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74" name="Ellipse 73">
            <a:extLst>
              <a:ext uri="{FF2B5EF4-FFF2-40B4-BE49-F238E27FC236}">
                <a16:creationId xmlns:a16="http://schemas.microsoft.com/office/drawing/2014/main" id="{BD1F6A1D-C4DF-0656-653A-65B820A1FFA0}"/>
              </a:ext>
            </a:extLst>
          </p:cNvPr>
          <p:cNvSpPr/>
          <p:nvPr/>
        </p:nvSpPr>
        <p:spPr>
          <a:xfrm>
            <a:off x="5337288" y="5320364"/>
            <a:ext cx="454181" cy="45418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63500" dist="35287" dir="2700000" sx="94000" sy="94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75" name="Ellipse 74">
            <a:extLst>
              <a:ext uri="{FF2B5EF4-FFF2-40B4-BE49-F238E27FC236}">
                <a16:creationId xmlns:a16="http://schemas.microsoft.com/office/drawing/2014/main" id="{1A917709-1B4D-7F54-407F-0A9714E0CB2A}"/>
              </a:ext>
            </a:extLst>
          </p:cNvPr>
          <p:cNvSpPr/>
          <p:nvPr/>
        </p:nvSpPr>
        <p:spPr>
          <a:xfrm>
            <a:off x="4433008" y="4662141"/>
            <a:ext cx="454181" cy="454181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63500" dist="35287" dir="2700000" sx="94000" sy="94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76" name="Graphique 75" descr="Flèche en cercle contour">
            <a:extLst>
              <a:ext uri="{FF2B5EF4-FFF2-40B4-BE49-F238E27FC236}">
                <a16:creationId xmlns:a16="http://schemas.microsoft.com/office/drawing/2014/main" id="{C13C5EB7-EA1C-A1CE-ACF4-E8D5BED6EFA3}"/>
              </a:ext>
            </a:extLst>
          </p:cNvPr>
          <p:cNvPicPr>
            <a:picLocks noChangeAspect="1"/>
          </p:cNvPicPr>
          <p:nvPr/>
        </p:nvPicPr>
        <p:blipFill>
          <a:blip r:embed="rId2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143799" y="4606043"/>
            <a:ext cx="454181" cy="454181"/>
          </a:xfrm>
          <a:prstGeom prst="rect">
            <a:avLst/>
          </a:prstGeom>
        </p:spPr>
      </p:pic>
      <p:pic>
        <p:nvPicPr>
          <p:cNvPr id="77" name="Graphique 76" descr="Recherche contour">
            <a:extLst>
              <a:ext uri="{FF2B5EF4-FFF2-40B4-BE49-F238E27FC236}">
                <a16:creationId xmlns:a16="http://schemas.microsoft.com/office/drawing/2014/main" id="{5726E53C-730D-F838-F3FF-8B712DF926E0}"/>
              </a:ext>
            </a:extLst>
          </p:cNvPr>
          <p:cNvPicPr>
            <a:picLocks noChangeAspect="1"/>
          </p:cNvPicPr>
          <p:nvPr/>
        </p:nvPicPr>
        <p:blipFill>
          <a:blip r:embed="rId2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387344" y="5376751"/>
            <a:ext cx="341405" cy="341405"/>
          </a:xfrm>
          <a:prstGeom prst="rect">
            <a:avLst/>
          </a:prstGeom>
        </p:spPr>
      </p:pic>
      <p:pic>
        <p:nvPicPr>
          <p:cNvPr id="78" name="Graphique 77" descr="Croissance de l'activité contour">
            <a:extLst>
              <a:ext uri="{FF2B5EF4-FFF2-40B4-BE49-F238E27FC236}">
                <a16:creationId xmlns:a16="http://schemas.microsoft.com/office/drawing/2014/main" id="{E4A85766-641C-50A9-EBEE-163D82825925}"/>
              </a:ext>
            </a:extLst>
          </p:cNvPr>
          <p:cNvPicPr>
            <a:picLocks noChangeAspect="1"/>
          </p:cNvPicPr>
          <p:nvPr/>
        </p:nvPicPr>
        <p:blipFill>
          <a:blip r:embed="rId2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493782" y="4733047"/>
            <a:ext cx="347938" cy="347938"/>
          </a:xfrm>
          <a:prstGeom prst="rect">
            <a:avLst/>
          </a:prstGeom>
        </p:spPr>
      </p:pic>
      <p:pic>
        <p:nvPicPr>
          <p:cNvPr id="79" name="Graphique 78" descr="Cerveau droit et gauche contour">
            <a:extLst>
              <a:ext uri="{FF2B5EF4-FFF2-40B4-BE49-F238E27FC236}">
                <a16:creationId xmlns:a16="http://schemas.microsoft.com/office/drawing/2014/main" id="{0620A2CD-0520-5649-343C-9C8FFABF8065}"/>
              </a:ext>
            </a:extLst>
          </p:cNvPr>
          <p:cNvPicPr>
            <a:picLocks noChangeAspect="1"/>
          </p:cNvPicPr>
          <p:nvPr/>
        </p:nvPicPr>
        <p:blipFill>
          <a:blip r:embed="rId29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6517933" y="3913404"/>
            <a:ext cx="407756" cy="407756"/>
          </a:xfrm>
          <a:prstGeom prst="rect">
            <a:avLst/>
          </a:prstGeom>
        </p:spPr>
      </p:pic>
      <p:pic>
        <p:nvPicPr>
          <p:cNvPr id="80" name="Graphique 79" descr="Ampoule et crayon contour">
            <a:extLst>
              <a:ext uri="{FF2B5EF4-FFF2-40B4-BE49-F238E27FC236}">
                <a16:creationId xmlns:a16="http://schemas.microsoft.com/office/drawing/2014/main" id="{E03B6286-9CE5-7ECC-D548-5D1371EA7B76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/>
        </p:blipFill>
        <p:spPr>
          <a:xfrm>
            <a:off x="8539292" y="4038530"/>
            <a:ext cx="626572" cy="626572"/>
          </a:xfrm>
          <a:prstGeom prst="rect">
            <a:avLst/>
          </a:prstGeom>
        </p:spPr>
      </p:pic>
      <p:pic>
        <p:nvPicPr>
          <p:cNvPr id="81" name="Graphique 80" descr="Cigogne contour">
            <a:extLst>
              <a:ext uri="{FF2B5EF4-FFF2-40B4-BE49-F238E27FC236}">
                <a16:creationId xmlns:a16="http://schemas.microsoft.com/office/drawing/2014/main" id="{61E4741E-E666-46B8-3404-07CA88D02E60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/>
        </p:blipFill>
        <p:spPr>
          <a:xfrm>
            <a:off x="9603488" y="4028704"/>
            <a:ext cx="626572" cy="626572"/>
          </a:xfrm>
          <a:prstGeom prst="rect">
            <a:avLst/>
          </a:prstGeom>
        </p:spPr>
      </p:pic>
      <p:pic>
        <p:nvPicPr>
          <p:cNvPr id="82" name="Graphique 81" descr="Fusée contour">
            <a:extLst>
              <a:ext uri="{FF2B5EF4-FFF2-40B4-BE49-F238E27FC236}">
                <a16:creationId xmlns:a16="http://schemas.microsoft.com/office/drawing/2014/main" id="{9CCCC3BB-BD88-B185-5B5C-B2E532B83CD9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/>
        </p:blipFill>
        <p:spPr>
          <a:xfrm>
            <a:off x="10676282" y="4028704"/>
            <a:ext cx="626572" cy="626572"/>
          </a:xfrm>
          <a:prstGeom prst="rect">
            <a:avLst/>
          </a:prstGeom>
        </p:spPr>
      </p:pic>
      <p:cxnSp>
        <p:nvCxnSpPr>
          <p:cNvPr id="85" name="Connecteur droit 84">
            <a:extLst>
              <a:ext uri="{FF2B5EF4-FFF2-40B4-BE49-F238E27FC236}">
                <a16:creationId xmlns:a16="http://schemas.microsoft.com/office/drawing/2014/main" id="{1B719335-5030-5886-87F0-1EA38488EFFD}"/>
              </a:ext>
            </a:extLst>
          </p:cNvPr>
          <p:cNvCxnSpPr>
            <a:cxnSpLocks/>
          </p:cNvCxnSpPr>
          <p:nvPr userDrawn="1"/>
        </p:nvCxnSpPr>
        <p:spPr>
          <a:xfrm>
            <a:off x="596107" y="6479692"/>
            <a:ext cx="1099978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ZoneTexte 85">
            <a:extLst>
              <a:ext uri="{FF2B5EF4-FFF2-40B4-BE49-F238E27FC236}">
                <a16:creationId xmlns:a16="http://schemas.microsoft.com/office/drawing/2014/main" id="{F99C8465-B289-3C4B-B92A-8A07823887BB}"/>
              </a:ext>
            </a:extLst>
          </p:cNvPr>
          <p:cNvSpPr txBox="1"/>
          <p:nvPr userDrawn="1"/>
        </p:nvSpPr>
        <p:spPr>
          <a:xfrm>
            <a:off x="11283301" y="6552610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sp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/>
              <a:pPr lvl="0" algn="r"/>
              <a:t>‹N°›</a:t>
            </a:fld>
            <a:endParaRPr lang="fr-FR"/>
          </a:p>
        </p:txBody>
      </p:sp>
      <p:sp>
        <p:nvSpPr>
          <p:cNvPr id="89" name="Espace réservé du pied de page 9">
            <a:extLst>
              <a:ext uri="{FF2B5EF4-FFF2-40B4-BE49-F238E27FC236}">
                <a16:creationId xmlns:a16="http://schemas.microsoft.com/office/drawing/2014/main" id="{D999CB2C-0BA3-128C-23A1-43AA473DCF9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559535"/>
            <a:ext cx="4114800" cy="216982"/>
          </a:xfrm>
        </p:spPr>
        <p:txBody>
          <a:bodyPr anchor="ctr" anchorCtr="0">
            <a:spAutoFit/>
          </a:bodyPr>
          <a:lstStyle/>
          <a:p>
            <a:r>
              <a:rPr lang="fr-FR"/>
              <a:t>Confidentiel</a:t>
            </a:r>
          </a:p>
        </p:txBody>
      </p:sp>
      <p:pic>
        <p:nvPicPr>
          <p:cNvPr id="90" name="Image 3">
            <a:extLst>
              <a:ext uri="{FF2B5EF4-FFF2-40B4-BE49-F238E27FC236}">
                <a16:creationId xmlns:a16="http://schemas.microsoft.com/office/drawing/2014/main" id="{A0A3F8DC-A29E-DA76-C8F2-696F850E91E6}"/>
              </a:ext>
            </a:extLst>
          </p:cNvPr>
          <p:cNvPicPr>
            <a:picLocks noChangeAspect="1"/>
          </p:cNvPicPr>
          <p:nvPr userDrawn="1"/>
        </p:nvPicPr>
        <p:blipFill>
          <a:blip r:embed="rId3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pic>
        <p:nvPicPr>
          <p:cNvPr id="91" name="Image 3">
            <a:extLst>
              <a:ext uri="{FF2B5EF4-FFF2-40B4-BE49-F238E27FC236}">
                <a16:creationId xmlns:a16="http://schemas.microsoft.com/office/drawing/2014/main" id="{3990919B-84DF-AA59-2DEE-228F1661A6DA}"/>
              </a:ext>
            </a:extLst>
          </p:cNvPr>
          <p:cNvPicPr>
            <a:picLocks noChangeAspect="1"/>
          </p:cNvPicPr>
          <p:nvPr userDrawn="1"/>
        </p:nvPicPr>
        <p:blipFill>
          <a:blip r:embed="rId3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sp>
        <p:nvSpPr>
          <p:cNvPr id="92" name="Titre 91">
            <a:extLst>
              <a:ext uri="{FF2B5EF4-FFF2-40B4-BE49-F238E27FC236}">
                <a16:creationId xmlns:a16="http://schemas.microsoft.com/office/drawing/2014/main" id="{A5B1AF85-B619-C93B-D855-2ED8E0B93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1882688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1A51DA44-23BC-DFF7-1FB5-72F5E6B6898E}"/>
              </a:ext>
            </a:extLst>
          </p:cNvPr>
          <p:cNvSpPr txBox="1"/>
          <p:nvPr/>
        </p:nvSpPr>
        <p:spPr>
          <a:xfrm>
            <a:off x="513480" y="2163634"/>
            <a:ext cx="16980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>
                <a:solidFill>
                  <a:schemeClr val="accent1"/>
                </a:solidFill>
                <a:latin typeface="Plus Jakarta Sans" pitchFamily="2" charset="77"/>
                <a:ea typeface="Geist Medium" pitchFamily="2" charset="77"/>
                <a:cs typeface="Plus Jakarta Sans" pitchFamily="2" charset="77"/>
              </a:rPr>
              <a:t>Contacts :</a:t>
            </a:r>
          </a:p>
        </p:txBody>
      </p:sp>
      <p:sp>
        <p:nvSpPr>
          <p:cNvPr id="16" name="Espace réservé du texte 13">
            <a:extLst>
              <a:ext uri="{FF2B5EF4-FFF2-40B4-BE49-F238E27FC236}">
                <a16:creationId xmlns:a16="http://schemas.microsoft.com/office/drawing/2014/main" id="{385B8FFB-DEC2-0DC6-21E9-869B0CBB9A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245" y="2469932"/>
            <a:ext cx="2329492" cy="6463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Prénom Nom</a:t>
            </a:r>
          </a:p>
          <a:p>
            <a:pPr lvl="0"/>
            <a:r>
              <a:rPr lang="fr-FR" err="1"/>
              <a:t>adresse@mail.com</a:t>
            </a:r>
            <a:endParaRPr lang="fr-FR"/>
          </a:p>
          <a:p>
            <a:pPr lvl="0"/>
            <a:r>
              <a:rPr lang="fr-FR"/>
              <a:t>06 12 34 56 78</a:t>
            </a:r>
          </a:p>
        </p:txBody>
      </p:sp>
      <p:sp>
        <p:nvSpPr>
          <p:cNvPr id="18" name="Espace réservé du texte 13">
            <a:extLst>
              <a:ext uri="{FF2B5EF4-FFF2-40B4-BE49-F238E27FC236}">
                <a16:creationId xmlns:a16="http://schemas.microsoft.com/office/drawing/2014/main" id="{2C99CA61-88B9-E2C2-0B5D-94D4B351D3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245" y="3377608"/>
            <a:ext cx="2329492" cy="6463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Prénom Nom</a:t>
            </a:r>
          </a:p>
          <a:p>
            <a:pPr lvl="0"/>
            <a:r>
              <a:rPr lang="fr-FR" err="1"/>
              <a:t>adresse@mail.com</a:t>
            </a:r>
            <a:endParaRPr lang="fr-FR"/>
          </a:p>
          <a:p>
            <a:pPr lvl="0"/>
            <a:r>
              <a:rPr lang="fr-FR"/>
              <a:t>06 12 34 56 78</a:t>
            </a:r>
          </a:p>
        </p:txBody>
      </p:sp>
      <p:sp>
        <p:nvSpPr>
          <p:cNvPr id="20" name="Espace réservé du texte 13">
            <a:extLst>
              <a:ext uri="{FF2B5EF4-FFF2-40B4-BE49-F238E27FC236}">
                <a16:creationId xmlns:a16="http://schemas.microsoft.com/office/drawing/2014/main" id="{55EB462D-C822-DC72-DA56-F818AC8A5D0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7245" y="4285285"/>
            <a:ext cx="2329492" cy="6463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Prénom Nom</a:t>
            </a:r>
          </a:p>
          <a:p>
            <a:pPr lvl="0"/>
            <a:r>
              <a:rPr lang="fr-FR" err="1"/>
              <a:t>adresse@mail.com</a:t>
            </a:r>
            <a:endParaRPr lang="fr-FR"/>
          </a:p>
          <a:p>
            <a:pPr lvl="0"/>
            <a:r>
              <a:rPr lang="fr-FR"/>
              <a:t>06 12 34 56 78</a:t>
            </a:r>
          </a:p>
        </p:txBody>
      </p:sp>
      <p:sp>
        <p:nvSpPr>
          <p:cNvPr id="22" name="Espace réservé du texte 13">
            <a:extLst>
              <a:ext uri="{FF2B5EF4-FFF2-40B4-BE49-F238E27FC236}">
                <a16:creationId xmlns:a16="http://schemas.microsoft.com/office/drawing/2014/main" id="{8F3BC47A-675E-38C5-8CE1-588232B083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73927" y="2469932"/>
            <a:ext cx="2329492" cy="6463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Prénom Nom</a:t>
            </a:r>
          </a:p>
          <a:p>
            <a:pPr lvl="0"/>
            <a:r>
              <a:rPr lang="fr-FR" err="1"/>
              <a:t>adresse@mail.com</a:t>
            </a:r>
            <a:endParaRPr lang="fr-FR"/>
          </a:p>
          <a:p>
            <a:pPr lvl="0"/>
            <a:r>
              <a:rPr lang="fr-FR"/>
              <a:t>06 12 34 56 78</a:t>
            </a:r>
          </a:p>
        </p:txBody>
      </p:sp>
      <p:sp>
        <p:nvSpPr>
          <p:cNvPr id="23" name="Espace réservé du texte 13">
            <a:extLst>
              <a:ext uri="{FF2B5EF4-FFF2-40B4-BE49-F238E27FC236}">
                <a16:creationId xmlns:a16="http://schemas.microsoft.com/office/drawing/2014/main" id="{125B4CBA-0B56-9B25-F629-019D11F649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73927" y="3375001"/>
            <a:ext cx="2329492" cy="6463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Prénom Nom</a:t>
            </a:r>
          </a:p>
          <a:p>
            <a:pPr lvl="0"/>
            <a:r>
              <a:rPr lang="fr-FR" err="1"/>
              <a:t>adresse@mail.com</a:t>
            </a:r>
            <a:endParaRPr lang="fr-FR"/>
          </a:p>
          <a:p>
            <a:pPr lvl="0"/>
            <a:r>
              <a:rPr lang="fr-FR"/>
              <a:t>06 12 34 56 78</a:t>
            </a:r>
          </a:p>
        </p:txBody>
      </p:sp>
      <p:sp>
        <p:nvSpPr>
          <p:cNvPr id="24" name="Espace réservé du texte 13">
            <a:extLst>
              <a:ext uri="{FF2B5EF4-FFF2-40B4-BE49-F238E27FC236}">
                <a16:creationId xmlns:a16="http://schemas.microsoft.com/office/drawing/2014/main" id="{9EB17E02-A3F2-8ED4-8F57-034A3D709A2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73927" y="4285285"/>
            <a:ext cx="2329492" cy="6463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Prénom Nom</a:t>
            </a:r>
          </a:p>
          <a:p>
            <a:pPr lvl="0"/>
            <a:r>
              <a:rPr lang="fr-FR" err="1"/>
              <a:t>adresse@mail.com</a:t>
            </a:r>
            <a:endParaRPr lang="fr-FR"/>
          </a:p>
          <a:p>
            <a:pPr lvl="0"/>
            <a:r>
              <a:rPr lang="fr-FR"/>
              <a:t>06 12 34 56 78</a:t>
            </a:r>
          </a:p>
        </p:txBody>
      </p:sp>
      <p:sp>
        <p:nvSpPr>
          <p:cNvPr id="3" name="Espace réservé du texte 8">
            <a:extLst>
              <a:ext uri="{FF2B5EF4-FFF2-40B4-BE49-F238E27FC236}">
                <a16:creationId xmlns:a16="http://schemas.microsoft.com/office/drawing/2014/main" id="{A4960EB4-08B3-BB66-FB20-D37EAAA1CAC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7245" y="730049"/>
            <a:ext cx="11177364" cy="3128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6BF8A71-33DE-5D19-1C44-F9BEE14E9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98842344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7408A41C-D594-6F2F-7E89-CDC508301B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245" y="730049"/>
            <a:ext cx="11177364" cy="3128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2" name="Espace réservé du contenu 19">
            <a:extLst>
              <a:ext uri="{FF2B5EF4-FFF2-40B4-BE49-F238E27FC236}">
                <a16:creationId xmlns:a16="http://schemas.microsoft.com/office/drawing/2014/main" id="{4CAA9C9E-A5D3-6987-3F83-6586A31344D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96107" y="1776397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8" name="Espace réservé du contenu 19">
            <a:extLst>
              <a:ext uri="{FF2B5EF4-FFF2-40B4-BE49-F238E27FC236}">
                <a16:creationId xmlns:a16="http://schemas.microsoft.com/office/drawing/2014/main" id="{229DB150-5E69-9256-C261-000F66FF0F7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044965" y="1776396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9" name="Espace réservé du contenu 19">
            <a:extLst>
              <a:ext uri="{FF2B5EF4-FFF2-40B4-BE49-F238E27FC236}">
                <a16:creationId xmlns:a16="http://schemas.microsoft.com/office/drawing/2014/main" id="{4B63A64F-A48C-F8BF-5DE9-02751D61C69C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493823" y="1776397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11" name="Espace réservé du contenu 19">
            <a:extLst>
              <a:ext uri="{FF2B5EF4-FFF2-40B4-BE49-F238E27FC236}">
                <a16:creationId xmlns:a16="http://schemas.microsoft.com/office/drawing/2014/main" id="{1FA04820-2D82-73AF-A72B-7CFC14F902E1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942681" y="1776396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12" name="Espace réservé du contenu 19">
            <a:extLst>
              <a:ext uri="{FF2B5EF4-FFF2-40B4-BE49-F238E27FC236}">
                <a16:creationId xmlns:a16="http://schemas.microsoft.com/office/drawing/2014/main" id="{35BEFBD6-FF1C-5848-52C2-C5A06A16C61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341125" y="1776397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14" name="Espace réservé du contenu 19">
            <a:extLst>
              <a:ext uri="{FF2B5EF4-FFF2-40B4-BE49-F238E27FC236}">
                <a16:creationId xmlns:a16="http://schemas.microsoft.com/office/drawing/2014/main" id="{540E672E-C6A7-6505-E295-66C57832F6CF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7789983" y="1776396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15" name="Espace réservé du contenu 19">
            <a:extLst>
              <a:ext uri="{FF2B5EF4-FFF2-40B4-BE49-F238E27FC236}">
                <a16:creationId xmlns:a16="http://schemas.microsoft.com/office/drawing/2014/main" id="{9905A2A8-89C6-E6B7-1FC4-4E53A91FAB47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238841" y="1776397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16" name="Espace réservé du contenu 19">
            <a:extLst>
              <a:ext uri="{FF2B5EF4-FFF2-40B4-BE49-F238E27FC236}">
                <a16:creationId xmlns:a16="http://schemas.microsoft.com/office/drawing/2014/main" id="{24A5716C-8D01-5061-F201-E782A94A4B4C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10687699" y="1776396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17" name="Espace réservé du contenu 19">
            <a:extLst>
              <a:ext uri="{FF2B5EF4-FFF2-40B4-BE49-F238E27FC236}">
                <a16:creationId xmlns:a16="http://schemas.microsoft.com/office/drawing/2014/main" id="{BDBA3240-47A2-02EF-B9ED-29AF175555C6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596107" y="2981015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18" name="Espace réservé du contenu 19">
            <a:extLst>
              <a:ext uri="{FF2B5EF4-FFF2-40B4-BE49-F238E27FC236}">
                <a16:creationId xmlns:a16="http://schemas.microsoft.com/office/drawing/2014/main" id="{108110DF-D6A9-D110-9E2C-9729055C2005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2044965" y="2981015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19" name="Espace réservé du contenu 19">
            <a:extLst>
              <a:ext uri="{FF2B5EF4-FFF2-40B4-BE49-F238E27FC236}">
                <a16:creationId xmlns:a16="http://schemas.microsoft.com/office/drawing/2014/main" id="{334057C1-DF4A-690A-EF00-2929A4DA7322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3493823" y="2981016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20" name="Espace réservé du contenu 19">
            <a:extLst>
              <a:ext uri="{FF2B5EF4-FFF2-40B4-BE49-F238E27FC236}">
                <a16:creationId xmlns:a16="http://schemas.microsoft.com/office/drawing/2014/main" id="{01ED87E3-3CB4-95C0-5959-F53E16717858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942681" y="2981015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21" name="Espace réservé du contenu 19">
            <a:extLst>
              <a:ext uri="{FF2B5EF4-FFF2-40B4-BE49-F238E27FC236}">
                <a16:creationId xmlns:a16="http://schemas.microsoft.com/office/drawing/2014/main" id="{D4A1D210-B96D-398B-D6C1-1C020B51DD16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6341125" y="2981016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22" name="Espace réservé du contenu 19">
            <a:extLst>
              <a:ext uri="{FF2B5EF4-FFF2-40B4-BE49-F238E27FC236}">
                <a16:creationId xmlns:a16="http://schemas.microsoft.com/office/drawing/2014/main" id="{6D38B7A8-1ACF-6D9A-536D-8976632314BB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7789983" y="2981015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23" name="Espace réservé du contenu 19">
            <a:extLst>
              <a:ext uri="{FF2B5EF4-FFF2-40B4-BE49-F238E27FC236}">
                <a16:creationId xmlns:a16="http://schemas.microsoft.com/office/drawing/2014/main" id="{7A2D6C5E-3ECA-7A77-CA7C-7ABB9CFE416A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9238841" y="2981016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24" name="Espace réservé du contenu 19">
            <a:extLst>
              <a:ext uri="{FF2B5EF4-FFF2-40B4-BE49-F238E27FC236}">
                <a16:creationId xmlns:a16="http://schemas.microsoft.com/office/drawing/2014/main" id="{B58D8633-CE9D-2356-2654-B6405D99F881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10687699" y="2981015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25" name="Espace réservé du contenu 19">
            <a:extLst>
              <a:ext uri="{FF2B5EF4-FFF2-40B4-BE49-F238E27FC236}">
                <a16:creationId xmlns:a16="http://schemas.microsoft.com/office/drawing/2014/main" id="{B2A034D9-7A2B-C805-B621-7D155B2EFAB6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596107" y="4185633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26" name="Espace réservé du contenu 19">
            <a:extLst>
              <a:ext uri="{FF2B5EF4-FFF2-40B4-BE49-F238E27FC236}">
                <a16:creationId xmlns:a16="http://schemas.microsoft.com/office/drawing/2014/main" id="{8F7A06E7-28EB-83C1-6DDB-D1C9D8BC78DB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2044965" y="4185633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27" name="Espace réservé du contenu 19">
            <a:extLst>
              <a:ext uri="{FF2B5EF4-FFF2-40B4-BE49-F238E27FC236}">
                <a16:creationId xmlns:a16="http://schemas.microsoft.com/office/drawing/2014/main" id="{92064CDC-667B-DD84-181A-229F5B9EB84C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493823" y="4185634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28" name="Espace réservé du contenu 19">
            <a:extLst>
              <a:ext uri="{FF2B5EF4-FFF2-40B4-BE49-F238E27FC236}">
                <a16:creationId xmlns:a16="http://schemas.microsoft.com/office/drawing/2014/main" id="{87B359BD-15A9-CC4D-1635-305E628C84E4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4942681" y="4185633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29" name="Espace réservé du contenu 19">
            <a:extLst>
              <a:ext uri="{FF2B5EF4-FFF2-40B4-BE49-F238E27FC236}">
                <a16:creationId xmlns:a16="http://schemas.microsoft.com/office/drawing/2014/main" id="{6A972D19-1BA4-B33A-813C-332F4823FDF8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6341125" y="4185634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30" name="Espace réservé du contenu 19">
            <a:extLst>
              <a:ext uri="{FF2B5EF4-FFF2-40B4-BE49-F238E27FC236}">
                <a16:creationId xmlns:a16="http://schemas.microsoft.com/office/drawing/2014/main" id="{163AAAE4-6949-67C3-696B-FBFB8BA5051A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7789983" y="4185633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31" name="Espace réservé du contenu 19">
            <a:extLst>
              <a:ext uri="{FF2B5EF4-FFF2-40B4-BE49-F238E27FC236}">
                <a16:creationId xmlns:a16="http://schemas.microsoft.com/office/drawing/2014/main" id="{B4D41CF8-4593-621A-F24E-4467285A92D4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9238841" y="4185634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32" name="Espace réservé du contenu 19">
            <a:extLst>
              <a:ext uri="{FF2B5EF4-FFF2-40B4-BE49-F238E27FC236}">
                <a16:creationId xmlns:a16="http://schemas.microsoft.com/office/drawing/2014/main" id="{FAD070B2-D39D-13E4-FC48-B25C9FE37E35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10687699" y="4185633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33" name="Espace réservé du contenu 19">
            <a:extLst>
              <a:ext uri="{FF2B5EF4-FFF2-40B4-BE49-F238E27FC236}">
                <a16:creationId xmlns:a16="http://schemas.microsoft.com/office/drawing/2014/main" id="{668DB583-6117-A18E-6EDD-89324DBAE841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596107" y="5390250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34" name="Espace réservé du contenu 19">
            <a:extLst>
              <a:ext uri="{FF2B5EF4-FFF2-40B4-BE49-F238E27FC236}">
                <a16:creationId xmlns:a16="http://schemas.microsoft.com/office/drawing/2014/main" id="{5C879017-7F44-45C4-8FC5-B235F2C55617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2044965" y="5390249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35" name="Espace réservé du contenu 19">
            <a:extLst>
              <a:ext uri="{FF2B5EF4-FFF2-40B4-BE49-F238E27FC236}">
                <a16:creationId xmlns:a16="http://schemas.microsoft.com/office/drawing/2014/main" id="{978FB932-4FC1-919C-4B1E-5BFF8FA0D47A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3493823" y="5390250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36" name="Espace réservé du contenu 19">
            <a:extLst>
              <a:ext uri="{FF2B5EF4-FFF2-40B4-BE49-F238E27FC236}">
                <a16:creationId xmlns:a16="http://schemas.microsoft.com/office/drawing/2014/main" id="{FCE2ED05-9114-A609-BE9F-622AE3C3B72E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4942681" y="5390249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37" name="Espace réservé du contenu 19">
            <a:extLst>
              <a:ext uri="{FF2B5EF4-FFF2-40B4-BE49-F238E27FC236}">
                <a16:creationId xmlns:a16="http://schemas.microsoft.com/office/drawing/2014/main" id="{8F4129B2-970D-9208-49A5-EA3307E3EE50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6341125" y="5390250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38" name="Espace réservé du contenu 19">
            <a:extLst>
              <a:ext uri="{FF2B5EF4-FFF2-40B4-BE49-F238E27FC236}">
                <a16:creationId xmlns:a16="http://schemas.microsoft.com/office/drawing/2014/main" id="{701257A4-4686-2B47-FC25-B37B07A1D5DE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7789983" y="5390249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39" name="Espace réservé du contenu 19">
            <a:extLst>
              <a:ext uri="{FF2B5EF4-FFF2-40B4-BE49-F238E27FC236}">
                <a16:creationId xmlns:a16="http://schemas.microsoft.com/office/drawing/2014/main" id="{E38E7CA3-3969-2D2E-87B1-6474FBD51887}"/>
              </a:ext>
            </a:extLst>
          </p:cNvPr>
          <p:cNvSpPr>
            <a:spLocks noGrp="1"/>
          </p:cNvSpPr>
          <p:nvPr>
            <p:ph sz="quarter" idx="43" hasCustomPrompt="1"/>
          </p:nvPr>
        </p:nvSpPr>
        <p:spPr>
          <a:xfrm>
            <a:off x="9238841" y="5390250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40" name="Espace réservé du contenu 19">
            <a:extLst>
              <a:ext uri="{FF2B5EF4-FFF2-40B4-BE49-F238E27FC236}">
                <a16:creationId xmlns:a16="http://schemas.microsoft.com/office/drawing/2014/main" id="{2D40E718-9AE0-A47E-EDDB-E982E8D1BC19}"/>
              </a:ext>
            </a:extLst>
          </p:cNvPr>
          <p:cNvSpPr>
            <a:spLocks noGrp="1"/>
          </p:cNvSpPr>
          <p:nvPr>
            <p:ph sz="quarter" idx="44" hasCustomPrompt="1"/>
          </p:nvPr>
        </p:nvSpPr>
        <p:spPr>
          <a:xfrm>
            <a:off x="10687699" y="5390249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cxnSp>
        <p:nvCxnSpPr>
          <p:cNvPr id="42" name="Connecteur droit 41">
            <a:extLst>
              <a:ext uri="{FF2B5EF4-FFF2-40B4-BE49-F238E27FC236}">
                <a16:creationId xmlns:a16="http://schemas.microsoft.com/office/drawing/2014/main" id="{A831E8E5-0CC4-907E-80E9-120F6C2A639B}"/>
              </a:ext>
            </a:extLst>
          </p:cNvPr>
          <p:cNvCxnSpPr>
            <a:cxnSpLocks/>
          </p:cNvCxnSpPr>
          <p:nvPr/>
        </p:nvCxnSpPr>
        <p:spPr>
          <a:xfrm>
            <a:off x="596107" y="6479692"/>
            <a:ext cx="1099978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ZoneTexte 3">
            <a:extLst>
              <a:ext uri="{FF2B5EF4-FFF2-40B4-BE49-F238E27FC236}">
                <a16:creationId xmlns:a16="http://schemas.microsoft.com/office/drawing/2014/main" id="{93E79E31-23AF-D576-24DD-1FF752850491}"/>
              </a:ext>
            </a:extLst>
          </p:cNvPr>
          <p:cNvSpPr txBox="1"/>
          <p:nvPr/>
        </p:nvSpPr>
        <p:spPr>
          <a:xfrm>
            <a:off x="11283301" y="6552610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/>
              <a:pPr lvl="0" algn="r"/>
              <a:t>‹N°›</a:t>
            </a:fld>
            <a:endParaRPr lang="fr-FR"/>
          </a:p>
        </p:txBody>
      </p:sp>
      <p:sp>
        <p:nvSpPr>
          <p:cNvPr id="5" name="Espace réservé du pied de page 9">
            <a:extLst>
              <a:ext uri="{FF2B5EF4-FFF2-40B4-BE49-F238E27FC236}">
                <a16:creationId xmlns:a16="http://schemas.microsoft.com/office/drawing/2014/main" id="{194A28FC-6597-E76C-F88B-ED569D2FBF24}"/>
              </a:ext>
            </a:extLst>
          </p:cNvPr>
          <p:cNvSpPr>
            <a:spLocks noGrp="1"/>
          </p:cNvSpPr>
          <p:nvPr>
            <p:ph type="ftr" sz="quarter" idx="45"/>
          </p:nvPr>
        </p:nvSpPr>
        <p:spPr>
          <a:xfrm>
            <a:off x="4038600" y="6559960"/>
            <a:ext cx="4114800" cy="225655"/>
          </a:xfrm>
        </p:spPr>
        <p:txBody>
          <a:bodyPr anchor="t"/>
          <a:lstStyle/>
          <a:p>
            <a:r>
              <a:rPr lang="fr-FR"/>
              <a:t>Confidentiel</a:t>
            </a:r>
          </a:p>
        </p:txBody>
      </p:sp>
      <p:pic>
        <p:nvPicPr>
          <p:cNvPr id="6" name="Image 3">
            <a:extLst>
              <a:ext uri="{FF2B5EF4-FFF2-40B4-BE49-F238E27FC236}">
                <a16:creationId xmlns:a16="http://schemas.microsoft.com/office/drawing/2014/main" id="{CFE4583F-3AE6-354C-2466-EFEC46CF7D0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1C5CE677-C01D-1BE3-955A-E2EAF1B0F2DF}"/>
              </a:ext>
            </a:extLst>
          </p:cNvPr>
          <p:cNvSpPr txBox="1"/>
          <p:nvPr userDrawn="1"/>
        </p:nvSpPr>
        <p:spPr>
          <a:xfrm>
            <a:off x="11283301" y="6552610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/>
              <a:pPr lvl="0" algn="r"/>
              <a:t>‹N°›</a:t>
            </a:fld>
            <a:endParaRPr lang="fr-FR"/>
          </a:p>
        </p:txBody>
      </p:sp>
      <p:pic>
        <p:nvPicPr>
          <p:cNvPr id="7" name="Image 3">
            <a:extLst>
              <a:ext uri="{FF2B5EF4-FFF2-40B4-BE49-F238E27FC236}">
                <a16:creationId xmlns:a16="http://schemas.microsoft.com/office/drawing/2014/main" id="{0AA16F35-4C81-86F2-3CB6-E13FDC6C48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sp>
        <p:nvSpPr>
          <p:cNvPr id="13" name="Titre 12">
            <a:extLst>
              <a:ext uri="{FF2B5EF4-FFF2-40B4-BE49-F238E27FC236}">
                <a16:creationId xmlns:a16="http://schemas.microsoft.com/office/drawing/2014/main" id="{44416686-482F-9867-3F21-FAC9DD414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71694815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de fin">
    <p:bg>
      <p:bgPr>
        <a:solidFill>
          <a:srgbClr val="1B09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>
            <a:extLst>
              <a:ext uri="{FF2B5EF4-FFF2-40B4-BE49-F238E27FC236}">
                <a16:creationId xmlns:a16="http://schemas.microsoft.com/office/drawing/2014/main" id="{53C49729-F7C2-64AE-792A-AA81E248A3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10100" y="3098800"/>
            <a:ext cx="2971800" cy="660400"/>
          </a:xfrm>
          <a:prstGeom prst="rect">
            <a:avLst/>
          </a:prstGeom>
        </p:spPr>
      </p:pic>
      <p:pic>
        <p:nvPicPr>
          <p:cNvPr id="2" name="Graphique 1">
            <a:extLst>
              <a:ext uri="{FF2B5EF4-FFF2-40B4-BE49-F238E27FC236}">
                <a16:creationId xmlns:a16="http://schemas.microsoft.com/office/drawing/2014/main" id="{17B9542E-6D22-4B28-DA74-AA26B30C76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10100" y="3098800"/>
            <a:ext cx="2971800" cy="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25570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que 18">
            <a:extLst>
              <a:ext uri="{FF2B5EF4-FFF2-40B4-BE49-F238E27FC236}">
                <a16:creationId xmlns:a16="http://schemas.microsoft.com/office/drawing/2014/main" id="{2B140582-2FD4-E64E-BA3E-C4B74FEBB6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1575" y="5955450"/>
            <a:ext cx="2260600" cy="351648"/>
          </a:xfrm>
          <a:prstGeom prst="rect">
            <a:avLst/>
          </a:prstGeom>
        </p:spPr>
      </p:pic>
      <p:sp>
        <p:nvSpPr>
          <p:cNvPr id="12" name="Espace réservé du texte 10">
            <a:extLst>
              <a:ext uri="{FF2B5EF4-FFF2-40B4-BE49-F238E27FC236}">
                <a16:creationId xmlns:a16="http://schemas.microsoft.com/office/drawing/2014/main" id="{EAFEA285-3E13-6A69-7915-EC5B33FE044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7698" y="4468758"/>
            <a:ext cx="4460798" cy="32146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>
                <a:solidFill>
                  <a:schemeClr val="tx1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/>
              <a:t>Date (JJ.MM.AAAA)</a:t>
            </a:r>
          </a:p>
        </p:txBody>
      </p:sp>
      <p:sp>
        <p:nvSpPr>
          <p:cNvPr id="15" name="Espace réservé du texte 10">
            <a:extLst>
              <a:ext uri="{FF2B5EF4-FFF2-40B4-BE49-F238E27FC236}">
                <a16:creationId xmlns:a16="http://schemas.microsoft.com/office/drawing/2014/main" id="{8CA02F23-4FF3-BB0B-BFC9-B8CF29080A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7698" y="4122547"/>
            <a:ext cx="4460798" cy="32146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>
                <a:solidFill>
                  <a:schemeClr val="tx1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/>
              <a:t>Client - Auteur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525111AB-F5AF-9FEB-4238-A73D9A9C96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146" y="2082538"/>
            <a:ext cx="5329554" cy="120464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 b="1" i="0">
                <a:solidFill>
                  <a:schemeClr val="accent1"/>
                </a:solidFill>
                <a:latin typeface="Plus Jakarta Sans ExtraBold" pitchFamily="2" charset="77"/>
                <a:cs typeface="Plus Jakarta Sans ExtraBold" pitchFamily="2" charset="77"/>
              </a:defRPr>
            </a:lvl1pPr>
          </a:lstStyle>
          <a:p>
            <a:r>
              <a:rPr lang="fr-FR"/>
              <a:t>Titre de la présentation</a:t>
            </a:r>
          </a:p>
        </p:txBody>
      </p:sp>
      <p:sp>
        <p:nvSpPr>
          <p:cNvPr id="18" name="Espace réservé du texte 10">
            <a:extLst>
              <a:ext uri="{FF2B5EF4-FFF2-40B4-BE49-F238E27FC236}">
                <a16:creationId xmlns:a16="http://schemas.microsoft.com/office/drawing/2014/main" id="{F94D5557-3C17-3ABE-8227-635D0E262D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7698" y="3375892"/>
            <a:ext cx="4460798" cy="32146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>
                <a:solidFill>
                  <a:schemeClr val="tx1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/>
              <a:t>Sous titre de la présentation</a:t>
            </a:r>
          </a:p>
        </p:txBody>
      </p:sp>
      <p:sp>
        <p:nvSpPr>
          <p:cNvPr id="23" name="Espace réservé pour une image  13">
            <a:extLst>
              <a:ext uri="{FF2B5EF4-FFF2-40B4-BE49-F238E27FC236}">
                <a16:creationId xmlns:a16="http://schemas.microsoft.com/office/drawing/2014/main" id="{E5A67A79-BACF-C48A-8FB5-67DA8895C5B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r>
              <a:rPr lang="fr-FR"/>
              <a:t>Illustration</a:t>
            </a:r>
          </a:p>
        </p:txBody>
      </p:sp>
    </p:spTree>
    <p:extLst>
      <p:ext uri="{BB962C8B-B14F-4D97-AF65-F5344CB8AC3E}">
        <p14:creationId xmlns:p14="http://schemas.microsoft.com/office/powerpoint/2010/main" val="365992359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#2 - TITRE - SECTION -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ce réservé du texte 3">
            <a:extLst>
              <a:ext uri="{FF2B5EF4-FFF2-40B4-BE49-F238E27FC236}">
                <a16:creationId xmlns:a16="http://schemas.microsoft.com/office/drawing/2014/main" id="{A3E18104-64BE-4D18-973A-2929B10C3D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73200" y="337820"/>
            <a:ext cx="9245600" cy="304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Section</a:t>
            </a:r>
            <a:endParaRPr lang="en-GB"/>
          </a:p>
        </p:txBody>
      </p:sp>
      <p:sp>
        <p:nvSpPr>
          <p:cNvPr id="22" name="Espace réservé du texte 3">
            <a:extLst>
              <a:ext uri="{FF2B5EF4-FFF2-40B4-BE49-F238E27FC236}">
                <a16:creationId xmlns:a16="http://schemas.microsoft.com/office/drawing/2014/main" id="{F7EE538C-C044-4F7E-8AC3-BE0DC6FEB7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3200" y="12700"/>
            <a:ext cx="9245600" cy="4826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Titre</a:t>
            </a:r>
            <a:endParaRPr lang="en-GB"/>
          </a:p>
        </p:txBody>
      </p:sp>
      <p:sp>
        <p:nvSpPr>
          <p:cNvPr id="6" name="Espace réservé du texte 2">
            <a:extLst>
              <a:ext uri="{FF2B5EF4-FFF2-40B4-BE49-F238E27FC236}">
                <a16:creationId xmlns:a16="http://schemas.microsoft.com/office/drawing/2014/main" id="{7DE3AF05-0AB0-49E0-9D71-7AFA0D7A0E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6700" y="1130300"/>
            <a:ext cx="11658600" cy="52070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31006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s seul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>
            <a:extLst>
              <a:ext uri="{FF2B5EF4-FFF2-40B4-BE49-F238E27FC236}">
                <a16:creationId xmlns:a16="http://schemas.microsoft.com/office/drawing/2014/main" id="{FE87190B-47B2-490B-BD21-171D0E0413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4415" y="97303"/>
            <a:ext cx="10935584" cy="418376"/>
          </a:xfrm>
          <a:prstGeom prst="rect">
            <a:avLst/>
          </a:prstGeom>
        </p:spPr>
        <p:txBody>
          <a:bodyPr bIns="0" anchor="b" anchorCtr="0">
            <a:noAutofit/>
          </a:bodyPr>
          <a:lstStyle>
            <a:lvl1pPr algn="l" defTabSz="29029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fr-FR" sz="1800" b="1" kern="1200" cap="all" baseline="0" dirty="0">
                <a:solidFill>
                  <a:schemeClr val="tx1">
                    <a:lumMod val="50000"/>
                  </a:schemeClr>
                </a:solidFill>
                <a:latin typeface="+mj-lt"/>
                <a:ea typeface="Montserrat" charset="0"/>
                <a:cs typeface="Montserrat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9" name="Espace réservé du texte 11">
            <a:extLst>
              <a:ext uri="{FF2B5EF4-FFF2-40B4-BE49-F238E27FC236}">
                <a16:creationId xmlns:a16="http://schemas.microsoft.com/office/drawing/2014/main" id="{CF8D0965-4A62-444C-AC16-99860F8324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4415" y="515679"/>
            <a:ext cx="10935584" cy="434883"/>
          </a:xfrm>
          <a:prstGeom prst="rect">
            <a:avLst/>
          </a:prstGeom>
        </p:spPr>
        <p:txBody>
          <a:bodyPr tIns="72000" anchor="t" anchorCtr="0">
            <a:noAutofit/>
          </a:bodyPr>
          <a:lstStyle>
            <a:lvl1pPr marL="0" indent="0">
              <a:buNone/>
              <a:defRPr lang="fr-FR" sz="1400">
                <a:solidFill>
                  <a:srgbClr val="0099FF"/>
                </a:solidFill>
                <a:ea typeface="Montserrat" charset="0"/>
                <a:cs typeface="Montserrat" charset="0"/>
              </a:defRPr>
            </a:lvl1pPr>
          </a:lstStyle>
          <a:p>
            <a:pPr marL="217717" lvl="0" indent="-217717">
              <a:lnSpc>
                <a:spcPct val="100000"/>
              </a:lnSpc>
              <a:spcBef>
                <a:spcPts val="0"/>
              </a:spcBef>
            </a:pPr>
            <a:r>
              <a:rPr lang="fr-FR"/>
              <a:t>Modifier les styles du texte du masque</a:t>
            </a:r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90FC5E46-93AC-4EA0-AA4F-3E7BBD855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5901" y="6544340"/>
            <a:ext cx="745612" cy="198458"/>
          </a:xfrm>
          <a:prstGeom prst="rect">
            <a:avLst/>
          </a:prstGeom>
        </p:spPr>
        <p:txBody>
          <a:bodyPr/>
          <a:lstStyle>
            <a:lvl1pPr algn="r">
              <a:defRPr sz="9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9AFCA8D8-8241-BE4B-9165-0EE2A5D02B3D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BCB47DF1-00C0-4BF7-AE3A-CF49EB00A9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894" y="6544341"/>
            <a:ext cx="708016" cy="198458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522949" y="-479"/>
            <a:ext cx="671999" cy="1022607"/>
          </a:xfrm>
          <a:prstGeom prst="rect">
            <a:avLst/>
          </a:prstGeom>
        </p:spPr>
      </p:pic>
      <p:pic>
        <p:nvPicPr>
          <p:cNvPr id="2" name="Picture 2" descr="confidential stamp. confidential square grunge sign. confidential  Illustration , #Ad, #square, #stamp, #confidential, #Illustration, #sign">
            <a:extLst>
              <a:ext uri="{FF2B5EF4-FFF2-40B4-BE49-F238E27FC236}">
                <a16:creationId xmlns:a16="http://schemas.microsoft.com/office/drawing/2014/main" id="{71C9D751-73FC-1480-B9CE-3B382D3430C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71120">
            <a:off x="10348145" y="317614"/>
            <a:ext cx="1074982" cy="524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19603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de gar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chaîne&#10;&#10;Description générée automatiquement">
            <a:extLst>
              <a:ext uri="{FF2B5EF4-FFF2-40B4-BE49-F238E27FC236}">
                <a16:creationId xmlns:a16="http://schemas.microsoft.com/office/drawing/2014/main" id="{CA0F44A9-23AE-4CB5-AAF8-840F33D777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9" y="0"/>
            <a:ext cx="7059168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8DFF961-5AFF-F440-AA39-F73CF9D6A16A}"/>
              </a:ext>
            </a:extLst>
          </p:cNvPr>
          <p:cNvSpPr/>
          <p:nvPr userDrawn="1"/>
        </p:nvSpPr>
        <p:spPr>
          <a:xfrm>
            <a:off x="7060497" y="-10690"/>
            <a:ext cx="5194852" cy="6868690"/>
          </a:xfrm>
          <a:prstGeom prst="rect">
            <a:avLst/>
          </a:prstGeom>
          <a:solidFill>
            <a:srgbClr val="01AB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3"/>
              </a:solidFill>
            </a:endParaRPr>
          </a:p>
        </p:txBody>
      </p:sp>
      <p:sp>
        <p:nvSpPr>
          <p:cNvPr id="19" name="Espace réservé du texte 7">
            <a:extLst>
              <a:ext uri="{FF2B5EF4-FFF2-40B4-BE49-F238E27FC236}">
                <a16:creationId xmlns:a16="http://schemas.microsoft.com/office/drawing/2014/main" id="{F9E20BBC-BC5F-664C-89DC-A122B8B14E5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08715" y="5965012"/>
            <a:ext cx="4483429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None/>
              <a:defRPr sz="1600" b="0" i="0" baseline="0">
                <a:solidFill>
                  <a:schemeClr val="bg1"/>
                </a:solidFill>
                <a:latin typeface="+mn-lt"/>
              </a:defRPr>
            </a:lvl1pPr>
            <a:lvl2pPr marL="6286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2pPr>
            <a:lvl3pPr marL="10858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3pPr>
            <a:lvl4pPr>
              <a:defRPr sz="1200">
                <a:latin typeface="Montserrat" panose="00000500000000000000" pitchFamily="2" charset="0"/>
              </a:defRPr>
            </a:lvl4pPr>
            <a:lvl5pPr>
              <a:defRPr sz="1200">
                <a:latin typeface="Montserrat" panose="00000500000000000000" pitchFamily="2" charset="0"/>
              </a:defRPr>
            </a:lvl5pPr>
          </a:lstStyle>
          <a:p>
            <a:pPr lvl="0"/>
            <a:r>
              <a:rPr lang="fr-FR"/>
              <a:t>Date 00.00.00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0FB27EB9-EA76-4AB5-BB76-10F06CFC15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08716" y="4856580"/>
            <a:ext cx="4483429" cy="923329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Titre présentation</a:t>
            </a:r>
            <a:br>
              <a:rPr lang="fr-FR"/>
            </a:br>
            <a:endParaRPr lang="fr-FR"/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id="{8B288821-CED7-4C6E-958E-0AF6FA3983D4}"/>
              </a:ext>
            </a:extLst>
          </p:cNvPr>
          <p:cNvSpPr txBox="1"/>
          <p:nvPr userDrawn="1"/>
        </p:nvSpPr>
        <p:spPr>
          <a:xfrm>
            <a:off x="332478" y="1118687"/>
            <a:ext cx="5876678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/>
            <a:r>
              <a:rPr lang="fr-FR" sz="2000" b="0" i="0" noProof="1">
                <a:solidFill>
                  <a:schemeClr val="bg1"/>
                </a:solidFill>
                <a:latin typeface="+mj-lt"/>
              </a:rPr>
              <a:t>Enhance Your Present,</a:t>
            </a:r>
          </a:p>
          <a:p>
            <a:pPr lvl="0"/>
            <a:r>
              <a:rPr lang="fr-FR" sz="2000" b="0" i="0" noProof="1">
                <a:solidFill>
                  <a:srgbClr val="DEFCBD"/>
                </a:solidFill>
                <a:latin typeface="+mj-lt"/>
              </a:rPr>
              <a:t>Inspire Your Future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8D81FA7-00AB-4505-A4FA-0A95AA9FF4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739" b="24294"/>
          <a:stretch/>
        </p:blipFill>
        <p:spPr>
          <a:xfrm>
            <a:off x="197579" y="301841"/>
            <a:ext cx="2629638" cy="727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2543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sec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FA352D1-00DA-5540-949E-A72B4B902C40}"/>
              </a:ext>
            </a:extLst>
          </p:cNvPr>
          <p:cNvSpPr/>
          <p:nvPr userDrawn="1"/>
        </p:nvSpPr>
        <p:spPr>
          <a:xfrm>
            <a:off x="0" y="0"/>
            <a:ext cx="6022224" cy="6858000"/>
          </a:xfrm>
          <a:prstGeom prst="rect">
            <a:avLst/>
          </a:prstGeom>
          <a:solidFill>
            <a:srgbClr val="1A1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3"/>
              </a:solidFill>
            </a:endParaRP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DF0867B5-94D7-0141-A647-A9A5A78664D1}"/>
              </a:ext>
            </a:extLst>
          </p:cNvPr>
          <p:cNvCxnSpPr>
            <a:cxnSpLocks/>
          </p:cNvCxnSpPr>
          <p:nvPr userDrawn="1"/>
        </p:nvCxnSpPr>
        <p:spPr>
          <a:xfrm>
            <a:off x="597446" y="5339720"/>
            <a:ext cx="945515" cy="0"/>
          </a:xfrm>
          <a:prstGeom prst="line">
            <a:avLst/>
          </a:prstGeom>
          <a:ln>
            <a:solidFill>
              <a:schemeClr val="bg1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du texte 7">
            <a:extLst>
              <a:ext uri="{FF2B5EF4-FFF2-40B4-BE49-F238E27FC236}">
                <a16:creationId xmlns:a16="http://schemas.microsoft.com/office/drawing/2014/main" id="{0D968193-892D-4A46-8E16-212D645D0FD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6136" y="4292870"/>
            <a:ext cx="1238161" cy="113877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spcBef>
                <a:spcPts val="0"/>
              </a:spcBef>
              <a:buClr>
                <a:schemeClr val="tx1"/>
              </a:buClr>
              <a:buNone/>
              <a:defRPr sz="8000" b="0" i="0" baseline="0">
                <a:solidFill>
                  <a:schemeClr val="accent3"/>
                </a:solidFill>
                <a:latin typeface="+mn-lt"/>
              </a:defRPr>
            </a:lvl1pPr>
            <a:lvl2pPr marL="6286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2pPr>
            <a:lvl3pPr marL="10858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3pPr>
            <a:lvl4pPr>
              <a:defRPr sz="1200">
                <a:latin typeface="Montserrat" panose="00000500000000000000" pitchFamily="2" charset="0"/>
              </a:defRPr>
            </a:lvl4pPr>
            <a:lvl5pPr>
              <a:defRPr sz="1200">
                <a:latin typeface="Montserrat" panose="00000500000000000000" pitchFamily="2" charset="0"/>
              </a:defRPr>
            </a:lvl5pPr>
          </a:lstStyle>
          <a:p>
            <a:pPr lvl="0"/>
            <a:r>
              <a:rPr lang="fr-FR"/>
              <a:t>01</a:t>
            </a:r>
          </a:p>
        </p:txBody>
      </p:sp>
      <p:sp>
        <p:nvSpPr>
          <p:cNvPr id="14" name="Espace réservé du texte 7">
            <a:extLst>
              <a:ext uri="{FF2B5EF4-FFF2-40B4-BE49-F238E27FC236}">
                <a16:creationId xmlns:a16="http://schemas.microsoft.com/office/drawing/2014/main" id="{429C225A-0ECC-1E46-A522-1BC7373F4E9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12018" y="4295954"/>
            <a:ext cx="3788392" cy="9829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spcBef>
                <a:spcPts val="0"/>
              </a:spcBef>
              <a:buClr>
                <a:schemeClr val="tx1"/>
              </a:buClr>
              <a:buNone/>
              <a:defRPr sz="3500" b="0" i="0" baseline="0">
                <a:solidFill>
                  <a:schemeClr val="accent3"/>
                </a:solidFill>
                <a:latin typeface="+mn-lt"/>
              </a:defRPr>
            </a:lvl1pPr>
            <a:lvl2pPr marL="6286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2pPr>
            <a:lvl3pPr marL="10858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3pPr>
            <a:lvl4pPr>
              <a:defRPr sz="1200">
                <a:latin typeface="Montserrat" panose="00000500000000000000" pitchFamily="2" charset="0"/>
              </a:defRPr>
            </a:lvl4pPr>
            <a:lvl5pPr>
              <a:defRPr sz="1200">
                <a:latin typeface="Montserrat" panose="00000500000000000000" pitchFamily="2" charset="0"/>
              </a:defRPr>
            </a:lvl5pPr>
          </a:lstStyle>
          <a:p>
            <a:pPr lvl="0"/>
            <a:r>
              <a:rPr lang="fr-FR"/>
              <a:t>Titre</a:t>
            </a:r>
            <a:br>
              <a:rPr lang="fr-FR"/>
            </a:br>
            <a:r>
              <a:rPr lang="fr-FR"/>
              <a:t>Partie</a:t>
            </a:r>
          </a:p>
        </p:txBody>
      </p:sp>
      <p:pic>
        <p:nvPicPr>
          <p:cNvPr id="10" name="Image 9" descr="Une image contenant nature, outil, canyon, balai&#10;&#10;Description générée automatiquement">
            <a:extLst>
              <a:ext uri="{FF2B5EF4-FFF2-40B4-BE49-F238E27FC236}">
                <a16:creationId xmlns:a16="http://schemas.microsoft.com/office/drawing/2014/main" id="{77CB9BD3-168E-4BBA-9B83-2D24652904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7024" y="0"/>
            <a:ext cx="62849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3613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 descr="Une image contenant nature, outil, canyon, balai&#10;&#10;Description générée automatiquement">
            <a:extLst>
              <a:ext uri="{FF2B5EF4-FFF2-40B4-BE49-F238E27FC236}">
                <a16:creationId xmlns:a16="http://schemas.microsoft.com/office/drawing/2014/main" id="{D24BE4BE-8476-48A5-9C82-43A6F56F5E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7024" y="0"/>
            <a:ext cx="6284976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CAC9F52-73BA-4CE9-92C0-4878021B63B3}"/>
              </a:ext>
            </a:extLst>
          </p:cNvPr>
          <p:cNvSpPr/>
          <p:nvPr userDrawn="1"/>
        </p:nvSpPr>
        <p:spPr>
          <a:xfrm>
            <a:off x="0" y="0"/>
            <a:ext cx="5907024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Espace réservé du texte 7">
            <a:extLst>
              <a:ext uri="{FF2B5EF4-FFF2-40B4-BE49-F238E27FC236}">
                <a16:creationId xmlns:a16="http://schemas.microsoft.com/office/drawing/2014/main" id="{0D968193-892D-4A46-8E16-212D645D0FD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6136" y="4292870"/>
            <a:ext cx="1238161" cy="113877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spcBef>
                <a:spcPts val="0"/>
              </a:spcBef>
              <a:buClr>
                <a:schemeClr val="tx1"/>
              </a:buClr>
              <a:buNone/>
              <a:defRPr sz="8000" b="0" i="0" baseline="0">
                <a:solidFill>
                  <a:schemeClr val="accent3"/>
                </a:solidFill>
                <a:latin typeface="+mj-lt"/>
              </a:defRPr>
            </a:lvl1pPr>
            <a:lvl2pPr marL="6286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2pPr>
            <a:lvl3pPr marL="10858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3pPr>
            <a:lvl4pPr>
              <a:defRPr sz="1200">
                <a:latin typeface="Montserrat" panose="00000500000000000000" pitchFamily="2" charset="0"/>
              </a:defRPr>
            </a:lvl4pPr>
            <a:lvl5pPr>
              <a:defRPr sz="1200">
                <a:latin typeface="Montserrat" panose="00000500000000000000" pitchFamily="2" charset="0"/>
              </a:defRPr>
            </a:lvl5pPr>
          </a:lstStyle>
          <a:p>
            <a:pPr lvl="0"/>
            <a:r>
              <a:rPr lang="fr-FR"/>
              <a:t>01</a:t>
            </a:r>
          </a:p>
        </p:txBody>
      </p:sp>
      <p:sp>
        <p:nvSpPr>
          <p:cNvPr id="14" name="Espace réservé du texte 7">
            <a:extLst>
              <a:ext uri="{FF2B5EF4-FFF2-40B4-BE49-F238E27FC236}">
                <a16:creationId xmlns:a16="http://schemas.microsoft.com/office/drawing/2014/main" id="{429C225A-0ECC-1E46-A522-1BC7373F4E9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12018" y="4295954"/>
            <a:ext cx="3788392" cy="9829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spcBef>
                <a:spcPts val="0"/>
              </a:spcBef>
              <a:buClr>
                <a:schemeClr val="tx1"/>
              </a:buClr>
              <a:buNone/>
              <a:defRPr sz="3500" b="0" i="0" baseline="0">
                <a:solidFill>
                  <a:schemeClr val="accent3"/>
                </a:solidFill>
                <a:latin typeface="+mj-lt"/>
              </a:defRPr>
            </a:lvl1pPr>
            <a:lvl2pPr marL="6286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2pPr>
            <a:lvl3pPr marL="10858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3pPr>
            <a:lvl4pPr>
              <a:defRPr sz="1200">
                <a:latin typeface="Montserrat" panose="00000500000000000000" pitchFamily="2" charset="0"/>
              </a:defRPr>
            </a:lvl4pPr>
            <a:lvl5pPr>
              <a:defRPr sz="1200">
                <a:latin typeface="Montserrat" panose="00000500000000000000" pitchFamily="2" charset="0"/>
              </a:defRPr>
            </a:lvl5pPr>
          </a:lstStyle>
          <a:p>
            <a:pPr lvl="0"/>
            <a:r>
              <a:rPr lang="fr-FR"/>
              <a:t>Titre</a:t>
            </a:r>
            <a:br>
              <a:rPr lang="fr-FR"/>
            </a:br>
            <a:r>
              <a:rPr lang="fr-FR"/>
              <a:t>Partie</a:t>
            </a:r>
          </a:p>
        </p:txBody>
      </p:sp>
    </p:spTree>
    <p:extLst>
      <p:ext uri="{BB962C8B-B14F-4D97-AF65-F5344CB8AC3E}">
        <p14:creationId xmlns:p14="http://schemas.microsoft.com/office/powerpoint/2010/main" val="355255143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calai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arbre, plante, fermer, brocoli&#10;&#10;Description générée automatiquement">
            <a:extLst>
              <a:ext uri="{FF2B5EF4-FFF2-40B4-BE49-F238E27FC236}">
                <a16:creationId xmlns:a16="http://schemas.microsoft.com/office/drawing/2014/main" id="{C199DBBE-8D06-4717-9C9C-4872DAB62B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60" y="0"/>
            <a:ext cx="6998208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9FDC169-8B61-1B41-BD0F-3C0D0D94CC1D}"/>
              </a:ext>
            </a:extLst>
          </p:cNvPr>
          <p:cNvSpPr/>
          <p:nvPr userDrawn="1"/>
        </p:nvSpPr>
        <p:spPr>
          <a:xfrm>
            <a:off x="6997148" y="0"/>
            <a:ext cx="5194852" cy="6858000"/>
          </a:xfrm>
          <a:prstGeom prst="rect">
            <a:avLst/>
          </a:prstGeom>
          <a:solidFill>
            <a:srgbClr val="1A1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00863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calai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nature, outil, canyon, balai&#10;&#10;Description générée automatiquement">
            <a:extLst>
              <a:ext uri="{FF2B5EF4-FFF2-40B4-BE49-F238E27FC236}">
                <a16:creationId xmlns:a16="http://schemas.microsoft.com/office/drawing/2014/main" id="{77B22B11-2CE9-444C-AEEC-0095F8919A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2849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56471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3884F4-1562-4764-9171-67B9C946E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14" name="Espace réservé du texte 3">
            <a:extLst>
              <a:ext uri="{FF2B5EF4-FFF2-40B4-BE49-F238E27FC236}">
                <a16:creationId xmlns:a16="http://schemas.microsoft.com/office/drawing/2014/main" id="{C61908B7-4E0F-48ED-A615-319914B02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5219"/>
            <a:ext cx="10515600" cy="5031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76044935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6D3B74-2550-4470-981D-95AB454B6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9" name="Espace réservé du texte 3">
            <a:extLst>
              <a:ext uri="{FF2B5EF4-FFF2-40B4-BE49-F238E27FC236}">
                <a16:creationId xmlns:a16="http://schemas.microsoft.com/office/drawing/2014/main" id="{49C3AA63-39F2-415D-B7E5-2336927EF84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145219"/>
            <a:ext cx="10515600" cy="5031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418556645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370527-FFEB-4359-8284-A2338FED0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442" y="193429"/>
            <a:ext cx="10297357" cy="492626"/>
          </a:xfrm>
        </p:spPr>
        <p:txBody>
          <a:bodyPr anchor="t">
            <a:normAutofit/>
          </a:bodyPr>
          <a:lstStyle>
            <a:lvl1pPr>
              <a:defRPr sz="1800"/>
            </a:lvl1pPr>
          </a:lstStyle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7070907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ce réservé pour une image  2">
            <a:extLst>
              <a:ext uri="{FF2B5EF4-FFF2-40B4-BE49-F238E27FC236}">
                <a16:creationId xmlns:a16="http://schemas.microsoft.com/office/drawing/2014/main" id="{550644D9-C3AF-7E40-82DA-EE8EC77727E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467725" y="1023150"/>
            <a:ext cx="3724275" cy="368964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fr-FR"/>
              <a:t>Insérez une image ou bloc couleur</a:t>
            </a:r>
          </a:p>
          <a:p>
            <a:endParaRPr lang="fr-FR"/>
          </a:p>
        </p:txBody>
      </p:sp>
      <p:sp>
        <p:nvSpPr>
          <p:cNvPr id="18" name="Espace réservé pour une image  2">
            <a:extLst>
              <a:ext uri="{FF2B5EF4-FFF2-40B4-BE49-F238E27FC236}">
                <a16:creationId xmlns:a16="http://schemas.microsoft.com/office/drawing/2014/main" id="{CA2AD629-1296-2044-9851-9D694F84AE3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733570" y="1023150"/>
            <a:ext cx="3724275" cy="368964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fr-FR"/>
              <a:t>Insérez une image ou bloc couleur</a:t>
            </a:r>
          </a:p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9DFA81E-E1F0-4E1A-BD2C-E2DF7E83E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E1CF3AF-126A-4615-81E0-7B32E25BAC8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353800" y="234239"/>
            <a:ext cx="736846" cy="365125"/>
          </a:xfrm>
          <a:prstGeom prst="rect">
            <a:avLst/>
          </a:prstGeom>
        </p:spPr>
        <p:txBody>
          <a:bodyPr/>
          <a:lstStyle/>
          <a:p>
            <a:pPr algn="r">
              <a:lnSpc>
                <a:spcPct val="90000"/>
              </a:lnSpc>
              <a:buClr>
                <a:schemeClr val="tx1"/>
              </a:buClr>
              <a:buSzPct val="70000"/>
              <a:buFont typeface="Arial" panose="020B0604020202020204" pitchFamily="34" charset="0"/>
              <a:buNone/>
            </a:pPr>
            <a:fld id="{3CFD10E6-B2D1-4815-BBFF-C0877C925E24}" type="slidenum">
              <a:rPr lang="fr-FR" smtClean="0"/>
              <a:pPr algn="r">
                <a:lnSpc>
                  <a:spcPct val="90000"/>
                </a:lnSpc>
                <a:buClr>
                  <a:schemeClr val="tx1"/>
                </a:buClr>
                <a:buSzPct val="70000"/>
                <a:buFont typeface="Arial" panose="020B0604020202020204" pitchFamily="34" charset="0"/>
                <a:buNone/>
              </a:pPr>
              <a:t>‹N°›</a:t>
            </a:fld>
            <a:endParaRPr lang="fr-FR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6BD3FE12-5BDF-4439-B7B9-232D0B04D96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47675" y="1344613"/>
            <a:ext cx="3838575" cy="5281612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2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05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63349314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52C4BE-EAEF-5549-AE49-3418049A09E4}"/>
              </a:ext>
            </a:extLst>
          </p:cNvPr>
          <p:cNvSpPr/>
          <p:nvPr userDrawn="1"/>
        </p:nvSpPr>
        <p:spPr>
          <a:xfrm>
            <a:off x="7469559" y="0"/>
            <a:ext cx="4723690" cy="6858000"/>
          </a:xfrm>
          <a:prstGeom prst="rect">
            <a:avLst/>
          </a:prstGeom>
          <a:solidFill>
            <a:srgbClr val="1A1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1A1C30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793CAD2-92F9-2146-AD04-972AEBC7EB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58529" y="1469572"/>
            <a:ext cx="2745750" cy="3918857"/>
          </a:xfrm>
          <a:prstGeom prst="rect">
            <a:avLst/>
          </a:prstGeom>
        </p:spPr>
      </p:pic>
      <p:sp>
        <p:nvSpPr>
          <p:cNvPr id="17" name="Espace réservé du texte 7">
            <a:extLst>
              <a:ext uri="{FF2B5EF4-FFF2-40B4-BE49-F238E27FC236}">
                <a16:creationId xmlns:a16="http://schemas.microsoft.com/office/drawing/2014/main" id="{EF02179F-5EBF-774D-AE21-10415057AF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7084" y="1466584"/>
            <a:ext cx="2880000" cy="2871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spcBef>
                <a:spcPts val="0"/>
              </a:spcBef>
              <a:buClr>
                <a:schemeClr val="tx1"/>
              </a:buClr>
              <a:buNone/>
              <a:defRPr sz="2000" b="1" i="0" baseline="0">
                <a:solidFill>
                  <a:schemeClr val="accent1"/>
                </a:solidFill>
                <a:latin typeface="+mj-lt"/>
              </a:defRPr>
            </a:lvl1pPr>
            <a:lvl2pPr marL="6286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2pPr>
            <a:lvl3pPr marL="10858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3pPr>
            <a:lvl4pPr>
              <a:defRPr sz="1200">
                <a:latin typeface="Montserrat" panose="00000500000000000000" pitchFamily="2" charset="0"/>
              </a:defRPr>
            </a:lvl4pPr>
            <a:lvl5pPr>
              <a:defRPr sz="1200">
                <a:latin typeface="Montserrat" panose="00000500000000000000" pitchFamily="2" charset="0"/>
              </a:defRPr>
            </a:lvl5pPr>
          </a:lstStyle>
          <a:p>
            <a:pPr lvl="0"/>
            <a:r>
              <a:rPr lang="fr-FR"/>
              <a:t>Titre niveau 1</a:t>
            </a:r>
          </a:p>
        </p:txBody>
      </p:sp>
      <p:sp>
        <p:nvSpPr>
          <p:cNvPr id="23" name="Espace réservé du texte 7">
            <a:extLst>
              <a:ext uri="{FF2B5EF4-FFF2-40B4-BE49-F238E27FC236}">
                <a16:creationId xmlns:a16="http://schemas.microsoft.com/office/drawing/2014/main" id="{AE29D890-7EA6-1E4C-893D-C0CE3B8612F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58321" y="1466584"/>
            <a:ext cx="2880000" cy="2871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spcBef>
                <a:spcPts val="0"/>
              </a:spcBef>
              <a:buClr>
                <a:schemeClr val="tx1"/>
              </a:buClr>
              <a:buNone/>
              <a:defRPr sz="2000" b="1" i="0" baseline="0">
                <a:solidFill>
                  <a:schemeClr val="accent1"/>
                </a:solidFill>
                <a:latin typeface="+mj-lt"/>
              </a:defRPr>
            </a:lvl1pPr>
            <a:lvl2pPr marL="6286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2pPr>
            <a:lvl3pPr marL="10858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3pPr>
            <a:lvl4pPr>
              <a:defRPr sz="1200">
                <a:latin typeface="Montserrat" panose="00000500000000000000" pitchFamily="2" charset="0"/>
              </a:defRPr>
            </a:lvl4pPr>
            <a:lvl5pPr>
              <a:defRPr sz="1200">
                <a:latin typeface="Montserrat" panose="00000500000000000000" pitchFamily="2" charset="0"/>
              </a:defRPr>
            </a:lvl5pPr>
          </a:lstStyle>
          <a:p>
            <a:pPr lvl="0"/>
            <a:r>
              <a:rPr lang="fr-FR"/>
              <a:t>Titre niveau 1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BB50CD2-EC2A-488C-81FE-F087BB5F6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443" y="231959"/>
            <a:ext cx="6310514" cy="709074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357D727-14D7-4D5D-AE6D-92ABF959988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353800" y="234239"/>
            <a:ext cx="73684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>
              <a:lnSpc>
                <a:spcPct val="90000"/>
              </a:lnSpc>
              <a:buClr>
                <a:schemeClr val="tx1"/>
              </a:buClr>
              <a:buSzPct val="70000"/>
              <a:buFont typeface="Arial" panose="020B0604020202020204" pitchFamily="34" charset="0"/>
              <a:buNone/>
            </a:pPr>
            <a:fld id="{3CFD10E6-B2D1-4815-BBFF-C0877C925E24}" type="slidenum">
              <a:rPr lang="fr-FR" smtClean="0"/>
              <a:pPr algn="r">
                <a:lnSpc>
                  <a:spcPct val="90000"/>
                </a:lnSpc>
                <a:buClr>
                  <a:schemeClr val="tx1"/>
                </a:buClr>
                <a:buSzPct val="70000"/>
                <a:buFont typeface="Arial" panose="020B0604020202020204" pitchFamily="34" charset="0"/>
                <a:buNone/>
              </a:pPr>
              <a:t>‹N°›</a:t>
            </a:fld>
            <a:endParaRPr lang="fr-FR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EA15E6BC-649C-4E51-9277-817A7C873ED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47675" y="2035175"/>
            <a:ext cx="2879725" cy="4052888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0" name="Espace réservé du texte 10">
            <a:extLst>
              <a:ext uri="{FF2B5EF4-FFF2-40B4-BE49-F238E27FC236}">
                <a16:creationId xmlns:a16="http://schemas.microsoft.com/office/drawing/2014/main" id="{E0F3895C-02BA-4B1C-BB95-DDB4F266756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958321" y="2035175"/>
            <a:ext cx="2879725" cy="4052888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62058156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52C4BE-EAEF-5549-AE49-3418049A09E4}"/>
              </a:ext>
            </a:extLst>
          </p:cNvPr>
          <p:cNvSpPr/>
          <p:nvPr userDrawn="1"/>
        </p:nvSpPr>
        <p:spPr>
          <a:xfrm>
            <a:off x="7469559" y="0"/>
            <a:ext cx="4723690" cy="6858000"/>
          </a:xfrm>
          <a:prstGeom prst="rect">
            <a:avLst/>
          </a:prstGeom>
          <a:solidFill>
            <a:srgbClr val="1A1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1A1C30"/>
              </a:solidFill>
            </a:endParaRPr>
          </a:p>
        </p:txBody>
      </p:sp>
      <p:sp>
        <p:nvSpPr>
          <p:cNvPr id="17" name="Espace réservé du texte 7">
            <a:extLst>
              <a:ext uri="{FF2B5EF4-FFF2-40B4-BE49-F238E27FC236}">
                <a16:creationId xmlns:a16="http://schemas.microsoft.com/office/drawing/2014/main" id="{EF02179F-5EBF-774D-AE21-10415057AF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7084" y="1091153"/>
            <a:ext cx="6617104" cy="2846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spcBef>
                <a:spcPts val="0"/>
              </a:spcBef>
              <a:buClr>
                <a:schemeClr val="tx1"/>
              </a:buClr>
              <a:buNone/>
              <a:defRPr sz="2000" b="1" i="0" baseline="0">
                <a:solidFill>
                  <a:schemeClr val="accent1"/>
                </a:solidFill>
                <a:latin typeface="+mj-lt"/>
              </a:defRPr>
            </a:lvl1pPr>
            <a:lvl2pPr marL="6286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2pPr>
            <a:lvl3pPr marL="10858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3pPr>
            <a:lvl4pPr>
              <a:defRPr sz="1200">
                <a:latin typeface="Montserrat" panose="00000500000000000000" pitchFamily="2" charset="0"/>
              </a:defRPr>
            </a:lvl4pPr>
            <a:lvl5pPr>
              <a:defRPr sz="1200">
                <a:latin typeface="Montserrat" panose="00000500000000000000" pitchFamily="2" charset="0"/>
              </a:defRPr>
            </a:lvl5pPr>
          </a:lstStyle>
          <a:p>
            <a:pPr lvl="0"/>
            <a:r>
              <a:rPr lang="fr-FR"/>
              <a:t>Titre niveau 1</a:t>
            </a:r>
          </a:p>
        </p:txBody>
      </p:sp>
      <p:cxnSp>
        <p:nvCxnSpPr>
          <p:cNvPr id="19" name="Straight Arrow Connector 21">
            <a:extLst>
              <a:ext uri="{FF2B5EF4-FFF2-40B4-BE49-F238E27FC236}">
                <a16:creationId xmlns:a16="http://schemas.microsoft.com/office/drawing/2014/main" id="{F80D6559-90A2-0F4E-93D3-D156EA2B9E1C}"/>
              </a:ext>
            </a:extLst>
          </p:cNvPr>
          <p:cNvCxnSpPr>
            <a:cxnSpLocks/>
          </p:cNvCxnSpPr>
          <p:nvPr userDrawn="1"/>
        </p:nvCxnSpPr>
        <p:spPr>
          <a:xfrm>
            <a:off x="447084" y="1468174"/>
            <a:ext cx="411775" cy="0"/>
          </a:xfrm>
          <a:prstGeom prst="straightConnector1">
            <a:avLst/>
          </a:prstGeom>
          <a:ln w="12700" cap="rnd">
            <a:solidFill>
              <a:schemeClr val="bg2">
                <a:lumMod val="90000"/>
              </a:schemeClr>
            </a:solidFill>
            <a:prstDash val="solid"/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ce réservé du texte 7">
            <a:extLst>
              <a:ext uri="{FF2B5EF4-FFF2-40B4-BE49-F238E27FC236}">
                <a16:creationId xmlns:a16="http://schemas.microsoft.com/office/drawing/2014/main" id="{FDBBFCEF-48CA-7A40-AB3D-7DE751CD1F1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82205" y="1091153"/>
            <a:ext cx="4065955" cy="2846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spcBef>
                <a:spcPts val="0"/>
              </a:spcBef>
              <a:buClr>
                <a:schemeClr val="tx1"/>
              </a:buClr>
              <a:buNone/>
              <a:defRPr sz="2000" b="1" i="0" baseline="0">
                <a:solidFill>
                  <a:schemeClr val="accent1"/>
                </a:solidFill>
                <a:latin typeface="+mj-lt"/>
              </a:defRPr>
            </a:lvl1pPr>
            <a:lvl2pPr marL="6286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2pPr>
            <a:lvl3pPr marL="10858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3pPr>
            <a:lvl4pPr>
              <a:defRPr sz="1200">
                <a:latin typeface="Montserrat" panose="00000500000000000000" pitchFamily="2" charset="0"/>
              </a:defRPr>
            </a:lvl4pPr>
            <a:lvl5pPr>
              <a:defRPr sz="1200">
                <a:latin typeface="Montserrat" panose="00000500000000000000" pitchFamily="2" charset="0"/>
              </a:defRPr>
            </a:lvl5pPr>
          </a:lstStyle>
          <a:p>
            <a:pPr lvl="0"/>
            <a:r>
              <a:rPr lang="fr-FR"/>
              <a:t>Titre niveau 1</a:t>
            </a:r>
          </a:p>
        </p:txBody>
      </p:sp>
      <p:cxnSp>
        <p:nvCxnSpPr>
          <p:cNvPr id="26" name="Straight Arrow Connector 21">
            <a:extLst>
              <a:ext uri="{FF2B5EF4-FFF2-40B4-BE49-F238E27FC236}">
                <a16:creationId xmlns:a16="http://schemas.microsoft.com/office/drawing/2014/main" id="{2A8DFEA4-E3A1-6F4A-AEA7-BB0BDEAA7F2C}"/>
              </a:ext>
            </a:extLst>
          </p:cNvPr>
          <p:cNvCxnSpPr>
            <a:cxnSpLocks/>
          </p:cNvCxnSpPr>
          <p:nvPr userDrawn="1"/>
        </p:nvCxnSpPr>
        <p:spPr>
          <a:xfrm>
            <a:off x="7882205" y="1468174"/>
            <a:ext cx="410399" cy="0"/>
          </a:xfrm>
          <a:prstGeom prst="straightConnector1">
            <a:avLst/>
          </a:prstGeom>
          <a:ln w="12700" cap="rnd">
            <a:solidFill>
              <a:schemeClr val="bg2">
                <a:lumMod val="90000"/>
              </a:schemeClr>
            </a:solidFill>
            <a:prstDash val="solid"/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>
            <a:extLst>
              <a:ext uri="{FF2B5EF4-FFF2-40B4-BE49-F238E27FC236}">
                <a16:creationId xmlns:a16="http://schemas.microsoft.com/office/drawing/2014/main" id="{7EAAA77C-E7FF-4619-9906-AB4807929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443" y="231959"/>
            <a:ext cx="6310514" cy="709074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D898014-DB29-480F-A864-C19579FF8513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53800" y="234239"/>
            <a:ext cx="73684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>
              <a:lnSpc>
                <a:spcPct val="90000"/>
              </a:lnSpc>
              <a:buClr>
                <a:schemeClr val="tx1"/>
              </a:buClr>
              <a:buSzPct val="70000"/>
              <a:buFont typeface="Arial" panose="020B0604020202020204" pitchFamily="34" charset="0"/>
              <a:buNone/>
            </a:pPr>
            <a:fld id="{3CFD10E6-B2D1-4815-BBFF-C0877C925E24}" type="slidenum">
              <a:rPr lang="fr-FR" smtClean="0"/>
              <a:pPr algn="r">
                <a:lnSpc>
                  <a:spcPct val="90000"/>
                </a:lnSpc>
                <a:buClr>
                  <a:schemeClr val="tx1"/>
                </a:buClr>
                <a:buSzPct val="70000"/>
                <a:buFont typeface="Arial" panose="020B0604020202020204" pitchFamily="34" charset="0"/>
                <a:buNone/>
              </a:pPr>
              <a:t>‹N°›</a:t>
            </a:fld>
            <a:endParaRPr lang="fr-FR"/>
          </a:p>
        </p:txBody>
      </p:sp>
      <p:sp>
        <p:nvSpPr>
          <p:cNvPr id="15" name="Espace réservé du texte 5">
            <a:extLst>
              <a:ext uri="{FF2B5EF4-FFF2-40B4-BE49-F238E27FC236}">
                <a16:creationId xmlns:a16="http://schemas.microsoft.com/office/drawing/2014/main" id="{F6EFF690-52D9-41AC-8B63-062D279E52F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882205" y="1651448"/>
            <a:ext cx="4065955" cy="4437082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2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05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6" name="Espace réservé du texte 10">
            <a:extLst>
              <a:ext uri="{FF2B5EF4-FFF2-40B4-BE49-F238E27FC236}">
                <a16:creationId xmlns:a16="http://schemas.microsoft.com/office/drawing/2014/main" id="{570AF3F0-7E62-4D22-91DF-0E90762C915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47675" y="1651449"/>
            <a:ext cx="6616513" cy="4436614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5642426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BDD0971-C8A7-B44B-BDCC-3E8A05C0453B}"/>
              </a:ext>
            </a:extLst>
          </p:cNvPr>
          <p:cNvSpPr/>
          <p:nvPr userDrawn="1"/>
        </p:nvSpPr>
        <p:spPr>
          <a:xfrm>
            <a:off x="9327598" y="0"/>
            <a:ext cx="2880000" cy="6858000"/>
          </a:xfrm>
          <a:prstGeom prst="rect">
            <a:avLst/>
          </a:prstGeom>
          <a:solidFill>
            <a:srgbClr val="96AD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1A1C30"/>
              </a:solidFill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5031BCE4-A106-C746-BCE3-8BD4373DF0A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29579" y="2549742"/>
            <a:ext cx="2276039" cy="1758517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A8B369A5-6CF3-46BF-AE80-46E4597AA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443" y="231959"/>
            <a:ext cx="8154204" cy="709074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82169370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52C4BE-EAEF-5549-AE49-3418049A09E4}"/>
              </a:ext>
            </a:extLst>
          </p:cNvPr>
          <p:cNvSpPr/>
          <p:nvPr userDrawn="1"/>
        </p:nvSpPr>
        <p:spPr>
          <a:xfrm>
            <a:off x="7469559" y="0"/>
            <a:ext cx="472369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1A1C30"/>
              </a:solidFill>
            </a:endParaRPr>
          </a:p>
        </p:txBody>
      </p:sp>
      <p:sp>
        <p:nvSpPr>
          <p:cNvPr id="17" name="Espace réservé du texte 7">
            <a:extLst>
              <a:ext uri="{FF2B5EF4-FFF2-40B4-BE49-F238E27FC236}">
                <a16:creationId xmlns:a16="http://schemas.microsoft.com/office/drawing/2014/main" id="{EF02179F-5EBF-774D-AE21-10415057AF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7084" y="1569355"/>
            <a:ext cx="6617104" cy="2846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spcBef>
                <a:spcPts val="0"/>
              </a:spcBef>
              <a:buClr>
                <a:schemeClr val="tx1"/>
              </a:buClr>
              <a:buNone/>
              <a:defRPr sz="2000" b="1" i="0" baseline="0">
                <a:solidFill>
                  <a:schemeClr val="accent1"/>
                </a:solidFill>
                <a:latin typeface="+mj-lt"/>
              </a:defRPr>
            </a:lvl1pPr>
            <a:lvl2pPr marL="6286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2pPr>
            <a:lvl3pPr marL="10858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3pPr>
            <a:lvl4pPr>
              <a:defRPr sz="1200">
                <a:latin typeface="Montserrat" panose="00000500000000000000" pitchFamily="2" charset="0"/>
              </a:defRPr>
            </a:lvl4pPr>
            <a:lvl5pPr>
              <a:defRPr sz="1200">
                <a:latin typeface="Montserrat" panose="00000500000000000000" pitchFamily="2" charset="0"/>
              </a:defRPr>
            </a:lvl5pPr>
          </a:lstStyle>
          <a:p>
            <a:pPr lvl="0"/>
            <a:r>
              <a:rPr lang="fr-FR"/>
              <a:t>Titre niveau 1</a:t>
            </a:r>
          </a:p>
        </p:txBody>
      </p:sp>
      <p:sp>
        <p:nvSpPr>
          <p:cNvPr id="18" name="Espace réservé du texte 7">
            <a:extLst>
              <a:ext uri="{FF2B5EF4-FFF2-40B4-BE49-F238E27FC236}">
                <a16:creationId xmlns:a16="http://schemas.microsoft.com/office/drawing/2014/main" id="{F2A976EE-5A7B-754E-BFA2-6192A42FD16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7084" y="2138159"/>
            <a:ext cx="6617104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None/>
              <a:defRPr sz="1400" b="1" i="0" baseline="0">
                <a:solidFill>
                  <a:schemeClr val="accent2"/>
                </a:solidFill>
                <a:latin typeface="+mj-lt"/>
              </a:defRPr>
            </a:lvl1pPr>
            <a:lvl2pPr marL="6286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2pPr>
            <a:lvl3pPr marL="10858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3pPr>
            <a:lvl4pPr>
              <a:defRPr sz="1200">
                <a:latin typeface="Montserrat" panose="00000500000000000000" pitchFamily="2" charset="0"/>
              </a:defRPr>
            </a:lvl4pPr>
            <a:lvl5pPr>
              <a:defRPr sz="1200">
                <a:latin typeface="Montserrat" panose="00000500000000000000" pitchFamily="2" charset="0"/>
              </a:defRPr>
            </a:lvl5pPr>
          </a:lstStyle>
          <a:p>
            <a:pPr lvl="0"/>
            <a:r>
              <a:rPr lang="fr-FR"/>
              <a:t>Titre niveau 2</a:t>
            </a:r>
          </a:p>
        </p:txBody>
      </p:sp>
      <p:cxnSp>
        <p:nvCxnSpPr>
          <p:cNvPr id="19" name="Straight Arrow Connector 21">
            <a:extLst>
              <a:ext uri="{FF2B5EF4-FFF2-40B4-BE49-F238E27FC236}">
                <a16:creationId xmlns:a16="http://schemas.microsoft.com/office/drawing/2014/main" id="{F80D6559-90A2-0F4E-93D3-D156EA2B9E1C}"/>
              </a:ext>
            </a:extLst>
          </p:cNvPr>
          <p:cNvCxnSpPr>
            <a:cxnSpLocks/>
          </p:cNvCxnSpPr>
          <p:nvPr userDrawn="1"/>
        </p:nvCxnSpPr>
        <p:spPr>
          <a:xfrm>
            <a:off x="447084" y="1946376"/>
            <a:ext cx="411775" cy="0"/>
          </a:xfrm>
          <a:prstGeom prst="straightConnector1">
            <a:avLst/>
          </a:prstGeom>
          <a:ln w="12700" cap="rnd">
            <a:solidFill>
              <a:schemeClr val="bg2">
                <a:lumMod val="90000"/>
              </a:schemeClr>
            </a:solidFill>
            <a:prstDash val="solid"/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ce réservé du texte 7">
            <a:extLst>
              <a:ext uri="{FF2B5EF4-FFF2-40B4-BE49-F238E27FC236}">
                <a16:creationId xmlns:a16="http://schemas.microsoft.com/office/drawing/2014/main" id="{FDBBFCEF-48CA-7A40-AB3D-7DE751CD1F1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82205" y="1091153"/>
            <a:ext cx="4065955" cy="2846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spcBef>
                <a:spcPts val="0"/>
              </a:spcBef>
              <a:buClr>
                <a:schemeClr val="tx1"/>
              </a:buClr>
              <a:buNone/>
              <a:defRPr sz="2000" b="1" i="0" baseline="0">
                <a:solidFill>
                  <a:srgbClr val="DEFCBD"/>
                </a:solidFill>
                <a:latin typeface="+mj-lt"/>
              </a:defRPr>
            </a:lvl1pPr>
            <a:lvl2pPr marL="6286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2pPr>
            <a:lvl3pPr marL="10858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3pPr>
            <a:lvl4pPr>
              <a:defRPr sz="1200">
                <a:latin typeface="Montserrat" panose="00000500000000000000" pitchFamily="2" charset="0"/>
              </a:defRPr>
            </a:lvl4pPr>
            <a:lvl5pPr>
              <a:defRPr sz="1200">
                <a:latin typeface="Montserrat" panose="00000500000000000000" pitchFamily="2" charset="0"/>
              </a:defRPr>
            </a:lvl5pPr>
          </a:lstStyle>
          <a:p>
            <a:pPr lvl="0"/>
            <a:r>
              <a:rPr lang="fr-FR"/>
              <a:t>Titre niveau 1</a:t>
            </a:r>
          </a:p>
        </p:txBody>
      </p:sp>
      <p:cxnSp>
        <p:nvCxnSpPr>
          <p:cNvPr id="26" name="Straight Arrow Connector 21">
            <a:extLst>
              <a:ext uri="{FF2B5EF4-FFF2-40B4-BE49-F238E27FC236}">
                <a16:creationId xmlns:a16="http://schemas.microsoft.com/office/drawing/2014/main" id="{2A8DFEA4-E3A1-6F4A-AEA7-BB0BDEAA7F2C}"/>
              </a:ext>
            </a:extLst>
          </p:cNvPr>
          <p:cNvCxnSpPr>
            <a:cxnSpLocks/>
          </p:cNvCxnSpPr>
          <p:nvPr userDrawn="1"/>
        </p:nvCxnSpPr>
        <p:spPr>
          <a:xfrm>
            <a:off x="7882205" y="1468174"/>
            <a:ext cx="410399" cy="0"/>
          </a:xfrm>
          <a:prstGeom prst="straightConnector1">
            <a:avLst/>
          </a:prstGeom>
          <a:ln w="12700" cap="rnd">
            <a:solidFill>
              <a:schemeClr val="bg1"/>
            </a:solidFill>
            <a:prstDash val="solid"/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Espace réservé du texte 7">
            <a:extLst>
              <a:ext uri="{FF2B5EF4-FFF2-40B4-BE49-F238E27FC236}">
                <a16:creationId xmlns:a16="http://schemas.microsoft.com/office/drawing/2014/main" id="{4276CC62-3150-B140-86AD-FD878A5B2B9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7084" y="984786"/>
            <a:ext cx="6617104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None/>
              <a:defRPr sz="1100" b="0" i="0" baseline="0">
                <a:solidFill>
                  <a:schemeClr val="accent1"/>
                </a:solidFill>
                <a:latin typeface="+mj-lt"/>
              </a:defRPr>
            </a:lvl1pPr>
            <a:lvl2pPr marL="6286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2pPr>
            <a:lvl3pPr marL="10858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3pPr>
            <a:lvl4pPr>
              <a:defRPr sz="1200">
                <a:latin typeface="Montserrat" panose="00000500000000000000" pitchFamily="2" charset="0"/>
              </a:defRPr>
            </a:lvl4pPr>
            <a:lvl5pPr>
              <a:defRPr sz="1200">
                <a:latin typeface="Montserrat" panose="00000500000000000000" pitchFamily="2" charset="0"/>
              </a:defRPr>
            </a:lvl5pPr>
          </a:lstStyle>
          <a:p>
            <a:pPr lvl="0"/>
            <a:r>
              <a:rPr lang="fr-FR"/>
              <a:t>Nom porteur de l’offre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766075C-5B39-421A-8329-56B621178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443" y="231959"/>
            <a:ext cx="6310514" cy="709074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5CD8F3E-4599-43A4-8918-7F2E3999D67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353800" y="234239"/>
            <a:ext cx="73684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>
              <a:lnSpc>
                <a:spcPct val="90000"/>
              </a:lnSpc>
              <a:buClr>
                <a:schemeClr val="tx1"/>
              </a:buClr>
              <a:buSzPct val="70000"/>
              <a:buFont typeface="Arial" panose="020B0604020202020204" pitchFamily="34" charset="0"/>
              <a:buNone/>
            </a:pPr>
            <a:fld id="{3CFD10E6-B2D1-4815-BBFF-C0877C925E24}" type="slidenum">
              <a:rPr lang="fr-FR" smtClean="0"/>
              <a:pPr algn="r">
                <a:lnSpc>
                  <a:spcPct val="90000"/>
                </a:lnSpc>
                <a:buClr>
                  <a:schemeClr val="tx1"/>
                </a:buClr>
                <a:buSzPct val="70000"/>
                <a:buFont typeface="Arial" panose="020B0604020202020204" pitchFamily="34" charset="0"/>
                <a:buNone/>
              </a:pPr>
              <a:t>‹N°›</a:t>
            </a:fld>
            <a:endParaRPr lang="fr-FR"/>
          </a:p>
        </p:txBody>
      </p:sp>
      <p:sp>
        <p:nvSpPr>
          <p:cNvPr id="20" name="Espace réservé du texte 5">
            <a:extLst>
              <a:ext uri="{FF2B5EF4-FFF2-40B4-BE49-F238E27FC236}">
                <a16:creationId xmlns:a16="http://schemas.microsoft.com/office/drawing/2014/main" id="{3F1CD7DD-D181-49CC-AB23-044798C2561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882205" y="1651448"/>
            <a:ext cx="4065955" cy="4437082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2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05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3" name="Espace réservé du texte 10">
            <a:extLst>
              <a:ext uri="{FF2B5EF4-FFF2-40B4-BE49-F238E27FC236}">
                <a16:creationId xmlns:a16="http://schemas.microsoft.com/office/drawing/2014/main" id="{7D1D7BFA-E030-42C2-BA65-D77EBDBBED1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47675" y="2422269"/>
            <a:ext cx="6616513" cy="3665793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16915014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ce réservé pour une image  17">
            <a:extLst>
              <a:ext uri="{FF2B5EF4-FFF2-40B4-BE49-F238E27FC236}">
                <a16:creationId xmlns:a16="http://schemas.microsoft.com/office/drawing/2014/main" id="{E9DDA93C-1418-B04A-81F3-105CC3DCE5F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724400" y="0"/>
            <a:ext cx="7467600" cy="41402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1BFC47-769E-BC49-AD97-190E89AD13B7}"/>
              </a:ext>
            </a:extLst>
          </p:cNvPr>
          <p:cNvSpPr/>
          <p:nvPr userDrawn="1"/>
        </p:nvSpPr>
        <p:spPr>
          <a:xfrm>
            <a:off x="7472844" y="4140200"/>
            <a:ext cx="4719155" cy="2717800"/>
          </a:xfrm>
          <a:prstGeom prst="rect">
            <a:avLst/>
          </a:prstGeom>
          <a:solidFill>
            <a:srgbClr val="1A1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3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4E77B4-5F63-4B46-9B56-BD4C29DD90F6}"/>
              </a:ext>
            </a:extLst>
          </p:cNvPr>
          <p:cNvSpPr/>
          <p:nvPr userDrawn="1"/>
        </p:nvSpPr>
        <p:spPr>
          <a:xfrm>
            <a:off x="4723691" y="4140200"/>
            <a:ext cx="2749154" cy="2717800"/>
          </a:xfrm>
          <a:prstGeom prst="rect">
            <a:avLst/>
          </a:prstGeom>
          <a:solidFill>
            <a:srgbClr val="01AB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1A1C30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F8FFA51-F643-6A41-B9D4-2C9AE20322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88081" y="4788913"/>
            <a:ext cx="1420374" cy="1420374"/>
          </a:xfrm>
          <a:prstGeom prst="rect">
            <a:avLst/>
          </a:prstGeom>
        </p:spPr>
      </p:pic>
      <p:sp>
        <p:nvSpPr>
          <p:cNvPr id="12" name="Espace réservé du texte 7">
            <a:extLst>
              <a:ext uri="{FF2B5EF4-FFF2-40B4-BE49-F238E27FC236}">
                <a16:creationId xmlns:a16="http://schemas.microsoft.com/office/drawing/2014/main" id="{75BB8309-E14D-DC4E-96FC-D3742210CBF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7084" y="1207891"/>
            <a:ext cx="4051099" cy="2846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spcBef>
                <a:spcPts val="0"/>
              </a:spcBef>
              <a:buClr>
                <a:schemeClr val="tx1"/>
              </a:buClr>
              <a:buNone/>
              <a:defRPr sz="2000" b="1" i="0" baseline="0">
                <a:solidFill>
                  <a:schemeClr val="accent1"/>
                </a:solidFill>
                <a:latin typeface="+mj-lt"/>
              </a:defRPr>
            </a:lvl1pPr>
            <a:lvl2pPr marL="6286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2pPr>
            <a:lvl3pPr marL="10858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3pPr>
            <a:lvl4pPr>
              <a:defRPr sz="1200">
                <a:latin typeface="Montserrat" panose="00000500000000000000" pitchFamily="2" charset="0"/>
              </a:defRPr>
            </a:lvl4pPr>
            <a:lvl5pPr>
              <a:defRPr sz="1200">
                <a:latin typeface="Montserrat" panose="00000500000000000000" pitchFamily="2" charset="0"/>
              </a:defRPr>
            </a:lvl5pPr>
          </a:lstStyle>
          <a:p>
            <a:pPr lvl="0"/>
            <a:r>
              <a:rPr lang="fr-FR"/>
              <a:t>Titre niveau 1</a:t>
            </a:r>
          </a:p>
        </p:txBody>
      </p:sp>
      <p:sp>
        <p:nvSpPr>
          <p:cNvPr id="13" name="Espace réservé du texte 7">
            <a:extLst>
              <a:ext uri="{FF2B5EF4-FFF2-40B4-BE49-F238E27FC236}">
                <a16:creationId xmlns:a16="http://schemas.microsoft.com/office/drawing/2014/main" id="{62FB8F45-1942-4541-AE15-2132F3280B9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7084" y="1776695"/>
            <a:ext cx="4051099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None/>
              <a:defRPr sz="1400" b="1" i="0" baseline="0">
                <a:solidFill>
                  <a:schemeClr val="accent2"/>
                </a:solidFill>
                <a:latin typeface="+mj-lt"/>
              </a:defRPr>
            </a:lvl1pPr>
            <a:lvl2pPr marL="6286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2pPr>
            <a:lvl3pPr marL="10858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3pPr>
            <a:lvl4pPr>
              <a:defRPr sz="1200">
                <a:latin typeface="Montserrat" panose="00000500000000000000" pitchFamily="2" charset="0"/>
              </a:defRPr>
            </a:lvl4pPr>
            <a:lvl5pPr>
              <a:defRPr sz="1200">
                <a:latin typeface="Montserrat" panose="00000500000000000000" pitchFamily="2" charset="0"/>
              </a:defRPr>
            </a:lvl5pPr>
          </a:lstStyle>
          <a:p>
            <a:pPr lvl="0"/>
            <a:r>
              <a:rPr lang="fr-FR"/>
              <a:t>Titre niveau 2</a:t>
            </a:r>
          </a:p>
        </p:txBody>
      </p:sp>
      <p:cxnSp>
        <p:nvCxnSpPr>
          <p:cNvPr id="14" name="Straight Arrow Connector 21">
            <a:extLst>
              <a:ext uri="{FF2B5EF4-FFF2-40B4-BE49-F238E27FC236}">
                <a16:creationId xmlns:a16="http://schemas.microsoft.com/office/drawing/2014/main" id="{A11694EB-EA2A-B844-9CF5-9DAFAD1CC128}"/>
              </a:ext>
            </a:extLst>
          </p:cNvPr>
          <p:cNvCxnSpPr>
            <a:cxnSpLocks/>
          </p:cNvCxnSpPr>
          <p:nvPr userDrawn="1"/>
        </p:nvCxnSpPr>
        <p:spPr>
          <a:xfrm>
            <a:off x="447084" y="1584912"/>
            <a:ext cx="411775" cy="0"/>
          </a:xfrm>
          <a:prstGeom prst="straightConnector1">
            <a:avLst/>
          </a:prstGeom>
          <a:ln w="12700" cap="rnd">
            <a:solidFill>
              <a:schemeClr val="bg2">
                <a:lumMod val="90000"/>
              </a:schemeClr>
            </a:solidFill>
            <a:prstDash val="solid"/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texte 7">
            <a:extLst>
              <a:ext uri="{FF2B5EF4-FFF2-40B4-BE49-F238E27FC236}">
                <a16:creationId xmlns:a16="http://schemas.microsoft.com/office/drawing/2014/main" id="{81886FDF-1E12-4442-B593-C70319D8839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963616" y="4909428"/>
            <a:ext cx="3812747" cy="37010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>
              <a:spcBef>
                <a:spcPts val="0"/>
              </a:spcBef>
              <a:buClr>
                <a:schemeClr val="tx1"/>
              </a:buClr>
              <a:buNone/>
              <a:defRPr sz="2600" b="1" i="0" baseline="0">
                <a:solidFill>
                  <a:schemeClr val="bg1"/>
                </a:solidFill>
                <a:latin typeface="+mj-lt"/>
              </a:defRPr>
            </a:lvl1pPr>
            <a:lvl2pPr marL="6286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2pPr>
            <a:lvl3pPr marL="10858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3pPr>
            <a:lvl4pPr>
              <a:defRPr sz="1200">
                <a:latin typeface="Montserrat" panose="00000500000000000000" pitchFamily="2" charset="0"/>
              </a:defRPr>
            </a:lvl4pPr>
            <a:lvl5pPr>
              <a:defRPr sz="1200">
                <a:latin typeface="Montserrat" panose="00000500000000000000" pitchFamily="2" charset="0"/>
              </a:defRPr>
            </a:lvl5pPr>
          </a:lstStyle>
          <a:p>
            <a:pPr lvl="0"/>
            <a:r>
              <a:rPr lang="fr-FR"/>
              <a:t>Phrase clé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57BE3B5E-CE60-408B-9394-08AF7CA07066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1353800" y="234239"/>
            <a:ext cx="736846" cy="365125"/>
          </a:xfrm>
          <a:prstGeom prst="rect">
            <a:avLst/>
          </a:prstGeom>
        </p:spPr>
        <p:txBody>
          <a:bodyPr/>
          <a:lstStyle/>
          <a:p>
            <a:pPr algn="r">
              <a:lnSpc>
                <a:spcPct val="90000"/>
              </a:lnSpc>
              <a:buClr>
                <a:schemeClr val="tx1"/>
              </a:buClr>
              <a:buSzPct val="70000"/>
              <a:buFont typeface="Arial" panose="020B0604020202020204" pitchFamily="34" charset="0"/>
              <a:buNone/>
            </a:pPr>
            <a:fld id="{3CFD10E6-B2D1-4815-BBFF-C0877C925E24}" type="slidenum">
              <a:rPr lang="fr-FR" smtClean="0"/>
              <a:pPr algn="r">
                <a:lnSpc>
                  <a:spcPct val="90000"/>
                </a:lnSpc>
                <a:buClr>
                  <a:schemeClr val="tx1"/>
                </a:buClr>
                <a:buSzPct val="70000"/>
                <a:buFont typeface="Arial" panose="020B0604020202020204" pitchFamily="34" charset="0"/>
                <a:buNone/>
              </a:pPr>
              <a:t>‹N°›</a:t>
            </a:fld>
            <a:endParaRPr lang="fr-FR"/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E2E58B78-2A38-4B0E-ADEC-683FE04E2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443" y="231959"/>
            <a:ext cx="3566604" cy="709074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17" name="Espace réservé du texte 10">
            <a:extLst>
              <a:ext uri="{FF2B5EF4-FFF2-40B4-BE49-F238E27FC236}">
                <a16:creationId xmlns:a16="http://schemas.microsoft.com/office/drawing/2014/main" id="{D88CC628-AA0E-46CE-8193-3A8D3015477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47084" y="2069087"/>
            <a:ext cx="4051100" cy="4018975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39675590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>
            <a:extLst>
              <a:ext uri="{FF2B5EF4-FFF2-40B4-BE49-F238E27FC236}">
                <a16:creationId xmlns:a16="http://schemas.microsoft.com/office/drawing/2014/main" id="{06DD300C-737C-9E4C-A050-BA0E513072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00488" y="1018048"/>
            <a:ext cx="3519913" cy="263993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F87FFFE-7450-974F-886B-67302EAC68E8}"/>
              </a:ext>
            </a:extLst>
          </p:cNvPr>
          <p:cNvSpPr/>
          <p:nvPr userDrawn="1"/>
        </p:nvSpPr>
        <p:spPr>
          <a:xfrm>
            <a:off x="0" y="1018047"/>
            <a:ext cx="6100488" cy="2639936"/>
          </a:xfrm>
          <a:prstGeom prst="rect">
            <a:avLst/>
          </a:prstGeom>
          <a:solidFill>
            <a:srgbClr val="01AB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DEFCBD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C35B34-3AD4-5B47-86AD-FA6BD9A128ED}"/>
              </a:ext>
            </a:extLst>
          </p:cNvPr>
          <p:cNvSpPr/>
          <p:nvPr userDrawn="1"/>
        </p:nvSpPr>
        <p:spPr>
          <a:xfrm>
            <a:off x="9207601" y="1018048"/>
            <a:ext cx="2984399" cy="2639935"/>
          </a:xfrm>
          <a:prstGeom prst="rect">
            <a:avLst/>
          </a:prstGeom>
          <a:solidFill>
            <a:srgbClr val="5EC4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5EC480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82595C3-9637-194D-8E12-7BC57FB848D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2266" y="1591192"/>
            <a:ext cx="2215068" cy="1493647"/>
          </a:xfrm>
          <a:prstGeom prst="rect">
            <a:avLst/>
          </a:prstGeom>
        </p:spPr>
      </p:pic>
      <p:cxnSp>
        <p:nvCxnSpPr>
          <p:cNvPr id="12" name="Straight Arrow Connector 21">
            <a:extLst>
              <a:ext uri="{FF2B5EF4-FFF2-40B4-BE49-F238E27FC236}">
                <a16:creationId xmlns:a16="http://schemas.microsoft.com/office/drawing/2014/main" id="{C2E77850-DAAD-5D48-B044-B502ADC56371}"/>
              </a:ext>
            </a:extLst>
          </p:cNvPr>
          <p:cNvCxnSpPr>
            <a:cxnSpLocks/>
          </p:cNvCxnSpPr>
          <p:nvPr userDrawn="1"/>
        </p:nvCxnSpPr>
        <p:spPr>
          <a:xfrm>
            <a:off x="447038" y="4277903"/>
            <a:ext cx="410399" cy="0"/>
          </a:xfrm>
          <a:prstGeom prst="straightConnector1">
            <a:avLst/>
          </a:prstGeom>
          <a:ln w="12700" cap="rnd">
            <a:solidFill>
              <a:schemeClr val="bg2">
                <a:lumMod val="90000"/>
              </a:schemeClr>
            </a:solidFill>
            <a:prstDash val="solid"/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21">
            <a:extLst>
              <a:ext uri="{FF2B5EF4-FFF2-40B4-BE49-F238E27FC236}">
                <a16:creationId xmlns:a16="http://schemas.microsoft.com/office/drawing/2014/main" id="{9B330407-CD74-244B-A533-16B89A20E6E7}"/>
              </a:ext>
            </a:extLst>
          </p:cNvPr>
          <p:cNvCxnSpPr>
            <a:cxnSpLocks/>
          </p:cNvCxnSpPr>
          <p:nvPr userDrawn="1"/>
        </p:nvCxnSpPr>
        <p:spPr>
          <a:xfrm>
            <a:off x="9267545" y="4277903"/>
            <a:ext cx="410399" cy="0"/>
          </a:xfrm>
          <a:prstGeom prst="straightConnector1">
            <a:avLst/>
          </a:prstGeom>
          <a:ln w="12700" cap="rnd">
            <a:solidFill>
              <a:schemeClr val="bg2">
                <a:lumMod val="90000"/>
              </a:schemeClr>
            </a:solidFill>
            <a:prstDash val="solid"/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1">
            <a:extLst>
              <a:ext uri="{FF2B5EF4-FFF2-40B4-BE49-F238E27FC236}">
                <a16:creationId xmlns:a16="http://schemas.microsoft.com/office/drawing/2014/main" id="{51801828-BA18-F641-B0C1-A0877BAD9A0B}"/>
              </a:ext>
            </a:extLst>
          </p:cNvPr>
          <p:cNvCxnSpPr>
            <a:cxnSpLocks/>
          </p:cNvCxnSpPr>
          <p:nvPr userDrawn="1"/>
        </p:nvCxnSpPr>
        <p:spPr>
          <a:xfrm>
            <a:off x="6320971" y="4277903"/>
            <a:ext cx="410399" cy="0"/>
          </a:xfrm>
          <a:prstGeom prst="straightConnector1">
            <a:avLst/>
          </a:prstGeom>
          <a:ln w="12700" cap="rnd">
            <a:solidFill>
              <a:schemeClr val="bg2">
                <a:lumMod val="90000"/>
              </a:schemeClr>
            </a:solidFill>
            <a:prstDash val="solid"/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1">
            <a:extLst>
              <a:ext uri="{FF2B5EF4-FFF2-40B4-BE49-F238E27FC236}">
                <a16:creationId xmlns:a16="http://schemas.microsoft.com/office/drawing/2014/main" id="{5F1D6481-6A68-4242-A3D7-DE173271D2DC}"/>
              </a:ext>
            </a:extLst>
          </p:cNvPr>
          <p:cNvCxnSpPr>
            <a:cxnSpLocks/>
          </p:cNvCxnSpPr>
          <p:nvPr userDrawn="1"/>
        </p:nvCxnSpPr>
        <p:spPr>
          <a:xfrm>
            <a:off x="3381567" y="4277903"/>
            <a:ext cx="410399" cy="0"/>
          </a:xfrm>
          <a:prstGeom prst="straightConnector1">
            <a:avLst/>
          </a:prstGeom>
          <a:ln w="12700" cap="rnd">
            <a:solidFill>
              <a:schemeClr val="bg2">
                <a:lumMod val="90000"/>
              </a:schemeClr>
            </a:solidFill>
            <a:prstDash val="solid"/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>
            <a:extLst>
              <a:ext uri="{FF2B5EF4-FFF2-40B4-BE49-F238E27FC236}">
                <a16:creationId xmlns:a16="http://schemas.microsoft.com/office/drawing/2014/main" id="{8C619DA1-4643-4F43-A307-BEE330F55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CB03278-D8D0-4B08-98E8-4BBF29EBE87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353800" y="234239"/>
            <a:ext cx="736846" cy="365125"/>
          </a:xfrm>
          <a:prstGeom prst="rect">
            <a:avLst/>
          </a:prstGeom>
        </p:spPr>
        <p:txBody>
          <a:bodyPr/>
          <a:lstStyle/>
          <a:p>
            <a:pPr algn="r">
              <a:lnSpc>
                <a:spcPct val="90000"/>
              </a:lnSpc>
              <a:buClr>
                <a:schemeClr val="tx1"/>
              </a:buClr>
              <a:buSzPct val="70000"/>
              <a:buFont typeface="Arial" panose="020B0604020202020204" pitchFamily="34" charset="0"/>
              <a:buNone/>
            </a:pPr>
            <a:fld id="{3CFD10E6-B2D1-4815-BBFF-C0877C925E24}" type="slidenum">
              <a:rPr lang="fr-FR" smtClean="0"/>
              <a:pPr algn="r">
                <a:lnSpc>
                  <a:spcPct val="90000"/>
                </a:lnSpc>
                <a:buClr>
                  <a:schemeClr val="tx1"/>
                </a:buClr>
                <a:buSzPct val="70000"/>
                <a:buFont typeface="Arial" panose="020B0604020202020204" pitchFamily="34" charset="0"/>
                <a:buNone/>
              </a:pPr>
              <a:t>‹N°›</a:t>
            </a:fld>
            <a:endParaRPr lang="fr-FR"/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C4190BDC-F4BD-4529-A9C1-B02967E61AE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47038" y="4462463"/>
            <a:ext cx="2592000" cy="1992312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7" name="Espace réservé du texte 14">
            <a:extLst>
              <a:ext uri="{FF2B5EF4-FFF2-40B4-BE49-F238E27FC236}">
                <a16:creationId xmlns:a16="http://schemas.microsoft.com/office/drawing/2014/main" id="{1EDBC576-090C-411C-A8DF-3D2A093AA01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393612" y="4462463"/>
            <a:ext cx="2592000" cy="1992312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8" name="Espace réservé du texte 14">
            <a:extLst>
              <a:ext uri="{FF2B5EF4-FFF2-40B4-BE49-F238E27FC236}">
                <a16:creationId xmlns:a16="http://schemas.microsoft.com/office/drawing/2014/main" id="{93873087-569A-405D-8FC9-5B7635EC183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20971" y="4462463"/>
            <a:ext cx="2592000" cy="1992312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9" name="Espace réservé du texte 14">
            <a:extLst>
              <a:ext uri="{FF2B5EF4-FFF2-40B4-BE49-F238E27FC236}">
                <a16:creationId xmlns:a16="http://schemas.microsoft.com/office/drawing/2014/main" id="{F83228CB-B107-4D91-AA2F-1488885DAA8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267545" y="4462463"/>
            <a:ext cx="2592000" cy="1992312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0" name="Espace réservé du texte 14">
            <a:extLst>
              <a:ext uri="{FF2B5EF4-FFF2-40B4-BE49-F238E27FC236}">
                <a16:creationId xmlns:a16="http://schemas.microsoft.com/office/drawing/2014/main" id="{1DACC32F-CC2A-4907-A606-A73154BE410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7038" y="3847641"/>
            <a:ext cx="2592000" cy="284693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fr-FR" sz="2000" b="0" i="0" baseline="0" dirty="0" smtClean="0">
                <a:solidFill>
                  <a:srgbClr val="1A1C30"/>
                </a:solidFill>
                <a:latin typeface="+mj-lt"/>
              </a:defRPr>
            </a:lvl1pPr>
          </a:lstStyle>
          <a:p>
            <a:pPr lvl="0">
              <a:spcBef>
                <a:spcPts val="0"/>
              </a:spcBef>
              <a:buClr>
                <a:schemeClr val="tx1"/>
              </a:buClr>
            </a:pPr>
            <a:r>
              <a:rPr lang="fr-FR"/>
              <a:t>Conseil &amp; AMOA</a:t>
            </a:r>
          </a:p>
        </p:txBody>
      </p:sp>
      <p:sp>
        <p:nvSpPr>
          <p:cNvPr id="31" name="Espace réservé du texte 14">
            <a:extLst>
              <a:ext uri="{FF2B5EF4-FFF2-40B4-BE49-F238E27FC236}">
                <a16:creationId xmlns:a16="http://schemas.microsoft.com/office/drawing/2014/main" id="{8FDF18CD-F3CB-418D-9BD2-D170927F9DF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393612" y="3842542"/>
            <a:ext cx="2592000" cy="284693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fr-FR" sz="2000" b="0" i="0" baseline="0" dirty="0" smtClean="0">
                <a:solidFill>
                  <a:srgbClr val="96ADE3"/>
                </a:solidFill>
                <a:latin typeface="+mj-lt"/>
              </a:defRPr>
            </a:lvl1pPr>
          </a:lstStyle>
          <a:p>
            <a:pPr lvl="0">
              <a:spcBef>
                <a:spcPts val="0"/>
              </a:spcBef>
              <a:buClr>
                <a:schemeClr val="tx1"/>
              </a:buClr>
            </a:pPr>
            <a:r>
              <a:rPr lang="fr-FR"/>
              <a:t>CFO solutions</a:t>
            </a:r>
          </a:p>
        </p:txBody>
      </p:sp>
      <p:sp>
        <p:nvSpPr>
          <p:cNvPr id="32" name="Espace réservé du texte 14">
            <a:extLst>
              <a:ext uri="{FF2B5EF4-FFF2-40B4-BE49-F238E27FC236}">
                <a16:creationId xmlns:a16="http://schemas.microsoft.com/office/drawing/2014/main" id="{87965A3B-8E7F-4D7F-B2AE-9E7E89DD65A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40186" y="3842542"/>
            <a:ext cx="2572785" cy="284693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fr-FR" sz="2000" b="0" i="0" baseline="0" dirty="0" smtClean="0">
                <a:solidFill>
                  <a:srgbClr val="01ABBD"/>
                </a:solidFill>
                <a:latin typeface="+mj-lt"/>
              </a:defRPr>
            </a:lvl1pPr>
          </a:lstStyle>
          <a:p>
            <a:pPr lvl="0">
              <a:spcBef>
                <a:spcPts val="0"/>
              </a:spcBef>
              <a:buClr>
                <a:schemeClr val="tx1"/>
              </a:buClr>
            </a:pPr>
            <a:r>
              <a:rPr lang="fr-FR"/>
              <a:t>Digital transformation</a:t>
            </a:r>
          </a:p>
        </p:txBody>
      </p:sp>
      <p:sp>
        <p:nvSpPr>
          <p:cNvPr id="33" name="Espace réservé du texte 14">
            <a:extLst>
              <a:ext uri="{FF2B5EF4-FFF2-40B4-BE49-F238E27FC236}">
                <a16:creationId xmlns:a16="http://schemas.microsoft.com/office/drawing/2014/main" id="{649A259A-5A5E-468E-8DAC-C6FED8A8885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267545" y="3842542"/>
            <a:ext cx="2592000" cy="284693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fr-FR" sz="2000" b="0" i="0" baseline="0" dirty="0" smtClean="0">
                <a:solidFill>
                  <a:srgbClr val="5EC480"/>
                </a:solidFill>
                <a:latin typeface="+mj-lt"/>
              </a:defRPr>
            </a:lvl1pPr>
          </a:lstStyle>
          <a:p>
            <a:pPr lvl="0">
              <a:spcBef>
                <a:spcPts val="0"/>
              </a:spcBef>
              <a:buClr>
                <a:schemeClr val="tx1"/>
              </a:buClr>
            </a:pPr>
            <a:r>
              <a:rPr lang="fr-FR"/>
              <a:t>Smart ERP</a:t>
            </a:r>
          </a:p>
        </p:txBody>
      </p:sp>
    </p:spTree>
    <p:extLst>
      <p:ext uri="{BB962C8B-B14F-4D97-AF65-F5344CB8AC3E}">
        <p14:creationId xmlns:p14="http://schemas.microsoft.com/office/powerpoint/2010/main" val="164828152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A184832E-6E5A-8845-8C7A-E2FAF4643F5F}"/>
              </a:ext>
            </a:extLst>
          </p:cNvPr>
          <p:cNvSpPr/>
          <p:nvPr userDrawn="1"/>
        </p:nvSpPr>
        <p:spPr>
          <a:xfrm>
            <a:off x="7468310" y="3811469"/>
            <a:ext cx="4723690" cy="304653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01ABBD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B956DF-9DFB-CE4F-9784-4695E7615FF1}"/>
              </a:ext>
            </a:extLst>
          </p:cNvPr>
          <p:cNvSpPr/>
          <p:nvPr userDrawn="1"/>
        </p:nvSpPr>
        <p:spPr>
          <a:xfrm>
            <a:off x="7468310" y="769470"/>
            <a:ext cx="4723690" cy="3041999"/>
          </a:xfrm>
          <a:prstGeom prst="rect">
            <a:avLst/>
          </a:prstGeom>
          <a:solidFill>
            <a:srgbClr val="DEFC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01ABBD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C668571-B0FD-6341-BB6D-70EE11DE39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15933" y="4001142"/>
            <a:ext cx="828444" cy="1084509"/>
          </a:xfrm>
          <a:prstGeom prst="rect">
            <a:avLst/>
          </a:prstGeom>
        </p:spPr>
      </p:pic>
      <p:sp>
        <p:nvSpPr>
          <p:cNvPr id="12" name="Espace réservé du texte 7">
            <a:extLst>
              <a:ext uri="{FF2B5EF4-FFF2-40B4-BE49-F238E27FC236}">
                <a16:creationId xmlns:a16="http://schemas.microsoft.com/office/drawing/2014/main" id="{CCDE4975-D157-AD45-9E48-D62A6B1013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7084" y="1091153"/>
            <a:ext cx="6617104" cy="2846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spcBef>
                <a:spcPts val="0"/>
              </a:spcBef>
              <a:buClr>
                <a:schemeClr val="tx1"/>
              </a:buClr>
              <a:buNone/>
              <a:defRPr sz="2000" b="1" i="0" baseline="0">
                <a:solidFill>
                  <a:schemeClr val="accent1"/>
                </a:solidFill>
                <a:latin typeface="+mj-lt"/>
              </a:defRPr>
            </a:lvl1pPr>
            <a:lvl2pPr marL="6286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2pPr>
            <a:lvl3pPr marL="10858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3pPr>
            <a:lvl4pPr>
              <a:defRPr sz="1200">
                <a:latin typeface="Montserrat" panose="00000500000000000000" pitchFamily="2" charset="0"/>
              </a:defRPr>
            </a:lvl4pPr>
            <a:lvl5pPr>
              <a:defRPr sz="1200">
                <a:latin typeface="Montserrat" panose="00000500000000000000" pitchFamily="2" charset="0"/>
              </a:defRPr>
            </a:lvl5pPr>
          </a:lstStyle>
          <a:p>
            <a:pPr lvl="0"/>
            <a:r>
              <a:rPr lang="fr-FR"/>
              <a:t>Titre niveau 1</a:t>
            </a:r>
          </a:p>
        </p:txBody>
      </p:sp>
      <p:cxnSp>
        <p:nvCxnSpPr>
          <p:cNvPr id="14" name="Straight Arrow Connector 21">
            <a:extLst>
              <a:ext uri="{FF2B5EF4-FFF2-40B4-BE49-F238E27FC236}">
                <a16:creationId xmlns:a16="http://schemas.microsoft.com/office/drawing/2014/main" id="{1CE3AD9B-B34A-9E4F-975F-F6E522A58868}"/>
              </a:ext>
            </a:extLst>
          </p:cNvPr>
          <p:cNvCxnSpPr>
            <a:cxnSpLocks/>
          </p:cNvCxnSpPr>
          <p:nvPr userDrawn="1"/>
        </p:nvCxnSpPr>
        <p:spPr>
          <a:xfrm>
            <a:off x="447084" y="1468174"/>
            <a:ext cx="411775" cy="0"/>
          </a:xfrm>
          <a:prstGeom prst="straightConnector1">
            <a:avLst/>
          </a:prstGeom>
          <a:ln w="12700" cap="rnd">
            <a:solidFill>
              <a:schemeClr val="bg2">
                <a:lumMod val="90000"/>
              </a:schemeClr>
            </a:solidFill>
            <a:prstDash val="solid"/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ce réservé du texte 7">
            <a:extLst>
              <a:ext uri="{FF2B5EF4-FFF2-40B4-BE49-F238E27FC236}">
                <a16:creationId xmlns:a16="http://schemas.microsoft.com/office/drawing/2014/main" id="{AAEAB3C7-4C9D-7243-8699-06482352E14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82205" y="1091153"/>
            <a:ext cx="4065955" cy="2846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spcBef>
                <a:spcPts val="0"/>
              </a:spcBef>
              <a:buClr>
                <a:schemeClr val="tx1"/>
              </a:buClr>
              <a:buNone/>
              <a:defRPr sz="2000" b="1" i="0" baseline="0">
                <a:solidFill>
                  <a:schemeClr val="accent2"/>
                </a:solidFill>
                <a:latin typeface="+mj-lt"/>
              </a:defRPr>
            </a:lvl1pPr>
            <a:lvl2pPr marL="6286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2pPr>
            <a:lvl3pPr marL="10858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3pPr>
            <a:lvl4pPr>
              <a:defRPr sz="1200">
                <a:latin typeface="Montserrat" panose="00000500000000000000" pitchFamily="2" charset="0"/>
              </a:defRPr>
            </a:lvl4pPr>
            <a:lvl5pPr>
              <a:defRPr sz="1200">
                <a:latin typeface="Montserrat" panose="00000500000000000000" pitchFamily="2" charset="0"/>
              </a:defRPr>
            </a:lvl5pPr>
          </a:lstStyle>
          <a:p>
            <a:pPr lvl="0"/>
            <a:r>
              <a:rPr lang="fr-FR"/>
              <a:t>Titre niveau 1</a:t>
            </a:r>
          </a:p>
        </p:txBody>
      </p:sp>
      <p:cxnSp>
        <p:nvCxnSpPr>
          <p:cNvPr id="17" name="Straight Arrow Connector 21">
            <a:extLst>
              <a:ext uri="{FF2B5EF4-FFF2-40B4-BE49-F238E27FC236}">
                <a16:creationId xmlns:a16="http://schemas.microsoft.com/office/drawing/2014/main" id="{4628ECAA-4998-C944-9CC4-289FE183D47F}"/>
              </a:ext>
            </a:extLst>
          </p:cNvPr>
          <p:cNvCxnSpPr>
            <a:cxnSpLocks/>
          </p:cNvCxnSpPr>
          <p:nvPr userDrawn="1"/>
        </p:nvCxnSpPr>
        <p:spPr>
          <a:xfrm>
            <a:off x="7882205" y="1468174"/>
            <a:ext cx="410399" cy="0"/>
          </a:xfrm>
          <a:prstGeom prst="straightConnector1">
            <a:avLst/>
          </a:prstGeom>
          <a:ln w="12700" cap="rnd">
            <a:solidFill>
              <a:schemeClr val="bg2">
                <a:lumMod val="90000"/>
              </a:schemeClr>
            </a:solidFill>
            <a:prstDash val="solid"/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space réservé du texte 7">
            <a:extLst>
              <a:ext uri="{FF2B5EF4-FFF2-40B4-BE49-F238E27FC236}">
                <a16:creationId xmlns:a16="http://schemas.microsoft.com/office/drawing/2014/main" id="{B7D4737F-E801-F044-9541-FF73289C279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963616" y="5337000"/>
            <a:ext cx="3812747" cy="37010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>
              <a:spcBef>
                <a:spcPts val="0"/>
              </a:spcBef>
              <a:buClr>
                <a:schemeClr val="tx1"/>
              </a:buClr>
              <a:buNone/>
              <a:defRPr sz="2600" b="1" i="0" baseline="0">
                <a:solidFill>
                  <a:schemeClr val="bg1"/>
                </a:solidFill>
                <a:latin typeface="+mj-lt"/>
              </a:defRPr>
            </a:lvl1pPr>
            <a:lvl2pPr marL="6286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2pPr>
            <a:lvl3pPr marL="10858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3pPr>
            <a:lvl4pPr>
              <a:defRPr sz="1200">
                <a:latin typeface="Montserrat" panose="00000500000000000000" pitchFamily="2" charset="0"/>
              </a:defRPr>
            </a:lvl4pPr>
            <a:lvl5pPr>
              <a:defRPr sz="1200">
                <a:latin typeface="Montserrat" panose="00000500000000000000" pitchFamily="2" charset="0"/>
              </a:defRPr>
            </a:lvl5pPr>
          </a:lstStyle>
          <a:p>
            <a:pPr lvl="0"/>
            <a:r>
              <a:rPr lang="fr-FR"/>
              <a:t>Phrase clé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2E3A677-A8EE-4121-B02D-5F95B6AB6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B6375DC3-FC76-4A9C-AF13-0858147AD427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11353800" y="234239"/>
            <a:ext cx="736846" cy="365125"/>
          </a:xfrm>
          <a:prstGeom prst="rect">
            <a:avLst/>
          </a:prstGeom>
        </p:spPr>
        <p:txBody>
          <a:bodyPr/>
          <a:lstStyle/>
          <a:p>
            <a:pPr algn="r">
              <a:lnSpc>
                <a:spcPct val="90000"/>
              </a:lnSpc>
              <a:buClr>
                <a:schemeClr val="tx1"/>
              </a:buClr>
              <a:buSzPct val="70000"/>
              <a:buFont typeface="Arial" panose="020B0604020202020204" pitchFamily="34" charset="0"/>
              <a:buNone/>
            </a:pPr>
            <a:fld id="{3CFD10E6-B2D1-4815-BBFF-C0877C925E24}" type="slidenum">
              <a:rPr lang="fr-FR" smtClean="0"/>
              <a:pPr algn="r">
                <a:lnSpc>
                  <a:spcPct val="90000"/>
                </a:lnSpc>
                <a:buClr>
                  <a:schemeClr val="tx1"/>
                </a:buClr>
                <a:buSzPct val="70000"/>
                <a:buFont typeface="Arial" panose="020B0604020202020204" pitchFamily="34" charset="0"/>
                <a:buNone/>
              </a:pPr>
              <a:t>‹N°›</a:t>
            </a:fld>
            <a:endParaRPr lang="fr-FR"/>
          </a:p>
        </p:txBody>
      </p:sp>
      <p:sp>
        <p:nvSpPr>
          <p:cNvPr id="20" name="Espace réservé du texte 5">
            <a:extLst>
              <a:ext uri="{FF2B5EF4-FFF2-40B4-BE49-F238E27FC236}">
                <a16:creationId xmlns:a16="http://schemas.microsoft.com/office/drawing/2014/main" id="{D5F08F8C-6298-434A-8877-82D05BA1156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882205" y="1651448"/>
            <a:ext cx="4065955" cy="2098345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tx1"/>
                </a:solidFill>
              </a:defRPr>
            </a:lvl1pPr>
            <a:lvl2pPr>
              <a:buClrTx/>
              <a:defRPr sz="1200">
                <a:solidFill>
                  <a:schemeClr val="tx1"/>
                </a:solidFill>
              </a:defRPr>
            </a:lvl2pPr>
            <a:lvl3pPr>
              <a:buClrTx/>
              <a:defRPr sz="1100">
                <a:solidFill>
                  <a:schemeClr val="tx1"/>
                </a:solidFill>
              </a:defRPr>
            </a:lvl3pPr>
            <a:lvl4pPr>
              <a:buClrTx/>
              <a:defRPr sz="1050">
                <a:solidFill>
                  <a:schemeClr val="tx1"/>
                </a:solidFill>
              </a:defRPr>
            </a:lvl4pPr>
            <a:lvl5pPr>
              <a:buClrTx/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1" name="Espace réservé du texte 10">
            <a:extLst>
              <a:ext uri="{FF2B5EF4-FFF2-40B4-BE49-F238E27FC236}">
                <a16:creationId xmlns:a16="http://schemas.microsoft.com/office/drawing/2014/main" id="{8088F9B9-F1A5-48D3-80A2-D332F8B3131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47675" y="1697529"/>
            <a:ext cx="6616513" cy="4390534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50367299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DB1BD326-7117-7043-8428-9777637733A9}"/>
              </a:ext>
            </a:extLst>
          </p:cNvPr>
          <p:cNvSpPr/>
          <p:nvPr userDrawn="1"/>
        </p:nvSpPr>
        <p:spPr>
          <a:xfrm>
            <a:off x="5908280" y="-10691"/>
            <a:ext cx="6283720" cy="3446221"/>
          </a:xfrm>
          <a:prstGeom prst="rect">
            <a:avLst/>
          </a:prstGeom>
          <a:solidFill>
            <a:srgbClr val="1A1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3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2320D5-0F2C-FD4C-934A-2DB91617EC33}"/>
              </a:ext>
            </a:extLst>
          </p:cNvPr>
          <p:cNvSpPr/>
          <p:nvPr userDrawn="1"/>
        </p:nvSpPr>
        <p:spPr>
          <a:xfrm>
            <a:off x="5908280" y="3418309"/>
            <a:ext cx="6283720" cy="3446221"/>
          </a:xfrm>
          <a:prstGeom prst="rect">
            <a:avLst/>
          </a:prstGeom>
          <a:solidFill>
            <a:srgbClr val="01AB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3"/>
              </a:solidFill>
            </a:endParaRPr>
          </a:p>
        </p:txBody>
      </p:sp>
      <p:sp>
        <p:nvSpPr>
          <p:cNvPr id="12" name="Espace réservé du texte 7">
            <a:extLst>
              <a:ext uri="{FF2B5EF4-FFF2-40B4-BE49-F238E27FC236}">
                <a16:creationId xmlns:a16="http://schemas.microsoft.com/office/drawing/2014/main" id="{CCDE4975-D157-AD45-9E48-D62A6B1013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7084" y="1091153"/>
            <a:ext cx="5102709" cy="2846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spcBef>
                <a:spcPts val="0"/>
              </a:spcBef>
              <a:buClr>
                <a:schemeClr val="tx1"/>
              </a:buClr>
              <a:buNone/>
              <a:defRPr sz="2000" b="1" i="0" baseline="0">
                <a:solidFill>
                  <a:schemeClr val="accent1"/>
                </a:solidFill>
                <a:latin typeface="+mj-lt"/>
              </a:defRPr>
            </a:lvl1pPr>
            <a:lvl2pPr marL="6286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2pPr>
            <a:lvl3pPr marL="10858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3pPr>
            <a:lvl4pPr>
              <a:defRPr sz="1200">
                <a:latin typeface="Montserrat" panose="00000500000000000000" pitchFamily="2" charset="0"/>
              </a:defRPr>
            </a:lvl4pPr>
            <a:lvl5pPr>
              <a:defRPr sz="1200">
                <a:latin typeface="Montserrat" panose="00000500000000000000" pitchFamily="2" charset="0"/>
              </a:defRPr>
            </a:lvl5pPr>
          </a:lstStyle>
          <a:p>
            <a:pPr lvl="0"/>
            <a:r>
              <a:rPr lang="fr-FR"/>
              <a:t>Titre niveau 1</a:t>
            </a:r>
          </a:p>
        </p:txBody>
      </p:sp>
      <p:pic>
        <p:nvPicPr>
          <p:cNvPr id="28" name="Image 27">
            <a:extLst>
              <a:ext uri="{FF2B5EF4-FFF2-40B4-BE49-F238E27FC236}">
                <a16:creationId xmlns:a16="http://schemas.microsoft.com/office/drawing/2014/main" id="{89FA0F18-F71D-6049-82B1-6C61669B303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16866" y="495188"/>
            <a:ext cx="2266548" cy="2429844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B6D492CA-CA1A-4C08-BF82-39D44385C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443" y="231959"/>
            <a:ext cx="4750484" cy="709074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B8BE813-54EB-40BC-907A-8271D9EB5F8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353800" y="234239"/>
            <a:ext cx="736846" cy="365125"/>
          </a:xfrm>
          <a:prstGeom prst="rect">
            <a:avLst/>
          </a:prstGeom>
        </p:spPr>
        <p:txBody>
          <a:bodyPr/>
          <a:lstStyle/>
          <a:p>
            <a:pPr algn="r">
              <a:lnSpc>
                <a:spcPct val="90000"/>
              </a:lnSpc>
              <a:buClr>
                <a:schemeClr val="tx1"/>
              </a:buClr>
              <a:buSzPct val="70000"/>
              <a:buFont typeface="Arial" panose="020B0604020202020204" pitchFamily="34" charset="0"/>
              <a:buNone/>
            </a:pPr>
            <a:fld id="{3CFD10E6-B2D1-4815-BBFF-C0877C925E24}" type="slidenum">
              <a:rPr lang="fr-FR" smtClean="0"/>
              <a:pPr algn="r">
                <a:lnSpc>
                  <a:spcPct val="90000"/>
                </a:lnSpc>
                <a:buClr>
                  <a:schemeClr val="tx1"/>
                </a:buClr>
                <a:buSzPct val="70000"/>
                <a:buFont typeface="Arial" panose="020B0604020202020204" pitchFamily="34" charset="0"/>
                <a:buNone/>
              </a:pPr>
              <a:t>‹N°›</a:t>
            </a:fld>
            <a:endParaRPr lang="fr-FR"/>
          </a:p>
        </p:txBody>
      </p:sp>
      <p:sp>
        <p:nvSpPr>
          <p:cNvPr id="13" name="Espace réservé du texte 10">
            <a:extLst>
              <a:ext uri="{FF2B5EF4-FFF2-40B4-BE49-F238E27FC236}">
                <a16:creationId xmlns:a16="http://schemas.microsoft.com/office/drawing/2014/main" id="{E485A6BC-6470-4D2F-9E2C-4B292A03927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47676" y="1697529"/>
            <a:ext cx="5102118" cy="4390534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3470480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9E3AF64-8D33-2444-B35B-BBF3EDE4BE09}"/>
              </a:ext>
            </a:extLst>
          </p:cNvPr>
          <p:cNvSpPr/>
          <p:nvPr userDrawn="1"/>
        </p:nvSpPr>
        <p:spPr>
          <a:xfrm>
            <a:off x="-1488" y="1003176"/>
            <a:ext cx="2880000" cy="5854823"/>
          </a:xfrm>
          <a:prstGeom prst="rect">
            <a:avLst/>
          </a:prstGeom>
          <a:solidFill>
            <a:srgbClr val="01AB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1A1C3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C71928-2725-0145-A721-1A00AB1C5C5A}"/>
              </a:ext>
            </a:extLst>
          </p:cNvPr>
          <p:cNvSpPr/>
          <p:nvPr userDrawn="1"/>
        </p:nvSpPr>
        <p:spPr>
          <a:xfrm>
            <a:off x="9327598" y="1003176"/>
            <a:ext cx="2880000" cy="585482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1A1C30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DB18F7F-A819-47FA-B648-C21DD52B84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Consultant XX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1D4397C-16F9-4A84-BDB8-04C72C821A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3800" y="234239"/>
            <a:ext cx="736846" cy="365125"/>
          </a:xfrm>
          <a:prstGeom prst="rect">
            <a:avLst/>
          </a:prstGeom>
        </p:spPr>
        <p:txBody>
          <a:bodyPr/>
          <a:lstStyle/>
          <a:p>
            <a:pPr algn="r">
              <a:lnSpc>
                <a:spcPct val="90000"/>
              </a:lnSpc>
              <a:buClr>
                <a:schemeClr val="tx1"/>
              </a:buClr>
              <a:buSzPct val="70000"/>
              <a:buFont typeface="Arial" panose="020B0604020202020204" pitchFamily="34" charset="0"/>
              <a:buNone/>
            </a:pPr>
            <a:fld id="{3CFD10E6-B2D1-4815-BBFF-C0877C925E24}" type="slidenum">
              <a:rPr lang="fr-FR" smtClean="0"/>
              <a:pPr algn="r">
                <a:lnSpc>
                  <a:spcPct val="90000"/>
                </a:lnSpc>
                <a:buClr>
                  <a:schemeClr val="tx1"/>
                </a:buClr>
                <a:buSzPct val="70000"/>
                <a:buFont typeface="Arial" panose="020B0604020202020204" pitchFamily="34" charset="0"/>
                <a:buNone/>
              </a:pPr>
              <a:t>‹N°›</a:t>
            </a:fld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93F90FC-E2E6-4970-811B-0A01B631DC96}"/>
              </a:ext>
            </a:extLst>
          </p:cNvPr>
          <p:cNvSpPr txBox="1"/>
          <p:nvPr userDrawn="1"/>
        </p:nvSpPr>
        <p:spPr>
          <a:xfrm>
            <a:off x="9528436" y="2218162"/>
            <a:ext cx="24197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>
                <a:solidFill>
                  <a:srgbClr val="01ABBD"/>
                </a:solidFill>
                <a:latin typeface="+mj-lt"/>
                <a:cs typeface="Calibri" panose="020F0502020204030204" pitchFamily="34" charset="0"/>
              </a:rPr>
              <a:t>Compétences métier</a:t>
            </a:r>
          </a:p>
        </p:txBody>
      </p:sp>
      <p:sp>
        <p:nvSpPr>
          <p:cNvPr id="12" name="ZoneTexte 15">
            <a:extLst>
              <a:ext uri="{FF2B5EF4-FFF2-40B4-BE49-F238E27FC236}">
                <a16:creationId xmlns:a16="http://schemas.microsoft.com/office/drawing/2014/main" id="{869B7699-069D-4FD0-94FE-2D69E9EA06D5}"/>
              </a:ext>
            </a:extLst>
          </p:cNvPr>
          <p:cNvSpPr txBox="1"/>
          <p:nvPr userDrawn="1"/>
        </p:nvSpPr>
        <p:spPr>
          <a:xfrm>
            <a:off x="3239673" y="952982"/>
            <a:ext cx="39465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1600" b="1">
                <a:solidFill>
                  <a:srgbClr val="01ABBD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Expérience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D5EE811E-6C44-4A01-8DB3-BA4C3A2D7A2D}"/>
              </a:ext>
            </a:extLst>
          </p:cNvPr>
          <p:cNvSpPr txBox="1"/>
          <p:nvPr userDrawn="1"/>
        </p:nvSpPr>
        <p:spPr>
          <a:xfrm>
            <a:off x="142242" y="4547787"/>
            <a:ext cx="27025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>
                <a:solidFill>
                  <a:srgbClr val="C4E453"/>
                </a:solidFill>
                <a:latin typeface="+mj-lt"/>
              </a:rPr>
              <a:t>Certifications et formations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F1C9BEDF-DB44-4915-BF63-3693CC267DB8}"/>
              </a:ext>
            </a:extLst>
          </p:cNvPr>
          <p:cNvSpPr txBox="1"/>
          <p:nvPr userDrawn="1"/>
        </p:nvSpPr>
        <p:spPr>
          <a:xfrm>
            <a:off x="128359" y="3056451"/>
            <a:ext cx="2404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>
                <a:solidFill>
                  <a:schemeClr val="accent1"/>
                </a:solidFill>
              </a:defRPr>
            </a:lvl1pPr>
          </a:lstStyle>
          <a:p>
            <a:pPr algn="l"/>
            <a:r>
              <a:rPr lang="fr-FR">
                <a:solidFill>
                  <a:srgbClr val="C4E453"/>
                </a:solidFill>
                <a:latin typeface="+mj-lt"/>
              </a:rPr>
              <a:t>Expertises/outils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6C7016E-898D-4BCF-9ACA-24ABF7B9947A}"/>
              </a:ext>
            </a:extLst>
          </p:cNvPr>
          <p:cNvSpPr txBox="1"/>
          <p:nvPr userDrawn="1"/>
        </p:nvSpPr>
        <p:spPr>
          <a:xfrm>
            <a:off x="9519224" y="964511"/>
            <a:ext cx="25920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1600" b="1">
                <a:solidFill>
                  <a:srgbClr val="01ABBD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Secteurs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3C6E1714-767C-4564-91C1-8151B95C6159}"/>
              </a:ext>
            </a:extLst>
          </p:cNvPr>
          <p:cNvSpPr txBox="1"/>
          <p:nvPr userDrawn="1"/>
        </p:nvSpPr>
        <p:spPr>
          <a:xfrm>
            <a:off x="9535363" y="3673332"/>
            <a:ext cx="24197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>
                <a:solidFill>
                  <a:srgbClr val="01ABBD"/>
                </a:solidFill>
                <a:latin typeface="+mj-lt"/>
                <a:cs typeface="Calibri" panose="020F0502020204030204" pitchFamily="34" charset="0"/>
              </a:rPr>
              <a:t>Compétences outils</a:t>
            </a:r>
          </a:p>
        </p:txBody>
      </p:sp>
      <p:sp>
        <p:nvSpPr>
          <p:cNvPr id="105" name="ZoneTexte 104">
            <a:extLst>
              <a:ext uri="{FF2B5EF4-FFF2-40B4-BE49-F238E27FC236}">
                <a16:creationId xmlns:a16="http://schemas.microsoft.com/office/drawing/2014/main" id="{FC2B900A-4C5F-441E-AA7A-A3329646BB21}"/>
              </a:ext>
            </a:extLst>
          </p:cNvPr>
          <p:cNvSpPr txBox="1"/>
          <p:nvPr userDrawn="1"/>
        </p:nvSpPr>
        <p:spPr>
          <a:xfrm>
            <a:off x="9535363" y="5402639"/>
            <a:ext cx="24197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>
                <a:solidFill>
                  <a:srgbClr val="01ABBD"/>
                </a:solidFill>
                <a:latin typeface="+mj-lt"/>
                <a:cs typeface="Calibri" panose="020F0502020204030204" pitchFamily="34" charset="0"/>
              </a:rPr>
              <a:t>Langues</a:t>
            </a:r>
          </a:p>
        </p:txBody>
      </p:sp>
    </p:spTree>
    <p:extLst>
      <p:ext uri="{BB962C8B-B14F-4D97-AF65-F5344CB8AC3E}">
        <p14:creationId xmlns:p14="http://schemas.microsoft.com/office/powerpoint/2010/main" val="404061696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r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71E151C-CE04-134F-909C-E48D2DD4A92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1A1C30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0B1DA13-281E-47F0-86B6-C285D29909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379" y="245279"/>
            <a:ext cx="675001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82810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F5C5830C-1250-2E4D-B5E4-0FE1735E3E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997148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8DFF961-5AFF-F440-AA39-F73CF9D6A16A}"/>
              </a:ext>
            </a:extLst>
          </p:cNvPr>
          <p:cNvSpPr/>
          <p:nvPr userDrawn="1"/>
        </p:nvSpPr>
        <p:spPr>
          <a:xfrm>
            <a:off x="6997148" y="-10690"/>
            <a:ext cx="5194852" cy="3441600"/>
          </a:xfrm>
          <a:prstGeom prst="rect">
            <a:avLst/>
          </a:prstGeom>
          <a:solidFill>
            <a:srgbClr val="01AB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3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B2E346-7830-A746-AF02-5EA5D6AD681A}"/>
              </a:ext>
            </a:extLst>
          </p:cNvPr>
          <p:cNvSpPr/>
          <p:nvPr userDrawn="1"/>
        </p:nvSpPr>
        <p:spPr>
          <a:xfrm>
            <a:off x="6997148" y="3418310"/>
            <a:ext cx="5194852" cy="344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3"/>
              </a:solidFill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C31B91A9-E8C2-4083-BA02-9A04A5857051}"/>
              </a:ext>
            </a:extLst>
          </p:cNvPr>
          <p:cNvSpPr txBox="1"/>
          <p:nvPr userDrawn="1"/>
        </p:nvSpPr>
        <p:spPr>
          <a:xfrm>
            <a:off x="332478" y="1118687"/>
            <a:ext cx="5876678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/>
            <a:r>
              <a:rPr lang="fr-FR" sz="2000" b="0" i="0" noProof="1">
                <a:solidFill>
                  <a:schemeClr val="bg1"/>
                </a:solidFill>
                <a:latin typeface="+mj-lt"/>
              </a:rPr>
              <a:t>Enhance Your Present,</a:t>
            </a:r>
          </a:p>
          <a:p>
            <a:pPr lvl="0"/>
            <a:r>
              <a:rPr lang="fr-FR" sz="2000" b="0" i="0" noProof="1">
                <a:solidFill>
                  <a:srgbClr val="DEFCBD"/>
                </a:solidFill>
                <a:latin typeface="+mj-lt"/>
              </a:rPr>
              <a:t>Inspire Your Future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D22EC9D2-4CBB-4667-875F-67CC1D3F49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739" b="24294"/>
          <a:stretch/>
        </p:blipFill>
        <p:spPr>
          <a:xfrm>
            <a:off x="197579" y="301841"/>
            <a:ext cx="2629638" cy="727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891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390C2C3-29AF-2D9A-7EF4-C22C2E0127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00664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apositive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>
            <a:extLst>
              <a:ext uri="{FF2B5EF4-FFF2-40B4-BE49-F238E27FC236}">
                <a16:creationId xmlns:a16="http://schemas.microsoft.com/office/drawing/2014/main" id="{FE87190B-47B2-490B-BD21-171D0E0413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4415" y="97303"/>
            <a:ext cx="10935584" cy="418376"/>
          </a:xfrm>
          <a:prstGeom prst="rect">
            <a:avLst/>
          </a:prstGeom>
        </p:spPr>
        <p:txBody>
          <a:bodyPr bIns="0" anchor="b" anchorCtr="0">
            <a:noAutofit/>
          </a:bodyPr>
          <a:lstStyle>
            <a:lvl1pPr algn="l" defTabSz="29029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fr-FR" sz="1800" b="1" kern="1200" cap="all" baseline="0" dirty="0">
                <a:solidFill>
                  <a:schemeClr val="tx1">
                    <a:lumMod val="50000"/>
                  </a:schemeClr>
                </a:solidFill>
                <a:latin typeface="+mj-lt"/>
                <a:ea typeface="Montserrat" charset="0"/>
                <a:cs typeface="Montserrat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pic>
        <p:nvPicPr>
          <p:cNvPr id="8" name="Image 7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1541902" y="-18333"/>
            <a:ext cx="671999" cy="1032597"/>
          </a:xfrm>
          <a:prstGeom prst="rect">
            <a:avLst/>
          </a:prstGeom>
        </p:spPr>
      </p:pic>
      <p:sp>
        <p:nvSpPr>
          <p:cNvPr id="4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205901" y="6544340"/>
            <a:ext cx="745612" cy="198458"/>
          </a:xfrm>
          <a:prstGeom prst="rect">
            <a:avLst/>
          </a:prstGeom>
        </p:spPr>
        <p:txBody>
          <a:bodyPr/>
          <a:lstStyle>
            <a:lvl1pPr algn="r">
              <a:defRPr sz="9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9AFCA8D8-8241-BE4B-9165-0EE2A5D02B3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texte 11">
            <a:extLst>
              <a:ext uri="{FF2B5EF4-FFF2-40B4-BE49-F238E27FC236}">
                <a16:creationId xmlns:a16="http://schemas.microsoft.com/office/drawing/2014/main" id="{CF8D0965-4A62-444C-AC16-99860F8324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4415" y="515679"/>
            <a:ext cx="10935584" cy="434883"/>
          </a:xfrm>
          <a:prstGeom prst="rect">
            <a:avLst/>
          </a:prstGeom>
        </p:spPr>
        <p:txBody>
          <a:bodyPr tIns="72000" anchor="t" anchorCtr="0">
            <a:noAutofit/>
          </a:bodyPr>
          <a:lstStyle>
            <a:lvl1pPr marL="0" indent="0">
              <a:buNone/>
              <a:defRPr lang="fr-FR" sz="1400" dirty="0">
                <a:solidFill>
                  <a:srgbClr val="00A9E0"/>
                </a:solidFill>
                <a:ea typeface="Montserrat" charset="0"/>
                <a:cs typeface="Montserrat" charset="0"/>
              </a:defRPr>
            </a:lvl1pPr>
          </a:lstStyle>
          <a:p>
            <a:pPr marL="217717" lvl="0" indent="-217717">
              <a:lnSpc>
                <a:spcPct val="100000"/>
              </a:lnSpc>
              <a:spcBef>
                <a:spcPts val="0"/>
              </a:spcBef>
            </a:pPr>
            <a:r>
              <a:rPr lang="fr-FR"/>
              <a:t>Modifier les styles du texte du masque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69B11AB-E766-448B-AB3D-6111471C579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4415" y="1014265"/>
            <a:ext cx="11233297" cy="5278586"/>
          </a:xfrm>
          <a:prstGeom prst="rect">
            <a:avLst/>
          </a:prstGeom>
        </p:spPr>
        <p:txBody>
          <a:bodyPr/>
          <a:lstStyle>
            <a:lvl1pPr marL="217717" indent="-217717">
              <a:spcAft>
                <a:spcPts val="600"/>
              </a:spcAft>
              <a:buFontTx/>
              <a:buBlip>
                <a:blip r:embed="rId3"/>
              </a:buBlip>
              <a:defRPr lang="fr-FR" sz="1600" kern="1200" dirty="0" smtClean="0">
                <a:solidFill>
                  <a:schemeClr val="tx1">
                    <a:lumMod val="75000"/>
                  </a:schemeClr>
                </a:solidFill>
                <a:latin typeface="+mn-lt"/>
                <a:ea typeface="Montserrat Light" charset="0"/>
                <a:cs typeface="Montserrat Light" charset="0"/>
              </a:defRPr>
            </a:lvl1pPr>
            <a:lvl2pPr marL="471722" indent="-181431">
              <a:spcAft>
                <a:spcPts val="600"/>
              </a:spcAft>
              <a:buFont typeface="Arial" panose="020B0604020202020204" pitchFamily="34" charset="0"/>
              <a:buChar char="•"/>
              <a:defRPr lang="fr-FR" sz="1400" kern="1200" dirty="0" smtClean="0">
                <a:solidFill>
                  <a:schemeClr val="tx1">
                    <a:lumMod val="75000"/>
                  </a:schemeClr>
                </a:solidFill>
                <a:latin typeface="+mn-lt"/>
                <a:ea typeface="Montserrat Light" charset="0"/>
                <a:cs typeface="Montserrat Light" charset="0"/>
              </a:defRPr>
            </a:lvl2pPr>
            <a:lvl3pPr marL="725726" indent="-145144">
              <a:spcAft>
                <a:spcPts val="600"/>
              </a:spcAft>
              <a:buFont typeface="Wingdings" panose="05000000000000000000" pitchFamily="2" charset="2"/>
              <a:buChar char="ü"/>
              <a:defRPr lang="fr-FR" sz="1200" kern="1200" dirty="0" smtClean="0">
                <a:solidFill>
                  <a:schemeClr val="tx1">
                    <a:lumMod val="75000"/>
                  </a:schemeClr>
                </a:solidFill>
                <a:latin typeface="+mn-lt"/>
                <a:ea typeface="Montserrat Light" charset="0"/>
                <a:cs typeface="Montserrat Light" charset="0"/>
              </a:defRPr>
            </a:lvl3pPr>
            <a:lvl4pPr>
              <a:spcAft>
                <a:spcPts val="600"/>
              </a:spcAft>
              <a:defRPr lang="fr-FR" sz="1100" kern="1200" dirty="0" smtClean="0">
                <a:solidFill>
                  <a:schemeClr val="tx1">
                    <a:lumMod val="75000"/>
                  </a:schemeClr>
                </a:solidFill>
                <a:latin typeface="+mn-lt"/>
                <a:ea typeface="Montserrat Light" charset="0"/>
                <a:cs typeface="Montserrat Light" charset="0"/>
              </a:defRPr>
            </a:lvl4pPr>
            <a:lvl5pPr>
              <a:spcAft>
                <a:spcPts val="600"/>
              </a:spcAft>
              <a:defRPr lang="fr-FR" sz="1050" kern="1200" dirty="0" smtClean="0">
                <a:solidFill>
                  <a:schemeClr val="tx1">
                    <a:lumMod val="75000"/>
                  </a:schemeClr>
                </a:solidFill>
                <a:latin typeface="+mn-lt"/>
                <a:ea typeface="Montserrat Light" charset="0"/>
                <a:cs typeface="Montserrat Light" charset="0"/>
              </a:defRPr>
            </a:lvl5pPr>
            <a:lvl6pPr>
              <a:spcAft>
                <a:spcPts val="600"/>
              </a:spcAft>
              <a:defRPr sz="1000">
                <a:solidFill>
                  <a:schemeClr val="tx1">
                    <a:lumMod val="75000"/>
                  </a:schemeClr>
                </a:solidFill>
                <a:latin typeface="+mn-lt"/>
              </a:defRPr>
            </a:lvl6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  <a:p>
            <a:pPr lvl="5"/>
            <a:r>
              <a:rPr lang="fr-FR">
                <a:latin typeface="Montserrat Light"/>
              </a:rPr>
              <a:t>Sixième niveau </a:t>
            </a:r>
            <a:endParaRPr lang="fr-FR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9E8557CB-1C44-421F-9C4B-2844C4501B0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2894" y="6544341"/>
            <a:ext cx="708016" cy="198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14401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age de gar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77BD1033-77AD-9642-9C24-EF13B3DBBC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4" b="4469"/>
          <a:stretch/>
        </p:blipFill>
        <p:spPr>
          <a:xfrm>
            <a:off x="0" y="-10690"/>
            <a:ext cx="10190386" cy="68686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59DA06F-9D04-8A4E-B78D-1D8B3A64FA3B}"/>
              </a:ext>
            </a:extLst>
          </p:cNvPr>
          <p:cNvSpPr/>
          <p:nvPr userDrawn="1"/>
        </p:nvSpPr>
        <p:spPr>
          <a:xfrm>
            <a:off x="8125425" y="-10690"/>
            <a:ext cx="4129923" cy="68686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3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C39589-FE30-0E4E-B28C-3928581E0F93}"/>
              </a:ext>
            </a:extLst>
          </p:cNvPr>
          <p:cNvSpPr/>
          <p:nvPr userDrawn="1"/>
        </p:nvSpPr>
        <p:spPr>
          <a:xfrm>
            <a:off x="0" y="-10690"/>
            <a:ext cx="8125425" cy="6868690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1A908F3-385E-9443-A6C5-48445A508C1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20446" y="646767"/>
            <a:ext cx="2697807" cy="1411161"/>
          </a:xfrm>
          <a:prstGeom prst="rect">
            <a:avLst/>
          </a:prstGeom>
        </p:spPr>
      </p:pic>
      <p:sp>
        <p:nvSpPr>
          <p:cNvPr id="19" name="Espace réservé du texte 7">
            <a:extLst>
              <a:ext uri="{FF2B5EF4-FFF2-40B4-BE49-F238E27FC236}">
                <a16:creationId xmlns:a16="http://schemas.microsoft.com/office/drawing/2014/main" id="{F9E20BBC-BC5F-664C-89DC-A122B8B14E5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76556" y="5965012"/>
            <a:ext cx="3515588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None/>
              <a:defRPr sz="1600" b="0" i="0" baseline="0">
                <a:solidFill>
                  <a:schemeClr val="tx1"/>
                </a:solidFill>
                <a:latin typeface="+mn-lt"/>
              </a:defRPr>
            </a:lvl1pPr>
            <a:lvl2pPr marL="6286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2pPr>
            <a:lvl3pPr marL="10858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3pPr>
            <a:lvl4pPr>
              <a:defRPr sz="1200">
                <a:latin typeface="Montserrat" panose="00000500000000000000" pitchFamily="2" charset="0"/>
              </a:defRPr>
            </a:lvl4pPr>
            <a:lvl5pPr>
              <a:defRPr sz="1200">
                <a:latin typeface="Montserrat" panose="00000500000000000000" pitchFamily="2" charset="0"/>
              </a:defRPr>
            </a:lvl5pPr>
          </a:lstStyle>
          <a:p>
            <a:pPr lvl="0"/>
            <a:r>
              <a:rPr lang="fr-FR"/>
              <a:t>Date 00.00.00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0FB27EB9-EA76-4AB5-BB76-10F06CFC15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76557" y="4856580"/>
            <a:ext cx="3515588" cy="923329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fr-FR"/>
              <a:t>Titre présentation</a:t>
            </a:r>
            <a:br>
              <a:rPr lang="fr-FR"/>
            </a:br>
            <a:endParaRPr lang="fr-FR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491B4587-8085-9A4F-8B97-75DF14EEEB5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9174" y="-149289"/>
            <a:ext cx="2610402" cy="136544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ADE3676-B90F-D84F-A877-1CA71121DBCD}"/>
              </a:ext>
            </a:extLst>
          </p:cNvPr>
          <p:cNvSpPr txBox="1"/>
          <p:nvPr userDrawn="1"/>
        </p:nvSpPr>
        <p:spPr>
          <a:xfrm>
            <a:off x="289379" y="928209"/>
            <a:ext cx="3591141" cy="677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/>
            <a:r>
              <a:rPr lang="fr-FR" sz="2200" b="0" i="0" err="1">
                <a:solidFill>
                  <a:schemeClr val="bg1"/>
                </a:solidFill>
                <a:latin typeface="+mj-lt"/>
              </a:rPr>
              <a:t>Enhance</a:t>
            </a:r>
            <a:r>
              <a:rPr lang="fr-FR" sz="2200" b="0" i="0">
                <a:solidFill>
                  <a:schemeClr val="bg1"/>
                </a:solidFill>
                <a:latin typeface="+mj-lt"/>
              </a:rPr>
              <a:t> </a:t>
            </a:r>
            <a:r>
              <a:rPr lang="fr-FR" sz="2200" b="0" i="0" err="1">
                <a:solidFill>
                  <a:schemeClr val="bg1"/>
                </a:solidFill>
                <a:latin typeface="+mj-lt"/>
              </a:rPr>
              <a:t>your</a:t>
            </a:r>
            <a:r>
              <a:rPr lang="fr-FR" sz="2200" b="0" i="0">
                <a:solidFill>
                  <a:schemeClr val="bg1"/>
                </a:solidFill>
                <a:latin typeface="+mj-lt"/>
              </a:rPr>
              <a:t> </a:t>
            </a:r>
            <a:r>
              <a:rPr lang="fr-FR" sz="2200" b="0" i="0" err="1">
                <a:solidFill>
                  <a:schemeClr val="bg1"/>
                </a:solidFill>
                <a:latin typeface="+mj-lt"/>
              </a:rPr>
              <a:t>Present</a:t>
            </a:r>
            <a:r>
              <a:rPr lang="fr-FR" sz="2200" b="0" i="0">
                <a:solidFill>
                  <a:schemeClr val="bg1"/>
                </a:solidFill>
                <a:latin typeface="+mj-lt"/>
              </a:rPr>
              <a:t>,</a:t>
            </a:r>
          </a:p>
          <a:p>
            <a:pPr lvl="0"/>
            <a:r>
              <a:rPr lang="fr-FR" sz="2200" b="0" i="0">
                <a:solidFill>
                  <a:srgbClr val="DEFCBD"/>
                </a:solidFill>
                <a:latin typeface="+mj-lt"/>
              </a:rPr>
              <a:t>Inspire </a:t>
            </a:r>
            <a:r>
              <a:rPr lang="fr-FR" sz="2200" b="0" i="0" err="1">
                <a:solidFill>
                  <a:srgbClr val="DEFCBD"/>
                </a:solidFill>
                <a:latin typeface="+mj-lt"/>
              </a:rPr>
              <a:t>Your</a:t>
            </a:r>
            <a:r>
              <a:rPr lang="fr-FR" sz="2200" b="0" i="0">
                <a:solidFill>
                  <a:srgbClr val="DEFCBD"/>
                </a:solidFill>
                <a:latin typeface="+mj-lt"/>
              </a:rPr>
              <a:t> Future</a:t>
            </a:r>
          </a:p>
        </p:txBody>
      </p:sp>
    </p:spTree>
    <p:extLst>
      <p:ext uri="{BB962C8B-B14F-4D97-AF65-F5344CB8AC3E}">
        <p14:creationId xmlns:p14="http://schemas.microsoft.com/office/powerpoint/2010/main" val="61780101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Disposition personnalisé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6B6A8D-3CDE-D8A1-050F-80F2A0F43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390C2C3-29AF-2D9A-7EF4-C22C2E0127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50A35DE-8013-C8F8-B517-13302BD0C52E}"/>
              </a:ext>
            </a:extLst>
          </p:cNvPr>
          <p:cNvSpPr txBox="1"/>
          <p:nvPr userDrawn="1"/>
        </p:nvSpPr>
        <p:spPr>
          <a:xfrm>
            <a:off x="5872422" y="6458427"/>
            <a:ext cx="60940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Synvance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065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2.png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18" Type="http://schemas.openxmlformats.org/officeDocument/2006/relationships/slideLayout" Target="../slideLayouts/slideLayout52.xml"/><Relationship Id="rId26" Type="http://schemas.openxmlformats.org/officeDocument/2006/relationships/tags" Target="../tags/tag3.xml"/><Relationship Id="rId3" Type="http://schemas.openxmlformats.org/officeDocument/2006/relationships/slideLayout" Target="../slideLayouts/slideLayout37.xml"/><Relationship Id="rId21" Type="http://schemas.openxmlformats.org/officeDocument/2006/relationships/slideLayout" Target="../slideLayouts/slideLayout55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17" Type="http://schemas.openxmlformats.org/officeDocument/2006/relationships/slideLayout" Target="../slideLayouts/slideLayout51.xml"/><Relationship Id="rId25" Type="http://schemas.openxmlformats.org/officeDocument/2006/relationships/theme" Target="../theme/theme2.xml"/><Relationship Id="rId2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50.xml"/><Relationship Id="rId20" Type="http://schemas.openxmlformats.org/officeDocument/2006/relationships/slideLayout" Target="../slideLayouts/slideLayout54.xml"/><Relationship Id="rId29" Type="http://schemas.openxmlformats.org/officeDocument/2006/relationships/image" Target="../media/image50.emf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24" Type="http://schemas.openxmlformats.org/officeDocument/2006/relationships/slideLayout" Target="../slideLayouts/slideLayout58.xml"/><Relationship Id="rId5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9.xml"/><Relationship Id="rId23" Type="http://schemas.openxmlformats.org/officeDocument/2006/relationships/slideLayout" Target="../slideLayouts/slideLayout57.xml"/><Relationship Id="rId28" Type="http://schemas.openxmlformats.org/officeDocument/2006/relationships/oleObject" Target="../embeddings/oleObject2.bin"/><Relationship Id="rId10" Type="http://schemas.openxmlformats.org/officeDocument/2006/relationships/slideLayout" Target="../slideLayouts/slideLayout44.xml"/><Relationship Id="rId19" Type="http://schemas.openxmlformats.org/officeDocument/2006/relationships/slideLayout" Target="../slideLayouts/slideLayout53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Relationship Id="rId22" Type="http://schemas.openxmlformats.org/officeDocument/2006/relationships/slideLayout" Target="../slideLayouts/slideLayout56.xml"/><Relationship Id="rId27" Type="http://schemas.openxmlformats.org/officeDocument/2006/relationships/image" Target="../media/image49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A156AABE-890E-C3DC-BDDB-604E9EB919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6"/>
            </p:custDataLst>
            <p:extLst>
              <p:ext uri="{D42A27DB-BD31-4B8C-83A1-F6EECF244321}">
                <p14:modId xmlns:p14="http://schemas.microsoft.com/office/powerpoint/2010/main" val="16420543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7" imgW="473" imgH="473" progId="TCLayout.ActiveDocument.1">
                  <p:embed/>
                </p:oleObj>
              </mc:Choice>
              <mc:Fallback>
                <p:oleObj name="Diapositive think-cell" r:id="rId37" imgW="473" imgH="473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156AABE-890E-C3DC-BDDB-604E9EB919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AA0EEB7A-8ADD-9BCC-F6F4-966F14B28C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3" name="Espace réservé du titre 2">
            <a:extLst>
              <a:ext uri="{FF2B5EF4-FFF2-40B4-BE49-F238E27FC236}">
                <a16:creationId xmlns:a16="http://schemas.microsoft.com/office/drawing/2014/main" id="{3712798C-C2F9-F846-3C72-56B85DD18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245" y="427028"/>
            <a:ext cx="10846555" cy="3485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/>
              <a:t>TITRE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158BC0E-F202-A7D0-A59D-1BB4144B68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10894"/>
            <a:ext cx="4114800" cy="251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solidFill>
                  <a:schemeClr val="bg2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r>
              <a:rPr lang="fr-FR"/>
              <a:t>Confidentiel</a:t>
            </a:r>
          </a:p>
        </p:txBody>
      </p:sp>
    </p:spTree>
    <p:extLst>
      <p:ext uri="{BB962C8B-B14F-4D97-AF65-F5344CB8AC3E}">
        <p14:creationId xmlns:p14="http://schemas.microsoft.com/office/powerpoint/2010/main" val="1428209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836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  <p:sldLayoutId id="2147483758" r:id="rId17"/>
    <p:sldLayoutId id="2147483742" r:id="rId18"/>
    <p:sldLayoutId id="2147483743" r:id="rId19"/>
    <p:sldLayoutId id="2147483744" r:id="rId20"/>
    <p:sldLayoutId id="2147483745" r:id="rId21"/>
    <p:sldLayoutId id="2147483757" r:id="rId22"/>
    <p:sldLayoutId id="2147483746" r:id="rId23"/>
    <p:sldLayoutId id="2147483747" r:id="rId24"/>
    <p:sldLayoutId id="2147483748" r:id="rId25"/>
    <p:sldLayoutId id="2147483749" r:id="rId26"/>
    <p:sldLayoutId id="2147483750" r:id="rId27"/>
    <p:sldLayoutId id="2147483751" r:id="rId28"/>
    <p:sldLayoutId id="2147483752" r:id="rId29"/>
    <p:sldLayoutId id="2147483755" r:id="rId30"/>
    <p:sldLayoutId id="2147483756" r:id="rId31"/>
    <p:sldLayoutId id="2147483763" r:id="rId32"/>
    <p:sldLayoutId id="2147483839" r:id="rId33"/>
    <p:sldLayoutId id="2147483841" r:id="rId34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800" b="1" i="0" kern="1200" cap="all" baseline="0">
          <a:solidFill>
            <a:schemeClr val="accent1"/>
          </a:solidFill>
          <a:latin typeface="Plus Jakarta Sans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39"/>
        </a:buBlip>
        <a:defRPr sz="1200" kern="1200">
          <a:solidFill>
            <a:schemeClr val="tx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39"/>
        </a:buBlip>
        <a:defRPr sz="1100" kern="1200">
          <a:solidFill>
            <a:schemeClr val="tx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39"/>
        </a:buBlip>
        <a:defRPr sz="1050" kern="1200">
          <a:solidFill>
            <a:schemeClr val="tx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39"/>
        </a:buBlip>
        <a:defRPr sz="1000" kern="1200">
          <a:solidFill>
            <a:schemeClr val="tx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39"/>
        </a:buBlip>
        <a:defRPr sz="1000" kern="1200">
          <a:solidFill>
            <a:schemeClr val="tx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texte, ciseaux&#10;&#10;Description générée automatiquement">
            <a:extLst>
              <a:ext uri="{FF2B5EF4-FFF2-40B4-BE49-F238E27FC236}">
                <a16:creationId xmlns:a16="http://schemas.microsoft.com/office/drawing/2014/main" id="{CF8C1638-72A9-44C8-93CF-DF32F1AED0B6}"/>
              </a:ext>
            </a:extLst>
          </p:cNvPr>
          <p:cNvPicPr>
            <a:picLocks noChangeAspect="1"/>
          </p:cNvPicPr>
          <p:nvPr userDrawn="1"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811" y="213612"/>
            <a:ext cx="676656" cy="466344"/>
          </a:xfrm>
          <a:prstGeom prst="rect">
            <a:avLst/>
          </a:prstGeom>
        </p:spPr>
      </p:pic>
      <p:graphicFrame>
        <p:nvGraphicFramePr>
          <p:cNvPr id="5" name="Objet 4" hidden="1">
            <a:extLst>
              <a:ext uri="{FF2B5EF4-FFF2-40B4-BE49-F238E27FC236}">
                <a16:creationId xmlns:a16="http://schemas.microsoft.com/office/drawing/2014/main" id="{79D176D6-F617-49B9-A130-70E1F0B3F73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6"/>
            </p:custDataLst>
            <p:extLst>
              <p:ext uri="{D42A27DB-BD31-4B8C-83A1-F6EECF244321}">
                <p14:modId xmlns:p14="http://schemas.microsoft.com/office/powerpoint/2010/main" val="32907633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28" imgW="416" imgH="416" progId="TCLayout.ActiveDocument.1">
                  <p:embed/>
                </p:oleObj>
              </mc:Choice>
              <mc:Fallback>
                <p:oleObj name="Diapositive think-cell" r:id="rId28" imgW="416" imgH="416" progId="TCLayout.ActiveDocument.1">
                  <p:embed/>
                  <p:pic>
                    <p:nvPicPr>
                      <p:cNvPr id="5" name="Objet 4" hidden="1">
                        <a:extLst>
                          <a:ext uri="{FF2B5EF4-FFF2-40B4-BE49-F238E27FC236}">
                            <a16:creationId xmlns:a16="http://schemas.microsoft.com/office/drawing/2014/main" id="{79D176D6-F617-49B9-A130-70E1F0B3F7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00C0AD2-69F2-4C27-BF31-F68A3DA49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442" y="231959"/>
            <a:ext cx="10297357" cy="7090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Titre de la diapositive</a:t>
            </a:r>
            <a:br>
              <a:rPr lang="fr-FR"/>
            </a:br>
            <a:br>
              <a:rPr lang="fr-FR"/>
            </a:br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640B33C-B459-457F-9FD0-FE132DED8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45219"/>
            <a:ext cx="10515600" cy="5031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A14BAB-7084-0D3C-2CA6-EEB7CE9118C4}"/>
              </a:ext>
            </a:extLst>
          </p:cNvPr>
          <p:cNvSpPr/>
          <p:nvPr userDrawn="1"/>
        </p:nvSpPr>
        <p:spPr>
          <a:xfrm>
            <a:off x="3907857" y="6472890"/>
            <a:ext cx="4398745" cy="2714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>
                <a:solidFill>
                  <a:schemeClr val="tx1">
                    <a:lumMod val="50000"/>
                    <a:lumOff val="50000"/>
                  </a:schemeClr>
                </a:solidFill>
              </a:rPr>
              <a:t>CONFIDENTIAL : DO NOT SHARE OR PRINT</a:t>
            </a:r>
            <a:endParaRPr lang="en-GB" sz="8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6927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44" r:id="rId2"/>
    <p:sldLayoutId id="2147483845" r:id="rId3"/>
    <p:sldLayoutId id="2147483846" r:id="rId4"/>
    <p:sldLayoutId id="2147483847" r:id="rId5"/>
    <p:sldLayoutId id="2147483848" r:id="rId6"/>
    <p:sldLayoutId id="2147483849" r:id="rId7"/>
    <p:sldLayoutId id="2147483850" r:id="rId8"/>
    <p:sldLayoutId id="2147483851" r:id="rId9"/>
    <p:sldLayoutId id="2147483852" r:id="rId10"/>
    <p:sldLayoutId id="2147483853" r:id="rId11"/>
    <p:sldLayoutId id="2147483854" r:id="rId12"/>
    <p:sldLayoutId id="2147483855" r:id="rId13"/>
    <p:sldLayoutId id="2147483856" r:id="rId14"/>
    <p:sldLayoutId id="2147483857" r:id="rId15"/>
    <p:sldLayoutId id="2147483858" r:id="rId16"/>
    <p:sldLayoutId id="2147483859" r:id="rId17"/>
    <p:sldLayoutId id="2147483860" r:id="rId18"/>
    <p:sldLayoutId id="2147483861" r:id="rId19"/>
    <p:sldLayoutId id="2147483862" r:id="rId20"/>
    <p:sldLayoutId id="2147483864" r:id="rId21"/>
    <p:sldLayoutId id="2147483865" r:id="rId22"/>
    <p:sldLayoutId id="2147483866" r:id="rId23"/>
    <p:sldLayoutId id="2147483867" r:id="rId2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200" b="0" kern="1200" dirty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7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445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1ABBD"/>
        </a:buClr>
        <a:buSzPct val="7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19138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1ABBD"/>
        </a:buClr>
        <a:buSzPct val="70000"/>
        <a:buFont typeface="Courier New" panose="02070309020205020404" pitchFamily="49" charset="0"/>
        <a:buChar char="o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85838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1ABBD"/>
        </a:buClr>
        <a:buSzPct val="7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52538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1ABBD"/>
        </a:buClr>
        <a:buSzPct val="70000"/>
        <a:buFont typeface="Verdana" panose="020B0604030504040204" pitchFamily="34" charset="0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72.png"/><Relationship Id="rId18" Type="http://schemas.openxmlformats.org/officeDocument/2006/relationships/image" Target="../media/image77.png"/><Relationship Id="rId3" Type="http://schemas.openxmlformats.org/officeDocument/2006/relationships/tags" Target="../tags/tag6.xml"/><Relationship Id="rId21" Type="http://schemas.openxmlformats.org/officeDocument/2006/relationships/image" Target="../media/image80.png"/><Relationship Id="rId7" Type="http://schemas.openxmlformats.org/officeDocument/2006/relationships/notesSlide" Target="../notesSlides/notesSlide1.xml"/><Relationship Id="rId12" Type="http://schemas.openxmlformats.org/officeDocument/2006/relationships/image" Target="../media/image71.jpeg"/><Relationship Id="rId17" Type="http://schemas.openxmlformats.org/officeDocument/2006/relationships/image" Target="../media/image76.jpeg"/><Relationship Id="rId2" Type="http://schemas.openxmlformats.org/officeDocument/2006/relationships/tags" Target="../tags/tag5.xml"/><Relationship Id="rId16" Type="http://schemas.openxmlformats.org/officeDocument/2006/relationships/image" Target="../media/image75.png"/><Relationship Id="rId20" Type="http://schemas.openxmlformats.org/officeDocument/2006/relationships/image" Target="../media/image79.jpeg"/><Relationship Id="rId1" Type="http://schemas.openxmlformats.org/officeDocument/2006/relationships/tags" Target="../tags/tag4.xml"/><Relationship Id="rId6" Type="http://schemas.openxmlformats.org/officeDocument/2006/relationships/slideLayout" Target="../slideLayouts/slideLayout32.xml"/><Relationship Id="rId11" Type="http://schemas.openxmlformats.org/officeDocument/2006/relationships/image" Target="../media/image70.png"/><Relationship Id="rId5" Type="http://schemas.openxmlformats.org/officeDocument/2006/relationships/tags" Target="../tags/tag8.xml"/><Relationship Id="rId15" Type="http://schemas.openxmlformats.org/officeDocument/2006/relationships/image" Target="../media/image74.jpeg"/><Relationship Id="rId10" Type="http://schemas.openxmlformats.org/officeDocument/2006/relationships/image" Target="../media/image69.png"/><Relationship Id="rId19" Type="http://schemas.openxmlformats.org/officeDocument/2006/relationships/image" Target="../media/image78.jpeg"/><Relationship Id="rId4" Type="http://schemas.openxmlformats.org/officeDocument/2006/relationships/tags" Target="../tags/tag7.xml"/><Relationship Id="rId9" Type="http://schemas.openxmlformats.org/officeDocument/2006/relationships/image" Target="../media/image1.emf"/><Relationship Id="rId14" Type="http://schemas.openxmlformats.org/officeDocument/2006/relationships/image" Target="../media/image73.jpeg"/><Relationship Id="rId22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jpeg"/><Relationship Id="rId9" Type="http://schemas.openxmlformats.org/officeDocument/2006/relationships/image" Target="../media/image8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jpeg"/><Relationship Id="rId3" Type="http://schemas.openxmlformats.org/officeDocument/2006/relationships/image" Target="../media/image82.png"/><Relationship Id="rId7" Type="http://schemas.openxmlformats.org/officeDocument/2006/relationships/image" Target="../media/image8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86.png"/><Relationship Id="rId5" Type="http://schemas.openxmlformats.org/officeDocument/2006/relationships/image" Target="../media/image81.png"/><Relationship Id="rId4" Type="http://schemas.openxmlformats.org/officeDocument/2006/relationships/image" Target="../media/image8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image" Target="../media/image9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2046C04F-7AC8-7241-E4FD-2DFDBDA83BD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8" imgW="473" imgH="473" progId="TCLayout.ActiveDocument.1">
                  <p:embed/>
                </p:oleObj>
              </mc:Choice>
              <mc:Fallback>
                <p:oleObj name="Diapositive think-cell" r:id="rId8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046C04F-7AC8-7241-E4FD-2DFDBDA83B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Image 11">
            <a:extLst>
              <a:ext uri="{FF2B5EF4-FFF2-40B4-BE49-F238E27FC236}">
                <a16:creationId xmlns:a16="http://schemas.microsoft.com/office/drawing/2014/main" id="{DA3CB16F-3EE6-CDFB-83D6-D0074BF3920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3171" y="486017"/>
            <a:ext cx="2887853" cy="1289908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D94572FA-4869-7E18-371E-83BBB21E1CE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0" y="1372123"/>
            <a:ext cx="5428595" cy="2111120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37569130-212C-B095-E555-ABFD09D9116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5999" y="3570965"/>
            <a:ext cx="5428595" cy="2111120"/>
          </a:xfrm>
          <a:prstGeom prst="rect">
            <a:avLst/>
          </a:prstGeom>
        </p:spPr>
      </p:pic>
      <p:pic>
        <p:nvPicPr>
          <p:cNvPr id="1032" name="Picture 8" descr="Surf – Teiva Tairoa &amp; Aelan Vaast s’offrent la Taapuna Master 2023 ...">
            <a:extLst>
              <a:ext uri="{FF2B5EF4-FFF2-40B4-BE49-F238E27FC236}">
                <a16:creationId xmlns:a16="http://schemas.microsoft.com/office/drawing/2014/main" id="{CAA39C0E-BDD1-48A4-D6AF-72C3C40520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79" r="15637"/>
          <a:stretch/>
        </p:blipFill>
        <p:spPr bwMode="auto">
          <a:xfrm>
            <a:off x="9402945" y="3570965"/>
            <a:ext cx="2121649" cy="2111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27FFD593-AF56-0F61-7115-4F77B11C052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02047" y="3677110"/>
            <a:ext cx="3837274" cy="1898830"/>
          </a:xfrm>
          <a:prstGeom prst="rect">
            <a:avLst/>
          </a:prstGeom>
        </p:spPr>
      </p:pic>
      <p:pic>
        <p:nvPicPr>
          <p:cNvPr id="1036" name="Picture 12" descr="Quiksilver Logo Wallpaper - WallpaperSafari">
            <a:extLst>
              <a:ext uri="{FF2B5EF4-FFF2-40B4-BE49-F238E27FC236}">
                <a16:creationId xmlns:a16="http://schemas.microsoft.com/office/drawing/2014/main" id="{9DC8DE98-1116-5D1F-F726-70FE6BEA7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6932" y="3838074"/>
            <a:ext cx="817389" cy="653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illabong">
            <a:extLst>
              <a:ext uri="{FF2B5EF4-FFF2-40B4-BE49-F238E27FC236}">
                <a16:creationId xmlns:a16="http://schemas.microsoft.com/office/drawing/2014/main" id="{5207F572-3963-829A-9E58-229BC77F7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2890" y="3728904"/>
            <a:ext cx="831198" cy="831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ボードライダーズジャパン合同会社 「社員クチコミ」 就職・転職の採用企業リサーチ OpenWork">
            <a:extLst>
              <a:ext uri="{FF2B5EF4-FFF2-40B4-BE49-F238E27FC236}">
                <a16:creationId xmlns:a16="http://schemas.microsoft.com/office/drawing/2014/main" id="{5B0205AB-B73A-6EE0-20C4-500830822A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31" r="11330"/>
          <a:stretch/>
        </p:blipFill>
        <p:spPr bwMode="auto">
          <a:xfrm>
            <a:off x="6346977" y="3874353"/>
            <a:ext cx="871119" cy="544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logo Roxy | Logo de surf, Roxy, Marque surf">
            <a:extLst>
              <a:ext uri="{FF2B5EF4-FFF2-40B4-BE49-F238E27FC236}">
                <a16:creationId xmlns:a16="http://schemas.microsoft.com/office/drawing/2014/main" id="{711D9518-F4F8-70AA-8F96-04E746447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5687" y="3897386"/>
            <a:ext cx="914063" cy="578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DC Shoes logo transparent PNG 24555547 PNG">
            <a:extLst>
              <a:ext uri="{FF2B5EF4-FFF2-40B4-BE49-F238E27FC236}">
                <a16:creationId xmlns:a16="http://schemas.microsoft.com/office/drawing/2014/main" id="{0C4F82ED-A78B-71BB-F912-5A16F90D23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3955" y="4564753"/>
            <a:ext cx="1024885" cy="1024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>
            <a:extLst>
              <a:ext uri="{FF2B5EF4-FFF2-40B4-BE49-F238E27FC236}">
                <a16:creationId xmlns:a16="http://schemas.microsoft.com/office/drawing/2014/main" id="{3378AC75-0DEA-FBA1-8472-78AD43A169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6932" y="4668411"/>
            <a:ext cx="842812" cy="842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BMX_Y_SKATE: ELEMENT SKATEBOARDS">
            <a:extLst>
              <a:ext uri="{FF2B5EF4-FFF2-40B4-BE49-F238E27FC236}">
                <a16:creationId xmlns:a16="http://schemas.microsoft.com/office/drawing/2014/main" id="{2BCDCF66-8F0B-9334-1182-7DE02986A0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7884" y="4771075"/>
            <a:ext cx="673501" cy="67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 descr="Von Zipper Logo">
            <a:extLst>
              <a:ext uri="{FF2B5EF4-FFF2-40B4-BE49-F238E27FC236}">
                <a16:creationId xmlns:a16="http://schemas.microsoft.com/office/drawing/2014/main" id="{AA25B0C8-75A5-CE4B-08E2-74502A6BDF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56" t="11705" r="19979" b="14633"/>
          <a:stretch/>
        </p:blipFill>
        <p:spPr bwMode="auto">
          <a:xfrm>
            <a:off x="9225257" y="4680025"/>
            <a:ext cx="914064" cy="831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Espace réservé du texte 15">
            <a:extLst>
              <a:ext uri="{FF2B5EF4-FFF2-40B4-BE49-F238E27FC236}">
                <a16:creationId xmlns:a16="http://schemas.microsoft.com/office/drawing/2014/main" id="{C1EBB96E-EA28-201C-92EF-6789DE1CB8C6}"/>
              </a:ext>
            </a:extLst>
          </p:cNvPr>
          <p:cNvSpPr>
            <a:spLocks noGrp="1"/>
          </p:cNvSpPr>
          <p:nvPr>
            <p:ph type="body" sz="quarter" idx="11"/>
            <p:custDataLst>
              <p:tags r:id="rId2"/>
            </p:custDataLst>
          </p:nvPr>
        </p:nvSpPr>
        <p:spPr>
          <a:xfrm>
            <a:off x="577698" y="4444015"/>
            <a:ext cx="4460798" cy="321468"/>
          </a:xfrm>
        </p:spPr>
        <p:txBody>
          <a:bodyPr/>
          <a:lstStyle/>
          <a:p>
            <a:r>
              <a:rPr lang="fr-FR" sz="1200" i="1" dirty="0"/>
              <a:t>2 juillet 2025</a:t>
            </a:r>
          </a:p>
        </p:txBody>
      </p:sp>
      <p:sp>
        <p:nvSpPr>
          <p:cNvPr id="22" name="Titre 3">
            <a:extLst>
              <a:ext uri="{FF2B5EF4-FFF2-40B4-BE49-F238E27FC236}">
                <a16:creationId xmlns:a16="http://schemas.microsoft.com/office/drawing/2014/main" id="{43048A6B-CA28-EDEC-9D0B-0EDB4623F2B9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25146" y="2082538"/>
            <a:ext cx="5329554" cy="1204641"/>
          </a:xfrm>
        </p:spPr>
        <p:txBody>
          <a:bodyPr vert="horz" anchor="b">
            <a:noAutofit/>
          </a:bodyPr>
          <a:lstStyle/>
          <a:p>
            <a:r>
              <a:rPr lang="fr-FR" sz="2400" dirty="0"/>
              <a:t>CADRAGE ERP Achat / VENTE</a:t>
            </a:r>
            <a:br>
              <a:rPr lang="fr-FR" sz="2400" dirty="0"/>
            </a:br>
            <a:endParaRPr lang="fr-FR" sz="2400" dirty="0"/>
          </a:p>
        </p:txBody>
      </p:sp>
      <p:sp>
        <p:nvSpPr>
          <p:cNvPr id="23" name="Espace réservé du texte 4">
            <a:extLst>
              <a:ext uri="{FF2B5EF4-FFF2-40B4-BE49-F238E27FC236}">
                <a16:creationId xmlns:a16="http://schemas.microsoft.com/office/drawing/2014/main" id="{C13F3521-3474-5DA8-20FC-DC714CDAF0AD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525146" y="2864086"/>
            <a:ext cx="4460798" cy="321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600" b="0" i="0" kern="1200">
                <a:solidFill>
                  <a:schemeClr val="tx1"/>
                </a:solidFill>
                <a:latin typeface="Plus Jakarta Sans" pitchFamily="2" charset="77"/>
                <a:ea typeface="Noto Sans" panose="020B0502040504020204" pitchFamily="34" charset="0"/>
                <a:cs typeface="Plus Jakarta Sa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2"/>
              </a:buBlip>
              <a:defRPr sz="11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2"/>
              </a:buBlip>
              <a:defRPr sz="105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2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2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i="1" dirty="0">
                <a:solidFill>
                  <a:schemeClr val="accent1"/>
                </a:solidFill>
              </a:rPr>
              <a:t>Comité de pilotage N°4</a:t>
            </a:r>
          </a:p>
        </p:txBody>
      </p:sp>
      <p:sp>
        <p:nvSpPr>
          <p:cNvPr id="24" name="Espace réservé du texte 1">
            <a:extLst>
              <a:ext uri="{FF2B5EF4-FFF2-40B4-BE49-F238E27FC236}">
                <a16:creationId xmlns:a16="http://schemas.microsoft.com/office/drawing/2014/main" id="{3BB79D92-31FE-1E09-08E7-7C3FA902089D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577698" y="4883700"/>
            <a:ext cx="4460798" cy="321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600" b="0" i="0" kern="1200">
                <a:solidFill>
                  <a:schemeClr val="tx1"/>
                </a:solidFill>
                <a:latin typeface="Plus Jakarta Sans" pitchFamily="2" charset="77"/>
                <a:ea typeface="Noto Sans" panose="020B0502040504020204" pitchFamily="34" charset="0"/>
                <a:cs typeface="Plus Jakarta Sa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2"/>
              </a:buBlip>
              <a:defRPr sz="11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2"/>
              </a:buBlip>
              <a:defRPr sz="105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2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2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Aft>
                <a:spcPts val="600"/>
              </a:spcAft>
            </a:pPr>
            <a:endParaRPr lang="fr-FR" sz="1200"/>
          </a:p>
        </p:txBody>
      </p:sp>
      <p:sp>
        <p:nvSpPr>
          <p:cNvPr id="25" name="Espace réservé du texte 7">
            <a:extLst>
              <a:ext uri="{FF2B5EF4-FFF2-40B4-BE49-F238E27FC236}">
                <a16:creationId xmlns:a16="http://schemas.microsoft.com/office/drawing/2014/main" id="{42A1AAA2-EF1D-7AB1-75B5-09A125CEAD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7698" y="4122547"/>
            <a:ext cx="4460798" cy="321468"/>
          </a:xfrm>
        </p:spPr>
        <p:txBody>
          <a:bodyPr>
            <a:normAutofit lnSpcReduction="10000"/>
          </a:bodyPr>
          <a:lstStyle/>
          <a:p>
            <a:r>
              <a:rPr lang="fr-FR"/>
              <a:t>Groupe Beaumanoir</a:t>
            </a:r>
          </a:p>
        </p:txBody>
      </p:sp>
    </p:spTree>
    <p:extLst>
      <p:ext uri="{BB962C8B-B14F-4D97-AF65-F5344CB8AC3E}">
        <p14:creationId xmlns:p14="http://schemas.microsoft.com/office/powerpoint/2010/main" val="2831481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FC563-B26C-DBDE-EFA3-B2EE31723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C6A9A853-72E0-0BC9-EC59-AAB41B9A49FF}"/>
              </a:ext>
            </a:extLst>
          </p:cNvPr>
          <p:cNvSpPr/>
          <p:nvPr/>
        </p:nvSpPr>
        <p:spPr>
          <a:xfrm>
            <a:off x="6171548" y="2686764"/>
            <a:ext cx="5864298" cy="496120"/>
          </a:xfrm>
          <a:prstGeom prst="roundRect">
            <a:avLst/>
          </a:prstGeom>
          <a:solidFill>
            <a:schemeClr val="accent1">
              <a:lumMod val="40000"/>
              <a:lumOff val="60000"/>
              <a:alpha val="89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 b="1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89544C64-2EB2-905A-36A3-282BC473637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3799" y="3764480"/>
            <a:ext cx="5146063" cy="863642"/>
          </a:xfrm>
        </p:spPr>
        <p:txBody>
          <a:bodyPr/>
          <a:lstStyle/>
          <a:p>
            <a:r>
              <a:rPr lang="fr-FR"/>
              <a:t>SOMMAIRE</a:t>
            </a:r>
          </a:p>
        </p:txBody>
      </p:sp>
      <p:sp>
        <p:nvSpPr>
          <p:cNvPr id="12" name="Espace réservé du texte 10">
            <a:extLst>
              <a:ext uri="{FF2B5EF4-FFF2-40B4-BE49-F238E27FC236}">
                <a16:creationId xmlns:a16="http://schemas.microsoft.com/office/drawing/2014/main" id="{E85FDA2E-3276-CDB1-0DFD-4A15A0F244C3}"/>
              </a:ext>
            </a:extLst>
          </p:cNvPr>
          <p:cNvSpPr>
            <a:spLocks noGrp="1"/>
          </p:cNvSpPr>
          <p:nvPr/>
        </p:nvSpPr>
        <p:spPr>
          <a:xfrm>
            <a:off x="6058941" y="2685042"/>
            <a:ext cx="615950" cy="4842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i="0" kern="1200">
                <a:solidFill>
                  <a:schemeClr val="accent4"/>
                </a:solidFill>
                <a:latin typeface="Plus Jakarta Sans" pitchFamily="2" charset="77"/>
                <a:ea typeface="Noto Sans" panose="020B0502040504020204" pitchFamily="34" charset="0"/>
                <a:cs typeface="Plus Jakarta Sa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100" b="1" i="0" kern="1200">
                <a:solidFill>
                  <a:schemeClr val="tx1"/>
                </a:solidFill>
                <a:latin typeface="Galano Grotesque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50" b="1" i="0" kern="1200">
                <a:solidFill>
                  <a:schemeClr val="tx1"/>
                </a:solidFill>
                <a:latin typeface="Galano Grotesque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b="1" i="0" kern="1200">
                <a:solidFill>
                  <a:schemeClr val="tx1"/>
                </a:solidFill>
                <a:latin typeface="Galano Grotesque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b="1" i="0" kern="1200">
                <a:solidFill>
                  <a:schemeClr val="tx1"/>
                </a:solidFill>
                <a:latin typeface="Galano Grotesque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>
                <a:solidFill>
                  <a:srgbClr val="0027B7"/>
                </a:solidFill>
              </a:rPr>
              <a:t>01</a:t>
            </a:r>
          </a:p>
        </p:txBody>
      </p:sp>
      <p:sp>
        <p:nvSpPr>
          <p:cNvPr id="13" name="Espace réservé du texte 8">
            <a:extLst>
              <a:ext uri="{FF2B5EF4-FFF2-40B4-BE49-F238E27FC236}">
                <a16:creationId xmlns:a16="http://schemas.microsoft.com/office/drawing/2014/main" id="{4F13868B-8E96-9A5C-E25D-2EF6622B055D}"/>
              </a:ext>
            </a:extLst>
          </p:cNvPr>
          <p:cNvSpPr>
            <a:spLocks noGrp="1"/>
          </p:cNvSpPr>
          <p:nvPr/>
        </p:nvSpPr>
        <p:spPr>
          <a:xfrm>
            <a:off x="6058941" y="3224761"/>
            <a:ext cx="615950" cy="4842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i="0" kern="1200">
                <a:solidFill>
                  <a:schemeClr val="accent4"/>
                </a:solidFill>
                <a:latin typeface="Plus Jakarta Sans" pitchFamily="2" charset="77"/>
                <a:ea typeface="Noto Sans" panose="020B0502040504020204" pitchFamily="34" charset="0"/>
                <a:cs typeface="Plus Jakarta Sa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100" b="1" i="0" kern="1200">
                <a:solidFill>
                  <a:schemeClr val="tx1"/>
                </a:solidFill>
                <a:latin typeface="Galano Grotesque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50" b="1" i="0" kern="1200">
                <a:solidFill>
                  <a:schemeClr val="tx1"/>
                </a:solidFill>
                <a:latin typeface="Galano Grotesque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b="1" i="0" kern="1200">
                <a:solidFill>
                  <a:schemeClr val="tx1"/>
                </a:solidFill>
                <a:latin typeface="Galano Grotesque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b="1" i="0" kern="1200">
                <a:solidFill>
                  <a:schemeClr val="tx1"/>
                </a:solidFill>
                <a:latin typeface="Galano Grotesque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>
                <a:solidFill>
                  <a:srgbClr val="0027B7"/>
                </a:solidFill>
              </a:rPr>
              <a:t>02</a:t>
            </a:r>
          </a:p>
        </p:txBody>
      </p:sp>
      <p:sp>
        <p:nvSpPr>
          <p:cNvPr id="18" name="Espace réservé du texte 7">
            <a:extLst>
              <a:ext uri="{FF2B5EF4-FFF2-40B4-BE49-F238E27FC236}">
                <a16:creationId xmlns:a16="http://schemas.microsoft.com/office/drawing/2014/main" id="{ADB13207-A794-C212-B5E7-AF298E0791F2}"/>
              </a:ext>
            </a:extLst>
          </p:cNvPr>
          <p:cNvSpPr>
            <a:spLocks noGrp="1"/>
          </p:cNvSpPr>
          <p:nvPr/>
        </p:nvSpPr>
        <p:spPr>
          <a:xfrm>
            <a:off x="6752133" y="2685043"/>
            <a:ext cx="4918620" cy="4842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FontTx/>
              <a:buNone/>
              <a:defRPr sz="1600" b="0" i="0" kern="1200">
                <a:solidFill>
                  <a:schemeClr val="accent4"/>
                </a:solidFill>
                <a:latin typeface="Plus Jakarta Sans" pitchFamily="2" charset="77"/>
                <a:ea typeface="Noto Sans" panose="020B0502040504020204" pitchFamily="34" charset="0"/>
                <a:cs typeface="Plus Jakarta Sa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1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5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solidFill>
                  <a:srgbClr val="0027B7"/>
                </a:solidFill>
              </a:rPr>
              <a:t>Avancement de l’étude</a:t>
            </a:r>
          </a:p>
        </p:txBody>
      </p:sp>
      <p:sp>
        <p:nvSpPr>
          <p:cNvPr id="19" name="Espace réservé du texte 14">
            <a:extLst>
              <a:ext uri="{FF2B5EF4-FFF2-40B4-BE49-F238E27FC236}">
                <a16:creationId xmlns:a16="http://schemas.microsoft.com/office/drawing/2014/main" id="{674C3408-0618-FA1A-0CC4-B729E92AD4B0}"/>
              </a:ext>
            </a:extLst>
          </p:cNvPr>
          <p:cNvSpPr>
            <a:spLocks noGrp="1"/>
          </p:cNvSpPr>
          <p:nvPr/>
        </p:nvSpPr>
        <p:spPr>
          <a:xfrm>
            <a:off x="6752133" y="3229223"/>
            <a:ext cx="4918620" cy="4842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FontTx/>
              <a:buNone/>
              <a:defRPr sz="1600" b="0" i="0" kern="1200">
                <a:solidFill>
                  <a:schemeClr val="accent4"/>
                </a:solidFill>
                <a:latin typeface="Plus Jakarta Sans" pitchFamily="2" charset="77"/>
                <a:ea typeface="Noto Sans" panose="020B0502040504020204" pitchFamily="34" charset="0"/>
                <a:cs typeface="Plus Jakarta Sa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1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5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>
                <a:solidFill>
                  <a:srgbClr val="0027B7"/>
                </a:solidFill>
              </a:rPr>
              <a:t>Key </a:t>
            </a:r>
            <a:r>
              <a:rPr lang="fr-FR" b="1" err="1">
                <a:solidFill>
                  <a:srgbClr val="0027B7"/>
                </a:solidFill>
              </a:rPr>
              <a:t>takeaways</a:t>
            </a:r>
            <a:endParaRPr lang="fr-FR" b="1">
              <a:solidFill>
                <a:srgbClr val="0027B7"/>
              </a:solidFill>
            </a:endParaRPr>
          </a:p>
        </p:txBody>
      </p:sp>
      <p:sp>
        <p:nvSpPr>
          <p:cNvPr id="15" name="Espace réservé du texte 9">
            <a:extLst>
              <a:ext uri="{FF2B5EF4-FFF2-40B4-BE49-F238E27FC236}">
                <a16:creationId xmlns:a16="http://schemas.microsoft.com/office/drawing/2014/main" id="{6179A8B8-0AFA-4B18-1500-21784FF35E72}"/>
              </a:ext>
            </a:extLst>
          </p:cNvPr>
          <p:cNvSpPr>
            <a:spLocks noGrp="1"/>
          </p:cNvSpPr>
          <p:nvPr/>
        </p:nvSpPr>
        <p:spPr>
          <a:xfrm>
            <a:off x="6058941" y="3764480"/>
            <a:ext cx="615950" cy="4842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i="0" kern="1200">
                <a:solidFill>
                  <a:schemeClr val="accent4"/>
                </a:solidFill>
                <a:latin typeface="Plus Jakarta Sans" pitchFamily="2" charset="77"/>
                <a:ea typeface="Noto Sans" panose="020B0502040504020204" pitchFamily="34" charset="0"/>
                <a:cs typeface="Plus Jakarta Sa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100" b="1" i="0" kern="1200">
                <a:solidFill>
                  <a:schemeClr val="tx1"/>
                </a:solidFill>
                <a:latin typeface="Galano Grotesque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50" b="1" i="0" kern="1200">
                <a:solidFill>
                  <a:schemeClr val="tx1"/>
                </a:solidFill>
                <a:latin typeface="Galano Grotesque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b="1" i="0" kern="1200">
                <a:solidFill>
                  <a:schemeClr val="tx1"/>
                </a:solidFill>
                <a:latin typeface="Galano Grotesque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b="1" i="0" kern="1200">
                <a:solidFill>
                  <a:schemeClr val="tx1"/>
                </a:solidFill>
                <a:latin typeface="Galano Grotesque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>
                <a:solidFill>
                  <a:srgbClr val="0027B7"/>
                </a:solidFill>
              </a:rPr>
              <a:t>03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6E9A3613-7702-3E97-C05E-397A28417D74}"/>
              </a:ext>
            </a:extLst>
          </p:cNvPr>
          <p:cNvSpPr>
            <a:spLocks noGrp="1"/>
          </p:cNvSpPr>
          <p:nvPr/>
        </p:nvSpPr>
        <p:spPr>
          <a:xfrm>
            <a:off x="6752132" y="3773403"/>
            <a:ext cx="5432363" cy="4842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FontTx/>
              <a:buNone/>
              <a:defRPr sz="1600" b="0" i="0" kern="1200">
                <a:solidFill>
                  <a:schemeClr val="accent4"/>
                </a:solidFill>
                <a:latin typeface="Plus Jakarta Sans" pitchFamily="2" charset="77"/>
                <a:ea typeface="Noto Sans" panose="020B0502040504020204" pitchFamily="34" charset="0"/>
                <a:cs typeface="Plus Jakarta Sa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1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5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>
                <a:solidFill>
                  <a:srgbClr val="0027B7"/>
                </a:solidFill>
              </a:rPr>
              <a:t>Annexes 1 : estimations budgétaires</a:t>
            </a:r>
          </a:p>
        </p:txBody>
      </p:sp>
      <p:sp>
        <p:nvSpPr>
          <p:cNvPr id="17" name="Espace réservé du texte 9">
            <a:extLst>
              <a:ext uri="{FF2B5EF4-FFF2-40B4-BE49-F238E27FC236}">
                <a16:creationId xmlns:a16="http://schemas.microsoft.com/office/drawing/2014/main" id="{46A61C46-A40E-2F49-2576-EB09D5B100F1}"/>
              </a:ext>
            </a:extLst>
          </p:cNvPr>
          <p:cNvSpPr>
            <a:spLocks noGrp="1"/>
          </p:cNvSpPr>
          <p:nvPr/>
        </p:nvSpPr>
        <p:spPr>
          <a:xfrm>
            <a:off x="6058941" y="4304428"/>
            <a:ext cx="615950" cy="4842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i="0" kern="1200">
                <a:solidFill>
                  <a:schemeClr val="accent4"/>
                </a:solidFill>
                <a:latin typeface="Plus Jakarta Sans" pitchFamily="2" charset="77"/>
                <a:ea typeface="Noto Sans" panose="020B0502040504020204" pitchFamily="34" charset="0"/>
                <a:cs typeface="Plus Jakarta Sa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100" b="1" i="0" kern="1200">
                <a:solidFill>
                  <a:schemeClr val="tx1"/>
                </a:solidFill>
                <a:latin typeface="Galano Grotesque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50" b="1" i="0" kern="1200">
                <a:solidFill>
                  <a:schemeClr val="tx1"/>
                </a:solidFill>
                <a:latin typeface="Galano Grotesque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b="1" i="0" kern="1200">
                <a:solidFill>
                  <a:schemeClr val="tx1"/>
                </a:solidFill>
                <a:latin typeface="Galano Grotesque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b="1" i="0" kern="1200">
                <a:solidFill>
                  <a:schemeClr val="tx1"/>
                </a:solidFill>
                <a:latin typeface="Galano Grotesque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>
                <a:solidFill>
                  <a:srgbClr val="0027B7"/>
                </a:solidFill>
              </a:rPr>
              <a:t>04</a:t>
            </a:r>
          </a:p>
        </p:txBody>
      </p:sp>
      <p:sp>
        <p:nvSpPr>
          <p:cNvPr id="21" name="Espace réservé du texte 15">
            <a:extLst>
              <a:ext uri="{FF2B5EF4-FFF2-40B4-BE49-F238E27FC236}">
                <a16:creationId xmlns:a16="http://schemas.microsoft.com/office/drawing/2014/main" id="{1BCD8737-4B8B-0075-CC39-8E405A1070F2}"/>
              </a:ext>
            </a:extLst>
          </p:cNvPr>
          <p:cNvSpPr>
            <a:spLocks noGrp="1"/>
          </p:cNvSpPr>
          <p:nvPr/>
        </p:nvSpPr>
        <p:spPr>
          <a:xfrm>
            <a:off x="6752132" y="4313351"/>
            <a:ext cx="5432363" cy="4842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FontTx/>
              <a:buNone/>
              <a:defRPr sz="1600" b="0" i="0" kern="1200">
                <a:solidFill>
                  <a:schemeClr val="accent4"/>
                </a:solidFill>
                <a:latin typeface="Plus Jakarta Sans" pitchFamily="2" charset="77"/>
                <a:ea typeface="Noto Sans" panose="020B0502040504020204" pitchFamily="34" charset="0"/>
                <a:cs typeface="Plus Jakarta Sa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1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5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solidFill>
                  <a:srgbClr val="0027B7"/>
                </a:solidFill>
              </a:rPr>
              <a:t>Annexes 2 : </a:t>
            </a:r>
            <a:r>
              <a:rPr lang="fr-FR" b="1" dirty="0" err="1">
                <a:solidFill>
                  <a:srgbClr val="0027B7"/>
                </a:solidFill>
              </a:rPr>
              <a:t>scoring</a:t>
            </a:r>
            <a:r>
              <a:rPr lang="fr-FR" b="1" dirty="0">
                <a:solidFill>
                  <a:srgbClr val="0027B7"/>
                </a:solidFill>
              </a:rPr>
              <a:t> fonctionnel</a:t>
            </a:r>
          </a:p>
        </p:txBody>
      </p:sp>
    </p:spTree>
    <p:extLst>
      <p:ext uri="{BB962C8B-B14F-4D97-AF65-F5344CB8AC3E}">
        <p14:creationId xmlns:p14="http://schemas.microsoft.com/office/powerpoint/2010/main" val="1226004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2E8BE-4D8A-8573-B020-D79CE64BF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796EFFA-B4CF-D01C-82E6-18401B2C1229}"/>
              </a:ext>
            </a:extLst>
          </p:cNvPr>
          <p:cNvSpPr/>
          <p:nvPr/>
        </p:nvSpPr>
        <p:spPr>
          <a:xfrm>
            <a:off x="9083236" y="2607751"/>
            <a:ext cx="1746689" cy="2535181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 b="1">
              <a:solidFill>
                <a:srgbClr val="1A1C3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47DFC1ED-3B71-9A97-01CE-C5145B2A3B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3BCABC78-B531-ED36-9E9C-3B366DCE8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Depuis le dernier comité de pilotage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5285897-6906-1F87-468A-0670ABAD7643}"/>
              </a:ext>
            </a:extLst>
          </p:cNvPr>
          <p:cNvSpPr/>
          <p:nvPr/>
        </p:nvSpPr>
        <p:spPr>
          <a:xfrm>
            <a:off x="876300" y="1871158"/>
            <a:ext cx="6175037" cy="25351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l">
              <a:spcAft>
                <a:spcPts val="600"/>
              </a:spcAft>
            </a:pPr>
            <a:r>
              <a:rPr lang="fr-FR" sz="1200" b="1" dirty="0">
                <a:solidFill>
                  <a:schemeClr val="accent1">
                    <a:lumMod val="50000"/>
                  </a:schemeClr>
                </a:solidFill>
                <a:cs typeface="Calibri" panose="020F0502020204030204" pitchFamily="34" charset="0"/>
              </a:rPr>
              <a:t>La consultation s’est déroulée du 28.05 au 18.06 pour 4 des éditeurs candidats.</a:t>
            </a:r>
          </a:p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 dirty="0">
              <a:solidFill>
                <a:srgbClr val="1A1C30"/>
              </a:solidFill>
              <a:cs typeface="Calibri" panose="020F0502020204030204" pitchFamily="34" charset="0"/>
            </a:endParaRPr>
          </a:p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1000" b="1" dirty="0">
                <a:solidFill>
                  <a:srgbClr val="1A1C30"/>
                </a:solidFill>
                <a:cs typeface="Calibri" panose="020F0502020204030204" pitchFamily="34" charset="0"/>
              </a:rPr>
              <a:t>MICROSOFT et les 4 </a:t>
            </a:r>
            <a:r>
              <a:rPr lang="fr-FR" sz="1000" b="1" i="1" dirty="0">
                <a:solidFill>
                  <a:srgbClr val="1A1C30"/>
                </a:solidFill>
                <a:cs typeface="Calibri" panose="020F0502020204030204" pitchFamily="34" charset="0"/>
              </a:rPr>
              <a:t>challengers</a:t>
            </a:r>
            <a:r>
              <a:rPr lang="fr-FR" sz="1000" b="1" dirty="0">
                <a:solidFill>
                  <a:srgbClr val="1A1C30"/>
                </a:solidFill>
                <a:cs typeface="Calibri" panose="020F0502020204030204" pitchFamily="34" charset="0"/>
              </a:rPr>
              <a:t> SEI, ORISHA et ODOO ont répondu au RFI.</a:t>
            </a:r>
          </a:p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1000" b="1" dirty="0">
                <a:solidFill>
                  <a:srgbClr val="1A1C30"/>
                </a:solidFill>
                <a:cs typeface="Calibri" panose="020F0502020204030204" pitchFamily="34" charset="0"/>
              </a:rPr>
              <a:t>SAP / </a:t>
            </a:r>
            <a:r>
              <a:rPr lang="fr-FR" sz="1000" b="1" dirty="0" err="1">
                <a:solidFill>
                  <a:srgbClr val="1A1C30"/>
                </a:solidFill>
                <a:cs typeface="Calibri" panose="020F0502020204030204" pitchFamily="34" charset="0"/>
              </a:rPr>
              <a:t>Teamwork</a:t>
            </a:r>
            <a:r>
              <a:rPr lang="fr-FR" sz="1000" b="1" dirty="0">
                <a:solidFill>
                  <a:srgbClr val="1A1C30"/>
                </a:solidFill>
                <a:cs typeface="Calibri" panose="020F0502020204030204" pitchFamily="34" charset="0"/>
              </a:rPr>
              <a:t> - désistement le 30.08 : </a:t>
            </a:r>
            <a:r>
              <a:rPr lang="fr-FR" sz="1000" dirty="0">
                <a:solidFill>
                  <a:srgbClr val="1A1C30"/>
                </a:solidFill>
                <a:cs typeface="Calibri" panose="020F0502020204030204" pitchFamily="34" charset="0"/>
              </a:rPr>
              <a:t>pas d’expertise métier / sectorielle.</a:t>
            </a:r>
          </a:p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 dirty="0">
              <a:solidFill>
                <a:srgbClr val="1A1C30"/>
              </a:solidFill>
              <a:cs typeface="Calibri" panose="020F0502020204030204" pitchFamily="34" charset="0"/>
            </a:endParaRPr>
          </a:p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 dirty="0">
              <a:solidFill>
                <a:srgbClr val="1A1C30"/>
              </a:solidFill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fr-FR" sz="1200" b="1" dirty="0">
                <a:solidFill>
                  <a:schemeClr val="accent1">
                    <a:lumMod val="50000"/>
                  </a:schemeClr>
                </a:solidFill>
                <a:cs typeface="Calibri" panose="020F0502020204030204" pitchFamily="34" charset="0"/>
              </a:rPr>
              <a:t>Elle se poursuit pour SAP / Delaware et INFOR.</a:t>
            </a:r>
          </a:p>
          <a:p>
            <a:pPr algn="l">
              <a:spcAft>
                <a:spcPts val="600"/>
              </a:spcAft>
            </a:pPr>
            <a:endParaRPr lang="fr-FR" sz="1000" dirty="0">
              <a:solidFill>
                <a:srgbClr val="1A1C30"/>
              </a:solidFill>
              <a:cs typeface="Calibri" panose="020F0502020204030204" pitchFamily="34" charset="0"/>
            </a:endParaRPr>
          </a:p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rgbClr val="1A1C30"/>
                </a:solidFill>
                <a:cs typeface="Calibri" panose="020F0502020204030204" pitchFamily="34" charset="0"/>
              </a:rPr>
              <a:t>Les dossiers de réponse seront remis directement à Beaumanoir.</a:t>
            </a:r>
          </a:p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1000" b="1" dirty="0">
                <a:solidFill>
                  <a:srgbClr val="1A1C30"/>
                </a:solidFill>
                <a:cs typeface="Calibri" panose="020F0502020204030204" pitchFamily="34" charset="0"/>
              </a:rPr>
              <a:t>Réponses attendues à l’horizon mi-juillet.</a:t>
            </a:r>
          </a:p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 dirty="0">
              <a:solidFill>
                <a:srgbClr val="1A1C30"/>
              </a:solidFill>
              <a:cs typeface="Calibri" panose="020F0502020204030204" pitchFamily="34" charset="0"/>
            </a:endParaRPr>
          </a:p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 dirty="0">
              <a:solidFill>
                <a:srgbClr val="1A1C30"/>
              </a:solidFill>
              <a:cs typeface="Calibri" panose="020F0502020204030204" pitchFamily="34" charset="0"/>
            </a:endParaRPr>
          </a:p>
        </p:txBody>
      </p:sp>
      <p:sp>
        <p:nvSpPr>
          <p:cNvPr id="26" name="Rectangle : avec coins arrondis en diagonale 25">
            <a:extLst>
              <a:ext uri="{FF2B5EF4-FFF2-40B4-BE49-F238E27FC236}">
                <a16:creationId xmlns:a16="http://schemas.microsoft.com/office/drawing/2014/main" id="{2D7FE26C-D8C3-F60E-7FE6-A472C232966A}"/>
              </a:ext>
            </a:extLst>
          </p:cNvPr>
          <p:cNvSpPr/>
          <p:nvPr/>
        </p:nvSpPr>
        <p:spPr>
          <a:xfrm flipV="1">
            <a:off x="507245" y="5326760"/>
            <a:ext cx="11353254" cy="997290"/>
          </a:xfrm>
          <a:prstGeom prst="round2DiagRect">
            <a:avLst>
              <a:gd name="adj1" fmla="val 12501"/>
              <a:gd name="adj2" fmla="val 0"/>
            </a:avLst>
          </a:prstGeom>
          <a:solidFill>
            <a:schemeClr val="accent1">
              <a:lumMod val="20000"/>
              <a:lumOff val="80000"/>
              <a:alpha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900" b="1">
              <a:solidFill>
                <a:srgbClr val="1A1C3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E575CEDF-911D-FE31-8EC8-7CD153B12347}"/>
              </a:ext>
            </a:extLst>
          </p:cNvPr>
          <p:cNvSpPr txBox="1"/>
          <p:nvPr/>
        </p:nvSpPr>
        <p:spPr>
          <a:xfrm>
            <a:off x="676988" y="5459998"/>
            <a:ext cx="8953475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1100" b="1" dirty="0">
                <a:solidFill>
                  <a:schemeClr val="accent1">
                    <a:lumMod val="50000"/>
                  </a:schemeClr>
                </a:solidFill>
                <a:cs typeface="Calibri" panose="020F0502020204030204" pitchFamily="34" charset="0"/>
              </a:rPr>
              <a:t>Cette synthèse compare MICROSOFT (« leader ») et les trois « challengers » interrogés.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100" b="1" dirty="0">
              <a:solidFill>
                <a:schemeClr val="accent1">
                  <a:lumMod val="50000"/>
                </a:schemeClr>
              </a:solidFill>
              <a:cs typeface="Calibri" panose="020F0502020204030204" pitchFamily="34" charset="0"/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1100" b="1" dirty="0">
                <a:solidFill>
                  <a:schemeClr val="accent1">
                    <a:lumMod val="50000"/>
                  </a:schemeClr>
                </a:solidFill>
                <a:cs typeface="Calibri" panose="020F0502020204030204" pitchFamily="34" charset="0"/>
              </a:rPr>
              <a:t>Elle sera complétée d’une analyse d’INFOR et SAP, conduite directement par les équipes Beaumanoir.</a:t>
            </a: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AB21C65A-C258-5DBF-752B-724C60589F1C}"/>
              </a:ext>
            </a:extLst>
          </p:cNvPr>
          <p:cNvGrpSpPr/>
          <p:nvPr/>
        </p:nvGrpSpPr>
        <p:grpSpPr>
          <a:xfrm>
            <a:off x="9460407" y="2062358"/>
            <a:ext cx="1151550" cy="520346"/>
            <a:chOff x="2270615" y="2615153"/>
            <a:chExt cx="1151550" cy="520346"/>
          </a:xfrm>
        </p:grpSpPr>
        <p:pic>
          <p:nvPicPr>
            <p:cNvPr id="12" name="Picture 4" descr="Infor logo - Icônes Médias sociaux et logos">
              <a:extLst>
                <a:ext uri="{FF2B5EF4-FFF2-40B4-BE49-F238E27FC236}">
                  <a16:creationId xmlns:a16="http://schemas.microsoft.com/office/drawing/2014/main" id="{D9418829-442D-3B28-89A1-2B55ECD966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81473" y="2615153"/>
              <a:ext cx="1040692" cy="5203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53479F1-6761-4A8B-027B-D25C184B8803}"/>
                </a:ext>
              </a:extLst>
            </p:cNvPr>
            <p:cNvSpPr/>
            <p:nvPr/>
          </p:nvSpPr>
          <p:spPr>
            <a:xfrm>
              <a:off x="2270615" y="2696091"/>
              <a:ext cx="108000" cy="360000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060B1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171450" indent="-171450" algn="l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endPara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BB59EB75-F9BC-9FE0-8796-8911988A8451}"/>
              </a:ext>
            </a:extLst>
          </p:cNvPr>
          <p:cNvGrpSpPr/>
          <p:nvPr/>
        </p:nvGrpSpPr>
        <p:grpSpPr>
          <a:xfrm>
            <a:off x="9460407" y="3359444"/>
            <a:ext cx="1168856" cy="419410"/>
            <a:chOff x="2270615" y="4063062"/>
            <a:chExt cx="1168856" cy="419410"/>
          </a:xfrm>
        </p:grpSpPr>
        <p:pic>
          <p:nvPicPr>
            <p:cNvPr id="18" name="Image 17" descr="Une image contenant texte, Police, Graphique, logo&#10;&#10;Le contenu généré par l’IA peut être incorrect.">
              <a:extLst>
                <a:ext uri="{FF2B5EF4-FFF2-40B4-BE49-F238E27FC236}">
                  <a16:creationId xmlns:a16="http://schemas.microsoft.com/office/drawing/2014/main" id="{63C72B1C-BACC-18A4-9B8D-B769ED59C9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63983" y="4063062"/>
              <a:ext cx="1075488" cy="419410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B23D6B2-50A4-8CE3-4B4E-73C551E9EF58}"/>
                </a:ext>
              </a:extLst>
            </p:cNvPr>
            <p:cNvSpPr/>
            <p:nvPr/>
          </p:nvSpPr>
          <p:spPr>
            <a:xfrm>
              <a:off x="2270615" y="4075163"/>
              <a:ext cx="108000" cy="360000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060B1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171450" indent="-1714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endPara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76730BB7-B787-215A-3822-C6A4B7F857CA}"/>
              </a:ext>
            </a:extLst>
          </p:cNvPr>
          <p:cNvGrpSpPr/>
          <p:nvPr/>
        </p:nvGrpSpPr>
        <p:grpSpPr>
          <a:xfrm>
            <a:off x="9460407" y="3857782"/>
            <a:ext cx="1100334" cy="500412"/>
            <a:chOff x="2270615" y="4699945"/>
            <a:chExt cx="1100334" cy="500412"/>
          </a:xfrm>
        </p:grpSpPr>
        <p:pic>
          <p:nvPicPr>
            <p:cNvPr id="25" name="Image 24" descr="Une image contenant logo, Bleu électrique, Police, Graphique&#10;&#10;Le contenu généré par l’IA peut être incorrect.">
              <a:extLst>
                <a:ext uri="{FF2B5EF4-FFF2-40B4-BE49-F238E27FC236}">
                  <a16:creationId xmlns:a16="http://schemas.microsoft.com/office/drawing/2014/main" id="{53D2D9DB-6039-1562-B3E9-0D53B37D31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21661" b="24549"/>
            <a:stretch/>
          </p:blipFill>
          <p:spPr>
            <a:xfrm>
              <a:off x="2440671" y="4699945"/>
              <a:ext cx="930278" cy="500412"/>
            </a:xfrm>
            <a:prstGeom prst="rect">
              <a:avLst/>
            </a:prstGeom>
          </p:spPr>
        </p:pic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F6DF662-00E6-A429-810F-94D4B51C8F7E}"/>
                </a:ext>
              </a:extLst>
            </p:cNvPr>
            <p:cNvSpPr/>
            <p:nvPr/>
          </p:nvSpPr>
          <p:spPr>
            <a:xfrm>
              <a:off x="2270615" y="4749812"/>
              <a:ext cx="108000" cy="360000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060B1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171450" indent="-171450" algn="l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endPara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3528402D-6F94-37BA-C7AC-C7EEE996F48B}"/>
              </a:ext>
            </a:extLst>
          </p:cNvPr>
          <p:cNvGrpSpPr/>
          <p:nvPr/>
        </p:nvGrpSpPr>
        <p:grpSpPr>
          <a:xfrm>
            <a:off x="9460407" y="1472547"/>
            <a:ext cx="1267254" cy="533518"/>
            <a:chOff x="2270615" y="2030490"/>
            <a:chExt cx="1267254" cy="533518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B4DCDB0B-DF60-7F44-7BDB-4C945BA0A382}"/>
                </a:ext>
              </a:extLst>
            </p:cNvPr>
            <p:cNvSpPr/>
            <p:nvPr/>
          </p:nvSpPr>
          <p:spPr>
            <a:xfrm>
              <a:off x="2270615" y="2030490"/>
              <a:ext cx="108000" cy="360000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060B1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171450" indent="-171450" algn="l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endPara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32" name="Groupe 31">
              <a:extLst>
                <a:ext uri="{FF2B5EF4-FFF2-40B4-BE49-F238E27FC236}">
                  <a16:creationId xmlns:a16="http://schemas.microsoft.com/office/drawing/2014/main" id="{9646061A-8A8C-0BE3-ABC5-3EE153776119}"/>
                </a:ext>
              </a:extLst>
            </p:cNvPr>
            <p:cNvGrpSpPr/>
            <p:nvPr/>
          </p:nvGrpSpPr>
          <p:grpSpPr>
            <a:xfrm>
              <a:off x="2491210" y="2034520"/>
              <a:ext cx="1046659" cy="529488"/>
              <a:chOff x="1596606" y="1642648"/>
              <a:chExt cx="1046659" cy="529488"/>
            </a:xfrm>
          </p:grpSpPr>
          <p:pic>
            <p:nvPicPr>
              <p:cNvPr id="36" name="Picture 2">
                <a:extLst>
                  <a:ext uri="{FF2B5EF4-FFF2-40B4-BE49-F238E27FC236}">
                    <a16:creationId xmlns:a16="http://schemas.microsoft.com/office/drawing/2014/main" id="{3F5CA55A-4077-DD02-3AC3-431ED30250F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96606" y="1642648"/>
                <a:ext cx="703792" cy="34952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5" name="Image 34" descr="Une image contenant lune, objet astronomique, obscurité, astronomie&#10;&#10;Le contenu généré par l’IA peut être incorrect.">
                <a:extLst>
                  <a:ext uri="{FF2B5EF4-FFF2-40B4-BE49-F238E27FC236}">
                    <a16:creationId xmlns:a16="http://schemas.microsoft.com/office/drawing/2014/main" id="{E563E512-5C60-09E7-5596-20C965B05E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77773" y="1973889"/>
                <a:ext cx="665492" cy="198247"/>
              </a:xfrm>
              <a:prstGeom prst="rect">
                <a:avLst/>
              </a:prstGeom>
            </p:spPr>
          </p:pic>
        </p:grpSp>
      </p:grpSp>
      <p:grpSp>
        <p:nvGrpSpPr>
          <p:cNvPr id="38" name="Groupe 37">
            <a:extLst>
              <a:ext uri="{FF2B5EF4-FFF2-40B4-BE49-F238E27FC236}">
                <a16:creationId xmlns:a16="http://schemas.microsoft.com/office/drawing/2014/main" id="{1B7AC421-52A6-B36C-ED57-92BC923E75E8}"/>
              </a:ext>
            </a:extLst>
          </p:cNvPr>
          <p:cNvGrpSpPr/>
          <p:nvPr/>
        </p:nvGrpSpPr>
        <p:grpSpPr>
          <a:xfrm>
            <a:off x="9460407" y="2743909"/>
            <a:ext cx="967853" cy="360000"/>
            <a:chOff x="2270615" y="3390525"/>
            <a:chExt cx="967853" cy="360000"/>
          </a:xfrm>
        </p:grpSpPr>
        <p:pic>
          <p:nvPicPr>
            <p:cNvPr id="42" name="Image 41">
              <a:extLst>
                <a:ext uri="{FF2B5EF4-FFF2-40B4-BE49-F238E27FC236}">
                  <a16:creationId xmlns:a16="http://schemas.microsoft.com/office/drawing/2014/main" id="{B6032D51-285F-35FB-1319-0938467EE23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403545" y="3438197"/>
              <a:ext cx="834923" cy="275318"/>
            </a:xfrm>
            <a:prstGeom prst="rect">
              <a:avLst/>
            </a:prstGeom>
          </p:spPr>
        </p:pic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6EC5F489-8F4E-1F65-8550-E046B77E453F}"/>
                </a:ext>
              </a:extLst>
            </p:cNvPr>
            <p:cNvSpPr/>
            <p:nvPr/>
          </p:nvSpPr>
          <p:spPr>
            <a:xfrm>
              <a:off x="2270615" y="3390525"/>
              <a:ext cx="108000" cy="360000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060B1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171450" indent="-171450" algn="l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endPara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4" name="Groupe 43">
            <a:extLst>
              <a:ext uri="{FF2B5EF4-FFF2-40B4-BE49-F238E27FC236}">
                <a16:creationId xmlns:a16="http://schemas.microsoft.com/office/drawing/2014/main" id="{12AB0C17-823F-F828-292C-FDC52740AE29}"/>
              </a:ext>
            </a:extLst>
          </p:cNvPr>
          <p:cNvGrpSpPr/>
          <p:nvPr/>
        </p:nvGrpSpPr>
        <p:grpSpPr>
          <a:xfrm>
            <a:off x="9460407" y="4435135"/>
            <a:ext cx="1105533" cy="403120"/>
            <a:chOff x="2270615" y="5332717"/>
            <a:chExt cx="1105533" cy="403120"/>
          </a:xfrm>
        </p:grpSpPr>
        <p:pic>
          <p:nvPicPr>
            <p:cNvPr id="48" name="Picture 4" descr="https://www.odoo.com/logo.png">
              <a:extLst>
                <a:ext uri="{FF2B5EF4-FFF2-40B4-BE49-F238E27FC236}">
                  <a16:creationId xmlns:a16="http://schemas.microsoft.com/office/drawing/2014/main" id="{1BFE0DD3-19AA-F3F5-863D-03CEB6820C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45870" y="5332717"/>
              <a:ext cx="930278" cy="4031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FBEE53A3-0894-612C-8BA7-95834DC9ECFD}"/>
                </a:ext>
              </a:extLst>
            </p:cNvPr>
            <p:cNvSpPr/>
            <p:nvPr/>
          </p:nvSpPr>
          <p:spPr>
            <a:xfrm>
              <a:off x="2270615" y="5354277"/>
              <a:ext cx="108000" cy="360000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060B1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171450" indent="-171450" algn="l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endPara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0" name="ZoneTexte 49">
            <a:extLst>
              <a:ext uri="{FF2B5EF4-FFF2-40B4-BE49-F238E27FC236}">
                <a16:creationId xmlns:a16="http://schemas.microsoft.com/office/drawing/2014/main" id="{089D9054-120F-025A-1FAD-44B937621064}"/>
              </a:ext>
            </a:extLst>
          </p:cNvPr>
          <p:cNvSpPr txBox="1"/>
          <p:nvPr/>
        </p:nvSpPr>
        <p:spPr>
          <a:xfrm>
            <a:off x="8346574" y="2143563"/>
            <a:ext cx="7409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b="1">
                <a:solidFill>
                  <a:srgbClr val="0027B7"/>
                </a:solidFill>
              </a:rPr>
              <a:t>Leaders</a:t>
            </a: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A22D3482-69F3-E719-A83A-2FB9D3E371B0}"/>
              </a:ext>
            </a:extLst>
          </p:cNvPr>
          <p:cNvSpPr txBox="1"/>
          <p:nvPr/>
        </p:nvSpPr>
        <p:spPr>
          <a:xfrm>
            <a:off x="7813337" y="4006039"/>
            <a:ext cx="12698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b="1">
                <a:solidFill>
                  <a:srgbClr val="0027B7"/>
                </a:solidFill>
              </a:rPr>
              <a:t>« Challengers »</a:t>
            </a:r>
          </a:p>
        </p:txBody>
      </p:sp>
      <p:sp>
        <p:nvSpPr>
          <p:cNvPr id="53" name="Accolade ouvrante 52">
            <a:extLst>
              <a:ext uri="{FF2B5EF4-FFF2-40B4-BE49-F238E27FC236}">
                <a16:creationId xmlns:a16="http://schemas.microsoft.com/office/drawing/2014/main" id="{F725AEF6-C7C5-4D54-A4FF-0D7C5FEA7288}"/>
              </a:ext>
            </a:extLst>
          </p:cNvPr>
          <p:cNvSpPr/>
          <p:nvPr/>
        </p:nvSpPr>
        <p:spPr>
          <a:xfrm>
            <a:off x="9126316" y="1442067"/>
            <a:ext cx="129782" cy="1692322"/>
          </a:xfrm>
          <a:prstGeom prst="leftBrac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4" name="Accolade ouvrante 53">
            <a:extLst>
              <a:ext uri="{FF2B5EF4-FFF2-40B4-BE49-F238E27FC236}">
                <a16:creationId xmlns:a16="http://schemas.microsoft.com/office/drawing/2014/main" id="{E9AD4779-74C4-5283-2F52-4D0EB58397F6}"/>
              </a:ext>
            </a:extLst>
          </p:cNvPr>
          <p:cNvSpPr/>
          <p:nvPr/>
        </p:nvSpPr>
        <p:spPr>
          <a:xfrm>
            <a:off x="9126315" y="3359444"/>
            <a:ext cx="146350" cy="1566319"/>
          </a:xfrm>
          <a:prstGeom prst="leftBrac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5" name="Image 54" descr="Une image contenant Graphique, Police, logo, graphisme&#10;&#10;Le contenu généré par l’IA peut être incorrect.">
            <a:extLst>
              <a:ext uri="{FF2B5EF4-FFF2-40B4-BE49-F238E27FC236}">
                <a16:creationId xmlns:a16="http://schemas.microsoft.com/office/drawing/2014/main" id="{F1922117-72F5-7745-9F1C-7ABBFD30591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62169" y="2979647"/>
            <a:ext cx="650442" cy="247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339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BB179-F0C0-6B9B-FFA1-D98524E1E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CDB98B46-A4FE-75CF-60F7-EA6887A0BB35}"/>
              </a:ext>
            </a:extLst>
          </p:cNvPr>
          <p:cNvSpPr/>
          <p:nvPr/>
        </p:nvSpPr>
        <p:spPr>
          <a:xfrm>
            <a:off x="6171548" y="3230324"/>
            <a:ext cx="5864298" cy="496120"/>
          </a:xfrm>
          <a:prstGeom prst="roundRect">
            <a:avLst/>
          </a:prstGeom>
          <a:solidFill>
            <a:schemeClr val="accent1">
              <a:lumMod val="40000"/>
              <a:lumOff val="60000"/>
              <a:alpha val="89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 b="1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DEA2AE69-25BB-4C33-17E7-3599BA5AE3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3799" y="3764480"/>
            <a:ext cx="5146063" cy="863642"/>
          </a:xfrm>
        </p:spPr>
        <p:txBody>
          <a:bodyPr/>
          <a:lstStyle/>
          <a:p>
            <a:r>
              <a:rPr lang="fr-FR"/>
              <a:t>SOMMAIRE</a:t>
            </a:r>
          </a:p>
        </p:txBody>
      </p:sp>
      <p:sp>
        <p:nvSpPr>
          <p:cNvPr id="12" name="Espace réservé du texte 10">
            <a:extLst>
              <a:ext uri="{FF2B5EF4-FFF2-40B4-BE49-F238E27FC236}">
                <a16:creationId xmlns:a16="http://schemas.microsoft.com/office/drawing/2014/main" id="{5866E722-711C-EB7E-738E-08CB02FE2D4A}"/>
              </a:ext>
            </a:extLst>
          </p:cNvPr>
          <p:cNvSpPr>
            <a:spLocks noGrp="1"/>
          </p:cNvSpPr>
          <p:nvPr/>
        </p:nvSpPr>
        <p:spPr>
          <a:xfrm>
            <a:off x="6058941" y="2685042"/>
            <a:ext cx="615950" cy="4842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i="0" kern="1200">
                <a:solidFill>
                  <a:schemeClr val="accent4"/>
                </a:solidFill>
                <a:latin typeface="Plus Jakarta Sans" pitchFamily="2" charset="77"/>
                <a:ea typeface="Noto Sans" panose="020B0502040504020204" pitchFamily="34" charset="0"/>
                <a:cs typeface="Plus Jakarta Sa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100" b="1" i="0" kern="1200">
                <a:solidFill>
                  <a:schemeClr val="tx1"/>
                </a:solidFill>
                <a:latin typeface="Galano Grotesque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50" b="1" i="0" kern="1200">
                <a:solidFill>
                  <a:schemeClr val="tx1"/>
                </a:solidFill>
                <a:latin typeface="Galano Grotesque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b="1" i="0" kern="1200">
                <a:solidFill>
                  <a:schemeClr val="tx1"/>
                </a:solidFill>
                <a:latin typeface="Galano Grotesque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b="1" i="0" kern="1200">
                <a:solidFill>
                  <a:schemeClr val="tx1"/>
                </a:solidFill>
                <a:latin typeface="Galano Grotesque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>
                <a:solidFill>
                  <a:srgbClr val="0027B7"/>
                </a:solidFill>
              </a:rPr>
              <a:t>01</a:t>
            </a:r>
          </a:p>
        </p:txBody>
      </p:sp>
      <p:sp>
        <p:nvSpPr>
          <p:cNvPr id="13" name="Espace réservé du texte 8">
            <a:extLst>
              <a:ext uri="{FF2B5EF4-FFF2-40B4-BE49-F238E27FC236}">
                <a16:creationId xmlns:a16="http://schemas.microsoft.com/office/drawing/2014/main" id="{805C0E4D-6CB1-EF12-426E-49CAC04E9B02}"/>
              </a:ext>
            </a:extLst>
          </p:cNvPr>
          <p:cNvSpPr>
            <a:spLocks noGrp="1"/>
          </p:cNvSpPr>
          <p:nvPr/>
        </p:nvSpPr>
        <p:spPr>
          <a:xfrm>
            <a:off x="6058941" y="3224761"/>
            <a:ext cx="615950" cy="4842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i="0" kern="1200">
                <a:solidFill>
                  <a:schemeClr val="accent4"/>
                </a:solidFill>
                <a:latin typeface="Plus Jakarta Sans" pitchFamily="2" charset="77"/>
                <a:ea typeface="Noto Sans" panose="020B0502040504020204" pitchFamily="34" charset="0"/>
                <a:cs typeface="Plus Jakarta Sa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100" b="1" i="0" kern="1200">
                <a:solidFill>
                  <a:schemeClr val="tx1"/>
                </a:solidFill>
                <a:latin typeface="Galano Grotesque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50" b="1" i="0" kern="1200">
                <a:solidFill>
                  <a:schemeClr val="tx1"/>
                </a:solidFill>
                <a:latin typeface="Galano Grotesque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b="1" i="0" kern="1200">
                <a:solidFill>
                  <a:schemeClr val="tx1"/>
                </a:solidFill>
                <a:latin typeface="Galano Grotesque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b="1" i="0" kern="1200">
                <a:solidFill>
                  <a:schemeClr val="tx1"/>
                </a:solidFill>
                <a:latin typeface="Galano Grotesque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>
                <a:solidFill>
                  <a:srgbClr val="0027B7"/>
                </a:solidFill>
              </a:rPr>
              <a:t>02</a:t>
            </a:r>
          </a:p>
        </p:txBody>
      </p:sp>
      <p:sp>
        <p:nvSpPr>
          <p:cNvPr id="18" name="Espace réservé du texte 7">
            <a:extLst>
              <a:ext uri="{FF2B5EF4-FFF2-40B4-BE49-F238E27FC236}">
                <a16:creationId xmlns:a16="http://schemas.microsoft.com/office/drawing/2014/main" id="{A50D6FE8-31E0-D17C-1A59-BEFFBB0CC7E2}"/>
              </a:ext>
            </a:extLst>
          </p:cNvPr>
          <p:cNvSpPr>
            <a:spLocks noGrp="1"/>
          </p:cNvSpPr>
          <p:nvPr/>
        </p:nvSpPr>
        <p:spPr>
          <a:xfrm>
            <a:off x="6752133" y="2685043"/>
            <a:ext cx="4918620" cy="4842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FontTx/>
              <a:buNone/>
              <a:defRPr sz="1600" b="0" i="0" kern="1200">
                <a:solidFill>
                  <a:schemeClr val="accent4"/>
                </a:solidFill>
                <a:latin typeface="Plus Jakarta Sans" pitchFamily="2" charset="77"/>
                <a:ea typeface="Noto Sans" panose="020B0502040504020204" pitchFamily="34" charset="0"/>
                <a:cs typeface="Plus Jakarta Sa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1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5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solidFill>
                  <a:srgbClr val="0027B7"/>
                </a:solidFill>
              </a:rPr>
              <a:t>Avancement de l’étude</a:t>
            </a:r>
          </a:p>
        </p:txBody>
      </p:sp>
      <p:sp>
        <p:nvSpPr>
          <p:cNvPr id="19" name="Espace réservé du texte 14">
            <a:extLst>
              <a:ext uri="{FF2B5EF4-FFF2-40B4-BE49-F238E27FC236}">
                <a16:creationId xmlns:a16="http://schemas.microsoft.com/office/drawing/2014/main" id="{B3FC9225-C3A2-2C62-384E-CDED28753078}"/>
              </a:ext>
            </a:extLst>
          </p:cNvPr>
          <p:cNvSpPr>
            <a:spLocks noGrp="1"/>
          </p:cNvSpPr>
          <p:nvPr/>
        </p:nvSpPr>
        <p:spPr>
          <a:xfrm>
            <a:off x="6752133" y="3229223"/>
            <a:ext cx="4918620" cy="4842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FontTx/>
              <a:buNone/>
              <a:defRPr sz="1600" b="0" i="0" kern="1200">
                <a:solidFill>
                  <a:schemeClr val="accent4"/>
                </a:solidFill>
                <a:latin typeface="Plus Jakarta Sans" pitchFamily="2" charset="77"/>
                <a:ea typeface="Noto Sans" panose="020B0502040504020204" pitchFamily="34" charset="0"/>
                <a:cs typeface="Plus Jakarta Sa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1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5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>
                <a:solidFill>
                  <a:srgbClr val="0027B7"/>
                </a:solidFill>
              </a:rPr>
              <a:t>Key </a:t>
            </a:r>
            <a:r>
              <a:rPr lang="fr-FR" b="1" err="1">
                <a:solidFill>
                  <a:srgbClr val="0027B7"/>
                </a:solidFill>
              </a:rPr>
              <a:t>takeaways</a:t>
            </a:r>
            <a:endParaRPr lang="fr-FR" b="1">
              <a:solidFill>
                <a:srgbClr val="0027B7"/>
              </a:solidFill>
            </a:endParaRPr>
          </a:p>
        </p:txBody>
      </p:sp>
      <p:sp>
        <p:nvSpPr>
          <p:cNvPr id="15" name="Espace réservé du texte 9">
            <a:extLst>
              <a:ext uri="{FF2B5EF4-FFF2-40B4-BE49-F238E27FC236}">
                <a16:creationId xmlns:a16="http://schemas.microsoft.com/office/drawing/2014/main" id="{9BA03808-E5A8-A160-D2AB-EF16DA1B71DA}"/>
              </a:ext>
            </a:extLst>
          </p:cNvPr>
          <p:cNvSpPr>
            <a:spLocks noGrp="1"/>
          </p:cNvSpPr>
          <p:nvPr/>
        </p:nvSpPr>
        <p:spPr>
          <a:xfrm>
            <a:off x="6058941" y="3764480"/>
            <a:ext cx="615950" cy="4842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i="0" kern="1200">
                <a:solidFill>
                  <a:schemeClr val="accent4"/>
                </a:solidFill>
                <a:latin typeface="Plus Jakarta Sans" pitchFamily="2" charset="77"/>
                <a:ea typeface="Noto Sans" panose="020B0502040504020204" pitchFamily="34" charset="0"/>
                <a:cs typeface="Plus Jakarta Sa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100" b="1" i="0" kern="1200">
                <a:solidFill>
                  <a:schemeClr val="tx1"/>
                </a:solidFill>
                <a:latin typeface="Galano Grotesque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50" b="1" i="0" kern="1200">
                <a:solidFill>
                  <a:schemeClr val="tx1"/>
                </a:solidFill>
                <a:latin typeface="Galano Grotesque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b="1" i="0" kern="1200">
                <a:solidFill>
                  <a:schemeClr val="tx1"/>
                </a:solidFill>
                <a:latin typeface="Galano Grotesque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b="1" i="0" kern="1200">
                <a:solidFill>
                  <a:schemeClr val="tx1"/>
                </a:solidFill>
                <a:latin typeface="Galano Grotesque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>
                <a:solidFill>
                  <a:srgbClr val="0027B7"/>
                </a:solidFill>
              </a:rPr>
              <a:t>03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60C18DC0-9B55-610E-AE63-5681ECF63E7A}"/>
              </a:ext>
            </a:extLst>
          </p:cNvPr>
          <p:cNvSpPr>
            <a:spLocks noGrp="1"/>
          </p:cNvSpPr>
          <p:nvPr/>
        </p:nvSpPr>
        <p:spPr>
          <a:xfrm>
            <a:off x="6752132" y="3773403"/>
            <a:ext cx="5432363" cy="4842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FontTx/>
              <a:buNone/>
              <a:defRPr sz="1600" b="0" i="0" kern="1200">
                <a:solidFill>
                  <a:schemeClr val="accent4"/>
                </a:solidFill>
                <a:latin typeface="Plus Jakarta Sans" pitchFamily="2" charset="77"/>
                <a:ea typeface="Noto Sans" panose="020B0502040504020204" pitchFamily="34" charset="0"/>
                <a:cs typeface="Plus Jakarta Sa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1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5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>
                <a:solidFill>
                  <a:srgbClr val="0027B7"/>
                </a:solidFill>
              </a:rPr>
              <a:t>Annexes 1 : estimations budgétaires</a:t>
            </a:r>
          </a:p>
        </p:txBody>
      </p:sp>
      <p:sp>
        <p:nvSpPr>
          <p:cNvPr id="17" name="Espace réservé du texte 9">
            <a:extLst>
              <a:ext uri="{FF2B5EF4-FFF2-40B4-BE49-F238E27FC236}">
                <a16:creationId xmlns:a16="http://schemas.microsoft.com/office/drawing/2014/main" id="{F41A2F27-03EB-15C1-7672-E483B2AF600D}"/>
              </a:ext>
            </a:extLst>
          </p:cNvPr>
          <p:cNvSpPr>
            <a:spLocks noGrp="1"/>
          </p:cNvSpPr>
          <p:nvPr/>
        </p:nvSpPr>
        <p:spPr>
          <a:xfrm>
            <a:off x="6058941" y="4304428"/>
            <a:ext cx="615950" cy="4842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i="0" kern="1200">
                <a:solidFill>
                  <a:schemeClr val="accent4"/>
                </a:solidFill>
                <a:latin typeface="Plus Jakarta Sans" pitchFamily="2" charset="77"/>
                <a:ea typeface="Noto Sans" panose="020B0502040504020204" pitchFamily="34" charset="0"/>
                <a:cs typeface="Plus Jakarta Sa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100" b="1" i="0" kern="1200">
                <a:solidFill>
                  <a:schemeClr val="tx1"/>
                </a:solidFill>
                <a:latin typeface="Galano Grotesque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50" b="1" i="0" kern="1200">
                <a:solidFill>
                  <a:schemeClr val="tx1"/>
                </a:solidFill>
                <a:latin typeface="Galano Grotesque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b="1" i="0" kern="1200">
                <a:solidFill>
                  <a:schemeClr val="tx1"/>
                </a:solidFill>
                <a:latin typeface="Galano Grotesque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b="1" i="0" kern="1200">
                <a:solidFill>
                  <a:schemeClr val="tx1"/>
                </a:solidFill>
                <a:latin typeface="Galano Grotesque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>
                <a:solidFill>
                  <a:srgbClr val="0027B7"/>
                </a:solidFill>
              </a:rPr>
              <a:t>04</a:t>
            </a:r>
          </a:p>
        </p:txBody>
      </p:sp>
      <p:sp>
        <p:nvSpPr>
          <p:cNvPr id="21" name="Espace réservé du texte 15">
            <a:extLst>
              <a:ext uri="{FF2B5EF4-FFF2-40B4-BE49-F238E27FC236}">
                <a16:creationId xmlns:a16="http://schemas.microsoft.com/office/drawing/2014/main" id="{34984AAD-5C5E-78A0-FCB4-15A8248756C6}"/>
              </a:ext>
            </a:extLst>
          </p:cNvPr>
          <p:cNvSpPr>
            <a:spLocks noGrp="1"/>
          </p:cNvSpPr>
          <p:nvPr/>
        </p:nvSpPr>
        <p:spPr>
          <a:xfrm>
            <a:off x="6752132" y="4313351"/>
            <a:ext cx="5432363" cy="4842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FontTx/>
              <a:buNone/>
              <a:defRPr sz="1600" b="0" i="0" kern="1200">
                <a:solidFill>
                  <a:schemeClr val="accent4"/>
                </a:solidFill>
                <a:latin typeface="Plus Jakarta Sans" pitchFamily="2" charset="77"/>
                <a:ea typeface="Noto Sans" panose="020B0502040504020204" pitchFamily="34" charset="0"/>
                <a:cs typeface="Plus Jakarta Sa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1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5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>
                <a:solidFill>
                  <a:srgbClr val="0027B7"/>
                </a:solidFill>
              </a:rPr>
              <a:t>Annexes 2 : </a:t>
            </a:r>
            <a:r>
              <a:rPr lang="fr-FR" b="1" err="1">
                <a:solidFill>
                  <a:srgbClr val="0027B7"/>
                </a:solidFill>
              </a:rPr>
              <a:t>scoring</a:t>
            </a:r>
            <a:r>
              <a:rPr lang="fr-FR" b="1">
                <a:solidFill>
                  <a:srgbClr val="0027B7"/>
                </a:solidFill>
              </a:rPr>
              <a:t> fonctionnel</a:t>
            </a:r>
          </a:p>
        </p:txBody>
      </p:sp>
    </p:spTree>
    <p:extLst>
      <p:ext uri="{BB962C8B-B14F-4D97-AF65-F5344CB8AC3E}">
        <p14:creationId xmlns:p14="http://schemas.microsoft.com/office/powerpoint/2010/main" val="2624682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433B5-492E-FC02-616C-9EA476B93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58">
            <a:extLst>
              <a:ext uri="{FF2B5EF4-FFF2-40B4-BE49-F238E27FC236}">
                <a16:creationId xmlns:a16="http://schemas.microsoft.com/office/drawing/2014/main" id="{CCD7D68E-78D2-7E81-59EF-84E95234B1A0}"/>
              </a:ext>
            </a:extLst>
          </p:cNvPr>
          <p:cNvSpPr/>
          <p:nvPr/>
        </p:nvSpPr>
        <p:spPr>
          <a:xfrm>
            <a:off x="5700687" y="1655809"/>
            <a:ext cx="6234138" cy="908992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1100" b="1" dirty="0">
                <a:solidFill>
                  <a:schemeClr val="accent1">
                    <a:lumMod val="50000"/>
                  </a:schemeClr>
                </a:solidFill>
                <a:cs typeface="Calibri" panose="020F0502020204030204" pitchFamily="34" charset="0"/>
              </a:rPr>
              <a:t>SCORE </a:t>
            </a:r>
            <a:r>
              <a:rPr lang="fr-FR" sz="1000" b="1" dirty="0">
                <a:solidFill>
                  <a:schemeClr val="accent1">
                    <a:lumMod val="50000"/>
                  </a:schemeClr>
                </a:solidFill>
                <a:cs typeface="Calibri" panose="020F0502020204030204" pitchFamily="34" charset="0"/>
              </a:rPr>
              <a:t>: </a:t>
            </a:r>
            <a:r>
              <a:rPr lang="fr-FR" sz="1000" dirty="0">
                <a:solidFill>
                  <a:srgbClr val="1A1C30"/>
                </a:solidFill>
                <a:cs typeface="Calibri" panose="020F0502020204030204" pitchFamily="34" charset="0"/>
              </a:rPr>
              <a:t>réponse de la solution aux besoins métiers, pondérée selon l’importance du besoin  (coefficient) et la réponse technique (standard, customisation, développement, etc.).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1100" b="1" dirty="0">
                <a:solidFill>
                  <a:schemeClr val="accent1">
                    <a:lumMod val="50000"/>
                  </a:schemeClr>
                </a:solidFill>
                <a:cs typeface="Calibri" panose="020F0502020204030204" pitchFamily="34" charset="0"/>
              </a:rPr>
              <a:t>COUVERTURE (STANDARD) :  </a:t>
            </a:r>
            <a:r>
              <a:rPr lang="fr-FR" sz="1000" dirty="0">
                <a:solidFill>
                  <a:srgbClr val="1A1C30"/>
                </a:solidFill>
                <a:cs typeface="Calibri" panose="020F0502020204030204" pitchFamily="34" charset="0"/>
              </a:rPr>
              <a:t>nombre de besoins gérés en standard / total (sans pondération).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31A5B349-AAD4-CEBE-88F9-A84867EA84F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anchor="ctr">
            <a:normAutofit/>
          </a:bodyPr>
          <a:lstStyle/>
          <a:p>
            <a:r>
              <a:rPr lang="fr-FR"/>
              <a:t>Confidentiel</a:t>
            </a:r>
          </a:p>
        </p:txBody>
      </p:sp>
      <p:sp>
        <p:nvSpPr>
          <p:cNvPr id="32" name="Titre 31">
            <a:extLst>
              <a:ext uri="{FF2B5EF4-FFF2-40B4-BE49-F238E27FC236}">
                <a16:creationId xmlns:a16="http://schemas.microsoft.com/office/drawing/2014/main" id="{0B83076E-B9F4-8718-9792-ACE0E681C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Critères d’évaluation</a:t>
            </a:r>
          </a:p>
        </p:txBody>
      </p:sp>
      <p:sp>
        <p:nvSpPr>
          <p:cNvPr id="31" name="Google Shape;938;p75">
            <a:extLst>
              <a:ext uri="{FF2B5EF4-FFF2-40B4-BE49-F238E27FC236}">
                <a16:creationId xmlns:a16="http://schemas.microsoft.com/office/drawing/2014/main" id="{32EEB1E3-7271-B2F2-9657-D24AFC8D973D}"/>
              </a:ext>
            </a:extLst>
          </p:cNvPr>
          <p:cNvSpPr/>
          <p:nvPr/>
        </p:nvSpPr>
        <p:spPr>
          <a:xfrm>
            <a:off x="280941" y="2132801"/>
            <a:ext cx="2520000" cy="432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b="1">
                <a:solidFill>
                  <a:schemeClr val="bg1"/>
                </a:solidFill>
                <a:ea typeface="Calibri"/>
                <a:cs typeface="Calibri"/>
                <a:sym typeface="Calibri"/>
              </a:rPr>
              <a:t>Volumétrie et charge</a:t>
            </a:r>
            <a:endParaRPr sz="1000">
              <a:solidFill>
                <a:schemeClr val="bg1"/>
              </a:solidFill>
            </a:endParaRPr>
          </a:p>
        </p:txBody>
      </p:sp>
      <p:sp>
        <p:nvSpPr>
          <p:cNvPr id="41" name="Google Shape;938;p75">
            <a:extLst>
              <a:ext uri="{FF2B5EF4-FFF2-40B4-BE49-F238E27FC236}">
                <a16:creationId xmlns:a16="http://schemas.microsoft.com/office/drawing/2014/main" id="{25C9DCB7-5723-5EF3-67E5-2409F8F3E21C}"/>
              </a:ext>
            </a:extLst>
          </p:cNvPr>
          <p:cNvSpPr/>
          <p:nvPr/>
        </p:nvSpPr>
        <p:spPr>
          <a:xfrm>
            <a:off x="280941" y="4749586"/>
            <a:ext cx="2520000" cy="432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b="1">
                <a:solidFill>
                  <a:schemeClr val="bg1"/>
                </a:solidFill>
                <a:ea typeface="Calibri"/>
                <a:cs typeface="Calibri"/>
                <a:sym typeface="Calibri"/>
              </a:rPr>
              <a:t>Architecture, sécurité et conformité</a:t>
            </a:r>
            <a:endParaRPr sz="1000">
              <a:solidFill>
                <a:schemeClr val="bg1"/>
              </a:solidFill>
            </a:endParaRPr>
          </a:p>
        </p:txBody>
      </p:sp>
      <p:sp>
        <p:nvSpPr>
          <p:cNvPr id="42" name="Google Shape;938;p75">
            <a:extLst>
              <a:ext uri="{FF2B5EF4-FFF2-40B4-BE49-F238E27FC236}">
                <a16:creationId xmlns:a16="http://schemas.microsoft.com/office/drawing/2014/main" id="{7164D635-EE2C-6262-09F8-23BDE79A531F}"/>
              </a:ext>
            </a:extLst>
          </p:cNvPr>
          <p:cNvSpPr/>
          <p:nvPr/>
        </p:nvSpPr>
        <p:spPr>
          <a:xfrm>
            <a:off x="280941" y="5226578"/>
            <a:ext cx="2520000" cy="432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fr-FR" sz="1000" b="1">
                <a:solidFill>
                  <a:schemeClr val="bg1"/>
                </a:solidFill>
                <a:ea typeface="Calibri"/>
                <a:cs typeface="Calibri"/>
                <a:sym typeface="Calibri"/>
              </a:rPr>
              <a:t>Interfaçage</a:t>
            </a:r>
            <a:br>
              <a:rPr lang="fr-FR" sz="1000" b="1">
                <a:solidFill>
                  <a:schemeClr val="bg1"/>
                </a:solidFill>
                <a:ea typeface="Calibri"/>
                <a:cs typeface="Calibri"/>
                <a:sym typeface="Calibri"/>
              </a:rPr>
            </a:br>
            <a:r>
              <a:rPr lang="fr-FR" sz="1000">
                <a:solidFill>
                  <a:schemeClr val="bg1"/>
                </a:solidFill>
                <a:ea typeface="Calibri"/>
                <a:cs typeface="Calibri"/>
                <a:sym typeface="Calibri"/>
              </a:rPr>
              <a:t>avec les autres solutions du SI Groupe</a:t>
            </a:r>
            <a:endParaRPr sz="1000">
              <a:solidFill>
                <a:schemeClr val="bg1"/>
              </a:solidFill>
            </a:endParaRPr>
          </a:p>
        </p:txBody>
      </p:sp>
      <p:sp>
        <p:nvSpPr>
          <p:cNvPr id="43" name="Google Shape;938;p75">
            <a:extLst>
              <a:ext uri="{FF2B5EF4-FFF2-40B4-BE49-F238E27FC236}">
                <a16:creationId xmlns:a16="http://schemas.microsoft.com/office/drawing/2014/main" id="{E4E2DC14-AFEB-5A4D-5D57-93651CDA851F}"/>
              </a:ext>
            </a:extLst>
          </p:cNvPr>
          <p:cNvSpPr/>
          <p:nvPr/>
        </p:nvSpPr>
        <p:spPr>
          <a:xfrm>
            <a:off x="280941" y="5701938"/>
            <a:ext cx="2520000" cy="432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b="1">
                <a:solidFill>
                  <a:schemeClr val="bg1"/>
                </a:solidFill>
                <a:ea typeface="Calibri"/>
                <a:cs typeface="Calibri"/>
                <a:sym typeface="Calibri"/>
              </a:rPr>
              <a:t>Partenaires et écosystème</a:t>
            </a:r>
            <a:endParaRPr sz="1000">
              <a:solidFill>
                <a:schemeClr val="bg1"/>
              </a:solidFill>
            </a:endParaRPr>
          </a:p>
        </p:txBody>
      </p:sp>
      <p:sp>
        <p:nvSpPr>
          <p:cNvPr id="44" name="Google Shape;938;p75">
            <a:extLst>
              <a:ext uri="{FF2B5EF4-FFF2-40B4-BE49-F238E27FC236}">
                <a16:creationId xmlns:a16="http://schemas.microsoft.com/office/drawing/2014/main" id="{974C79BE-5218-0DC0-E787-34C55E1F1217}"/>
              </a:ext>
            </a:extLst>
          </p:cNvPr>
          <p:cNvSpPr/>
          <p:nvPr/>
        </p:nvSpPr>
        <p:spPr>
          <a:xfrm>
            <a:off x="280941" y="4272594"/>
            <a:ext cx="2520000" cy="432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b="1">
                <a:solidFill>
                  <a:schemeClr val="bg1"/>
                </a:solidFill>
                <a:ea typeface="Calibri"/>
                <a:cs typeface="Calibri"/>
                <a:sym typeface="Calibri"/>
              </a:rPr>
              <a:t>Informations générales</a:t>
            </a:r>
            <a:endParaRPr sz="1000">
              <a:solidFill>
                <a:schemeClr val="bg1"/>
              </a:solidFill>
            </a:endParaRPr>
          </a:p>
        </p:txBody>
      </p:sp>
      <p:sp>
        <p:nvSpPr>
          <p:cNvPr id="45" name="Google Shape;938;p75">
            <a:extLst>
              <a:ext uri="{FF2B5EF4-FFF2-40B4-BE49-F238E27FC236}">
                <a16:creationId xmlns:a16="http://schemas.microsoft.com/office/drawing/2014/main" id="{C8F44EF2-BCF6-7D2D-1610-FFD2D3EF9F1A}"/>
              </a:ext>
            </a:extLst>
          </p:cNvPr>
          <p:cNvSpPr/>
          <p:nvPr/>
        </p:nvSpPr>
        <p:spPr>
          <a:xfrm>
            <a:off x="280941" y="1655809"/>
            <a:ext cx="2520000" cy="432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b="1">
                <a:solidFill>
                  <a:schemeClr val="bg1"/>
                </a:solidFill>
                <a:ea typeface="Calibri"/>
                <a:cs typeface="Calibri"/>
                <a:sym typeface="Calibri"/>
              </a:rPr>
              <a:t>Besoins fonctionnels</a:t>
            </a:r>
            <a:endParaRPr sz="1000">
              <a:solidFill>
                <a:schemeClr val="bg1"/>
              </a:solidFill>
            </a:endParaRPr>
          </a:p>
        </p:txBody>
      </p:sp>
      <p:sp>
        <p:nvSpPr>
          <p:cNvPr id="46" name="Google Shape;938;p75">
            <a:extLst>
              <a:ext uri="{FF2B5EF4-FFF2-40B4-BE49-F238E27FC236}">
                <a16:creationId xmlns:a16="http://schemas.microsoft.com/office/drawing/2014/main" id="{CBBFF9C0-292D-EC27-01E4-9AF4045B10DD}"/>
              </a:ext>
            </a:extLst>
          </p:cNvPr>
          <p:cNvSpPr/>
          <p:nvPr/>
        </p:nvSpPr>
        <p:spPr>
          <a:xfrm>
            <a:off x="280941" y="2809207"/>
            <a:ext cx="2520000" cy="432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fr-FR" sz="1000" b="1">
                <a:solidFill>
                  <a:schemeClr val="bg1"/>
                </a:solidFill>
                <a:ea typeface="Calibri"/>
                <a:cs typeface="Calibri"/>
                <a:sym typeface="Calibri"/>
              </a:rPr>
              <a:t>Enveloppe budgétaire</a:t>
            </a:r>
            <a:endParaRPr lang="fr-FR" sz="1000">
              <a:solidFill>
                <a:schemeClr val="bg1"/>
              </a:solidFill>
            </a:endParaRP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C3D8BC1-8EE3-8559-1A73-25A0ABB87DF7}"/>
              </a:ext>
            </a:extLst>
          </p:cNvPr>
          <p:cNvSpPr txBox="1"/>
          <p:nvPr/>
        </p:nvSpPr>
        <p:spPr>
          <a:xfrm>
            <a:off x="280942" y="1394433"/>
            <a:ext cx="25199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/>
              <a:t>Les informations déterminantes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CE2BF433-3DFD-CCAF-D028-FFDE7EBAAB9D}"/>
              </a:ext>
            </a:extLst>
          </p:cNvPr>
          <p:cNvSpPr txBox="1"/>
          <p:nvPr/>
        </p:nvSpPr>
        <p:spPr>
          <a:xfrm>
            <a:off x="100941" y="3515266"/>
            <a:ext cx="2880000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/>
              <a:t>Les informations complémentaires</a:t>
            </a:r>
          </a:p>
        </p:txBody>
      </p:sp>
      <p:sp>
        <p:nvSpPr>
          <p:cNvPr id="49" name="Google Shape;938;p75">
            <a:extLst>
              <a:ext uri="{FF2B5EF4-FFF2-40B4-BE49-F238E27FC236}">
                <a16:creationId xmlns:a16="http://schemas.microsoft.com/office/drawing/2014/main" id="{7258DBEA-E0F3-E254-7231-14706C8AA73D}"/>
              </a:ext>
            </a:extLst>
          </p:cNvPr>
          <p:cNvSpPr/>
          <p:nvPr/>
        </p:nvSpPr>
        <p:spPr>
          <a:xfrm>
            <a:off x="2810815" y="1655809"/>
            <a:ext cx="2880000" cy="432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tx1"/>
                </a:solidFill>
                <a:ea typeface="Calibri"/>
                <a:cs typeface="Calibri"/>
                <a:sym typeface="Calibri"/>
              </a:rPr>
              <a:t>Besoins métiers métier cibles (recensés</a:t>
            </a:r>
            <a:br>
              <a:rPr lang="fr-FR" sz="1000" dirty="0">
                <a:solidFill>
                  <a:schemeClr val="tx1"/>
                </a:solidFill>
                <a:ea typeface="Calibri"/>
                <a:cs typeface="Calibri"/>
                <a:sym typeface="Calibri"/>
              </a:rPr>
            </a:br>
            <a:r>
              <a:rPr lang="fr-FR" sz="1000" dirty="0">
                <a:solidFill>
                  <a:schemeClr val="tx1"/>
                </a:solidFill>
                <a:ea typeface="Calibri"/>
                <a:cs typeface="Calibri"/>
                <a:sym typeface="Calibri"/>
              </a:rPr>
              <a:t>en phase 1)</a:t>
            </a:r>
          </a:p>
        </p:txBody>
      </p:sp>
      <p:sp>
        <p:nvSpPr>
          <p:cNvPr id="50" name="Google Shape;938;p75">
            <a:extLst>
              <a:ext uri="{FF2B5EF4-FFF2-40B4-BE49-F238E27FC236}">
                <a16:creationId xmlns:a16="http://schemas.microsoft.com/office/drawing/2014/main" id="{F3F1549F-E30A-1AB9-4AC2-B86461228FDB}"/>
              </a:ext>
            </a:extLst>
          </p:cNvPr>
          <p:cNvSpPr/>
          <p:nvPr/>
        </p:nvSpPr>
        <p:spPr>
          <a:xfrm>
            <a:off x="2810815" y="2132801"/>
            <a:ext cx="2880000" cy="432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1000">
                <a:solidFill>
                  <a:schemeClr val="tx1"/>
                </a:solidFill>
                <a:ea typeface="Calibri"/>
                <a:cs typeface="Calibri"/>
                <a:sym typeface="Calibri"/>
              </a:rPr>
              <a:t>Capacité de la solution à absorber</a:t>
            </a:r>
            <a:br>
              <a:rPr lang="fr-FR" sz="1000">
                <a:solidFill>
                  <a:schemeClr val="tx1"/>
                </a:solidFill>
                <a:ea typeface="Calibri"/>
                <a:cs typeface="Calibri"/>
                <a:sym typeface="Calibri"/>
              </a:rPr>
            </a:br>
            <a:r>
              <a:rPr lang="fr-FR" sz="1000">
                <a:solidFill>
                  <a:schemeClr val="tx1"/>
                </a:solidFill>
                <a:ea typeface="Calibri"/>
                <a:cs typeface="Calibri"/>
                <a:sym typeface="Calibri"/>
              </a:rPr>
              <a:t>et </a:t>
            </a:r>
            <a:r>
              <a:rPr lang="fr-FR" sz="1000" i="1" err="1">
                <a:solidFill>
                  <a:schemeClr val="tx1"/>
                </a:solidFill>
                <a:ea typeface="Calibri"/>
                <a:cs typeface="Calibri"/>
                <a:sym typeface="Calibri"/>
              </a:rPr>
              <a:t>scaler</a:t>
            </a:r>
            <a:r>
              <a:rPr lang="fr-FR" sz="1000">
                <a:solidFill>
                  <a:schemeClr val="tx1"/>
                </a:solidFill>
                <a:ea typeface="Calibri"/>
                <a:cs typeface="Calibri"/>
                <a:sym typeface="Calibri"/>
              </a:rPr>
              <a:t> les volumes de données</a:t>
            </a:r>
            <a:endParaRPr lang="fr-FR" sz="1000">
              <a:solidFill>
                <a:schemeClr val="tx1"/>
              </a:solidFill>
            </a:endParaRPr>
          </a:p>
        </p:txBody>
      </p:sp>
      <p:sp>
        <p:nvSpPr>
          <p:cNvPr id="52" name="Google Shape;938;p75">
            <a:extLst>
              <a:ext uri="{FF2B5EF4-FFF2-40B4-BE49-F238E27FC236}">
                <a16:creationId xmlns:a16="http://schemas.microsoft.com/office/drawing/2014/main" id="{59A8E11B-1D77-4E65-23A6-CA0B1C820EC9}"/>
              </a:ext>
            </a:extLst>
          </p:cNvPr>
          <p:cNvSpPr/>
          <p:nvPr/>
        </p:nvSpPr>
        <p:spPr>
          <a:xfrm>
            <a:off x="2810814" y="2809207"/>
            <a:ext cx="2880000" cy="432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>
                <a:solidFill>
                  <a:schemeClr val="tx1"/>
                </a:solidFill>
                <a:ea typeface="Calibri"/>
                <a:cs typeface="Calibri"/>
                <a:sym typeface="Calibri"/>
              </a:rPr>
              <a:t>Estimations des budgets de mise en œuvre et de fonctionnement (OPEX)</a:t>
            </a:r>
            <a:endParaRPr lang="fr-FR" sz="1000">
              <a:solidFill>
                <a:schemeClr val="tx1"/>
              </a:solidFill>
            </a:endParaRPr>
          </a:p>
        </p:txBody>
      </p:sp>
      <p:sp>
        <p:nvSpPr>
          <p:cNvPr id="53" name="Google Shape;938;p75">
            <a:extLst>
              <a:ext uri="{FF2B5EF4-FFF2-40B4-BE49-F238E27FC236}">
                <a16:creationId xmlns:a16="http://schemas.microsoft.com/office/drawing/2014/main" id="{3C9B75A7-6E43-758D-1E4B-44B6545CD798}"/>
              </a:ext>
            </a:extLst>
          </p:cNvPr>
          <p:cNvSpPr/>
          <p:nvPr/>
        </p:nvSpPr>
        <p:spPr>
          <a:xfrm>
            <a:off x="2820687" y="4272594"/>
            <a:ext cx="2880000" cy="432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1000">
                <a:solidFill>
                  <a:schemeClr val="tx1"/>
                </a:solidFill>
                <a:ea typeface="Calibri"/>
                <a:cs typeface="Calibri"/>
                <a:sym typeface="Calibri"/>
              </a:rPr>
              <a:t>Chiffre d’affaires, effectif, nombre</a:t>
            </a:r>
            <a:br>
              <a:rPr lang="fr-FR" sz="1000">
                <a:solidFill>
                  <a:schemeClr val="tx1"/>
                </a:solidFill>
                <a:ea typeface="Calibri"/>
                <a:cs typeface="Calibri"/>
                <a:sym typeface="Calibri"/>
              </a:rPr>
            </a:br>
            <a:r>
              <a:rPr lang="fr-FR" sz="1000">
                <a:solidFill>
                  <a:schemeClr val="tx1"/>
                </a:solidFill>
                <a:ea typeface="Calibri"/>
                <a:cs typeface="Calibri"/>
                <a:sym typeface="Calibri"/>
              </a:rPr>
              <a:t>de clients</a:t>
            </a:r>
          </a:p>
        </p:txBody>
      </p:sp>
      <p:sp>
        <p:nvSpPr>
          <p:cNvPr id="54" name="Google Shape;938;p75">
            <a:extLst>
              <a:ext uri="{FF2B5EF4-FFF2-40B4-BE49-F238E27FC236}">
                <a16:creationId xmlns:a16="http://schemas.microsoft.com/office/drawing/2014/main" id="{24386BEB-FDAA-83AE-EB83-BFBB1D7C78AA}"/>
              </a:ext>
            </a:extLst>
          </p:cNvPr>
          <p:cNvSpPr/>
          <p:nvPr/>
        </p:nvSpPr>
        <p:spPr>
          <a:xfrm>
            <a:off x="2820687" y="4749586"/>
            <a:ext cx="2880000" cy="432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1000">
                <a:solidFill>
                  <a:schemeClr val="tx1"/>
                </a:solidFill>
                <a:ea typeface="Calibri"/>
                <a:cs typeface="Calibri"/>
                <a:sym typeface="Calibri"/>
              </a:rPr>
              <a:t>Renseignements essentiels (serveurs, authentification, traçabilité, RGPD, propriété des données, etc.)</a:t>
            </a:r>
          </a:p>
        </p:txBody>
      </p:sp>
      <p:sp>
        <p:nvSpPr>
          <p:cNvPr id="55" name="Google Shape;938;p75">
            <a:extLst>
              <a:ext uri="{FF2B5EF4-FFF2-40B4-BE49-F238E27FC236}">
                <a16:creationId xmlns:a16="http://schemas.microsoft.com/office/drawing/2014/main" id="{E6E004C4-AB67-EB03-46EB-C5221C4D08F0}"/>
              </a:ext>
            </a:extLst>
          </p:cNvPr>
          <p:cNvSpPr/>
          <p:nvPr/>
        </p:nvSpPr>
        <p:spPr>
          <a:xfrm>
            <a:off x="2820687" y="5226578"/>
            <a:ext cx="2870128" cy="432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1000">
                <a:solidFill>
                  <a:schemeClr val="tx1"/>
                </a:solidFill>
                <a:ea typeface="Calibri"/>
                <a:cs typeface="Calibri"/>
                <a:sym typeface="Calibri"/>
              </a:rPr>
              <a:t>Connecteurs avec les solutions du marché déployées  au sein du SI Groupe</a:t>
            </a:r>
          </a:p>
        </p:txBody>
      </p:sp>
      <p:sp>
        <p:nvSpPr>
          <p:cNvPr id="56" name="Google Shape;938;p75">
            <a:extLst>
              <a:ext uri="{FF2B5EF4-FFF2-40B4-BE49-F238E27FC236}">
                <a16:creationId xmlns:a16="http://schemas.microsoft.com/office/drawing/2014/main" id="{3E086BE0-A08F-6F5E-FBE8-766B57AAA074}"/>
              </a:ext>
            </a:extLst>
          </p:cNvPr>
          <p:cNvSpPr/>
          <p:nvPr/>
        </p:nvSpPr>
        <p:spPr>
          <a:xfrm>
            <a:off x="2820687" y="5701938"/>
            <a:ext cx="2880000" cy="432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1000">
                <a:solidFill>
                  <a:schemeClr val="tx1"/>
                </a:solidFill>
                <a:ea typeface="Calibri"/>
                <a:cs typeface="Calibri"/>
                <a:sym typeface="Calibri"/>
              </a:rPr>
              <a:t>« Maillage » France, Europe, Monde</a:t>
            </a:r>
          </a:p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1000">
                <a:solidFill>
                  <a:schemeClr val="tx1"/>
                </a:solidFill>
                <a:ea typeface="Calibri"/>
                <a:cs typeface="Calibri"/>
                <a:sym typeface="Calibri"/>
              </a:rPr>
              <a:t>Intégration directe par l’éditeur</a:t>
            </a:r>
          </a:p>
        </p:txBody>
      </p:sp>
      <p:sp>
        <p:nvSpPr>
          <p:cNvPr id="57" name="Google Shape;938;p75">
            <a:extLst>
              <a:ext uri="{FF2B5EF4-FFF2-40B4-BE49-F238E27FC236}">
                <a16:creationId xmlns:a16="http://schemas.microsoft.com/office/drawing/2014/main" id="{337429AA-93BE-F856-CABC-036C57747ED8}"/>
              </a:ext>
            </a:extLst>
          </p:cNvPr>
          <p:cNvSpPr/>
          <p:nvPr/>
        </p:nvSpPr>
        <p:spPr>
          <a:xfrm>
            <a:off x="280941" y="3790893"/>
            <a:ext cx="2520000" cy="432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fr-FR" sz="1000" b="1">
                <a:solidFill>
                  <a:schemeClr val="bg1"/>
                </a:solidFill>
                <a:ea typeface="Calibri"/>
                <a:cs typeface="Calibri"/>
                <a:sym typeface="Calibri"/>
              </a:rPr>
              <a:t>Références clients</a:t>
            </a:r>
            <a:endParaRPr lang="fr-FR" sz="1000">
              <a:solidFill>
                <a:schemeClr val="bg1"/>
              </a:solidFill>
            </a:endParaRPr>
          </a:p>
        </p:txBody>
      </p:sp>
      <p:sp>
        <p:nvSpPr>
          <p:cNvPr id="58" name="Google Shape;938;p75">
            <a:extLst>
              <a:ext uri="{FF2B5EF4-FFF2-40B4-BE49-F238E27FC236}">
                <a16:creationId xmlns:a16="http://schemas.microsoft.com/office/drawing/2014/main" id="{071E0376-704E-01F8-E705-9FE4DC5F5F22}"/>
              </a:ext>
            </a:extLst>
          </p:cNvPr>
          <p:cNvSpPr/>
          <p:nvPr/>
        </p:nvSpPr>
        <p:spPr>
          <a:xfrm>
            <a:off x="2810815" y="3790893"/>
            <a:ext cx="2880000" cy="432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000">
                <a:solidFill>
                  <a:schemeClr val="tx1"/>
                </a:solidFill>
                <a:ea typeface="Calibri"/>
                <a:cs typeface="Calibri"/>
                <a:sym typeface="Calibri"/>
              </a:rPr>
              <a:t>Pertinence de la solution dans un contexte Fashion &amp; </a:t>
            </a:r>
            <a:r>
              <a:rPr lang="fr-FR" sz="1000" err="1">
                <a:solidFill>
                  <a:schemeClr val="tx1"/>
                </a:solidFill>
                <a:ea typeface="Calibri"/>
                <a:cs typeface="Calibri"/>
                <a:sym typeface="Calibri"/>
              </a:rPr>
              <a:t>Retail</a:t>
            </a:r>
            <a:endParaRPr lang="fr-FR" sz="1000">
              <a:solidFill>
                <a:schemeClr val="tx1"/>
              </a:solidFill>
              <a:ea typeface="Calibri"/>
              <a:cs typeface="Calibri"/>
              <a:sym typeface="Calibri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000">
                <a:solidFill>
                  <a:schemeClr val="tx1"/>
                </a:solidFill>
                <a:ea typeface="Calibri"/>
                <a:cs typeface="Calibri"/>
                <a:sym typeface="Calibri"/>
              </a:rPr>
              <a:t>Capacité à appréhender les spécificités</a:t>
            </a:r>
            <a:endParaRPr lang="fr-FR" sz="1000">
              <a:solidFill>
                <a:schemeClr val="tx1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82B56AC-948D-2F71-7A55-2E74DB991153}"/>
              </a:ext>
            </a:extLst>
          </p:cNvPr>
          <p:cNvSpPr/>
          <p:nvPr/>
        </p:nvSpPr>
        <p:spPr>
          <a:xfrm>
            <a:off x="5690814" y="2652617"/>
            <a:ext cx="6234138" cy="74518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1100" b="1" dirty="0">
                <a:solidFill>
                  <a:schemeClr val="accent1">
                    <a:lumMod val="50000"/>
                  </a:schemeClr>
                </a:solidFill>
                <a:cs typeface="Calibri" panose="020F0502020204030204" pitchFamily="34" charset="0"/>
              </a:rPr>
              <a:t>COÛT PROJET : </a:t>
            </a:r>
            <a:r>
              <a:rPr lang="fr-FR" sz="1000" dirty="0">
                <a:solidFill>
                  <a:srgbClr val="1A1C30"/>
                </a:solidFill>
                <a:cs typeface="Calibri" panose="020F0502020204030204" pitchFamily="34" charset="0"/>
              </a:rPr>
              <a:t>budget de déploiement (pilote + 4 pôles), dont abonnements (prorata).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1100" b="1" dirty="0">
                <a:solidFill>
                  <a:schemeClr val="accent1">
                    <a:lumMod val="50000"/>
                  </a:schemeClr>
                </a:solidFill>
                <a:cs typeface="Calibri" panose="020F0502020204030204" pitchFamily="34" charset="0"/>
              </a:rPr>
              <a:t>BUDGET ANNUEL : </a:t>
            </a:r>
            <a:r>
              <a:rPr lang="fr-FR" sz="1000" dirty="0">
                <a:solidFill>
                  <a:srgbClr val="1A1C30"/>
                </a:solidFill>
                <a:cs typeface="Calibri" panose="020F0502020204030204" pitchFamily="34" charset="0"/>
              </a:rPr>
              <a:t>abonnements + autres coûts récurrents, année pleine.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1100" b="1" dirty="0">
                <a:solidFill>
                  <a:schemeClr val="accent1">
                    <a:lumMod val="50000"/>
                  </a:schemeClr>
                </a:solidFill>
                <a:cs typeface="Calibri" panose="020F0502020204030204" pitchFamily="34" charset="0"/>
              </a:rPr>
              <a:t>TCO : </a:t>
            </a:r>
            <a:r>
              <a:rPr lang="fr-FR" sz="1000" dirty="0">
                <a:solidFill>
                  <a:srgbClr val="1A1C30"/>
                </a:solidFill>
                <a:cs typeface="Calibri" panose="020F0502020204030204" pitchFamily="34" charset="0"/>
              </a:rPr>
              <a:t>coûts projet initial (full scope) + budget annuel x durée (années pleines + prorata projet). 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0FD75F9-EB34-53E5-BEED-FE694DC97F2F}"/>
              </a:ext>
            </a:extLst>
          </p:cNvPr>
          <p:cNvSpPr/>
          <p:nvPr/>
        </p:nvSpPr>
        <p:spPr>
          <a:xfrm>
            <a:off x="5700687" y="3704419"/>
            <a:ext cx="6234138" cy="242951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1100" b="1" dirty="0">
                <a:solidFill>
                  <a:schemeClr val="accent1"/>
                </a:solidFill>
                <a:cs typeface="Calibri" panose="020F0502020204030204" pitchFamily="34" charset="0"/>
              </a:rPr>
              <a:t>POINTS D’ATTENTION / DE VIGILANCE, notamment :</a:t>
            </a:r>
          </a:p>
          <a:p>
            <a:pPr marL="628650" lvl="1" indent="-171450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fr-FR" sz="1000" b="1" dirty="0">
                <a:solidFill>
                  <a:schemeClr val="tx1"/>
                </a:solidFill>
                <a:cs typeface="Calibri" panose="020F0502020204030204" pitchFamily="34" charset="0"/>
              </a:rPr>
              <a:t>« qualité » des références clients </a:t>
            </a:r>
            <a:r>
              <a:rPr lang="fr-FR" sz="1000" dirty="0">
                <a:solidFill>
                  <a:srgbClr val="1A1C30"/>
                </a:solidFill>
                <a:cs typeface="Calibri" panose="020F0502020204030204" pitchFamily="34" charset="0"/>
              </a:rPr>
              <a:t>dans le </a:t>
            </a:r>
            <a:r>
              <a:rPr lang="fr-FR" sz="1000" dirty="0" err="1">
                <a:solidFill>
                  <a:srgbClr val="1A1C30"/>
                </a:solidFill>
                <a:cs typeface="Calibri" panose="020F0502020204030204" pitchFamily="34" charset="0"/>
              </a:rPr>
              <a:t>Retail</a:t>
            </a:r>
            <a:r>
              <a:rPr lang="fr-FR" sz="1000" dirty="0">
                <a:solidFill>
                  <a:srgbClr val="1A1C30"/>
                </a:solidFill>
                <a:cs typeface="Calibri" panose="020F0502020204030204" pitchFamily="34" charset="0"/>
              </a:rPr>
              <a:t> / la Mode, et pertinence pour le contexte du Groupe Beaumanoir,</a:t>
            </a:r>
          </a:p>
          <a:p>
            <a:pPr marL="628650" lvl="1" indent="-171450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fr-FR" sz="1000" b="1" dirty="0">
                <a:solidFill>
                  <a:schemeClr val="tx1"/>
                </a:solidFill>
                <a:cs typeface="Calibri" panose="020F0502020204030204" pitchFamily="34" charset="0"/>
              </a:rPr>
              <a:t>taille de l’éditeur, capacités / ressources </a:t>
            </a:r>
            <a:r>
              <a:rPr lang="fr-FR" sz="1000" dirty="0">
                <a:solidFill>
                  <a:srgbClr val="1A1C30"/>
                </a:solidFill>
                <a:cs typeface="Calibri" panose="020F0502020204030204" pitchFamily="34" charset="0"/>
              </a:rPr>
              <a:t>(a fortiori en co-construction),</a:t>
            </a:r>
          </a:p>
          <a:p>
            <a:pPr marL="628650" lvl="1" indent="-171450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fr-FR" sz="1000" b="1" dirty="0">
                <a:solidFill>
                  <a:schemeClr val="tx1"/>
                </a:solidFill>
                <a:cs typeface="Calibri" panose="020F0502020204030204" pitchFamily="34" charset="0"/>
              </a:rPr>
              <a:t>dépendance à l’éditeur </a:t>
            </a:r>
            <a:r>
              <a:rPr lang="fr-FR" sz="1000" dirty="0">
                <a:solidFill>
                  <a:srgbClr val="1A1C30"/>
                </a:solidFill>
                <a:cs typeface="Calibri" panose="020F0502020204030204" pitchFamily="34" charset="0"/>
              </a:rPr>
              <a:t>(s’il prend en charge les projets clients) et / ou un </a:t>
            </a:r>
            <a:r>
              <a:rPr lang="fr-FR" sz="1000" b="1" dirty="0">
                <a:solidFill>
                  <a:srgbClr val="1A1C30"/>
                </a:solidFill>
                <a:cs typeface="Calibri" panose="020F0502020204030204" pitchFamily="34" charset="0"/>
              </a:rPr>
              <a:t>réseau restreint</a:t>
            </a:r>
            <a:r>
              <a:rPr lang="fr-FR" sz="1000" dirty="0">
                <a:solidFill>
                  <a:srgbClr val="1A1C30"/>
                </a:solidFill>
                <a:cs typeface="Calibri" panose="020F0502020204030204" pitchFamily="34" charset="0"/>
              </a:rPr>
              <a:t> de partenaires.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DB44EB8-3819-1F51-DA1E-33CE52CDD37D}"/>
              </a:ext>
            </a:extLst>
          </p:cNvPr>
          <p:cNvSpPr txBox="1"/>
          <p:nvPr/>
        </p:nvSpPr>
        <p:spPr>
          <a:xfrm>
            <a:off x="5690814" y="1394433"/>
            <a:ext cx="2880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b="1" dirty="0"/>
              <a:t>EN SYNTHÈSE</a:t>
            </a:r>
          </a:p>
        </p:txBody>
      </p:sp>
    </p:spTree>
    <p:extLst>
      <p:ext uri="{BB962C8B-B14F-4D97-AF65-F5344CB8AC3E}">
        <p14:creationId xmlns:p14="http://schemas.microsoft.com/office/powerpoint/2010/main" val="3119112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7C6C5-8DC9-B796-0ADC-11A03C812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6470D273-FD84-4421-015D-48A6B1B3C115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anchor="ctr">
            <a:normAutofit/>
          </a:bodyPr>
          <a:lstStyle/>
          <a:p>
            <a:r>
              <a:rPr lang="fr-FR"/>
              <a:t>Confidentiel</a:t>
            </a:r>
          </a:p>
        </p:txBody>
      </p:sp>
      <p:sp>
        <p:nvSpPr>
          <p:cNvPr id="32" name="Titre 31">
            <a:extLst>
              <a:ext uri="{FF2B5EF4-FFF2-40B4-BE49-F238E27FC236}">
                <a16:creationId xmlns:a16="http://schemas.microsoft.com/office/drawing/2014/main" id="{4D30792A-85AF-F1AB-C77C-FF9DC9694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KEY TAKEAWAYS</a:t>
            </a:r>
          </a:p>
        </p:txBody>
      </p:sp>
      <p:sp>
        <p:nvSpPr>
          <p:cNvPr id="111" name="Espace réservé du texte 110">
            <a:extLst>
              <a:ext uri="{FF2B5EF4-FFF2-40B4-BE49-F238E27FC236}">
                <a16:creationId xmlns:a16="http://schemas.microsoft.com/office/drawing/2014/main" id="{3A86785E-194B-4AF7-981B-78E33E2E7B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FR"/>
              <a:t>Réponse des solutions aux enjeux du projet</a:t>
            </a:r>
          </a:p>
        </p:txBody>
      </p:sp>
      <p:sp>
        <p:nvSpPr>
          <p:cNvPr id="25" name="Google Shape;938;p75">
            <a:extLst>
              <a:ext uri="{FF2B5EF4-FFF2-40B4-BE49-F238E27FC236}">
                <a16:creationId xmlns:a16="http://schemas.microsoft.com/office/drawing/2014/main" id="{9D3B481C-CDCA-0B69-7F1F-666CCB6974D2}"/>
              </a:ext>
            </a:extLst>
          </p:cNvPr>
          <p:cNvSpPr/>
          <p:nvPr/>
        </p:nvSpPr>
        <p:spPr>
          <a:xfrm>
            <a:off x="441818" y="1935500"/>
            <a:ext cx="2880000" cy="756564"/>
          </a:xfrm>
          <a:prstGeom prst="roundRect">
            <a:avLst>
              <a:gd name="adj" fmla="val 16667"/>
            </a:avLst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b="1">
                <a:solidFill>
                  <a:schemeClr val="lt1"/>
                </a:solidFill>
                <a:ea typeface="Calibri"/>
                <a:cs typeface="Calibri"/>
                <a:sym typeface="Calibri"/>
              </a:rPr>
              <a:t>Une solution unique</a:t>
            </a:r>
            <a:endParaRPr sz="1000"/>
          </a:p>
        </p:txBody>
      </p:sp>
      <p:sp>
        <p:nvSpPr>
          <p:cNvPr id="27" name="Google Shape;940;p75">
            <a:extLst>
              <a:ext uri="{FF2B5EF4-FFF2-40B4-BE49-F238E27FC236}">
                <a16:creationId xmlns:a16="http://schemas.microsoft.com/office/drawing/2014/main" id="{5747C56F-E1CC-E5A6-143D-D66D890B43A1}"/>
              </a:ext>
            </a:extLst>
          </p:cNvPr>
          <p:cNvSpPr/>
          <p:nvPr/>
        </p:nvSpPr>
        <p:spPr>
          <a:xfrm>
            <a:off x="441818" y="3558759"/>
            <a:ext cx="2880000" cy="756564"/>
          </a:xfrm>
          <a:prstGeom prst="roundRect">
            <a:avLst>
              <a:gd name="adj" fmla="val 16667"/>
            </a:avLst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b="1">
                <a:solidFill>
                  <a:schemeClr val="lt1"/>
                </a:solidFill>
                <a:ea typeface="Calibri"/>
                <a:cs typeface="Calibri"/>
                <a:sym typeface="Calibri"/>
              </a:rPr>
              <a:t>Une solution éprouvée</a:t>
            </a:r>
            <a:br>
              <a:rPr lang="fr-FR" sz="1000" b="1">
                <a:solidFill>
                  <a:schemeClr val="lt1"/>
                </a:solidFill>
                <a:ea typeface="Calibri"/>
                <a:cs typeface="Calibri"/>
                <a:sym typeface="Calibri"/>
              </a:rPr>
            </a:br>
            <a:r>
              <a:rPr lang="fr-FR" sz="1000" b="1">
                <a:solidFill>
                  <a:schemeClr val="lt1"/>
                </a:solidFill>
                <a:ea typeface="Calibri"/>
                <a:cs typeface="Calibri"/>
                <a:sym typeface="Calibri"/>
              </a:rPr>
              <a:t>sur le marché du </a:t>
            </a:r>
            <a:r>
              <a:rPr lang="fr-FR" sz="1000" b="1" err="1">
                <a:solidFill>
                  <a:schemeClr val="lt1"/>
                </a:solidFill>
                <a:ea typeface="Calibri"/>
                <a:cs typeface="Calibri"/>
                <a:sym typeface="Calibri"/>
              </a:rPr>
              <a:t>retail</a:t>
            </a:r>
            <a:endParaRPr sz="1000"/>
          </a:p>
        </p:txBody>
      </p:sp>
      <p:sp>
        <p:nvSpPr>
          <p:cNvPr id="36" name="Google Shape;942;p75">
            <a:extLst>
              <a:ext uri="{FF2B5EF4-FFF2-40B4-BE49-F238E27FC236}">
                <a16:creationId xmlns:a16="http://schemas.microsoft.com/office/drawing/2014/main" id="{D85656CE-CBD9-AAA4-1C55-2B4BD5A03A90}"/>
              </a:ext>
            </a:extLst>
          </p:cNvPr>
          <p:cNvSpPr/>
          <p:nvPr/>
        </p:nvSpPr>
        <p:spPr>
          <a:xfrm>
            <a:off x="441818" y="2745681"/>
            <a:ext cx="2880000" cy="756564"/>
          </a:xfrm>
          <a:prstGeom prst="roundRect">
            <a:avLst>
              <a:gd name="adj" fmla="val 16667"/>
            </a:avLst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b="1">
                <a:solidFill>
                  <a:schemeClr val="lt1"/>
                </a:solidFill>
                <a:ea typeface="Calibri"/>
                <a:cs typeface="Calibri"/>
                <a:sym typeface="Calibri"/>
              </a:rPr>
              <a:t>Un socle robuste,</a:t>
            </a:r>
            <a:br>
              <a:rPr lang="fr-FR" sz="1000" b="1">
                <a:solidFill>
                  <a:schemeClr val="lt1"/>
                </a:solidFill>
                <a:ea typeface="Calibri"/>
                <a:cs typeface="Calibri"/>
                <a:sym typeface="Calibri"/>
              </a:rPr>
            </a:br>
            <a:r>
              <a:rPr lang="fr-FR" sz="1000" b="1">
                <a:solidFill>
                  <a:schemeClr val="lt1"/>
                </a:solidFill>
                <a:ea typeface="Calibri"/>
                <a:cs typeface="Calibri"/>
                <a:sym typeface="Calibri"/>
              </a:rPr>
              <a:t>scalable et évolutif</a:t>
            </a:r>
            <a:endParaRPr sz="1000"/>
          </a:p>
        </p:txBody>
      </p:sp>
      <p:sp>
        <p:nvSpPr>
          <p:cNvPr id="38" name="Google Shape;948;p75">
            <a:extLst>
              <a:ext uri="{FF2B5EF4-FFF2-40B4-BE49-F238E27FC236}">
                <a16:creationId xmlns:a16="http://schemas.microsoft.com/office/drawing/2014/main" id="{FB944D58-D580-E62C-2556-93CB20FBFECB}"/>
              </a:ext>
            </a:extLst>
          </p:cNvPr>
          <p:cNvSpPr/>
          <p:nvPr/>
        </p:nvSpPr>
        <p:spPr>
          <a:xfrm>
            <a:off x="441818" y="4369544"/>
            <a:ext cx="2880000" cy="756564"/>
          </a:xfrm>
          <a:prstGeom prst="roundRect">
            <a:avLst>
              <a:gd name="adj" fmla="val 16667"/>
            </a:avLst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b="1">
                <a:solidFill>
                  <a:schemeClr val="lt1"/>
                </a:solidFill>
                <a:ea typeface="Calibri"/>
                <a:cs typeface="Calibri"/>
                <a:sym typeface="Calibri"/>
              </a:rPr>
              <a:t>Des coûts maitrisés</a:t>
            </a:r>
            <a:endParaRPr sz="1000"/>
          </a:p>
        </p:txBody>
      </p:sp>
      <p:sp>
        <p:nvSpPr>
          <p:cNvPr id="40" name="Google Shape;953;p75">
            <a:extLst>
              <a:ext uri="{FF2B5EF4-FFF2-40B4-BE49-F238E27FC236}">
                <a16:creationId xmlns:a16="http://schemas.microsoft.com/office/drawing/2014/main" id="{B917EF19-78D1-C4C4-1EFE-8A6F8AD7BFFB}"/>
              </a:ext>
            </a:extLst>
          </p:cNvPr>
          <p:cNvSpPr/>
          <p:nvPr/>
        </p:nvSpPr>
        <p:spPr>
          <a:xfrm>
            <a:off x="235503" y="2185962"/>
            <a:ext cx="271742" cy="25563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b="1">
                <a:solidFill>
                  <a:schemeClr val="lt1"/>
                </a:solidFill>
                <a:ea typeface="Calibri"/>
                <a:cs typeface="Calibri"/>
                <a:sym typeface="Calibri"/>
              </a:rPr>
              <a:t>1</a:t>
            </a:r>
            <a:endParaRPr sz="1100"/>
          </a:p>
        </p:txBody>
      </p:sp>
      <p:sp>
        <p:nvSpPr>
          <p:cNvPr id="41" name="Google Shape;954;p75">
            <a:extLst>
              <a:ext uri="{FF2B5EF4-FFF2-40B4-BE49-F238E27FC236}">
                <a16:creationId xmlns:a16="http://schemas.microsoft.com/office/drawing/2014/main" id="{5AADC31F-9925-3B43-3056-9B483D7C616D}"/>
              </a:ext>
            </a:extLst>
          </p:cNvPr>
          <p:cNvSpPr/>
          <p:nvPr/>
        </p:nvSpPr>
        <p:spPr>
          <a:xfrm>
            <a:off x="251792" y="3798045"/>
            <a:ext cx="271742" cy="25563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b="1">
                <a:solidFill>
                  <a:schemeClr val="lt1"/>
                </a:solidFill>
                <a:ea typeface="Calibri"/>
                <a:cs typeface="Calibri"/>
                <a:sym typeface="Calibri"/>
              </a:rPr>
              <a:t>3</a:t>
            </a:r>
            <a:endParaRPr sz="1100"/>
          </a:p>
        </p:txBody>
      </p:sp>
      <p:sp>
        <p:nvSpPr>
          <p:cNvPr id="42" name="Google Shape;955;p75">
            <a:extLst>
              <a:ext uri="{FF2B5EF4-FFF2-40B4-BE49-F238E27FC236}">
                <a16:creationId xmlns:a16="http://schemas.microsoft.com/office/drawing/2014/main" id="{C0743D4B-900D-90BA-1177-5200AB9F1911}"/>
              </a:ext>
            </a:extLst>
          </p:cNvPr>
          <p:cNvSpPr/>
          <p:nvPr/>
        </p:nvSpPr>
        <p:spPr>
          <a:xfrm>
            <a:off x="251792" y="2991573"/>
            <a:ext cx="271742" cy="25563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b="1">
                <a:solidFill>
                  <a:schemeClr val="lt1"/>
                </a:solidFill>
                <a:ea typeface="Calibri"/>
                <a:cs typeface="Calibri"/>
                <a:sym typeface="Calibri"/>
              </a:rPr>
              <a:t>2</a:t>
            </a:r>
            <a:endParaRPr sz="1100"/>
          </a:p>
        </p:txBody>
      </p:sp>
      <p:sp>
        <p:nvSpPr>
          <p:cNvPr id="43" name="Google Shape;956;p75">
            <a:extLst>
              <a:ext uri="{FF2B5EF4-FFF2-40B4-BE49-F238E27FC236}">
                <a16:creationId xmlns:a16="http://schemas.microsoft.com/office/drawing/2014/main" id="{F815B43E-0CE2-072C-38C8-E082589C1D12}"/>
              </a:ext>
            </a:extLst>
          </p:cNvPr>
          <p:cNvSpPr/>
          <p:nvPr/>
        </p:nvSpPr>
        <p:spPr>
          <a:xfrm>
            <a:off x="251792" y="4620007"/>
            <a:ext cx="271742" cy="25563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b="1">
                <a:solidFill>
                  <a:schemeClr val="lt1"/>
                </a:solidFill>
                <a:ea typeface="Calibri"/>
                <a:cs typeface="Calibri"/>
                <a:sym typeface="Calibri"/>
              </a:rPr>
              <a:t>4</a:t>
            </a:r>
            <a:endParaRPr sz="1100"/>
          </a:p>
        </p:txBody>
      </p:sp>
      <p:sp>
        <p:nvSpPr>
          <p:cNvPr id="44" name="Google Shape;937;p75">
            <a:extLst>
              <a:ext uri="{FF2B5EF4-FFF2-40B4-BE49-F238E27FC236}">
                <a16:creationId xmlns:a16="http://schemas.microsoft.com/office/drawing/2014/main" id="{8C0D2A23-B3A7-6641-53A7-E6342FD2ACBF}"/>
              </a:ext>
            </a:extLst>
          </p:cNvPr>
          <p:cNvSpPr txBox="1"/>
          <p:nvPr/>
        </p:nvSpPr>
        <p:spPr>
          <a:xfrm>
            <a:off x="751698" y="1193081"/>
            <a:ext cx="10832283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b="1">
                <a:solidFill>
                  <a:schemeClr val="accent1"/>
                </a:solidFill>
                <a:ea typeface="Calibri"/>
                <a:cs typeface="Calibri"/>
                <a:sym typeface="Calibri"/>
              </a:rPr>
              <a:t>« Une solution commune, robuste et évolutive, capable d’accompagner la croissance et les ambitions du Groupe Beaumanoir. » </a:t>
            </a:r>
          </a:p>
        </p:txBody>
      </p:sp>
      <p:sp>
        <p:nvSpPr>
          <p:cNvPr id="3" name="Google Shape;938;p75">
            <a:extLst>
              <a:ext uri="{FF2B5EF4-FFF2-40B4-BE49-F238E27FC236}">
                <a16:creationId xmlns:a16="http://schemas.microsoft.com/office/drawing/2014/main" id="{D63E5EB8-853A-C232-1E31-9F04C85014CD}"/>
              </a:ext>
            </a:extLst>
          </p:cNvPr>
          <p:cNvSpPr/>
          <p:nvPr/>
        </p:nvSpPr>
        <p:spPr>
          <a:xfrm>
            <a:off x="3331978" y="1576021"/>
            <a:ext cx="2160000" cy="360000"/>
          </a:xfrm>
          <a:prstGeom prst="roundRect">
            <a:avLst>
              <a:gd name="adj" fmla="val 16667"/>
            </a:avLst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b="1">
                <a:solidFill>
                  <a:schemeClr val="lt1"/>
                </a:solidFill>
                <a:ea typeface="Calibri"/>
                <a:cs typeface="Calibri"/>
                <a:sym typeface="Calibri"/>
              </a:rPr>
              <a:t>SEI</a:t>
            </a:r>
            <a:endParaRPr sz="1000"/>
          </a:p>
        </p:txBody>
      </p:sp>
      <p:sp>
        <p:nvSpPr>
          <p:cNvPr id="4" name="Google Shape;938;p75">
            <a:extLst>
              <a:ext uri="{FF2B5EF4-FFF2-40B4-BE49-F238E27FC236}">
                <a16:creationId xmlns:a16="http://schemas.microsoft.com/office/drawing/2014/main" id="{55323853-B0A9-29E0-7547-9ACE47495372}"/>
              </a:ext>
            </a:extLst>
          </p:cNvPr>
          <p:cNvSpPr/>
          <p:nvPr/>
        </p:nvSpPr>
        <p:spPr>
          <a:xfrm>
            <a:off x="5484372" y="1576021"/>
            <a:ext cx="2160000" cy="360000"/>
          </a:xfrm>
          <a:prstGeom prst="roundRect">
            <a:avLst>
              <a:gd name="adj" fmla="val 16667"/>
            </a:avLst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b="1">
                <a:solidFill>
                  <a:schemeClr val="lt1"/>
                </a:solidFill>
                <a:ea typeface="Calibri"/>
                <a:cs typeface="Calibri"/>
                <a:sym typeface="Calibri"/>
              </a:rPr>
              <a:t>ODOO</a:t>
            </a:r>
            <a:endParaRPr sz="1000"/>
          </a:p>
        </p:txBody>
      </p:sp>
      <p:sp>
        <p:nvSpPr>
          <p:cNvPr id="5" name="Google Shape;938;p75">
            <a:extLst>
              <a:ext uri="{FF2B5EF4-FFF2-40B4-BE49-F238E27FC236}">
                <a16:creationId xmlns:a16="http://schemas.microsoft.com/office/drawing/2014/main" id="{618236AD-1B89-2227-A92C-A5A24DF2DFA3}"/>
              </a:ext>
            </a:extLst>
          </p:cNvPr>
          <p:cNvSpPr/>
          <p:nvPr/>
        </p:nvSpPr>
        <p:spPr>
          <a:xfrm>
            <a:off x="7646926" y="1576021"/>
            <a:ext cx="2160000" cy="360000"/>
          </a:xfrm>
          <a:prstGeom prst="roundRect">
            <a:avLst>
              <a:gd name="adj" fmla="val 16667"/>
            </a:avLst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b="1">
                <a:solidFill>
                  <a:schemeClr val="lt1"/>
                </a:solidFill>
                <a:ea typeface="Calibri"/>
                <a:cs typeface="Calibri"/>
                <a:sym typeface="Calibri"/>
              </a:rPr>
              <a:t>ORISHA</a:t>
            </a:r>
            <a:endParaRPr sz="1000"/>
          </a:p>
        </p:txBody>
      </p:sp>
      <p:sp>
        <p:nvSpPr>
          <p:cNvPr id="6" name="Google Shape;938;p75">
            <a:extLst>
              <a:ext uri="{FF2B5EF4-FFF2-40B4-BE49-F238E27FC236}">
                <a16:creationId xmlns:a16="http://schemas.microsoft.com/office/drawing/2014/main" id="{F979ED06-6F32-65E6-DBAE-E0B4AE070E30}"/>
              </a:ext>
            </a:extLst>
          </p:cNvPr>
          <p:cNvSpPr/>
          <p:nvPr/>
        </p:nvSpPr>
        <p:spPr>
          <a:xfrm>
            <a:off x="9809480" y="1576021"/>
            <a:ext cx="2160000" cy="360000"/>
          </a:xfrm>
          <a:prstGeom prst="roundRect">
            <a:avLst>
              <a:gd name="adj" fmla="val 16667"/>
            </a:avLst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b="1">
                <a:solidFill>
                  <a:schemeClr val="lt1"/>
                </a:solidFill>
                <a:ea typeface="Calibri"/>
                <a:cs typeface="Calibri"/>
                <a:sym typeface="Calibri"/>
              </a:rPr>
              <a:t>MICROSOFT</a:t>
            </a:r>
            <a:endParaRPr sz="10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35E877D-BC23-9C2B-47EF-568B1E1E6DDA}"/>
              </a:ext>
            </a:extLst>
          </p:cNvPr>
          <p:cNvSpPr/>
          <p:nvPr/>
        </p:nvSpPr>
        <p:spPr>
          <a:xfrm>
            <a:off x="7657086" y="1963756"/>
            <a:ext cx="2124000" cy="700051"/>
          </a:xfrm>
          <a:prstGeom prst="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Quelques besoins sensibles couverts par application tierce ou </a:t>
            </a:r>
            <a:r>
              <a:rPr lang="fr-FR" sz="800" err="1">
                <a:solidFill>
                  <a:srgbClr val="1A1C30"/>
                </a:solidFill>
                <a:cs typeface="Calibri" panose="020F0502020204030204" pitchFamily="34" charset="0"/>
              </a:rPr>
              <a:t>PowerBi</a:t>
            </a: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 </a:t>
            </a:r>
            <a:r>
              <a:rPr lang="fr-FR" sz="700">
                <a:solidFill>
                  <a:srgbClr val="1A1C30"/>
                </a:solidFill>
                <a:cs typeface="Calibri" panose="020F0502020204030204" pitchFamily="34" charset="0"/>
              </a:rPr>
              <a:t>(rétroplanning PO, cockpit PO, calcul dates livraison magasin / client, ADV).</a:t>
            </a:r>
            <a:endParaRPr lang="fr-FR" sz="800">
              <a:solidFill>
                <a:srgbClr val="1A1C30"/>
              </a:solidFill>
              <a:cs typeface="Calibri" panose="020F050202020403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074687A-5524-EFF8-E89B-FC47008882D7}"/>
              </a:ext>
            </a:extLst>
          </p:cNvPr>
          <p:cNvSpPr/>
          <p:nvPr/>
        </p:nvSpPr>
        <p:spPr>
          <a:xfrm>
            <a:off x="9819640" y="1963756"/>
            <a:ext cx="2124000" cy="700051"/>
          </a:xfrm>
          <a:prstGeom prst="rect">
            <a:avLst/>
          </a:prstGeom>
          <a:solidFill>
            <a:schemeClr val="bg1"/>
          </a:solidFill>
          <a:ln w="38100">
            <a:solidFill>
              <a:srgbClr val="4EA72D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Vertical K3 intégré sans couture </a:t>
            </a:r>
            <a:b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</a:b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à l’environnement D365.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1428C3B-9C30-6FE1-1756-3DF42B48A2D1}"/>
              </a:ext>
            </a:extLst>
          </p:cNvPr>
          <p:cNvSpPr/>
          <p:nvPr/>
        </p:nvSpPr>
        <p:spPr>
          <a:xfrm>
            <a:off x="7657086" y="2776753"/>
            <a:ext cx="2124000" cy="700051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Volumes : pas de limite majeure.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50% </a:t>
            </a:r>
            <a:r>
              <a:rPr lang="fr-FR" sz="800" err="1">
                <a:solidFill>
                  <a:srgbClr val="1A1C30"/>
                </a:solidFill>
                <a:cs typeface="Calibri" panose="020F0502020204030204" pitchFamily="34" charset="0"/>
              </a:rPr>
              <a:t>dév</a:t>
            </a: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 et customisation requis, dont des éléments fonctionnels structurants (commandes d’achats, matières, saisons, allocations).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C1FDFDE-3708-21E6-5BF8-DB8BA55B92C4}"/>
              </a:ext>
            </a:extLst>
          </p:cNvPr>
          <p:cNvSpPr/>
          <p:nvPr/>
        </p:nvSpPr>
        <p:spPr>
          <a:xfrm>
            <a:off x="9819640" y="2776753"/>
            <a:ext cx="2124000" cy="700051"/>
          </a:xfrm>
          <a:prstGeom prst="rect">
            <a:avLst/>
          </a:prstGeom>
          <a:solidFill>
            <a:schemeClr val="bg1"/>
          </a:solidFill>
          <a:ln w="38100">
            <a:solidFill>
              <a:srgbClr val="4EA72D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Volumes : pas de limite majeure.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Bonne couverture générale, </a:t>
            </a:r>
            <a:r>
              <a:rPr lang="fr-FR" sz="800" err="1">
                <a:solidFill>
                  <a:srgbClr val="1A1C30"/>
                </a:solidFill>
                <a:cs typeface="Calibri" panose="020F0502020204030204" pitchFamily="34" charset="0"/>
              </a:rPr>
              <a:t>custo</a:t>
            </a: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 requise ±20%.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0521B25-538E-B9BC-C18D-761F0ED9D7A9}"/>
              </a:ext>
            </a:extLst>
          </p:cNvPr>
          <p:cNvSpPr/>
          <p:nvPr/>
        </p:nvSpPr>
        <p:spPr>
          <a:xfrm>
            <a:off x="7657086" y="3580358"/>
            <a:ext cx="2124000" cy="700051"/>
          </a:xfrm>
          <a:prstGeom prst="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Solution spécialiste.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« Petites » références sur la gestion des achats (</a:t>
            </a:r>
            <a:r>
              <a:rPr lang="fr-FR" sz="800" err="1">
                <a:solidFill>
                  <a:srgbClr val="1A1C30"/>
                </a:solidFill>
                <a:cs typeface="Calibri" panose="020F0502020204030204" pitchFamily="34" charset="0"/>
              </a:rPr>
              <a:t>sf</a:t>
            </a: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. Club Med, selon périmètre).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« Full scope » (fonctionnel + orga) ?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4E61AA9-345D-7030-A37C-9F736F49AD8A}"/>
              </a:ext>
            </a:extLst>
          </p:cNvPr>
          <p:cNvSpPr/>
          <p:nvPr/>
        </p:nvSpPr>
        <p:spPr>
          <a:xfrm>
            <a:off x="7653654" y="4404272"/>
            <a:ext cx="2124000" cy="700051"/>
          </a:xfrm>
          <a:prstGeom prst="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TCO 10 ans équivalent à SEI, couverture plus restreinte.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Part importante de </a:t>
            </a:r>
            <a:r>
              <a:rPr lang="fr-FR" sz="800" err="1">
                <a:solidFill>
                  <a:srgbClr val="1A1C30"/>
                </a:solidFill>
                <a:cs typeface="Calibri" panose="020F0502020204030204" pitchFamily="34" charset="0"/>
              </a:rPr>
              <a:t>custo</a:t>
            </a: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 / </a:t>
            </a:r>
            <a:r>
              <a:rPr lang="fr-FR" sz="800" err="1">
                <a:solidFill>
                  <a:srgbClr val="1A1C30"/>
                </a:solidFill>
                <a:cs typeface="Calibri" panose="020F0502020204030204" pitchFamily="34" charset="0"/>
              </a:rPr>
              <a:t>dév</a:t>
            </a: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 qui peut induire des risques de dérive.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B39D8AF-67B9-E948-3821-B354541900A9}"/>
              </a:ext>
            </a:extLst>
          </p:cNvPr>
          <p:cNvSpPr/>
          <p:nvPr/>
        </p:nvSpPr>
        <p:spPr>
          <a:xfrm>
            <a:off x="9819640" y="4404272"/>
            <a:ext cx="2124000" cy="700051"/>
          </a:xfrm>
          <a:prstGeom prst="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TCO 10 ans et coûts projet les plus élevés du panel.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Moins de </a:t>
            </a:r>
            <a:r>
              <a:rPr lang="fr-FR" sz="800" err="1">
                <a:solidFill>
                  <a:srgbClr val="1A1C30"/>
                </a:solidFill>
                <a:cs typeface="Calibri" panose="020F0502020204030204" pitchFamily="34" charset="0"/>
              </a:rPr>
              <a:t>custo</a:t>
            </a: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 / </a:t>
            </a:r>
            <a:r>
              <a:rPr lang="fr-FR" sz="800" err="1">
                <a:solidFill>
                  <a:srgbClr val="1A1C30"/>
                </a:solidFill>
                <a:cs typeface="Calibri" panose="020F0502020204030204" pitchFamily="34" charset="0"/>
              </a:rPr>
              <a:t>dév</a:t>
            </a: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 que les autres candidats = dérive limitée ?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F860CAA-D786-BFAE-6065-C3FB3FF66BA1}"/>
              </a:ext>
            </a:extLst>
          </p:cNvPr>
          <p:cNvSpPr/>
          <p:nvPr/>
        </p:nvSpPr>
        <p:spPr>
          <a:xfrm>
            <a:off x="3337058" y="1963756"/>
            <a:ext cx="2124000" cy="700051"/>
          </a:xfrm>
          <a:prstGeom prst="rect">
            <a:avLst/>
          </a:prstGeom>
          <a:solidFill>
            <a:schemeClr val="bg1"/>
          </a:solidFill>
          <a:ln w="38100">
            <a:solidFill>
              <a:srgbClr val="4EA72D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Plateforme ERP modulaire mais unique.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E4EF73B-1A67-135D-B0A2-B69FADBA4D71}"/>
              </a:ext>
            </a:extLst>
          </p:cNvPr>
          <p:cNvSpPr/>
          <p:nvPr/>
        </p:nvSpPr>
        <p:spPr>
          <a:xfrm>
            <a:off x="5497964" y="1963756"/>
            <a:ext cx="2124000" cy="700051"/>
          </a:xfrm>
          <a:prstGeom prst="rect">
            <a:avLst/>
          </a:prstGeom>
          <a:solidFill>
            <a:schemeClr val="bg1"/>
          </a:solidFill>
          <a:ln w="38100">
            <a:solidFill>
              <a:srgbClr val="4EA72D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Plateforme ERP modulaire mais unique.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46D6449-5815-5F21-1081-9F282751C2FA}"/>
              </a:ext>
            </a:extLst>
          </p:cNvPr>
          <p:cNvSpPr/>
          <p:nvPr/>
        </p:nvSpPr>
        <p:spPr>
          <a:xfrm>
            <a:off x="3337058" y="2776753"/>
            <a:ext cx="2124000" cy="700051"/>
          </a:xfrm>
          <a:prstGeom prst="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Volumes : pas de limite majeure.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Bonne couverture générale mais socle « inégal », quelques </a:t>
            </a:r>
            <a:r>
              <a:rPr lang="fr-FR" sz="800" err="1">
                <a:solidFill>
                  <a:srgbClr val="1A1C30"/>
                </a:solidFill>
                <a:cs typeface="Calibri" panose="020F0502020204030204" pitchFamily="34" charset="0"/>
              </a:rPr>
              <a:t>custo</a:t>
            </a: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 / </a:t>
            </a:r>
            <a:r>
              <a:rPr lang="fr-FR" sz="800" err="1">
                <a:solidFill>
                  <a:srgbClr val="1A1C30"/>
                </a:solidFill>
                <a:cs typeface="Calibri" panose="020F0502020204030204" pitchFamily="34" charset="0"/>
              </a:rPr>
              <a:t>dév</a:t>
            </a: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 structurants nécessaires.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D54EB70-0816-B2A8-E08A-9548561363C7}"/>
              </a:ext>
            </a:extLst>
          </p:cNvPr>
          <p:cNvSpPr/>
          <p:nvPr/>
        </p:nvSpPr>
        <p:spPr>
          <a:xfrm>
            <a:off x="5497964" y="2776753"/>
            <a:ext cx="2124000" cy="700051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Volumes : pas de limite majeure.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40% de </a:t>
            </a:r>
            <a:r>
              <a:rPr lang="fr-FR" sz="800" err="1">
                <a:solidFill>
                  <a:srgbClr val="1A1C30"/>
                </a:solidFill>
                <a:cs typeface="Calibri" panose="020F0502020204030204" pitchFamily="34" charset="0"/>
              </a:rPr>
              <a:t>dév</a:t>
            </a: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 requis, dont des éléments fonctionnels structurants (saisons, allocations, stocks).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0C52E18-2784-D060-E2D0-4FA500A1EDAF}"/>
              </a:ext>
            </a:extLst>
          </p:cNvPr>
          <p:cNvSpPr/>
          <p:nvPr/>
        </p:nvSpPr>
        <p:spPr>
          <a:xfrm>
            <a:off x="3337058" y="3580358"/>
            <a:ext cx="2124000" cy="700051"/>
          </a:xfrm>
          <a:prstGeom prst="rect">
            <a:avLst/>
          </a:prstGeom>
          <a:solidFill>
            <a:schemeClr val="bg1"/>
          </a:solidFill>
          <a:ln w="38100">
            <a:solidFill>
              <a:srgbClr val="4EA72D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Solution spécialiste.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Quelques références sur un périmètre représentatif…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… Mais aucun en « full scope » (fonctionnel + organisationnel) ?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F409F5C-71DA-30ED-AE5B-6A89738B6743}"/>
              </a:ext>
            </a:extLst>
          </p:cNvPr>
          <p:cNvSpPr/>
          <p:nvPr/>
        </p:nvSpPr>
        <p:spPr>
          <a:xfrm>
            <a:off x="5497964" y="3580358"/>
            <a:ext cx="2124000" cy="700051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Pas de référence Fashion citée.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Solution généraliste ne gérant pas nativement les Saisons et d’autres besoins spécifiques du secteur dont les Saisons.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885E0C5-B764-0D81-598D-C921275AF6F6}"/>
              </a:ext>
            </a:extLst>
          </p:cNvPr>
          <p:cNvSpPr/>
          <p:nvPr/>
        </p:nvSpPr>
        <p:spPr>
          <a:xfrm>
            <a:off x="3337058" y="4404272"/>
            <a:ext cx="2124000" cy="700051"/>
          </a:xfrm>
          <a:prstGeom prst="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TCO 10 ans médian, entre Odoo et Microsoft (équivalent à Orisha).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800" b="1">
                <a:solidFill>
                  <a:srgbClr val="C00000"/>
                </a:solidFill>
                <a:cs typeface="Calibri" panose="020F0502020204030204" pitchFamily="34" charset="0"/>
              </a:rPr>
              <a:t>/!\ Projet de mise en œuvre potentiellement sous-évalué.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0E3D0FF-5A03-BE03-8CCF-8A64DD1F6844}"/>
              </a:ext>
            </a:extLst>
          </p:cNvPr>
          <p:cNvSpPr/>
          <p:nvPr/>
        </p:nvSpPr>
        <p:spPr>
          <a:xfrm>
            <a:off x="5494532" y="4404272"/>
            <a:ext cx="2124000" cy="700051"/>
          </a:xfrm>
          <a:prstGeom prst="rect">
            <a:avLst/>
          </a:prstGeom>
          <a:solidFill>
            <a:schemeClr val="bg1"/>
          </a:solidFill>
          <a:ln w="38100">
            <a:solidFill>
              <a:srgbClr val="4EA72D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TCO 10 ans le plus faible.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Abonnements 2x inférieurs aux autres (dont Microsoft avec remise).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Quid de la maintenabilité des </a:t>
            </a:r>
            <a:r>
              <a:rPr lang="fr-FR" sz="800" err="1">
                <a:solidFill>
                  <a:srgbClr val="1A1C30"/>
                </a:solidFill>
                <a:cs typeface="Calibri" panose="020F0502020204030204" pitchFamily="34" charset="0"/>
              </a:rPr>
              <a:t>dév</a:t>
            </a: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 ?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AE753AF-40B1-2AA9-7F52-6887778122C6}"/>
              </a:ext>
            </a:extLst>
          </p:cNvPr>
          <p:cNvSpPr/>
          <p:nvPr/>
        </p:nvSpPr>
        <p:spPr>
          <a:xfrm>
            <a:off x="9819640" y="3580358"/>
            <a:ext cx="2124000" cy="700051"/>
          </a:xfrm>
          <a:prstGeom prst="rect">
            <a:avLst/>
          </a:prstGeom>
          <a:solidFill>
            <a:schemeClr val="bg1"/>
          </a:solidFill>
          <a:ln w="38100">
            <a:solidFill>
              <a:srgbClr val="4EA72D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ERP leader + vertical métiers.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Quelques références sur un périmètre applicatif pertinent.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Quid du nombre d’utilisateurs ?</a:t>
            </a:r>
          </a:p>
        </p:txBody>
      </p:sp>
      <p:sp>
        <p:nvSpPr>
          <p:cNvPr id="15" name="Rectangle : avec coins arrondis en diagonale 14">
            <a:extLst>
              <a:ext uri="{FF2B5EF4-FFF2-40B4-BE49-F238E27FC236}">
                <a16:creationId xmlns:a16="http://schemas.microsoft.com/office/drawing/2014/main" id="{9B241164-EED8-8E56-192F-10C1567A7133}"/>
              </a:ext>
            </a:extLst>
          </p:cNvPr>
          <p:cNvSpPr/>
          <p:nvPr/>
        </p:nvSpPr>
        <p:spPr>
          <a:xfrm flipV="1">
            <a:off x="616226" y="5451250"/>
            <a:ext cx="11353254" cy="1012456"/>
          </a:xfrm>
          <a:prstGeom prst="round2DiagRect">
            <a:avLst>
              <a:gd name="adj1" fmla="val 12501"/>
              <a:gd name="adj2" fmla="val 0"/>
            </a:avLst>
          </a:prstGeom>
          <a:solidFill>
            <a:schemeClr val="accent1">
              <a:lumMod val="20000"/>
              <a:lumOff val="80000"/>
              <a:alpha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900" b="1">
              <a:solidFill>
                <a:srgbClr val="1A1C3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3BF87454-5FB8-98AE-4617-35DB1474FA19}"/>
              </a:ext>
            </a:extLst>
          </p:cNvPr>
          <p:cNvSpPr txBox="1"/>
          <p:nvPr/>
        </p:nvSpPr>
        <p:spPr>
          <a:xfrm>
            <a:off x="785969" y="5603535"/>
            <a:ext cx="963023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1000" b="1">
                <a:cs typeface="Calibri" panose="020F0502020204030204" pitchFamily="34" charset="0"/>
              </a:rPr>
              <a:t>Microsoft</a:t>
            </a:r>
            <a:r>
              <a:rPr lang="fr-FR" sz="1000">
                <a:cs typeface="Calibri" panose="020F0502020204030204" pitchFamily="34" charset="0"/>
              </a:rPr>
              <a:t> et </a:t>
            </a:r>
            <a:r>
              <a:rPr lang="fr-FR" sz="1000" b="1">
                <a:cs typeface="Calibri" panose="020F0502020204030204" pitchFamily="34" charset="0"/>
              </a:rPr>
              <a:t>SEI</a:t>
            </a:r>
            <a:r>
              <a:rPr lang="fr-FR" sz="1000">
                <a:cs typeface="Calibri" panose="020F0502020204030204" pitchFamily="34" charset="0"/>
              </a:rPr>
              <a:t> se distinguent par leur capacité à répondre aux enjeux du projet.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>
              <a:cs typeface="Calibri" panose="020F0502020204030204" pitchFamily="34" charset="0"/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1000" b="1">
                <a:solidFill>
                  <a:schemeClr val="accent1"/>
                </a:solidFill>
                <a:cs typeface="Calibri" panose="020F0502020204030204" pitchFamily="34" charset="0"/>
              </a:rPr>
              <a:t>L’analyse détaillée des réponses fonctionnelles (couverture des besoins, notamment prioritaires) confirme cet avantage relatif.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C8035671-DDC8-06CB-C856-6BCD267FE1D3}"/>
              </a:ext>
            </a:extLst>
          </p:cNvPr>
          <p:cNvSpPr txBox="1"/>
          <p:nvPr/>
        </p:nvSpPr>
        <p:spPr>
          <a:xfrm>
            <a:off x="3331978" y="5147288"/>
            <a:ext cx="932075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700" i="1">
                <a:ea typeface="Calibri"/>
                <a:cs typeface="Calibri"/>
                <a:sym typeface="Calibri"/>
              </a:rPr>
              <a:t>L’analyse de la couverture fonctionnelle ne tient pas compte des besoins / fonctionnalités qui pourraient être intégrées au standard, dans le cadre d’un scénario de co-construction. </a:t>
            </a:r>
            <a:endParaRPr lang="fr-FR" sz="700" i="1"/>
          </a:p>
        </p:txBody>
      </p:sp>
      <p:sp>
        <p:nvSpPr>
          <p:cNvPr id="52" name="Ellipse 51">
            <a:extLst>
              <a:ext uri="{FF2B5EF4-FFF2-40B4-BE49-F238E27FC236}">
                <a16:creationId xmlns:a16="http://schemas.microsoft.com/office/drawing/2014/main" id="{C882AA69-A7B9-658D-802E-5E46F35ED0AA}"/>
              </a:ext>
            </a:extLst>
          </p:cNvPr>
          <p:cNvSpPr/>
          <p:nvPr/>
        </p:nvSpPr>
        <p:spPr>
          <a:xfrm>
            <a:off x="3228925" y="5158928"/>
            <a:ext cx="155305" cy="14659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36000" tIns="36000" rIns="36000" bIns="144000" rtlCol="0" anchor="t" anchorCtr="0"/>
          <a:lstStyle/>
          <a:p>
            <a:pPr algn="ctr"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</a:p>
        </p:txBody>
      </p:sp>
      <p:sp>
        <p:nvSpPr>
          <p:cNvPr id="54" name="Ellipse 53">
            <a:extLst>
              <a:ext uri="{FF2B5EF4-FFF2-40B4-BE49-F238E27FC236}">
                <a16:creationId xmlns:a16="http://schemas.microsoft.com/office/drawing/2014/main" id="{F7AFEFEB-D914-52FF-0421-00585FF749E3}"/>
              </a:ext>
            </a:extLst>
          </p:cNvPr>
          <p:cNvSpPr/>
          <p:nvPr/>
        </p:nvSpPr>
        <p:spPr>
          <a:xfrm>
            <a:off x="5304105" y="2704764"/>
            <a:ext cx="155305" cy="14659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36000" tIns="36000" rIns="36000" bIns="144000" rtlCol="0" anchor="t" anchorCtr="0"/>
          <a:lstStyle/>
          <a:p>
            <a:pPr algn="ctr"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C6518716-B3B8-975A-462B-6A946380AFF2}"/>
              </a:ext>
            </a:extLst>
          </p:cNvPr>
          <p:cNvSpPr/>
          <p:nvPr/>
        </p:nvSpPr>
        <p:spPr>
          <a:xfrm>
            <a:off x="7448047" y="2704764"/>
            <a:ext cx="155305" cy="14659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36000" tIns="36000" rIns="36000" bIns="144000" rtlCol="0" anchor="t" anchorCtr="0"/>
          <a:lstStyle/>
          <a:p>
            <a:pPr algn="ctr"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</a:p>
        </p:txBody>
      </p:sp>
      <p:sp>
        <p:nvSpPr>
          <p:cNvPr id="56" name="Ellipse 55">
            <a:extLst>
              <a:ext uri="{FF2B5EF4-FFF2-40B4-BE49-F238E27FC236}">
                <a16:creationId xmlns:a16="http://schemas.microsoft.com/office/drawing/2014/main" id="{E0A27B71-2F71-1B7E-82F6-7828ED6E13E3}"/>
              </a:ext>
            </a:extLst>
          </p:cNvPr>
          <p:cNvSpPr/>
          <p:nvPr/>
        </p:nvSpPr>
        <p:spPr>
          <a:xfrm>
            <a:off x="9620443" y="2704764"/>
            <a:ext cx="155305" cy="14659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36000" tIns="36000" rIns="36000" bIns="144000" rtlCol="0" anchor="t" anchorCtr="0"/>
          <a:lstStyle/>
          <a:p>
            <a:pPr algn="ctr">
              <a:spcAft>
                <a:spcPts val="600"/>
              </a:spcAft>
            </a:pPr>
            <a:r>
              <a: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432033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A722B-D099-2FF6-A634-671666708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ectangle : avec coins arrondis en diagonale 147">
            <a:extLst>
              <a:ext uri="{FF2B5EF4-FFF2-40B4-BE49-F238E27FC236}">
                <a16:creationId xmlns:a16="http://schemas.microsoft.com/office/drawing/2014/main" id="{00F60D2D-C46C-77FE-BA6A-48F59A425ABB}"/>
              </a:ext>
            </a:extLst>
          </p:cNvPr>
          <p:cNvSpPr/>
          <p:nvPr/>
        </p:nvSpPr>
        <p:spPr>
          <a:xfrm flipV="1">
            <a:off x="0" y="1265230"/>
            <a:ext cx="7603304" cy="3303574"/>
          </a:xfrm>
          <a:prstGeom prst="round2DiagRect">
            <a:avLst>
              <a:gd name="adj1" fmla="val 12501"/>
              <a:gd name="adj2" fmla="val 0"/>
            </a:avLst>
          </a:prstGeom>
          <a:solidFill>
            <a:schemeClr val="accent1">
              <a:lumMod val="20000"/>
              <a:lumOff val="80000"/>
              <a:alpha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900" b="1">
              <a:solidFill>
                <a:srgbClr val="1A1C3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CA89C73F-D98A-F04C-8BD7-3A3A68EBA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KEY TAKEAWAYS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7DC3A098-1631-6C91-1F72-40DE17961565}"/>
              </a:ext>
            </a:extLst>
          </p:cNvPr>
          <p:cNvSpPr txBox="1"/>
          <p:nvPr/>
        </p:nvSpPr>
        <p:spPr>
          <a:xfrm>
            <a:off x="285582" y="1498538"/>
            <a:ext cx="703214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1000" b="1" dirty="0">
                <a:cs typeface="Calibri" panose="020F0502020204030204" pitchFamily="34" charset="0"/>
              </a:rPr>
              <a:t>Microsoft</a:t>
            </a:r>
            <a:r>
              <a:rPr lang="fr-FR" sz="1000" dirty="0">
                <a:cs typeface="Calibri" panose="020F0502020204030204" pitchFamily="34" charset="0"/>
              </a:rPr>
              <a:t> et </a:t>
            </a:r>
            <a:r>
              <a:rPr lang="fr-FR" sz="1000" b="1" dirty="0">
                <a:cs typeface="Calibri" panose="020F0502020204030204" pitchFamily="34" charset="0"/>
              </a:rPr>
              <a:t>SEI</a:t>
            </a:r>
            <a:r>
              <a:rPr lang="fr-FR" sz="1000" dirty="0">
                <a:cs typeface="Calibri" panose="020F0502020204030204" pitchFamily="34" charset="0"/>
              </a:rPr>
              <a:t> proposent </a:t>
            </a:r>
            <a:r>
              <a:rPr lang="fr-FR" sz="1000" b="1" dirty="0">
                <a:cs typeface="Calibri" panose="020F0502020204030204" pitchFamily="34" charset="0"/>
              </a:rPr>
              <a:t>les meilleures couvertures fonctionnelles </a:t>
            </a:r>
            <a:r>
              <a:rPr lang="fr-FR" sz="1000" dirty="0">
                <a:cs typeface="Calibri" panose="020F0502020204030204" pitchFamily="34" charset="0"/>
              </a:rPr>
              <a:t>(score général comme standard).</a:t>
            </a:r>
          </a:p>
          <a:p>
            <a:pPr marL="171450" lvl="1" indent="-1714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fr-FR" sz="1000" b="1" dirty="0">
                <a:solidFill>
                  <a:schemeClr val="accent1"/>
                </a:solidFill>
                <a:cs typeface="Calibri" panose="020F0502020204030204" pitchFamily="34" charset="0"/>
              </a:rPr>
              <a:t>Avantage Microsoft : ±10% supplémentaires, qui se traduisent sur certains besoins structurants.</a:t>
            </a:r>
          </a:p>
          <a:p>
            <a:pPr marL="628650" lvl="1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 dirty="0">
              <a:cs typeface="Calibri" panose="020F0502020204030204" pitchFamily="34" charset="0"/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1000" dirty="0">
                <a:cs typeface="Calibri" panose="020F0502020204030204" pitchFamily="34" charset="0"/>
              </a:rPr>
              <a:t>Les premières estimations montrent </a:t>
            </a:r>
            <a:r>
              <a:rPr lang="fr-FR" sz="1000" b="1" dirty="0">
                <a:cs typeface="Calibri" panose="020F0502020204030204" pitchFamily="34" charset="0"/>
              </a:rPr>
              <a:t>un coût à 10 ans compris entre 12,4 M€ </a:t>
            </a:r>
            <a:r>
              <a:rPr lang="fr-FR" sz="1000" dirty="0">
                <a:cs typeface="Calibri" panose="020F0502020204030204" pitchFamily="34" charset="0"/>
              </a:rPr>
              <a:t>(SEI) </a:t>
            </a:r>
            <a:r>
              <a:rPr lang="fr-FR" sz="1000" b="1" dirty="0">
                <a:cs typeface="Calibri" panose="020F0502020204030204" pitchFamily="34" charset="0"/>
              </a:rPr>
              <a:t>et 16,5 M€ </a:t>
            </a:r>
            <a:r>
              <a:rPr lang="fr-FR" sz="1000" dirty="0">
                <a:cs typeface="Calibri" panose="020F0502020204030204" pitchFamily="34" charset="0"/>
              </a:rPr>
              <a:t>(Microsoft).</a:t>
            </a:r>
          </a:p>
          <a:p>
            <a:pPr marL="171450" indent="-1714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fr-FR" sz="1000" b="1" dirty="0">
                <a:solidFill>
                  <a:schemeClr val="accent1"/>
                </a:solidFill>
                <a:cs typeface="Calibri" panose="020F0502020204030204" pitchFamily="34" charset="0"/>
              </a:rPr>
              <a:t>Soit un écart de 25%, en dépit d’un coût projet 3x plus élevé pour Microsoft.</a:t>
            </a:r>
          </a:p>
          <a:p>
            <a:pPr marL="171450" indent="-1714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fr-FR" sz="1000" b="1" dirty="0">
                <a:solidFill>
                  <a:srgbClr val="C00000"/>
                </a:solidFill>
                <a:cs typeface="Calibri" panose="020F0502020204030204" pitchFamily="34" charset="0"/>
              </a:rPr>
              <a:t>/!\ Point d’attention : </a:t>
            </a:r>
            <a:r>
              <a:rPr lang="fr-FR" sz="1000" dirty="0">
                <a:cs typeface="Calibri" panose="020F0502020204030204" pitchFamily="34" charset="0"/>
              </a:rPr>
              <a:t>les modalités projet de SEI – </a:t>
            </a:r>
            <a:r>
              <a:rPr lang="fr-FR" sz="1000" b="1" dirty="0">
                <a:cs typeface="Calibri" panose="020F0502020204030204" pitchFamily="34" charset="0"/>
              </a:rPr>
              <a:t>18 mois pour une solution complète, sur l’ensemble des entités Groupe</a:t>
            </a:r>
            <a:r>
              <a:rPr lang="fr-FR" sz="1000" dirty="0">
                <a:cs typeface="Calibri" panose="020F0502020204030204" pitchFamily="34" charset="0"/>
              </a:rPr>
              <a:t> – semblent sous-estimées par rapport à la complexité du contexte et du projet. 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 dirty="0">
              <a:cs typeface="Calibri" panose="020F0502020204030204" pitchFamily="34" charset="0"/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1000" b="1" dirty="0">
                <a:cs typeface="Calibri" panose="020F0502020204030204" pitchFamily="34" charset="0"/>
              </a:rPr>
              <a:t>Orisha</a:t>
            </a:r>
            <a:r>
              <a:rPr lang="fr-FR" sz="1000" dirty="0">
                <a:cs typeface="Calibri" panose="020F0502020204030204" pitchFamily="34" charset="0"/>
              </a:rPr>
              <a:t> ne se distingue pas des autres challengers par le prix, en dépit d’une couverture plus fragile.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 dirty="0">
              <a:cs typeface="Calibri" panose="020F0502020204030204" pitchFamily="34" charset="0"/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1000" b="1" dirty="0">
                <a:cs typeface="Calibri" panose="020F0502020204030204" pitchFamily="34" charset="0"/>
              </a:rPr>
              <a:t>Odoo</a:t>
            </a:r>
            <a:r>
              <a:rPr lang="fr-FR" sz="1000" dirty="0">
                <a:cs typeface="Calibri" panose="020F0502020204030204" pitchFamily="34" charset="0"/>
              </a:rPr>
              <a:t> se distingue par </a:t>
            </a:r>
            <a:r>
              <a:rPr lang="fr-FR" sz="1000" b="1" dirty="0">
                <a:cs typeface="Calibri" panose="020F0502020204030204" pitchFamily="34" charset="0"/>
              </a:rPr>
              <a:t>le prix de ses abonnements </a:t>
            </a:r>
            <a:r>
              <a:rPr lang="fr-FR" sz="1000" dirty="0">
                <a:cs typeface="Calibri" panose="020F0502020204030204" pitchFamily="34" charset="0"/>
              </a:rPr>
              <a:t>(-55% par rapport aux autres challengers).</a:t>
            </a:r>
          </a:p>
          <a:p>
            <a:pPr marL="171450" indent="-1714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fr-FR" sz="1000" b="1" dirty="0">
                <a:cs typeface="Calibri" panose="020F0502020204030204" pitchFamily="34" charset="0"/>
              </a:rPr>
              <a:t>La couverture des besoins spécifiques au secteur (saisons et assimilés, notamment) est limitée, et </a:t>
            </a:r>
            <a:r>
              <a:rPr lang="fr-FR" sz="1000" dirty="0">
                <a:cs typeface="Calibri" panose="020F0502020204030204" pitchFamily="34" charset="0"/>
              </a:rPr>
              <a:t>l’éditeur n’a pas d’expérience sectorielle.</a:t>
            </a:r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910B9B31-C2AD-1DED-06CD-2FFF5371EA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FR"/>
              <a:t>Couverture fonctionnelle et budget</a:t>
            </a:r>
          </a:p>
        </p:txBody>
      </p:sp>
      <p:graphicFrame>
        <p:nvGraphicFramePr>
          <p:cNvPr id="73" name="Tableau 72">
            <a:extLst>
              <a:ext uri="{FF2B5EF4-FFF2-40B4-BE49-F238E27FC236}">
                <a16:creationId xmlns:a16="http://schemas.microsoft.com/office/drawing/2014/main" id="{DC82E776-6FD2-E707-08D3-47F59518D9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477818"/>
              </p:ext>
            </p:extLst>
          </p:nvPr>
        </p:nvGraphicFramePr>
        <p:xfrm>
          <a:off x="8299195" y="1547680"/>
          <a:ext cx="2933510" cy="29609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702">
                  <a:extLst>
                    <a:ext uri="{9D8B030D-6E8A-4147-A177-3AD203B41FA5}">
                      <a16:colId xmlns:a16="http://schemas.microsoft.com/office/drawing/2014/main" val="423029755"/>
                    </a:ext>
                  </a:extLst>
                </a:gridCol>
                <a:gridCol w="586702">
                  <a:extLst>
                    <a:ext uri="{9D8B030D-6E8A-4147-A177-3AD203B41FA5}">
                      <a16:colId xmlns:a16="http://schemas.microsoft.com/office/drawing/2014/main" val="3572104697"/>
                    </a:ext>
                  </a:extLst>
                </a:gridCol>
                <a:gridCol w="586702">
                  <a:extLst>
                    <a:ext uri="{9D8B030D-6E8A-4147-A177-3AD203B41FA5}">
                      <a16:colId xmlns:a16="http://schemas.microsoft.com/office/drawing/2014/main" val="2460637856"/>
                    </a:ext>
                  </a:extLst>
                </a:gridCol>
                <a:gridCol w="586702">
                  <a:extLst>
                    <a:ext uri="{9D8B030D-6E8A-4147-A177-3AD203B41FA5}">
                      <a16:colId xmlns:a16="http://schemas.microsoft.com/office/drawing/2014/main" val="4143272956"/>
                    </a:ext>
                  </a:extLst>
                </a:gridCol>
                <a:gridCol w="586702">
                  <a:extLst>
                    <a:ext uri="{9D8B030D-6E8A-4147-A177-3AD203B41FA5}">
                      <a16:colId xmlns:a16="http://schemas.microsoft.com/office/drawing/2014/main" val="442028137"/>
                    </a:ext>
                  </a:extLst>
                </a:gridCol>
              </a:tblGrid>
              <a:tr h="493491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098993"/>
                  </a:ext>
                </a:extLst>
              </a:tr>
              <a:tr h="493491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787290"/>
                  </a:ext>
                </a:extLst>
              </a:tr>
              <a:tr h="493491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439251"/>
                  </a:ext>
                </a:extLst>
              </a:tr>
              <a:tr h="493491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2232730"/>
                  </a:ext>
                </a:extLst>
              </a:tr>
              <a:tr h="493491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716067"/>
                  </a:ext>
                </a:extLst>
              </a:tr>
              <a:tr h="493491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284139"/>
                  </a:ext>
                </a:extLst>
              </a:tr>
            </a:tbl>
          </a:graphicData>
        </a:graphic>
      </p:graphicFrame>
      <p:sp>
        <p:nvSpPr>
          <p:cNvPr id="77" name="Rectangle 76">
            <a:extLst>
              <a:ext uri="{FF2B5EF4-FFF2-40B4-BE49-F238E27FC236}">
                <a16:creationId xmlns:a16="http://schemas.microsoft.com/office/drawing/2014/main" id="{4D5ACEC0-38E5-CC38-10D4-44110E29F1F1}"/>
              </a:ext>
            </a:extLst>
          </p:cNvPr>
          <p:cNvSpPr/>
          <p:nvPr/>
        </p:nvSpPr>
        <p:spPr>
          <a:xfrm>
            <a:off x="7894665" y="4512380"/>
            <a:ext cx="540000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700" i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8 M€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734ECB1D-3E45-DFE3-1128-696A12A6C457}"/>
              </a:ext>
            </a:extLst>
          </p:cNvPr>
          <p:cNvSpPr/>
          <p:nvPr/>
        </p:nvSpPr>
        <p:spPr>
          <a:xfrm>
            <a:off x="8506461" y="4512380"/>
            <a:ext cx="540000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700" i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 M€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CA9B3BC5-693D-D259-1341-840D97B3B5EF}"/>
              </a:ext>
            </a:extLst>
          </p:cNvPr>
          <p:cNvSpPr/>
          <p:nvPr/>
        </p:nvSpPr>
        <p:spPr>
          <a:xfrm>
            <a:off x="9116620" y="4508626"/>
            <a:ext cx="540000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700" i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12 M€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6BA282E5-2B3D-F031-A8F4-12BD1CEF92D1}"/>
              </a:ext>
            </a:extLst>
          </p:cNvPr>
          <p:cNvSpPr/>
          <p:nvPr/>
        </p:nvSpPr>
        <p:spPr>
          <a:xfrm>
            <a:off x="9730141" y="4508626"/>
            <a:ext cx="540000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700" i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14 M€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9FE46C07-F2FB-CF52-0B6C-03130F032814}"/>
              </a:ext>
            </a:extLst>
          </p:cNvPr>
          <p:cNvSpPr/>
          <p:nvPr/>
        </p:nvSpPr>
        <p:spPr>
          <a:xfrm>
            <a:off x="10347041" y="4508626"/>
            <a:ext cx="540000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700" i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16 M€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66D7A110-BC94-8AD8-18C5-150B8202CF4C}"/>
              </a:ext>
            </a:extLst>
          </p:cNvPr>
          <p:cNvSpPr/>
          <p:nvPr/>
        </p:nvSpPr>
        <p:spPr>
          <a:xfrm>
            <a:off x="10960600" y="4508626"/>
            <a:ext cx="540000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700" i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18 M€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B59A5B19-9FC6-1FEB-7B01-5B4425955C50}"/>
              </a:ext>
            </a:extLst>
          </p:cNvPr>
          <p:cNvSpPr/>
          <p:nvPr/>
        </p:nvSpPr>
        <p:spPr>
          <a:xfrm>
            <a:off x="7759195" y="3900056"/>
            <a:ext cx="540000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700" i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75%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06E6E9B0-468E-A9EC-4A39-EF61F8E97494}"/>
              </a:ext>
            </a:extLst>
          </p:cNvPr>
          <p:cNvSpPr/>
          <p:nvPr/>
        </p:nvSpPr>
        <p:spPr>
          <a:xfrm>
            <a:off x="7759195" y="3380329"/>
            <a:ext cx="540000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700" i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80%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5FA3154C-35BF-E656-FD62-E445274BFC74}"/>
              </a:ext>
            </a:extLst>
          </p:cNvPr>
          <p:cNvSpPr/>
          <p:nvPr/>
        </p:nvSpPr>
        <p:spPr>
          <a:xfrm>
            <a:off x="7759195" y="2860600"/>
            <a:ext cx="540000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700" i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85%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3C85D44C-D07A-0D8A-6402-EA23CA9F1586}"/>
              </a:ext>
            </a:extLst>
          </p:cNvPr>
          <p:cNvSpPr/>
          <p:nvPr/>
        </p:nvSpPr>
        <p:spPr>
          <a:xfrm>
            <a:off x="7759195" y="2340871"/>
            <a:ext cx="540000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700" i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90%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CF560EFF-8ABA-0CF2-AA8E-43E2372BA9BE}"/>
              </a:ext>
            </a:extLst>
          </p:cNvPr>
          <p:cNvSpPr/>
          <p:nvPr/>
        </p:nvSpPr>
        <p:spPr>
          <a:xfrm>
            <a:off x="7759195" y="1821142"/>
            <a:ext cx="540000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700" i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95%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F954C78B-4FFD-77E5-D0AB-116517AB02DA}"/>
              </a:ext>
            </a:extLst>
          </p:cNvPr>
          <p:cNvSpPr/>
          <p:nvPr/>
        </p:nvSpPr>
        <p:spPr>
          <a:xfrm>
            <a:off x="7759195" y="1301413"/>
            <a:ext cx="540000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700" i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100%</a:t>
            </a:r>
          </a:p>
        </p:txBody>
      </p:sp>
      <p:sp>
        <p:nvSpPr>
          <p:cNvPr id="120" name="ZoneTexte 119">
            <a:extLst>
              <a:ext uri="{FF2B5EF4-FFF2-40B4-BE49-F238E27FC236}">
                <a16:creationId xmlns:a16="http://schemas.microsoft.com/office/drawing/2014/main" id="{572769CA-FA0B-C70D-FFA5-937953E2FF01}"/>
              </a:ext>
            </a:extLst>
          </p:cNvPr>
          <p:cNvSpPr txBox="1"/>
          <p:nvPr/>
        </p:nvSpPr>
        <p:spPr>
          <a:xfrm>
            <a:off x="9592109" y="1351778"/>
            <a:ext cx="1688283" cy="18466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FR" sz="600" i="1"/>
              <a:t>Score de couverture fonctionnelle (pondéré )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7E138BEE-5BE2-0941-0EC1-91BD43EE8B09}"/>
              </a:ext>
            </a:extLst>
          </p:cNvPr>
          <p:cNvSpPr txBox="1"/>
          <p:nvPr/>
        </p:nvSpPr>
        <p:spPr>
          <a:xfrm>
            <a:off x="10632718" y="4664941"/>
            <a:ext cx="63030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600" i="1"/>
              <a:t>TCO à 10 ans</a:t>
            </a:r>
          </a:p>
        </p:txBody>
      </p:sp>
      <p:sp>
        <p:nvSpPr>
          <p:cNvPr id="133" name="Ellipse 132">
            <a:extLst>
              <a:ext uri="{FF2B5EF4-FFF2-40B4-BE49-F238E27FC236}">
                <a16:creationId xmlns:a16="http://schemas.microsoft.com/office/drawing/2014/main" id="{7E3C1AA8-24F6-AA69-410D-ADD7433B0DBA}"/>
              </a:ext>
            </a:extLst>
          </p:cNvPr>
          <p:cNvSpPr/>
          <p:nvPr/>
        </p:nvSpPr>
        <p:spPr>
          <a:xfrm>
            <a:off x="10535404" y="1851643"/>
            <a:ext cx="540000" cy="540000"/>
          </a:xfrm>
          <a:prstGeom prst="ellipse">
            <a:avLst/>
          </a:prstGeom>
          <a:solidFill>
            <a:srgbClr val="4EA72D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spcAft>
                <a:spcPts val="600"/>
              </a:spcAft>
            </a:pPr>
            <a:r>
              <a:rPr lang="fr-FR" sz="9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94%</a:t>
            </a:r>
            <a:br>
              <a:rPr lang="fr-FR" sz="9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600" b="1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77%</a:t>
            </a:r>
          </a:p>
          <a:p>
            <a:pPr algn="ctr">
              <a:spcAft>
                <a:spcPts val="600"/>
              </a:spcAft>
            </a:pPr>
            <a:r>
              <a:rPr lang="fr-FR" sz="600" b="1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16,5M€</a:t>
            </a:r>
            <a:endParaRPr lang="fr-FR" sz="700" b="1" i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7" name="Ellipse 136">
            <a:extLst>
              <a:ext uri="{FF2B5EF4-FFF2-40B4-BE49-F238E27FC236}">
                <a16:creationId xmlns:a16="http://schemas.microsoft.com/office/drawing/2014/main" id="{49C5C73F-7A0E-EA50-60BE-E92C432C512C}"/>
              </a:ext>
            </a:extLst>
          </p:cNvPr>
          <p:cNvSpPr/>
          <p:nvPr/>
        </p:nvSpPr>
        <p:spPr>
          <a:xfrm>
            <a:off x="9364758" y="2852770"/>
            <a:ext cx="468000" cy="4680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spcAft>
                <a:spcPts val="600"/>
              </a:spcAft>
            </a:pPr>
            <a:r>
              <a:rPr lang="fr-FR" sz="9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84%</a:t>
            </a:r>
            <a:br>
              <a:rPr lang="fr-FR" sz="9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600" b="1" i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68%</a:t>
            </a:r>
          </a:p>
          <a:p>
            <a:pPr algn="ctr">
              <a:spcAft>
                <a:spcPts val="600"/>
              </a:spcAft>
            </a:pPr>
            <a:r>
              <a:rPr lang="fr-FR" sz="600" b="1" i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12,4 M€</a:t>
            </a:r>
            <a:endParaRPr lang="fr-FR" sz="700" b="1" i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8" name="Ellipse 137">
            <a:extLst>
              <a:ext uri="{FF2B5EF4-FFF2-40B4-BE49-F238E27FC236}">
                <a16:creationId xmlns:a16="http://schemas.microsoft.com/office/drawing/2014/main" id="{62E468DA-D45C-E845-49EE-5E32C55B2F88}"/>
              </a:ext>
            </a:extLst>
          </p:cNvPr>
          <p:cNvSpPr/>
          <p:nvPr/>
        </p:nvSpPr>
        <p:spPr>
          <a:xfrm>
            <a:off x="9377988" y="3355510"/>
            <a:ext cx="468000" cy="468000"/>
          </a:xfrm>
          <a:prstGeom prst="ellipse">
            <a:avLst/>
          </a:prstGeom>
          <a:solidFill>
            <a:srgbClr val="C10473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spcAft>
                <a:spcPts val="600"/>
              </a:spcAft>
            </a:pPr>
            <a:r>
              <a:rPr lang="fr-FR" sz="9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79%</a:t>
            </a:r>
            <a:br>
              <a:rPr lang="fr-FR" sz="9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600" b="1" i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44%</a:t>
            </a:r>
          </a:p>
          <a:p>
            <a:pPr algn="ctr">
              <a:spcAft>
                <a:spcPts val="600"/>
              </a:spcAft>
            </a:pPr>
            <a:r>
              <a:rPr lang="fr-FR" sz="600" b="1" i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12,3 M€</a:t>
            </a:r>
            <a:endParaRPr lang="fr-FR" sz="700" b="1" i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0" name="Ellipse 139">
            <a:extLst>
              <a:ext uri="{FF2B5EF4-FFF2-40B4-BE49-F238E27FC236}">
                <a16:creationId xmlns:a16="http://schemas.microsoft.com/office/drawing/2014/main" id="{6AEE59E0-26AE-EC12-80A3-28AC1D53771A}"/>
              </a:ext>
            </a:extLst>
          </p:cNvPr>
          <p:cNvSpPr/>
          <p:nvPr/>
        </p:nvSpPr>
        <p:spPr>
          <a:xfrm>
            <a:off x="8151056" y="3283515"/>
            <a:ext cx="468000" cy="46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spcAft>
                <a:spcPts val="600"/>
              </a:spcAft>
            </a:pPr>
            <a:r>
              <a:rPr lang="fr-FR" sz="9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80%</a:t>
            </a:r>
            <a:br>
              <a:rPr lang="fr-FR" sz="9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600" b="1" i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58%</a:t>
            </a:r>
          </a:p>
          <a:p>
            <a:pPr algn="ctr">
              <a:spcAft>
                <a:spcPts val="600"/>
              </a:spcAft>
            </a:pPr>
            <a:r>
              <a:rPr lang="fr-FR" sz="600" b="1" i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8,5 M€</a:t>
            </a:r>
            <a:endParaRPr lang="fr-FR" sz="700" b="1" i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1" name="ZoneTexte 140">
            <a:extLst>
              <a:ext uri="{FF2B5EF4-FFF2-40B4-BE49-F238E27FC236}">
                <a16:creationId xmlns:a16="http://schemas.microsoft.com/office/drawing/2014/main" id="{1B8EA4D2-DA3A-F508-CF8D-76679C5AAC98}"/>
              </a:ext>
            </a:extLst>
          </p:cNvPr>
          <p:cNvSpPr txBox="1"/>
          <p:nvPr/>
        </p:nvSpPr>
        <p:spPr>
          <a:xfrm>
            <a:off x="11250159" y="4028368"/>
            <a:ext cx="6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" b="1">
                <a:solidFill>
                  <a:srgbClr val="00B0F0"/>
                </a:solidFill>
              </a:rPr>
              <a:t>SEI</a:t>
            </a:r>
            <a:br>
              <a:rPr lang="fr-FR" sz="600" b="1">
                <a:solidFill>
                  <a:srgbClr val="00B0F0"/>
                </a:solidFill>
              </a:rPr>
            </a:br>
            <a:endParaRPr lang="fr-FR" sz="600">
              <a:solidFill>
                <a:srgbClr val="00B0F0"/>
              </a:solidFill>
            </a:endParaRP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8FF02B51-10DC-35A9-BCBE-CB617DDF259B}"/>
              </a:ext>
            </a:extLst>
          </p:cNvPr>
          <p:cNvSpPr txBox="1"/>
          <p:nvPr/>
        </p:nvSpPr>
        <p:spPr>
          <a:xfrm>
            <a:off x="11250159" y="4147805"/>
            <a:ext cx="648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" b="1">
                <a:solidFill>
                  <a:schemeClr val="accent4"/>
                </a:solidFill>
              </a:rPr>
              <a:t>ODOO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53885AAC-CEDB-1FC9-8A5D-45BAF6C34513}"/>
              </a:ext>
            </a:extLst>
          </p:cNvPr>
          <p:cNvSpPr txBox="1"/>
          <p:nvPr/>
        </p:nvSpPr>
        <p:spPr>
          <a:xfrm>
            <a:off x="11250159" y="4267242"/>
            <a:ext cx="648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" b="1">
                <a:solidFill>
                  <a:schemeClr val="accent4">
                    <a:lumMod val="75000"/>
                    <a:lumOff val="25000"/>
                  </a:schemeClr>
                </a:solidFill>
              </a:rPr>
              <a:t>ORISHA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9C13F011-0E77-F0FB-2D09-50E67BC7F822}"/>
              </a:ext>
            </a:extLst>
          </p:cNvPr>
          <p:cNvSpPr txBox="1"/>
          <p:nvPr/>
        </p:nvSpPr>
        <p:spPr>
          <a:xfrm>
            <a:off x="11250159" y="3908931"/>
            <a:ext cx="648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" b="1">
                <a:solidFill>
                  <a:srgbClr val="4EA72D"/>
                </a:solidFill>
              </a:rPr>
              <a:t>MICROSOFT</a:t>
            </a:r>
          </a:p>
        </p:txBody>
      </p:sp>
      <p:sp>
        <p:nvSpPr>
          <p:cNvPr id="153" name="ZoneTexte 152">
            <a:extLst>
              <a:ext uri="{FF2B5EF4-FFF2-40B4-BE49-F238E27FC236}">
                <a16:creationId xmlns:a16="http://schemas.microsoft.com/office/drawing/2014/main" id="{B3D11E59-6402-EFEC-D706-F9BE6B173046}"/>
              </a:ext>
            </a:extLst>
          </p:cNvPr>
          <p:cNvSpPr txBox="1"/>
          <p:nvPr/>
        </p:nvSpPr>
        <p:spPr>
          <a:xfrm>
            <a:off x="8090108" y="1119457"/>
            <a:ext cx="323037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600" b="1" u="sng"/>
              <a:t>TCO À 10 ANS ET SCORE DE COUVERTURE RELATIVE DES SOLUTIONS CANDIDATES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63D3F746-8468-328D-BDC3-A6D28F7B442F}"/>
              </a:ext>
            </a:extLst>
          </p:cNvPr>
          <p:cNvSpPr txBox="1"/>
          <p:nvPr/>
        </p:nvSpPr>
        <p:spPr>
          <a:xfrm>
            <a:off x="890005" y="4974600"/>
            <a:ext cx="94769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700" b="1">
                <a:solidFill>
                  <a:schemeClr val="accent1"/>
                </a:solidFill>
              </a:rPr>
              <a:t>BUDGET ANNUEL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199BDE3-2A3E-AC8D-9E4D-53525FC2B190}"/>
              </a:ext>
            </a:extLst>
          </p:cNvPr>
          <p:cNvSpPr txBox="1"/>
          <p:nvPr/>
        </p:nvSpPr>
        <p:spPr>
          <a:xfrm>
            <a:off x="3210789" y="5167033"/>
            <a:ext cx="7761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700" b="1">
                <a:solidFill>
                  <a:schemeClr val="accent1"/>
                </a:solidFill>
              </a:rPr>
              <a:t>COÛT PROJET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AF46BEA-6382-0264-9730-7AEFC5F9B89F}"/>
              </a:ext>
            </a:extLst>
          </p:cNvPr>
          <p:cNvSpPr txBox="1"/>
          <p:nvPr/>
        </p:nvSpPr>
        <p:spPr>
          <a:xfrm>
            <a:off x="7494653" y="5383118"/>
            <a:ext cx="69922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700" b="1">
                <a:solidFill>
                  <a:schemeClr val="accent1"/>
                </a:solidFill>
              </a:rPr>
              <a:t>TCO 10 ANS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8A1AE33-3DBE-B681-EF50-7E6352A83D8C}"/>
              </a:ext>
            </a:extLst>
          </p:cNvPr>
          <p:cNvSpPr txBox="1"/>
          <p:nvPr/>
        </p:nvSpPr>
        <p:spPr>
          <a:xfrm>
            <a:off x="750627" y="5359681"/>
            <a:ext cx="6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00" b="1">
                <a:solidFill>
                  <a:schemeClr val="accent4"/>
                </a:solidFill>
              </a:rPr>
              <a:t>ODOO</a:t>
            </a:r>
          </a:p>
          <a:p>
            <a:pPr algn="ctr"/>
            <a:r>
              <a:rPr lang="fr-FR" sz="600">
                <a:solidFill>
                  <a:schemeClr val="accent4"/>
                </a:solidFill>
              </a:rPr>
              <a:t>0,7 M€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A723DD8-F827-6B50-AB26-444D54ABD89D}"/>
              </a:ext>
            </a:extLst>
          </p:cNvPr>
          <p:cNvSpPr txBox="1"/>
          <p:nvPr/>
        </p:nvSpPr>
        <p:spPr>
          <a:xfrm>
            <a:off x="1033103" y="5730905"/>
            <a:ext cx="6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00" b="1">
                <a:solidFill>
                  <a:srgbClr val="00B0F0"/>
                </a:solidFill>
              </a:rPr>
              <a:t>SEI</a:t>
            </a:r>
          </a:p>
          <a:p>
            <a:pPr algn="ctr"/>
            <a:r>
              <a:rPr lang="fr-FR" sz="600">
                <a:solidFill>
                  <a:srgbClr val="00B0F0"/>
                </a:solidFill>
              </a:rPr>
              <a:t>1,1 M€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F1304CA7-7671-005E-1AF3-676F582BD33F}"/>
              </a:ext>
            </a:extLst>
          </p:cNvPr>
          <p:cNvSpPr txBox="1"/>
          <p:nvPr/>
        </p:nvSpPr>
        <p:spPr>
          <a:xfrm>
            <a:off x="1030510" y="5523325"/>
            <a:ext cx="6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00" b="1">
                <a:solidFill>
                  <a:schemeClr val="accent4">
                    <a:lumMod val="75000"/>
                    <a:lumOff val="25000"/>
                  </a:schemeClr>
                </a:solidFill>
              </a:rPr>
              <a:t>ORISHA</a:t>
            </a:r>
          </a:p>
          <a:p>
            <a:pPr algn="ctr"/>
            <a:r>
              <a:rPr lang="fr-FR" sz="600">
                <a:solidFill>
                  <a:schemeClr val="accent4">
                    <a:lumMod val="75000"/>
                    <a:lumOff val="25000"/>
                  </a:schemeClr>
                </a:solidFill>
              </a:rPr>
              <a:t>1 M€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3E613941-4B3F-A648-245B-98EA8C2AA9D5}"/>
              </a:ext>
            </a:extLst>
          </p:cNvPr>
          <p:cNvCxnSpPr>
            <a:cxnSpLocks/>
          </p:cNvCxnSpPr>
          <p:nvPr/>
        </p:nvCxnSpPr>
        <p:spPr>
          <a:xfrm>
            <a:off x="772753" y="5382262"/>
            <a:ext cx="11401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0D0D3D6A-7E75-DC09-1E27-06FDF3C8A8C1}"/>
              </a:ext>
            </a:extLst>
          </p:cNvPr>
          <p:cNvCxnSpPr>
            <a:cxnSpLocks/>
          </p:cNvCxnSpPr>
          <p:nvPr/>
        </p:nvCxnSpPr>
        <p:spPr>
          <a:xfrm>
            <a:off x="771643" y="5279867"/>
            <a:ext cx="0" cy="2047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38">
            <a:extLst>
              <a:ext uri="{FF2B5EF4-FFF2-40B4-BE49-F238E27FC236}">
                <a16:creationId xmlns:a16="http://schemas.microsoft.com/office/drawing/2014/main" id="{98F10951-8246-285D-8A27-61CC63D260F6}"/>
              </a:ext>
            </a:extLst>
          </p:cNvPr>
          <p:cNvCxnSpPr>
            <a:cxnSpLocks/>
          </p:cNvCxnSpPr>
          <p:nvPr/>
        </p:nvCxnSpPr>
        <p:spPr>
          <a:xfrm>
            <a:off x="1913487" y="5279867"/>
            <a:ext cx="0" cy="2047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3CDBA6C5-6064-6917-81FA-D280790B26D0}"/>
              </a:ext>
            </a:extLst>
          </p:cNvPr>
          <p:cNvCxnSpPr>
            <a:cxnSpLocks/>
          </p:cNvCxnSpPr>
          <p:nvPr/>
        </p:nvCxnSpPr>
        <p:spPr>
          <a:xfrm>
            <a:off x="1342565" y="5279867"/>
            <a:ext cx="0" cy="2047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5407F489-1D59-0B77-53E3-60DBA03F1621}"/>
              </a:ext>
            </a:extLst>
          </p:cNvPr>
          <p:cNvSpPr/>
          <p:nvPr/>
        </p:nvSpPr>
        <p:spPr>
          <a:xfrm>
            <a:off x="1642197" y="5114909"/>
            <a:ext cx="540000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700" i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 M€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FA50AC25-5FBF-0285-55C9-B09B139FB4A2}"/>
              </a:ext>
            </a:extLst>
          </p:cNvPr>
          <p:cNvCxnSpPr>
            <a:cxnSpLocks/>
          </p:cNvCxnSpPr>
          <p:nvPr/>
        </p:nvCxnSpPr>
        <p:spPr>
          <a:xfrm>
            <a:off x="1919126" y="5596314"/>
            <a:ext cx="34238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88CD41DC-0C6D-D82E-36C0-557CB24EC5FF}"/>
              </a:ext>
            </a:extLst>
          </p:cNvPr>
          <p:cNvCxnSpPr>
            <a:cxnSpLocks/>
          </p:cNvCxnSpPr>
          <p:nvPr/>
        </p:nvCxnSpPr>
        <p:spPr>
          <a:xfrm>
            <a:off x="1918016" y="5493919"/>
            <a:ext cx="0" cy="2047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44">
            <a:extLst>
              <a:ext uri="{FF2B5EF4-FFF2-40B4-BE49-F238E27FC236}">
                <a16:creationId xmlns:a16="http://schemas.microsoft.com/office/drawing/2014/main" id="{46249CEC-735B-BFC5-583D-423BF9958DE2}"/>
              </a:ext>
            </a:extLst>
          </p:cNvPr>
          <p:cNvCxnSpPr>
            <a:cxnSpLocks/>
          </p:cNvCxnSpPr>
          <p:nvPr/>
        </p:nvCxnSpPr>
        <p:spPr>
          <a:xfrm>
            <a:off x="5343548" y="5493919"/>
            <a:ext cx="0" cy="2047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D4E60DB1-1C26-6464-6F00-FB7022670042}"/>
              </a:ext>
            </a:extLst>
          </p:cNvPr>
          <p:cNvCxnSpPr>
            <a:cxnSpLocks/>
          </p:cNvCxnSpPr>
          <p:nvPr/>
        </p:nvCxnSpPr>
        <p:spPr>
          <a:xfrm>
            <a:off x="4772626" y="5493919"/>
            <a:ext cx="0" cy="2047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24ADB50C-6F6D-4AEC-BA47-BFDF3EEFF205}"/>
              </a:ext>
            </a:extLst>
          </p:cNvPr>
          <p:cNvCxnSpPr>
            <a:cxnSpLocks/>
          </p:cNvCxnSpPr>
          <p:nvPr/>
        </p:nvCxnSpPr>
        <p:spPr>
          <a:xfrm>
            <a:off x="4201704" y="5493919"/>
            <a:ext cx="0" cy="2047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61">
            <a:extLst>
              <a:ext uri="{FF2B5EF4-FFF2-40B4-BE49-F238E27FC236}">
                <a16:creationId xmlns:a16="http://schemas.microsoft.com/office/drawing/2014/main" id="{938624CC-7475-92C3-6948-80954AC19DCF}"/>
              </a:ext>
            </a:extLst>
          </p:cNvPr>
          <p:cNvCxnSpPr>
            <a:cxnSpLocks/>
          </p:cNvCxnSpPr>
          <p:nvPr/>
        </p:nvCxnSpPr>
        <p:spPr>
          <a:xfrm>
            <a:off x="3630782" y="5493919"/>
            <a:ext cx="0" cy="2047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eur droit 62">
            <a:extLst>
              <a:ext uri="{FF2B5EF4-FFF2-40B4-BE49-F238E27FC236}">
                <a16:creationId xmlns:a16="http://schemas.microsoft.com/office/drawing/2014/main" id="{8F033338-F38B-6B30-D920-7AED42D1356A}"/>
              </a:ext>
            </a:extLst>
          </p:cNvPr>
          <p:cNvCxnSpPr>
            <a:cxnSpLocks/>
          </p:cNvCxnSpPr>
          <p:nvPr/>
        </p:nvCxnSpPr>
        <p:spPr>
          <a:xfrm>
            <a:off x="3059860" y="5493919"/>
            <a:ext cx="0" cy="2047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809F981-7A85-E69A-A461-D6FFE7BD581B}"/>
              </a:ext>
            </a:extLst>
          </p:cNvPr>
          <p:cNvCxnSpPr>
            <a:cxnSpLocks/>
          </p:cNvCxnSpPr>
          <p:nvPr/>
        </p:nvCxnSpPr>
        <p:spPr>
          <a:xfrm>
            <a:off x="2488938" y="5493919"/>
            <a:ext cx="0" cy="2047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CBD2C37F-6BF8-BF20-4841-B1646ABCC48D}"/>
              </a:ext>
            </a:extLst>
          </p:cNvPr>
          <p:cNvSpPr/>
          <p:nvPr/>
        </p:nvSpPr>
        <p:spPr>
          <a:xfrm>
            <a:off x="507245" y="5137101"/>
            <a:ext cx="540000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700" i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 M€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9188A429-7840-1413-6E01-C8E6FB63391A}"/>
              </a:ext>
            </a:extLst>
          </p:cNvPr>
          <p:cNvSpPr txBox="1"/>
          <p:nvPr/>
        </p:nvSpPr>
        <p:spPr>
          <a:xfrm>
            <a:off x="1773129" y="5589108"/>
            <a:ext cx="6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00" b="1">
                <a:solidFill>
                  <a:srgbClr val="00B0F0"/>
                </a:solidFill>
              </a:rPr>
              <a:t>SEI</a:t>
            </a:r>
            <a:br>
              <a:rPr lang="fr-FR" sz="600" b="1">
                <a:solidFill>
                  <a:srgbClr val="00B0F0"/>
                </a:solidFill>
              </a:rPr>
            </a:br>
            <a:r>
              <a:rPr lang="fr-FR" sz="600">
                <a:solidFill>
                  <a:srgbClr val="00B0F0"/>
                </a:solidFill>
              </a:rPr>
              <a:t>2,3 M€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AD321686-C16A-F677-A240-D1AADD0DA846}"/>
              </a:ext>
            </a:extLst>
          </p:cNvPr>
          <p:cNvSpPr txBox="1"/>
          <p:nvPr/>
        </p:nvSpPr>
        <p:spPr>
          <a:xfrm>
            <a:off x="2522646" y="5589108"/>
            <a:ext cx="6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00" b="1">
                <a:solidFill>
                  <a:schemeClr val="accent4"/>
                </a:solidFill>
              </a:rPr>
              <a:t>ODOO</a:t>
            </a:r>
          </a:p>
          <a:p>
            <a:pPr algn="ctr"/>
            <a:r>
              <a:rPr lang="fr-FR" sz="600">
                <a:solidFill>
                  <a:schemeClr val="accent4"/>
                </a:solidFill>
              </a:rPr>
              <a:t>3,7 M€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7D4DB831-854A-2D2C-36F2-7C6540F00DF8}"/>
              </a:ext>
            </a:extLst>
          </p:cNvPr>
          <p:cNvSpPr txBox="1"/>
          <p:nvPr/>
        </p:nvSpPr>
        <p:spPr>
          <a:xfrm>
            <a:off x="3480500" y="5589108"/>
            <a:ext cx="6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00" b="1">
                <a:solidFill>
                  <a:schemeClr val="accent4">
                    <a:lumMod val="75000"/>
                    <a:lumOff val="25000"/>
                  </a:schemeClr>
                </a:solidFill>
              </a:rPr>
              <a:t>ORISHA</a:t>
            </a:r>
          </a:p>
          <a:p>
            <a:pPr algn="ctr"/>
            <a:r>
              <a:rPr lang="fr-FR" sz="600">
                <a:solidFill>
                  <a:schemeClr val="accent4">
                    <a:lumMod val="75000"/>
                    <a:lumOff val="25000"/>
                  </a:schemeClr>
                </a:solidFill>
              </a:rPr>
              <a:t>5,2 M€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B9288E94-2C01-DE79-C2BE-BA3DFE134C1B}"/>
              </a:ext>
            </a:extLst>
          </p:cNvPr>
          <p:cNvSpPr/>
          <p:nvPr/>
        </p:nvSpPr>
        <p:spPr>
          <a:xfrm>
            <a:off x="3350227" y="5326313"/>
            <a:ext cx="540000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700" i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 M€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AC10A3E3-15F9-652A-71EB-C5CFC3419833}"/>
              </a:ext>
            </a:extLst>
          </p:cNvPr>
          <p:cNvSpPr/>
          <p:nvPr/>
        </p:nvSpPr>
        <p:spPr>
          <a:xfrm>
            <a:off x="5051214" y="5326313"/>
            <a:ext cx="540000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700" i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8 M€</a:t>
            </a:r>
          </a:p>
        </p:txBody>
      </p:sp>
      <p:cxnSp>
        <p:nvCxnSpPr>
          <p:cNvPr id="76" name="Connecteur droit 75">
            <a:extLst>
              <a:ext uri="{FF2B5EF4-FFF2-40B4-BE49-F238E27FC236}">
                <a16:creationId xmlns:a16="http://schemas.microsoft.com/office/drawing/2014/main" id="{06F90EE5-1CC7-4624-4380-6726E5A1FF08}"/>
              </a:ext>
            </a:extLst>
          </p:cNvPr>
          <p:cNvCxnSpPr>
            <a:cxnSpLocks/>
          </p:cNvCxnSpPr>
          <p:nvPr/>
        </p:nvCxnSpPr>
        <p:spPr>
          <a:xfrm flipV="1">
            <a:off x="5344103" y="5814214"/>
            <a:ext cx="51371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eur droit 77">
            <a:extLst>
              <a:ext uri="{FF2B5EF4-FFF2-40B4-BE49-F238E27FC236}">
                <a16:creationId xmlns:a16="http://schemas.microsoft.com/office/drawing/2014/main" id="{0EA291AA-10CB-8052-8A5C-0DDACA21C369}"/>
              </a:ext>
            </a:extLst>
          </p:cNvPr>
          <p:cNvCxnSpPr>
            <a:cxnSpLocks/>
          </p:cNvCxnSpPr>
          <p:nvPr/>
        </p:nvCxnSpPr>
        <p:spPr>
          <a:xfrm>
            <a:off x="5342993" y="5711819"/>
            <a:ext cx="0" cy="2047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3A284423-59DE-B73D-A14C-E75688ACA0CF}"/>
              </a:ext>
            </a:extLst>
          </p:cNvPr>
          <p:cNvCxnSpPr>
            <a:cxnSpLocks/>
          </p:cNvCxnSpPr>
          <p:nvPr/>
        </p:nvCxnSpPr>
        <p:spPr>
          <a:xfrm>
            <a:off x="10481291" y="5711819"/>
            <a:ext cx="0" cy="2047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ED59716-8010-BFCE-4F78-232FAED7244B}"/>
              </a:ext>
            </a:extLst>
          </p:cNvPr>
          <p:cNvCxnSpPr>
            <a:cxnSpLocks/>
          </p:cNvCxnSpPr>
          <p:nvPr/>
        </p:nvCxnSpPr>
        <p:spPr>
          <a:xfrm>
            <a:off x="9910369" y="5711819"/>
            <a:ext cx="0" cy="2047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B94A1B15-A926-E5B1-6244-5478C4464E50}"/>
              </a:ext>
            </a:extLst>
          </p:cNvPr>
          <p:cNvCxnSpPr>
            <a:cxnSpLocks/>
          </p:cNvCxnSpPr>
          <p:nvPr/>
        </p:nvCxnSpPr>
        <p:spPr>
          <a:xfrm>
            <a:off x="8768525" y="5711819"/>
            <a:ext cx="0" cy="2047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81">
            <a:extLst>
              <a:ext uri="{FF2B5EF4-FFF2-40B4-BE49-F238E27FC236}">
                <a16:creationId xmlns:a16="http://schemas.microsoft.com/office/drawing/2014/main" id="{E153A37B-E2D9-5463-606C-ED035CFAF16C}"/>
              </a:ext>
            </a:extLst>
          </p:cNvPr>
          <p:cNvCxnSpPr>
            <a:cxnSpLocks/>
          </p:cNvCxnSpPr>
          <p:nvPr/>
        </p:nvCxnSpPr>
        <p:spPr>
          <a:xfrm>
            <a:off x="9339447" y="5711819"/>
            <a:ext cx="0" cy="2047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eur droit 82">
            <a:extLst>
              <a:ext uri="{FF2B5EF4-FFF2-40B4-BE49-F238E27FC236}">
                <a16:creationId xmlns:a16="http://schemas.microsoft.com/office/drawing/2014/main" id="{80DEC0BC-B2F2-E2E2-DA1A-92BE1D24BBA1}"/>
              </a:ext>
            </a:extLst>
          </p:cNvPr>
          <p:cNvCxnSpPr>
            <a:cxnSpLocks/>
          </p:cNvCxnSpPr>
          <p:nvPr/>
        </p:nvCxnSpPr>
        <p:spPr>
          <a:xfrm>
            <a:off x="8197603" y="5711819"/>
            <a:ext cx="0" cy="2047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eur droit 83">
            <a:extLst>
              <a:ext uri="{FF2B5EF4-FFF2-40B4-BE49-F238E27FC236}">
                <a16:creationId xmlns:a16="http://schemas.microsoft.com/office/drawing/2014/main" id="{050D74C2-E026-6D0C-0243-35AD9B5FDFEF}"/>
              </a:ext>
            </a:extLst>
          </p:cNvPr>
          <p:cNvCxnSpPr>
            <a:cxnSpLocks/>
          </p:cNvCxnSpPr>
          <p:nvPr/>
        </p:nvCxnSpPr>
        <p:spPr>
          <a:xfrm>
            <a:off x="7626681" y="5711819"/>
            <a:ext cx="0" cy="2047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eur droit 84">
            <a:extLst>
              <a:ext uri="{FF2B5EF4-FFF2-40B4-BE49-F238E27FC236}">
                <a16:creationId xmlns:a16="http://schemas.microsoft.com/office/drawing/2014/main" id="{9A333E10-5BDF-C0A1-8C77-3525F4888A0E}"/>
              </a:ext>
            </a:extLst>
          </p:cNvPr>
          <p:cNvCxnSpPr>
            <a:cxnSpLocks/>
          </p:cNvCxnSpPr>
          <p:nvPr/>
        </p:nvCxnSpPr>
        <p:spPr>
          <a:xfrm>
            <a:off x="7055759" y="5711819"/>
            <a:ext cx="0" cy="2047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eur droit 86">
            <a:extLst>
              <a:ext uri="{FF2B5EF4-FFF2-40B4-BE49-F238E27FC236}">
                <a16:creationId xmlns:a16="http://schemas.microsoft.com/office/drawing/2014/main" id="{BF2FF99D-7B62-A63E-A366-E3338353B0E2}"/>
              </a:ext>
            </a:extLst>
          </p:cNvPr>
          <p:cNvCxnSpPr>
            <a:cxnSpLocks/>
          </p:cNvCxnSpPr>
          <p:nvPr/>
        </p:nvCxnSpPr>
        <p:spPr>
          <a:xfrm>
            <a:off x="6484837" y="5711819"/>
            <a:ext cx="0" cy="2047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eur droit 88">
            <a:extLst>
              <a:ext uri="{FF2B5EF4-FFF2-40B4-BE49-F238E27FC236}">
                <a16:creationId xmlns:a16="http://schemas.microsoft.com/office/drawing/2014/main" id="{C15610B0-2D45-E15E-E46A-1B842E568A4F}"/>
              </a:ext>
            </a:extLst>
          </p:cNvPr>
          <p:cNvCxnSpPr>
            <a:cxnSpLocks/>
          </p:cNvCxnSpPr>
          <p:nvPr/>
        </p:nvCxnSpPr>
        <p:spPr>
          <a:xfrm>
            <a:off x="5913915" y="5711819"/>
            <a:ext cx="0" cy="2047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92B049A2-BBDA-ADF0-0932-729A47A2D602}"/>
              </a:ext>
            </a:extLst>
          </p:cNvPr>
          <p:cNvSpPr/>
          <p:nvPr/>
        </p:nvSpPr>
        <p:spPr>
          <a:xfrm>
            <a:off x="7356681" y="5537859"/>
            <a:ext cx="540000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700" i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12 M€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662B856-F174-F478-CE91-54C9E7EFDD01}"/>
              </a:ext>
            </a:extLst>
          </p:cNvPr>
          <p:cNvSpPr/>
          <p:nvPr/>
        </p:nvSpPr>
        <p:spPr>
          <a:xfrm>
            <a:off x="10226753" y="5579698"/>
            <a:ext cx="540000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700" i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17 M€</a:t>
            </a:r>
          </a:p>
        </p:txBody>
      </p:sp>
      <p:sp>
        <p:nvSpPr>
          <p:cNvPr id="92" name="ZoneTexte 91">
            <a:extLst>
              <a:ext uri="{FF2B5EF4-FFF2-40B4-BE49-F238E27FC236}">
                <a16:creationId xmlns:a16="http://schemas.microsoft.com/office/drawing/2014/main" id="{DC457804-6B1C-A8DA-3B1B-A458E3DFA03F}"/>
              </a:ext>
            </a:extLst>
          </p:cNvPr>
          <p:cNvSpPr txBox="1"/>
          <p:nvPr/>
        </p:nvSpPr>
        <p:spPr>
          <a:xfrm>
            <a:off x="7572681" y="6053606"/>
            <a:ext cx="6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00" b="1">
                <a:solidFill>
                  <a:srgbClr val="00B0F0"/>
                </a:solidFill>
              </a:rPr>
              <a:t>SEI</a:t>
            </a:r>
            <a:br>
              <a:rPr lang="fr-FR" sz="600" b="1">
                <a:solidFill>
                  <a:srgbClr val="00B0F0"/>
                </a:solidFill>
              </a:rPr>
            </a:br>
            <a:r>
              <a:rPr lang="fr-FR" sz="600">
                <a:solidFill>
                  <a:srgbClr val="00B0F0"/>
                </a:solidFill>
              </a:rPr>
              <a:t>12,4 M€</a:t>
            </a:r>
          </a:p>
        </p:txBody>
      </p:sp>
      <p:sp>
        <p:nvSpPr>
          <p:cNvPr id="94" name="ZoneTexte 93">
            <a:extLst>
              <a:ext uri="{FF2B5EF4-FFF2-40B4-BE49-F238E27FC236}">
                <a16:creationId xmlns:a16="http://schemas.microsoft.com/office/drawing/2014/main" id="{1655AF99-09D3-53DF-74CF-3AC15AE85B94}"/>
              </a:ext>
            </a:extLst>
          </p:cNvPr>
          <p:cNvSpPr txBox="1"/>
          <p:nvPr/>
        </p:nvSpPr>
        <p:spPr>
          <a:xfrm>
            <a:off x="5299504" y="5803234"/>
            <a:ext cx="6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00" b="1">
                <a:solidFill>
                  <a:schemeClr val="accent4"/>
                </a:solidFill>
              </a:rPr>
              <a:t>ODOO</a:t>
            </a:r>
          </a:p>
          <a:p>
            <a:pPr algn="ctr"/>
            <a:r>
              <a:rPr lang="fr-FR" sz="600">
                <a:solidFill>
                  <a:schemeClr val="accent4"/>
                </a:solidFill>
              </a:rPr>
              <a:t>8,5 M€</a:t>
            </a:r>
          </a:p>
        </p:txBody>
      </p:sp>
      <p:sp>
        <p:nvSpPr>
          <p:cNvPr id="96" name="ZoneTexte 95">
            <a:extLst>
              <a:ext uri="{FF2B5EF4-FFF2-40B4-BE49-F238E27FC236}">
                <a16:creationId xmlns:a16="http://schemas.microsoft.com/office/drawing/2014/main" id="{FF31CC22-37E6-38EF-B75E-09BCFE9900D7}"/>
              </a:ext>
            </a:extLst>
          </p:cNvPr>
          <p:cNvSpPr txBox="1"/>
          <p:nvPr/>
        </p:nvSpPr>
        <p:spPr>
          <a:xfrm>
            <a:off x="7534507" y="5820070"/>
            <a:ext cx="6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00" b="1">
                <a:solidFill>
                  <a:schemeClr val="accent4">
                    <a:lumMod val="75000"/>
                    <a:lumOff val="25000"/>
                  </a:schemeClr>
                </a:solidFill>
              </a:rPr>
              <a:t>ORISHA</a:t>
            </a:r>
          </a:p>
          <a:p>
            <a:pPr algn="ctr"/>
            <a:r>
              <a:rPr lang="fr-FR" sz="600">
                <a:solidFill>
                  <a:schemeClr val="accent4">
                    <a:lumMod val="75000"/>
                    <a:lumOff val="25000"/>
                  </a:schemeClr>
                </a:solidFill>
              </a:rPr>
              <a:t>12,3 M€</a:t>
            </a:r>
          </a:p>
        </p:txBody>
      </p:sp>
      <p:sp>
        <p:nvSpPr>
          <p:cNvPr id="97" name="ZoneTexte 96">
            <a:extLst>
              <a:ext uri="{FF2B5EF4-FFF2-40B4-BE49-F238E27FC236}">
                <a16:creationId xmlns:a16="http://schemas.microsoft.com/office/drawing/2014/main" id="{E1CC9538-388C-4E3C-FAC0-BBAFFFB13B41}"/>
              </a:ext>
            </a:extLst>
          </p:cNvPr>
          <p:cNvSpPr txBox="1"/>
          <p:nvPr/>
        </p:nvSpPr>
        <p:spPr>
          <a:xfrm>
            <a:off x="1049897" y="5951321"/>
            <a:ext cx="6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00" b="1">
                <a:solidFill>
                  <a:srgbClr val="4EA72D"/>
                </a:solidFill>
              </a:rPr>
              <a:t>MICROSOFT</a:t>
            </a:r>
          </a:p>
          <a:p>
            <a:pPr algn="ctr"/>
            <a:r>
              <a:rPr lang="fr-FR" sz="600">
                <a:solidFill>
                  <a:srgbClr val="4EA72D"/>
                </a:solidFill>
              </a:rPr>
              <a:t>1,2 M€</a:t>
            </a:r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F337545B-CFDD-577B-E3F9-9AF1A919D7FA}"/>
              </a:ext>
            </a:extLst>
          </p:cNvPr>
          <p:cNvSpPr txBox="1"/>
          <p:nvPr/>
        </p:nvSpPr>
        <p:spPr>
          <a:xfrm>
            <a:off x="4167736" y="5589108"/>
            <a:ext cx="6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00" b="1">
                <a:solidFill>
                  <a:srgbClr val="4EA72D"/>
                </a:solidFill>
              </a:rPr>
              <a:t>MICROSOFT</a:t>
            </a:r>
          </a:p>
          <a:p>
            <a:pPr algn="ctr"/>
            <a:r>
              <a:rPr lang="fr-FR" sz="600">
                <a:solidFill>
                  <a:srgbClr val="4EA72D"/>
                </a:solidFill>
              </a:rPr>
              <a:t>6,5 M€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6051C44D-6FA6-6A07-4F6C-CD96FC00C512}"/>
              </a:ext>
            </a:extLst>
          </p:cNvPr>
          <p:cNvSpPr txBox="1"/>
          <p:nvPr/>
        </p:nvSpPr>
        <p:spPr>
          <a:xfrm>
            <a:off x="9877362" y="5825195"/>
            <a:ext cx="6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00" b="1">
                <a:solidFill>
                  <a:srgbClr val="4EA72D"/>
                </a:solidFill>
              </a:rPr>
              <a:t>MICROSOFT</a:t>
            </a:r>
          </a:p>
          <a:p>
            <a:pPr algn="ctr"/>
            <a:r>
              <a:rPr lang="fr-FR" sz="600">
                <a:solidFill>
                  <a:srgbClr val="4EA72D"/>
                </a:solidFill>
              </a:rPr>
              <a:t>16,5 M€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F17A71AF-089E-5455-7627-81A3CC7A77A8}"/>
              </a:ext>
            </a:extLst>
          </p:cNvPr>
          <p:cNvSpPr txBox="1"/>
          <p:nvPr/>
        </p:nvSpPr>
        <p:spPr>
          <a:xfrm>
            <a:off x="5727527" y="5174444"/>
            <a:ext cx="492314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" i="1" dirty="0">
                <a:solidFill>
                  <a:srgbClr val="4EA72D"/>
                </a:solidFill>
              </a:rPr>
              <a:t>L’enveloppe budgétaire remise par Microsoft inclut une remise d’environ 30% sur les coûts d’abonnement, qui est prise en considération ici.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3AA517A1-DA66-B399-24CF-EE1434A98988}"/>
              </a:ext>
            </a:extLst>
          </p:cNvPr>
          <p:cNvSpPr txBox="1"/>
          <p:nvPr/>
        </p:nvSpPr>
        <p:spPr>
          <a:xfrm>
            <a:off x="7471874" y="5036810"/>
            <a:ext cx="315022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" b="1" u="sng" dirty="0"/>
              <a:t>SYNTHESE DES ENVELOPPES BUDGETAIRES ANNUELLES, PROJET ET TCO 10 ANS</a:t>
            </a:r>
          </a:p>
        </p:txBody>
      </p:sp>
    </p:spTree>
    <p:extLst>
      <p:ext uri="{BB962C8B-B14F-4D97-AF65-F5344CB8AC3E}">
        <p14:creationId xmlns:p14="http://schemas.microsoft.com/office/powerpoint/2010/main" val="3884812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83BAF-6843-CE43-A966-8BBCCA6D5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1276821-FA6B-F780-EB16-149516A35E4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fr-FR"/>
              <a:t>Confidentiel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0892A42F-A771-A543-94B2-AFB2FCAF5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KEY TAKEAWAYS</a:t>
            </a:r>
          </a:p>
        </p:txBody>
      </p:sp>
      <p:sp>
        <p:nvSpPr>
          <p:cNvPr id="5" name="Espace réservé du texte 1">
            <a:extLst>
              <a:ext uri="{FF2B5EF4-FFF2-40B4-BE49-F238E27FC236}">
                <a16:creationId xmlns:a16="http://schemas.microsoft.com/office/drawing/2014/main" id="{2DEB1FFA-3179-5C49-3DB3-ADB3318827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7245" y="730049"/>
            <a:ext cx="11177364" cy="312803"/>
          </a:xfrm>
        </p:spPr>
        <p:txBody>
          <a:bodyPr/>
          <a:lstStyle/>
          <a:p>
            <a:r>
              <a:rPr lang="fr-FR"/>
              <a:t>Recommandations</a:t>
            </a:r>
          </a:p>
        </p:txBody>
      </p:sp>
      <p:grpSp>
        <p:nvGrpSpPr>
          <p:cNvPr id="62" name="Groupe 61">
            <a:extLst>
              <a:ext uri="{FF2B5EF4-FFF2-40B4-BE49-F238E27FC236}">
                <a16:creationId xmlns:a16="http://schemas.microsoft.com/office/drawing/2014/main" id="{C79BAE96-6877-8076-1B78-1A68DFB1D1AF}"/>
              </a:ext>
            </a:extLst>
          </p:cNvPr>
          <p:cNvGrpSpPr/>
          <p:nvPr/>
        </p:nvGrpSpPr>
        <p:grpSpPr>
          <a:xfrm>
            <a:off x="689579" y="1398910"/>
            <a:ext cx="10635647" cy="792000"/>
            <a:chOff x="346679" y="1977395"/>
            <a:chExt cx="10635647" cy="792000"/>
          </a:xfrm>
        </p:grpSpPr>
        <p:sp>
          <p:nvSpPr>
            <p:cNvPr id="2" name="ZoneTexte 1">
              <a:extLst>
                <a:ext uri="{FF2B5EF4-FFF2-40B4-BE49-F238E27FC236}">
                  <a16:creationId xmlns:a16="http://schemas.microsoft.com/office/drawing/2014/main" id="{47FB4362-61B4-FD67-C82A-BA0433786790}"/>
                </a:ext>
              </a:extLst>
            </p:cNvPr>
            <p:cNvSpPr txBox="1"/>
            <p:nvPr/>
          </p:nvSpPr>
          <p:spPr>
            <a:xfrm>
              <a:off x="346679" y="2011757"/>
              <a:ext cx="7202865" cy="7232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28600" indent="-228600">
                <a:spcAft>
                  <a:spcPts val="600"/>
                </a:spcAft>
                <a:buAutoNum type="arabicPeriod"/>
              </a:pPr>
              <a:r>
                <a:rPr lang="fr-FR" sz="1100" b="1" dirty="0">
                  <a:solidFill>
                    <a:schemeClr val="accent1">
                      <a:lumMod val="50000"/>
                    </a:schemeClr>
                  </a:solidFill>
                  <a:cs typeface="Calibri" panose="020F0502020204030204" pitchFamily="34" charset="0"/>
                </a:rPr>
                <a:t>Ecarter Orisha et Odoo.</a:t>
              </a:r>
            </a:p>
            <a:p>
              <a:pPr marL="171450" indent="-171450">
                <a:spcBef>
                  <a:spcPts val="200"/>
                </a:spcBef>
                <a:spcAft>
                  <a:spcPts val="200"/>
                </a:spcAft>
                <a:buFont typeface="Arial" panose="020B0604020202020204" pitchFamily="34" charset="0"/>
                <a:buChar char="•"/>
              </a:pPr>
              <a:r>
                <a:rPr lang="fr-FR" sz="1000" b="1" dirty="0">
                  <a:solidFill>
                    <a:schemeClr val="accent1"/>
                  </a:solidFill>
                  <a:cs typeface="Calibri" panose="020F0502020204030204" pitchFamily="34" charset="0"/>
                </a:rPr>
                <a:t>±50% des besoins hors standard, </a:t>
              </a:r>
              <a:r>
                <a:rPr lang="fr-FR" sz="1000" dirty="0">
                  <a:cs typeface="Calibri" panose="020F0502020204030204" pitchFamily="34" charset="0"/>
                </a:rPr>
                <a:t>à couvrir par des travaux spécifiques ou intégrer dans la roadmap de l’éditeur.</a:t>
              </a:r>
            </a:p>
            <a:p>
              <a:pPr marL="171450" indent="-171450">
                <a:spcBef>
                  <a:spcPts val="200"/>
                </a:spcBef>
                <a:spcAft>
                  <a:spcPts val="200"/>
                </a:spcAft>
                <a:buFont typeface="Arial" panose="020B0604020202020204" pitchFamily="34" charset="0"/>
                <a:buChar char="•"/>
              </a:pPr>
              <a:r>
                <a:rPr lang="fr-FR" sz="1000" dirty="0">
                  <a:cs typeface="Calibri" panose="020F0502020204030204" pitchFamily="34" charset="0"/>
                </a:rPr>
                <a:t>Avantage tarifaire d’Odoo à rapporter au risque du projet…</a:t>
              </a:r>
            </a:p>
          </p:txBody>
        </p:sp>
        <p:grpSp>
          <p:nvGrpSpPr>
            <p:cNvPr id="60" name="Groupe 59">
              <a:extLst>
                <a:ext uri="{FF2B5EF4-FFF2-40B4-BE49-F238E27FC236}">
                  <a16:creationId xmlns:a16="http://schemas.microsoft.com/office/drawing/2014/main" id="{BCFF3D3C-2515-1C9A-4124-A48D59F5A497}"/>
                </a:ext>
              </a:extLst>
            </p:cNvPr>
            <p:cNvGrpSpPr/>
            <p:nvPr/>
          </p:nvGrpSpPr>
          <p:grpSpPr>
            <a:xfrm>
              <a:off x="7886700" y="1977395"/>
              <a:ext cx="3095626" cy="792000"/>
              <a:chOff x="7886700" y="1977395"/>
              <a:chExt cx="3095626" cy="792000"/>
            </a:xfrm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9DEC6E72-E2DC-FE75-FDB5-B6247687692B}"/>
                  </a:ext>
                </a:extLst>
              </p:cNvPr>
              <p:cNvSpPr/>
              <p:nvPr/>
            </p:nvSpPr>
            <p:spPr>
              <a:xfrm>
                <a:off x="7886700" y="1977395"/>
                <a:ext cx="3095626" cy="79200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171450" indent="-171450" algn="l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fr-FR" sz="1050" b="1">
                  <a:solidFill>
                    <a:srgbClr val="1A1C3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pic>
            <p:nvPicPr>
              <p:cNvPr id="17" name="Image 16" descr="Une image contenant texte, Police, Graphique, logo&#10;&#10;Le contenu généré par l’IA peut être incorrect.">
                <a:extLst>
                  <a:ext uri="{FF2B5EF4-FFF2-40B4-BE49-F238E27FC236}">
                    <a16:creationId xmlns:a16="http://schemas.microsoft.com/office/drawing/2014/main" id="{05CE042C-737D-DFAC-AE77-B47F50F7A9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b="18755"/>
              <a:stretch>
                <a:fillRect/>
              </a:stretch>
            </p:blipFill>
            <p:spPr>
              <a:xfrm>
                <a:off x="9434512" y="2208029"/>
                <a:ext cx="1075488" cy="340750"/>
              </a:xfrm>
              <a:prstGeom prst="rect">
                <a:avLst/>
              </a:prstGeom>
            </p:spPr>
          </p:pic>
          <p:pic>
            <p:nvPicPr>
              <p:cNvPr id="35" name="Picture 4" descr="https://www.odoo.com/logo.png">
                <a:extLst>
                  <a:ext uri="{FF2B5EF4-FFF2-40B4-BE49-F238E27FC236}">
                    <a16:creationId xmlns:a16="http://schemas.microsoft.com/office/drawing/2014/main" id="{499C23C0-FDE5-EB62-60FD-EA072894BD9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324848" y="2171835"/>
                <a:ext cx="930278" cy="4031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79" name="Groupe 78">
            <a:extLst>
              <a:ext uri="{FF2B5EF4-FFF2-40B4-BE49-F238E27FC236}">
                <a16:creationId xmlns:a16="http://schemas.microsoft.com/office/drawing/2014/main" id="{EFF3E8B0-5D68-5B42-7BE4-B21581461F6E}"/>
              </a:ext>
            </a:extLst>
          </p:cNvPr>
          <p:cNvGrpSpPr/>
          <p:nvPr/>
        </p:nvGrpSpPr>
        <p:grpSpPr>
          <a:xfrm>
            <a:off x="688220" y="4794562"/>
            <a:ext cx="10637005" cy="1044068"/>
            <a:chOff x="344082" y="2981960"/>
            <a:chExt cx="10637005" cy="1044068"/>
          </a:xfrm>
        </p:grpSpPr>
        <p:sp>
          <p:nvSpPr>
            <p:cNvPr id="50" name="ZoneTexte 49">
              <a:extLst>
                <a:ext uri="{FF2B5EF4-FFF2-40B4-BE49-F238E27FC236}">
                  <a16:creationId xmlns:a16="http://schemas.microsoft.com/office/drawing/2014/main" id="{4B28349E-AAE4-C916-A0B5-76545BCA90A4}"/>
                </a:ext>
              </a:extLst>
            </p:cNvPr>
            <p:cNvSpPr txBox="1"/>
            <p:nvPr/>
          </p:nvSpPr>
          <p:spPr>
            <a:xfrm>
              <a:off x="344082" y="3068845"/>
              <a:ext cx="7160098" cy="9207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fr-FR" sz="1050" b="1" dirty="0">
                  <a:solidFill>
                    <a:schemeClr val="accent1">
                      <a:lumMod val="50000"/>
                    </a:schemeClr>
                  </a:solidFill>
                  <a:cs typeface="Calibri" panose="020F0502020204030204" pitchFamily="34" charset="0"/>
                </a:rPr>
                <a:t>3. Comparer les offres des leaders.</a:t>
              </a:r>
            </a:p>
            <a:p>
              <a:pPr marL="171450" indent="-171450">
                <a:spcBef>
                  <a:spcPts val="200"/>
                </a:spcBef>
                <a:spcAft>
                  <a:spcPts val="200"/>
                </a:spcAft>
                <a:buFont typeface="Arial" panose="020B0604020202020204" pitchFamily="34" charset="0"/>
                <a:buChar char="•"/>
              </a:pPr>
              <a:r>
                <a:rPr lang="fr-FR" sz="1000" b="1" dirty="0">
                  <a:solidFill>
                    <a:schemeClr val="accent1"/>
                  </a:solidFill>
                  <a:cs typeface="Calibri" panose="020F0502020204030204" pitchFamily="34" charset="0"/>
                </a:rPr>
                <a:t>SAP : maitre étalon intégrant les périmètres Opérations et Finance / Comptabilité.</a:t>
              </a:r>
            </a:p>
            <a:p>
              <a:pPr marL="628650" lvl="1" indent="-171450">
                <a:spcBef>
                  <a:spcPts val="200"/>
                </a:spcBef>
                <a:spcAft>
                  <a:spcPts val="200"/>
                </a:spcAft>
                <a:buFont typeface="Arial" panose="020B0604020202020204" pitchFamily="34" charset="0"/>
                <a:buChar char="•"/>
              </a:pPr>
              <a:r>
                <a:rPr lang="fr-FR" sz="1000" b="1" dirty="0">
                  <a:cs typeface="Calibri" panose="020F0502020204030204" pitchFamily="34" charset="0"/>
                </a:rPr>
                <a:t>Microsoft</a:t>
              </a:r>
              <a:r>
                <a:rPr lang="fr-FR" sz="1000" dirty="0">
                  <a:cs typeface="Calibri" panose="020F0502020204030204" pitchFamily="34" charset="0"/>
                </a:rPr>
                <a:t> </a:t>
              </a:r>
              <a:r>
                <a:rPr lang="fr-FR" sz="1000" u="sng" dirty="0">
                  <a:cs typeface="Calibri" panose="020F0502020204030204" pitchFamily="34" charset="0"/>
                </a:rPr>
                <a:t>ou</a:t>
              </a:r>
              <a:r>
                <a:rPr lang="fr-FR" sz="1000" dirty="0">
                  <a:cs typeface="Calibri" panose="020F0502020204030204" pitchFamily="34" charset="0"/>
                </a:rPr>
                <a:t> </a:t>
              </a:r>
              <a:r>
                <a:rPr lang="fr-FR" sz="1000" b="1" dirty="0" err="1">
                  <a:cs typeface="Calibri" panose="020F0502020204030204" pitchFamily="34" charset="0"/>
                </a:rPr>
                <a:t>Infor</a:t>
              </a:r>
              <a:r>
                <a:rPr lang="fr-FR" sz="1000" dirty="0">
                  <a:cs typeface="Calibri" panose="020F0502020204030204" pitchFamily="34" charset="0"/>
                </a:rPr>
                <a:t> : quelle offre alternative à SAP est la meilleure ?</a:t>
              </a:r>
            </a:p>
            <a:p>
              <a:pPr marL="628650" lvl="1" indent="-171450">
                <a:spcBef>
                  <a:spcPts val="200"/>
                </a:spcBef>
                <a:spcAft>
                  <a:spcPts val="200"/>
                </a:spcAft>
                <a:buFont typeface="Arial" panose="020B0604020202020204" pitchFamily="34" charset="0"/>
                <a:buChar char="•"/>
              </a:pPr>
              <a:r>
                <a:rPr lang="fr-FR" sz="1000" b="1" dirty="0">
                  <a:cs typeface="Calibri" panose="020F0502020204030204" pitchFamily="34" charset="0"/>
                </a:rPr>
                <a:t>SAP </a:t>
              </a:r>
              <a:r>
                <a:rPr lang="fr-FR" sz="1000" dirty="0">
                  <a:cs typeface="Calibri" panose="020F0502020204030204" pitchFamily="34" charset="0"/>
                </a:rPr>
                <a:t>: quel gain fonctionnel / de simplification pour quel écart budgétaire par rapport aux concurrents ?</a:t>
              </a:r>
            </a:p>
          </p:txBody>
        </p:sp>
        <p:grpSp>
          <p:nvGrpSpPr>
            <p:cNvPr id="78" name="Groupe 77">
              <a:extLst>
                <a:ext uri="{FF2B5EF4-FFF2-40B4-BE49-F238E27FC236}">
                  <a16:creationId xmlns:a16="http://schemas.microsoft.com/office/drawing/2014/main" id="{DA3833A2-C033-FE06-0354-5BC6F629ABE3}"/>
                </a:ext>
              </a:extLst>
            </p:cNvPr>
            <p:cNvGrpSpPr/>
            <p:nvPr/>
          </p:nvGrpSpPr>
          <p:grpSpPr>
            <a:xfrm>
              <a:off x="7885462" y="2981960"/>
              <a:ext cx="3095625" cy="1044068"/>
              <a:chOff x="7885462" y="2981960"/>
              <a:chExt cx="3095625" cy="1044068"/>
            </a:xfrm>
          </p:grpSpPr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964F2862-DBC3-E6D9-D0BA-9A77B68444F3}"/>
                  </a:ext>
                </a:extLst>
              </p:cNvPr>
              <p:cNvSpPr/>
              <p:nvPr/>
            </p:nvSpPr>
            <p:spPr>
              <a:xfrm>
                <a:off x="7885462" y="2981960"/>
                <a:ext cx="3095625" cy="104406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4EA72D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171450" indent="-171450" algn="l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fr-FR"/>
              </a:p>
            </p:txBody>
          </p:sp>
          <p:pic>
            <p:nvPicPr>
              <p:cNvPr id="12" name="Picture 4" descr="Infor logo - Icônes Médias sociaux et logos">
                <a:extLst>
                  <a:ext uri="{FF2B5EF4-FFF2-40B4-BE49-F238E27FC236}">
                    <a16:creationId xmlns:a16="http://schemas.microsoft.com/office/drawing/2014/main" id="{DA0EDD94-0A13-92DA-6E98-D62B71785B2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813467" y="3488936"/>
                <a:ext cx="838276" cy="41913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9" name="Image 28">
                <a:extLst>
                  <a:ext uri="{FF2B5EF4-FFF2-40B4-BE49-F238E27FC236}">
                    <a16:creationId xmlns:a16="http://schemas.microsoft.com/office/drawing/2014/main" id="{F726C764-35A0-F86F-3757-3DE7AF1CEA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887940" y="3140536"/>
                <a:ext cx="834923" cy="275318"/>
              </a:xfrm>
              <a:prstGeom prst="rect">
                <a:avLst/>
              </a:prstGeom>
            </p:spPr>
          </p:pic>
          <p:pic>
            <p:nvPicPr>
              <p:cNvPr id="47" name="Picture 2">
                <a:extLst>
                  <a:ext uri="{FF2B5EF4-FFF2-40B4-BE49-F238E27FC236}">
                    <a16:creationId xmlns:a16="http://schemas.microsoft.com/office/drawing/2014/main" id="{6FE88C4C-0805-B620-049B-FC3586A0A16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523783" y="3140536"/>
                <a:ext cx="554366" cy="27531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9" name="Picture 2">
                <a:extLst>
                  <a:ext uri="{FF2B5EF4-FFF2-40B4-BE49-F238E27FC236}">
                    <a16:creationId xmlns:a16="http://schemas.microsoft.com/office/drawing/2014/main" id="{E0EE91E1-A178-EFD5-39E0-5CF444DDCA5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523783" y="3560846"/>
                <a:ext cx="554366" cy="27531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70" name="ZoneTexte 69">
                <a:extLst>
                  <a:ext uri="{FF2B5EF4-FFF2-40B4-BE49-F238E27FC236}">
                    <a16:creationId xmlns:a16="http://schemas.microsoft.com/office/drawing/2014/main" id="{E2EE7BF4-3E3C-899F-041D-B98E5DD9D3BB}"/>
                  </a:ext>
                </a:extLst>
              </p:cNvPr>
              <p:cNvSpPr txBox="1"/>
              <p:nvPr/>
            </p:nvSpPr>
            <p:spPr>
              <a:xfrm>
                <a:off x="9267280" y="3108918"/>
                <a:ext cx="43152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fr-FR" sz="1600" b="1">
                    <a:solidFill>
                      <a:srgbClr val="4EA72D"/>
                    </a:solidFill>
                  </a:rPr>
                  <a:t>VS</a:t>
                </a:r>
              </a:p>
            </p:txBody>
          </p:sp>
          <p:sp>
            <p:nvSpPr>
              <p:cNvPr id="71" name="ZoneTexte 70">
                <a:extLst>
                  <a:ext uri="{FF2B5EF4-FFF2-40B4-BE49-F238E27FC236}">
                    <a16:creationId xmlns:a16="http://schemas.microsoft.com/office/drawing/2014/main" id="{9A82A303-B68B-BDAF-1A4A-59F41C3D3A4F}"/>
                  </a:ext>
                </a:extLst>
              </p:cNvPr>
              <p:cNvSpPr txBox="1"/>
              <p:nvPr/>
            </p:nvSpPr>
            <p:spPr>
              <a:xfrm>
                <a:off x="9270986" y="3529228"/>
                <a:ext cx="43152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fr-FR" sz="1600" b="1">
                    <a:solidFill>
                      <a:srgbClr val="4EA72D"/>
                    </a:solidFill>
                  </a:rPr>
                  <a:t>VS</a:t>
                </a:r>
              </a:p>
            </p:txBody>
          </p:sp>
          <p:sp>
            <p:nvSpPr>
              <p:cNvPr id="72" name="ZoneTexte 71">
                <a:extLst>
                  <a:ext uri="{FF2B5EF4-FFF2-40B4-BE49-F238E27FC236}">
                    <a16:creationId xmlns:a16="http://schemas.microsoft.com/office/drawing/2014/main" id="{9B45A2A3-7FF0-5F84-FF2B-4746F3CBA6DF}"/>
                  </a:ext>
                </a:extLst>
              </p:cNvPr>
              <p:cNvSpPr txBox="1"/>
              <p:nvPr/>
            </p:nvSpPr>
            <p:spPr>
              <a:xfrm>
                <a:off x="7997633" y="3360295"/>
                <a:ext cx="38023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fr-FR" sz="1200" b="1">
                    <a:solidFill>
                      <a:srgbClr val="4EA72D"/>
                    </a:solidFill>
                  </a:rPr>
                  <a:t>ou</a:t>
                </a:r>
              </a:p>
            </p:txBody>
          </p:sp>
        </p:grpSp>
      </p:grpSp>
      <p:grpSp>
        <p:nvGrpSpPr>
          <p:cNvPr id="80" name="Groupe 79">
            <a:extLst>
              <a:ext uri="{FF2B5EF4-FFF2-40B4-BE49-F238E27FC236}">
                <a16:creationId xmlns:a16="http://schemas.microsoft.com/office/drawing/2014/main" id="{92FC6553-FA7C-F829-F7AB-9E3F593B5407}"/>
              </a:ext>
            </a:extLst>
          </p:cNvPr>
          <p:cNvGrpSpPr/>
          <p:nvPr/>
        </p:nvGrpSpPr>
        <p:grpSpPr>
          <a:xfrm>
            <a:off x="688220" y="2692146"/>
            <a:ext cx="10637005" cy="1536318"/>
            <a:chOff x="344082" y="4503315"/>
            <a:chExt cx="10637005" cy="1536318"/>
          </a:xfrm>
        </p:grpSpPr>
        <p:sp>
          <p:nvSpPr>
            <p:cNvPr id="49" name="ZoneTexte 48">
              <a:extLst>
                <a:ext uri="{FF2B5EF4-FFF2-40B4-BE49-F238E27FC236}">
                  <a16:creationId xmlns:a16="http://schemas.microsoft.com/office/drawing/2014/main" id="{B9F82AE7-AB91-509B-384F-0A8982DF412F}"/>
                </a:ext>
              </a:extLst>
            </p:cNvPr>
            <p:cNvSpPr txBox="1"/>
            <p:nvPr/>
          </p:nvSpPr>
          <p:spPr>
            <a:xfrm>
              <a:off x="344082" y="4503315"/>
              <a:ext cx="7160098" cy="15363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fr-FR" sz="1050" b="1">
                  <a:solidFill>
                    <a:schemeClr val="accent1">
                      <a:lumMod val="50000"/>
                    </a:schemeClr>
                  </a:solidFill>
                  <a:cs typeface="Calibri" panose="020F0502020204030204" pitchFamily="34" charset="0"/>
                </a:rPr>
                <a:t>2. Ecarter SEI, sauf opportunité majeure.</a:t>
              </a:r>
            </a:p>
            <a:p>
              <a:pPr marL="171450" indent="-171450">
                <a:spcBef>
                  <a:spcPts val="200"/>
                </a:spcBef>
                <a:spcAft>
                  <a:spcPts val="200"/>
                </a:spcAft>
                <a:buFont typeface="Arial" panose="020B0604020202020204" pitchFamily="34" charset="0"/>
                <a:buChar char="•"/>
              </a:pPr>
              <a:r>
                <a:rPr lang="fr-FR" sz="1000" b="1">
                  <a:solidFill>
                    <a:schemeClr val="accent1"/>
                  </a:solidFill>
                  <a:cs typeface="Calibri" panose="020F0502020204030204" pitchFamily="34" charset="0"/>
                </a:rPr>
                <a:t>Ecart de prix avec Microsoft (25%) insuffisant par rapport au risque projet. </a:t>
              </a:r>
            </a:p>
            <a:p>
              <a:pPr marL="628650" lvl="1" indent="-171450">
                <a:spcBef>
                  <a:spcPts val="200"/>
                </a:spcBef>
                <a:spcAft>
                  <a:spcPts val="200"/>
                </a:spcAft>
                <a:buFont typeface="Arial" panose="020B0604020202020204" pitchFamily="34" charset="0"/>
                <a:buChar char="•"/>
              </a:pPr>
              <a:r>
                <a:rPr lang="fr-FR" sz="1000">
                  <a:cs typeface="Calibri" panose="020F0502020204030204" pitchFamily="34" charset="0"/>
                </a:rPr>
                <a:t>Ressources très limitées de l’éditeur, absence d’alternatives (pas de partenaires).</a:t>
              </a:r>
            </a:p>
            <a:p>
              <a:pPr marL="628650" lvl="1" indent="-171450">
                <a:spcBef>
                  <a:spcPts val="200"/>
                </a:spcBef>
                <a:spcAft>
                  <a:spcPts val="200"/>
                </a:spcAft>
                <a:buFont typeface="Arial" panose="020B0604020202020204" pitchFamily="34" charset="0"/>
                <a:buChar char="•"/>
              </a:pPr>
              <a:r>
                <a:rPr lang="fr-FR" sz="1000" b="1">
                  <a:solidFill>
                    <a:srgbClr val="C00000"/>
                  </a:solidFill>
                  <a:cs typeface="Calibri" panose="020F0502020204030204" pitchFamily="34" charset="0"/>
                </a:rPr>
                <a:t>Durée, budget et complexité du projet probablement sous-estimées.</a:t>
              </a:r>
            </a:p>
            <a:p>
              <a:pPr marL="171450" indent="-171450">
                <a:spcBef>
                  <a:spcPts val="200"/>
                </a:spcBef>
                <a:spcAft>
                  <a:spcPts val="200"/>
                </a:spcAft>
                <a:buFont typeface="Arial" panose="020B0604020202020204" pitchFamily="34" charset="0"/>
                <a:buChar char="•"/>
              </a:pPr>
              <a:endParaRPr lang="fr-FR" sz="1000" b="1">
                <a:solidFill>
                  <a:schemeClr val="accent1"/>
                </a:solidFill>
                <a:cs typeface="Calibri" panose="020F0502020204030204" pitchFamily="34" charset="0"/>
              </a:endParaRPr>
            </a:p>
            <a:p>
              <a:pPr marL="171450" indent="-171450">
                <a:spcBef>
                  <a:spcPts val="200"/>
                </a:spcBef>
                <a:spcAft>
                  <a:spcPts val="200"/>
                </a:spcAft>
                <a:buFont typeface="Arial" panose="020B0604020202020204" pitchFamily="34" charset="0"/>
                <a:buChar char="•"/>
              </a:pPr>
              <a:r>
                <a:rPr lang="fr-FR" sz="1000" b="1">
                  <a:solidFill>
                    <a:schemeClr val="accent1"/>
                  </a:solidFill>
                  <a:cs typeface="Calibri" panose="020F0502020204030204" pitchFamily="34" charset="0"/>
                </a:rPr>
                <a:t>Alternative à considérer, si SAP retenu parmi les </a:t>
              </a:r>
              <a:r>
                <a:rPr lang="fr-FR" sz="1000" b="1" i="1">
                  <a:solidFill>
                    <a:schemeClr val="accent1"/>
                  </a:solidFill>
                  <a:cs typeface="Calibri" panose="020F0502020204030204" pitchFamily="34" charset="0"/>
                </a:rPr>
                <a:t>leaders</a:t>
              </a:r>
              <a:r>
                <a:rPr lang="fr-FR" sz="1000" b="1">
                  <a:solidFill>
                    <a:schemeClr val="accent1"/>
                  </a:solidFill>
                  <a:cs typeface="Calibri" panose="020F0502020204030204" pitchFamily="34" charset="0"/>
                </a:rPr>
                <a:t> ?</a:t>
              </a:r>
            </a:p>
            <a:p>
              <a:pPr marL="628650" lvl="1" indent="-171450">
                <a:spcBef>
                  <a:spcPts val="200"/>
                </a:spcBef>
                <a:spcAft>
                  <a:spcPts val="200"/>
                </a:spcAft>
                <a:buFont typeface="Arial" panose="020B0604020202020204" pitchFamily="34" charset="0"/>
                <a:buChar char="•"/>
              </a:pPr>
              <a:r>
                <a:rPr lang="fr-FR" sz="1000">
                  <a:cs typeface="Calibri" panose="020F0502020204030204" pitchFamily="34" charset="0"/>
                </a:rPr>
                <a:t>Sous réserve d’un écart de prix suffisant.</a:t>
              </a:r>
            </a:p>
          </p:txBody>
        </p:sp>
        <p:grpSp>
          <p:nvGrpSpPr>
            <p:cNvPr id="77" name="Groupe 76">
              <a:extLst>
                <a:ext uri="{FF2B5EF4-FFF2-40B4-BE49-F238E27FC236}">
                  <a16:creationId xmlns:a16="http://schemas.microsoft.com/office/drawing/2014/main" id="{F76758EF-DF95-3FED-6014-1FB9DD556E65}"/>
                </a:ext>
              </a:extLst>
            </p:cNvPr>
            <p:cNvGrpSpPr/>
            <p:nvPr/>
          </p:nvGrpSpPr>
          <p:grpSpPr>
            <a:xfrm>
              <a:off x="7885462" y="4857474"/>
              <a:ext cx="3095625" cy="828000"/>
              <a:chOff x="7885462" y="4857474"/>
              <a:chExt cx="3095625" cy="828000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DE2F1B80-9F33-611D-223C-282999A66DE8}"/>
                  </a:ext>
                </a:extLst>
              </p:cNvPr>
              <p:cNvSpPr/>
              <p:nvPr/>
            </p:nvSpPr>
            <p:spPr>
              <a:xfrm>
                <a:off x="7885462" y="4857474"/>
                <a:ext cx="3095625" cy="82800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171450" indent="-171450" algn="l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fr-FR"/>
              </a:p>
            </p:txBody>
          </p:sp>
          <p:pic>
            <p:nvPicPr>
              <p:cNvPr id="22" name="Image 21" descr="Une image contenant logo, Bleu électrique, Police, Graphique&#10;&#10;Le contenu généré par l’IA peut être incorrect.">
                <a:extLst>
                  <a:ext uri="{FF2B5EF4-FFF2-40B4-BE49-F238E27FC236}">
                    <a16:creationId xmlns:a16="http://schemas.microsoft.com/office/drawing/2014/main" id="{2A628055-A2F6-548A-5AF2-E7D7702E7B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rcRect t="21661" b="24549"/>
              <a:stretch/>
            </p:blipFill>
            <p:spPr>
              <a:xfrm>
                <a:off x="8968135" y="5021268"/>
                <a:ext cx="930278" cy="500412"/>
              </a:xfrm>
              <a:prstGeom prst="rect">
                <a:avLst/>
              </a:prstGeom>
            </p:spPr>
          </p:pic>
        </p:grpSp>
      </p:grpSp>
      <p:sp>
        <p:nvSpPr>
          <p:cNvPr id="6" name="Triangle isocèle 5">
            <a:extLst>
              <a:ext uri="{FF2B5EF4-FFF2-40B4-BE49-F238E27FC236}">
                <a16:creationId xmlns:a16="http://schemas.microsoft.com/office/drawing/2014/main" id="{51CC351E-49BE-1819-B496-2F1C0D3FB2D7}"/>
              </a:ext>
            </a:extLst>
          </p:cNvPr>
          <p:cNvSpPr/>
          <p:nvPr/>
        </p:nvSpPr>
        <p:spPr>
          <a:xfrm rot="5400000">
            <a:off x="-141894" y="5135620"/>
            <a:ext cx="607636" cy="361952"/>
          </a:xfrm>
          <a:prstGeom prst="triangl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 b="1">
              <a:solidFill>
                <a:srgbClr val="1A1C3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riangle isocèle 6">
            <a:extLst>
              <a:ext uri="{FF2B5EF4-FFF2-40B4-BE49-F238E27FC236}">
                <a16:creationId xmlns:a16="http://schemas.microsoft.com/office/drawing/2014/main" id="{C1EC338F-0578-7CAF-B161-5BD74906D62B}"/>
              </a:ext>
            </a:extLst>
          </p:cNvPr>
          <p:cNvSpPr/>
          <p:nvPr/>
        </p:nvSpPr>
        <p:spPr>
          <a:xfrm rot="5400000">
            <a:off x="-141895" y="3279329"/>
            <a:ext cx="607636" cy="361952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 b="1">
              <a:solidFill>
                <a:srgbClr val="1A1C3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riangle isocèle 7">
            <a:extLst>
              <a:ext uri="{FF2B5EF4-FFF2-40B4-BE49-F238E27FC236}">
                <a16:creationId xmlns:a16="http://schemas.microsoft.com/office/drawing/2014/main" id="{510EC6F5-B34D-5D70-7BD3-E8F5B0D212C8}"/>
              </a:ext>
            </a:extLst>
          </p:cNvPr>
          <p:cNvSpPr/>
          <p:nvPr/>
        </p:nvSpPr>
        <p:spPr>
          <a:xfrm rot="5400000">
            <a:off x="-141895" y="1613934"/>
            <a:ext cx="607636" cy="361952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 b="1">
              <a:solidFill>
                <a:srgbClr val="1A1C3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7246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BC07A-F3FE-4E8A-C74C-2DB19C489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31B2764-C48D-49C6-9B83-1E9DCE87B965}"/>
              </a:ext>
            </a:extLst>
          </p:cNvPr>
          <p:cNvSpPr/>
          <p:nvPr/>
        </p:nvSpPr>
        <p:spPr>
          <a:xfrm>
            <a:off x="2751149" y="1132318"/>
            <a:ext cx="3179373" cy="133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marL="90488" indent="-90488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Haut niveau de couverture des besoins.</a:t>
            </a:r>
          </a:p>
          <a:p>
            <a:pPr marL="90488" indent="-90488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Proportion limitée de customisation et développement (que l’éditeur pense pouvoir réduire via des solutions standard).</a:t>
            </a:r>
          </a:p>
          <a:p>
            <a:pPr marL="90488" indent="-90488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Un vertical K3 dédié au Fashion, intégré à l’écosystème ERP.</a:t>
            </a:r>
          </a:p>
          <a:p>
            <a:pPr marL="90488" indent="-90488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Plateforme technique capable de prendre en charge les volumes actuels et projetés (x10).</a:t>
            </a:r>
          </a:p>
          <a:p>
            <a:pPr marL="90488" indent="-90488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Un éditeur majeur, en croissance, pionnier sur les sujets technologiques – en particulier l’IA.</a:t>
            </a:r>
          </a:p>
          <a:p>
            <a:pPr marL="90488" indent="-90488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Plusieurs références dans le textile déployées full scope…</a:t>
            </a: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0EA2F4BE-F127-4088-56A6-C981EE6F05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FR"/>
              <a:t>Synthèse comparative des solutions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E057741-206E-4FFE-98EA-5E919D2EA1F4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fr-FR"/>
              <a:t>Confidentiel</a:t>
            </a: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8438C70F-60C2-BECC-FBDE-020A09CD9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Key </a:t>
            </a:r>
            <a:r>
              <a:rPr lang="fr-FR" err="1"/>
              <a:t>takeaways</a:t>
            </a:r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D8C018-40D8-341C-CBCF-4B931B265F32}"/>
              </a:ext>
            </a:extLst>
          </p:cNvPr>
          <p:cNvSpPr/>
          <p:nvPr/>
        </p:nvSpPr>
        <p:spPr>
          <a:xfrm>
            <a:off x="137821" y="1132318"/>
            <a:ext cx="2579742" cy="270000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>
              <a:spcAft>
                <a:spcPts val="600"/>
              </a:spcAft>
            </a:pPr>
            <a:r>
              <a:rPr lang="fr-FR" sz="900" b="1" dirty="0">
                <a:solidFill>
                  <a:srgbClr val="1A1C30"/>
                </a:solidFill>
                <a:cs typeface="Calibri" panose="020F0502020204030204" pitchFamily="34" charset="0"/>
              </a:rPr>
              <a:t>MICROSOFT</a:t>
            </a:r>
          </a:p>
          <a:p>
            <a:pPr>
              <a:spcAft>
                <a:spcPts val="600"/>
              </a:spcAft>
            </a:pPr>
            <a:endParaRPr lang="fr-FR" sz="100" b="1" dirty="0">
              <a:solidFill>
                <a:srgbClr val="1A1C30"/>
              </a:solidFill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fr-FR" sz="800" dirty="0">
                <a:solidFill>
                  <a:srgbClr val="1A1C30"/>
                </a:solidFill>
                <a:cs typeface="Calibri" panose="020F0502020204030204" pitchFamily="34" charset="0"/>
              </a:rPr>
              <a:t>Budget estimé à 10 ans : </a:t>
            </a:r>
            <a:r>
              <a:rPr lang="fr-FR" sz="800" b="1" dirty="0">
                <a:solidFill>
                  <a:srgbClr val="1A1C30"/>
                </a:solidFill>
                <a:cs typeface="Calibri" panose="020F0502020204030204" pitchFamily="34" charset="0"/>
              </a:rPr>
              <a:t>16,55 M€ </a:t>
            </a:r>
            <a:r>
              <a:rPr lang="fr-FR" sz="500" dirty="0">
                <a:solidFill>
                  <a:srgbClr val="1A1C30"/>
                </a:solidFill>
                <a:cs typeface="Calibri" panose="020F0502020204030204" pitchFamily="34" charset="0"/>
              </a:rPr>
              <a:t>(avec remise 30%)</a:t>
            </a:r>
          </a:p>
          <a:p>
            <a:pPr>
              <a:spcAft>
                <a:spcPts val="600"/>
              </a:spcAft>
            </a:pPr>
            <a:r>
              <a:rPr lang="fr-FR" sz="800" dirty="0">
                <a:solidFill>
                  <a:srgbClr val="1A1C30"/>
                </a:solidFill>
                <a:cs typeface="Calibri" panose="020F0502020204030204" pitchFamily="34" charset="0"/>
              </a:rPr>
              <a:t>Budget annuel : </a:t>
            </a:r>
            <a:r>
              <a:rPr lang="fr-FR" sz="800" b="1" dirty="0">
                <a:solidFill>
                  <a:srgbClr val="1A1C30"/>
                </a:solidFill>
                <a:cs typeface="Calibri" panose="020F0502020204030204" pitchFamily="34" charset="0"/>
              </a:rPr>
              <a:t>1,15 M€ </a:t>
            </a:r>
            <a:r>
              <a:rPr lang="fr-FR" sz="500" dirty="0">
                <a:solidFill>
                  <a:srgbClr val="1A1C30"/>
                </a:solidFill>
                <a:cs typeface="Calibri" panose="020F0502020204030204" pitchFamily="34" charset="0"/>
              </a:rPr>
              <a:t>(avec remise 30%)</a:t>
            </a:r>
            <a:endParaRPr lang="fr-FR" sz="800" dirty="0">
              <a:solidFill>
                <a:srgbClr val="1A1C30"/>
              </a:solidFill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endParaRPr lang="fr-FR" sz="600" b="1" dirty="0">
              <a:solidFill>
                <a:srgbClr val="1A1C30"/>
              </a:solidFill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fr-FR" sz="800" dirty="0">
                <a:solidFill>
                  <a:srgbClr val="1A1C30"/>
                </a:solidFill>
                <a:cs typeface="Calibri" panose="020F0502020204030204" pitchFamily="34" charset="0"/>
              </a:rPr>
              <a:t>Délai MEP pilote :</a:t>
            </a:r>
            <a:r>
              <a:rPr lang="fr-FR" sz="800" b="1" dirty="0">
                <a:solidFill>
                  <a:srgbClr val="1A1C30"/>
                </a:solidFill>
                <a:cs typeface="Calibri" panose="020F0502020204030204" pitchFamily="34" charset="0"/>
              </a:rPr>
              <a:t> 16 mois</a:t>
            </a:r>
          </a:p>
          <a:p>
            <a:pPr>
              <a:spcAft>
                <a:spcPts val="600"/>
              </a:spcAft>
            </a:pPr>
            <a:r>
              <a:rPr lang="fr-FR" sz="800" dirty="0">
                <a:solidFill>
                  <a:srgbClr val="1A1C30"/>
                </a:solidFill>
                <a:cs typeface="Calibri" panose="020F0502020204030204" pitchFamily="34" charset="0"/>
              </a:rPr>
              <a:t>Délai MEP totale :</a:t>
            </a:r>
            <a:r>
              <a:rPr lang="fr-FR" sz="800" b="1" dirty="0">
                <a:solidFill>
                  <a:srgbClr val="1A1C30"/>
                </a:solidFill>
                <a:cs typeface="Calibri" panose="020F0502020204030204" pitchFamily="34" charset="0"/>
              </a:rPr>
              <a:t> 36 mois (+20)</a:t>
            </a:r>
          </a:p>
          <a:p>
            <a:pPr>
              <a:spcAft>
                <a:spcPts val="600"/>
              </a:spcAft>
            </a:pPr>
            <a:endParaRPr lang="fr-FR" sz="600" b="1" dirty="0">
              <a:solidFill>
                <a:srgbClr val="1A1C30"/>
              </a:solidFill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fr-FR" sz="800" dirty="0">
                <a:solidFill>
                  <a:srgbClr val="1A1C30"/>
                </a:solidFill>
                <a:cs typeface="Calibri" panose="020F0502020204030204" pitchFamily="34" charset="0"/>
              </a:rPr>
              <a:t>Note globale (pondérée) : </a:t>
            </a:r>
            <a:r>
              <a:rPr lang="fr-FR" sz="800" b="1" dirty="0">
                <a:solidFill>
                  <a:srgbClr val="00B050"/>
                </a:solidFill>
                <a:cs typeface="Calibri" panose="020F0502020204030204" pitchFamily="34" charset="0"/>
              </a:rPr>
              <a:t>94%</a:t>
            </a:r>
          </a:p>
          <a:p>
            <a:pPr>
              <a:spcAft>
                <a:spcPts val="600"/>
              </a:spcAft>
            </a:pPr>
            <a:r>
              <a:rPr lang="fr-FR" sz="800" dirty="0">
                <a:solidFill>
                  <a:srgbClr val="1A1C30"/>
                </a:solidFill>
                <a:cs typeface="Calibri" panose="020F0502020204030204" pitchFamily="34" charset="0"/>
              </a:rPr>
              <a:t>Couverture fonctionnelle standard : </a:t>
            </a:r>
            <a:r>
              <a:rPr lang="fr-FR" sz="800" b="1" dirty="0">
                <a:solidFill>
                  <a:srgbClr val="92D050"/>
                </a:solidFill>
                <a:cs typeface="Calibri" panose="020F0502020204030204" pitchFamily="34" charset="0"/>
              </a:rPr>
              <a:t>77%</a:t>
            </a:r>
          </a:p>
          <a:p>
            <a:pPr>
              <a:spcAft>
                <a:spcPts val="600"/>
              </a:spcAft>
            </a:pPr>
            <a:r>
              <a:rPr lang="fr-FR" sz="800" dirty="0">
                <a:solidFill>
                  <a:srgbClr val="1A1C30"/>
                </a:solidFill>
                <a:cs typeface="Calibri" panose="020F0502020204030204" pitchFamily="34" charset="0"/>
              </a:rPr>
              <a:t>% custom / </a:t>
            </a:r>
            <a:r>
              <a:rPr lang="fr-FR" sz="800" dirty="0" err="1">
                <a:solidFill>
                  <a:srgbClr val="1A1C30"/>
                </a:solidFill>
                <a:cs typeface="Calibri" panose="020F0502020204030204" pitchFamily="34" charset="0"/>
              </a:rPr>
              <a:t>dév</a:t>
            </a:r>
            <a:r>
              <a:rPr lang="fr-FR" sz="800" dirty="0">
                <a:solidFill>
                  <a:srgbClr val="1A1C30"/>
                </a:solidFill>
                <a:cs typeface="Calibri" panose="020F0502020204030204" pitchFamily="34" charset="0"/>
              </a:rPr>
              <a:t> (pondéré) : </a:t>
            </a:r>
            <a:r>
              <a:rPr lang="fr-FR" sz="800" b="1" dirty="0">
                <a:solidFill>
                  <a:srgbClr val="1A1C30"/>
                </a:solidFill>
                <a:cs typeface="Calibri" panose="020F0502020204030204" pitchFamily="34" charset="0"/>
              </a:rPr>
              <a:t>17% / 4% </a:t>
            </a:r>
            <a:r>
              <a:rPr lang="fr-FR" sz="800" dirty="0">
                <a:solidFill>
                  <a:srgbClr val="1A1C30"/>
                </a:solidFill>
                <a:cs typeface="Calibri" panose="020F0502020204030204" pitchFamily="34" charset="0"/>
              </a:rPr>
              <a:t>(13% / 2%)</a:t>
            </a:r>
          </a:p>
          <a:p>
            <a:pPr>
              <a:spcAft>
                <a:spcPts val="600"/>
              </a:spcAft>
            </a:pPr>
            <a:endParaRPr lang="fr-FR" sz="600" dirty="0">
              <a:solidFill>
                <a:srgbClr val="1A1C30"/>
              </a:solidFill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fr-FR" sz="800" dirty="0">
                <a:solidFill>
                  <a:srgbClr val="1A1C30"/>
                </a:solidFill>
                <a:cs typeface="Calibri" panose="020F0502020204030204" pitchFamily="34" charset="0"/>
              </a:rPr>
              <a:t>CA éditeur : </a:t>
            </a:r>
            <a:r>
              <a:rPr lang="fr-FR" sz="800" b="1" dirty="0">
                <a:solidFill>
                  <a:srgbClr val="1A1C30"/>
                </a:solidFill>
                <a:cs typeface="Calibri" panose="020F0502020204030204" pitchFamily="34" charset="0"/>
              </a:rPr>
              <a:t>2,5 Md€</a:t>
            </a:r>
          </a:p>
          <a:p>
            <a:pPr>
              <a:spcAft>
                <a:spcPts val="600"/>
              </a:spcAft>
            </a:pPr>
            <a:r>
              <a:rPr lang="fr-FR" sz="800" dirty="0">
                <a:solidFill>
                  <a:srgbClr val="1A1C30"/>
                </a:solidFill>
                <a:cs typeface="Calibri" panose="020F0502020204030204" pitchFamily="34" charset="0"/>
              </a:rPr>
              <a:t>Nb intégrateurs France (total / certifiés) : 14 / 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E9BE04-5442-5BDC-5706-F4D63127594D}"/>
              </a:ext>
            </a:extLst>
          </p:cNvPr>
          <p:cNvSpPr/>
          <p:nvPr/>
        </p:nvSpPr>
        <p:spPr>
          <a:xfrm>
            <a:off x="137821" y="3859535"/>
            <a:ext cx="2579742" cy="270000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>
              <a:spcAft>
                <a:spcPts val="600"/>
              </a:spcAft>
            </a:pPr>
            <a:r>
              <a:rPr lang="fr-FR" sz="900" b="1" dirty="0">
                <a:solidFill>
                  <a:srgbClr val="1A1C30"/>
                </a:solidFill>
                <a:cs typeface="Calibri" panose="020F0502020204030204" pitchFamily="34" charset="0"/>
              </a:rPr>
              <a:t>ODOO</a:t>
            </a:r>
          </a:p>
          <a:p>
            <a:pPr>
              <a:spcAft>
                <a:spcPts val="600"/>
              </a:spcAft>
            </a:pPr>
            <a:endParaRPr lang="fr-FR" sz="100" dirty="0">
              <a:solidFill>
                <a:srgbClr val="1A1C30"/>
              </a:solidFill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fr-FR" sz="800" dirty="0">
                <a:solidFill>
                  <a:srgbClr val="1A1C30"/>
                </a:solidFill>
                <a:cs typeface="Calibri" panose="020F0502020204030204" pitchFamily="34" charset="0"/>
              </a:rPr>
              <a:t>Budget estimé à 10 ans : </a:t>
            </a:r>
            <a:r>
              <a:rPr lang="fr-FR" sz="800" b="1" dirty="0">
                <a:solidFill>
                  <a:srgbClr val="1A1C30"/>
                </a:solidFill>
                <a:cs typeface="Calibri" panose="020F0502020204030204" pitchFamily="34" charset="0"/>
              </a:rPr>
              <a:t>8,48 M€</a:t>
            </a:r>
          </a:p>
          <a:p>
            <a:pPr>
              <a:spcAft>
                <a:spcPts val="600"/>
              </a:spcAft>
            </a:pPr>
            <a:r>
              <a:rPr lang="fr-FR" sz="800" dirty="0">
                <a:solidFill>
                  <a:srgbClr val="1A1C30"/>
                </a:solidFill>
                <a:cs typeface="Calibri" panose="020F0502020204030204" pitchFamily="34" charset="0"/>
              </a:rPr>
              <a:t>Budget annuel : </a:t>
            </a:r>
            <a:r>
              <a:rPr lang="fr-FR" sz="800" b="1" dirty="0">
                <a:solidFill>
                  <a:srgbClr val="1A1C30"/>
                </a:solidFill>
                <a:cs typeface="Calibri" panose="020F0502020204030204" pitchFamily="34" charset="0"/>
              </a:rPr>
              <a:t>0,69 M€</a:t>
            </a:r>
          </a:p>
          <a:p>
            <a:pPr>
              <a:spcAft>
                <a:spcPts val="600"/>
              </a:spcAft>
            </a:pPr>
            <a:endParaRPr lang="fr-FR" sz="600" dirty="0">
              <a:solidFill>
                <a:srgbClr val="1A1C30"/>
              </a:solidFill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fr-FR" sz="800" dirty="0">
                <a:solidFill>
                  <a:srgbClr val="1A1C30"/>
                </a:solidFill>
                <a:cs typeface="Calibri" panose="020F0502020204030204" pitchFamily="34" charset="0"/>
              </a:rPr>
              <a:t>Délai MEP pilote :</a:t>
            </a:r>
            <a:r>
              <a:rPr lang="fr-FR" sz="800" b="1" dirty="0">
                <a:solidFill>
                  <a:srgbClr val="1A1C30"/>
                </a:solidFill>
                <a:cs typeface="Calibri" panose="020F0502020204030204" pitchFamily="34" charset="0"/>
              </a:rPr>
              <a:t> 18 mois</a:t>
            </a:r>
          </a:p>
          <a:p>
            <a:pPr>
              <a:spcAft>
                <a:spcPts val="600"/>
              </a:spcAft>
            </a:pPr>
            <a:r>
              <a:rPr lang="fr-FR" sz="800" dirty="0">
                <a:solidFill>
                  <a:srgbClr val="1A1C30"/>
                </a:solidFill>
                <a:cs typeface="Calibri" panose="020F0502020204030204" pitchFamily="34" charset="0"/>
              </a:rPr>
              <a:t>Délai MEP totale :</a:t>
            </a:r>
            <a:r>
              <a:rPr lang="fr-FR" sz="800" b="1" dirty="0">
                <a:solidFill>
                  <a:srgbClr val="1A1C30"/>
                </a:solidFill>
                <a:cs typeface="Calibri" panose="020F0502020204030204" pitchFamily="34" charset="0"/>
              </a:rPr>
              <a:t> 46 mois (+28)</a:t>
            </a:r>
          </a:p>
          <a:p>
            <a:pPr>
              <a:spcAft>
                <a:spcPts val="600"/>
              </a:spcAft>
            </a:pPr>
            <a:endParaRPr lang="fr-FR" sz="600" b="1" dirty="0">
              <a:solidFill>
                <a:srgbClr val="1A1C30"/>
              </a:solidFill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fr-FR" sz="800" dirty="0">
                <a:solidFill>
                  <a:srgbClr val="1A1C30"/>
                </a:solidFill>
                <a:cs typeface="Calibri" panose="020F0502020204030204" pitchFamily="34" charset="0"/>
              </a:rPr>
              <a:t>Note globale (pondérée) : </a:t>
            </a:r>
            <a:r>
              <a:rPr lang="fr-FR" sz="800" b="1" dirty="0">
                <a:solidFill>
                  <a:srgbClr val="92D050"/>
                </a:solidFill>
                <a:cs typeface="Calibri" panose="020F0502020204030204" pitchFamily="34" charset="0"/>
              </a:rPr>
              <a:t>80%</a:t>
            </a:r>
          </a:p>
          <a:p>
            <a:pPr>
              <a:spcAft>
                <a:spcPts val="600"/>
              </a:spcAft>
            </a:pPr>
            <a:r>
              <a:rPr lang="fr-FR" sz="800" dirty="0">
                <a:solidFill>
                  <a:srgbClr val="1A1C30"/>
                </a:solidFill>
                <a:cs typeface="Calibri" panose="020F0502020204030204" pitchFamily="34" charset="0"/>
              </a:rPr>
              <a:t>Couverture fonctionnelle standard : </a:t>
            </a:r>
            <a:r>
              <a:rPr lang="fr-FR" sz="800" b="1" dirty="0">
                <a:solidFill>
                  <a:srgbClr val="FF1919"/>
                </a:solidFill>
                <a:cs typeface="Calibri" panose="020F0502020204030204" pitchFamily="34" charset="0"/>
              </a:rPr>
              <a:t>60%</a:t>
            </a:r>
          </a:p>
          <a:p>
            <a:pPr>
              <a:spcAft>
                <a:spcPts val="600"/>
              </a:spcAft>
            </a:pPr>
            <a:r>
              <a:rPr lang="fr-FR" sz="800" dirty="0">
                <a:solidFill>
                  <a:srgbClr val="1A1C30"/>
                </a:solidFill>
                <a:cs typeface="Calibri" panose="020F0502020204030204" pitchFamily="34" charset="0"/>
              </a:rPr>
              <a:t>% custom / </a:t>
            </a:r>
            <a:r>
              <a:rPr lang="fr-FR" sz="800" dirty="0" err="1">
                <a:solidFill>
                  <a:srgbClr val="1A1C30"/>
                </a:solidFill>
                <a:cs typeface="Calibri" panose="020F0502020204030204" pitchFamily="34" charset="0"/>
              </a:rPr>
              <a:t>dév</a:t>
            </a:r>
            <a:r>
              <a:rPr lang="fr-FR" sz="800" dirty="0">
                <a:solidFill>
                  <a:srgbClr val="1A1C30"/>
                </a:solidFill>
                <a:cs typeface="Calibri" panose="020F0502020204030204" pitchFamily="34" charset="0"/>
              </a:rPr>
              <a:t> (pondéré) : </a:t>
            </a:r>
            <a:r>
              <a:rPr lang="fr-FR" sz="800" b="1" dirty="0">
                <a:solidFill>
                  <a:srgbClr val="1A1C30"/>
                </a:solidFill>
                <a:cs typeface="Calibri" panose="020F0502020204030204" pitchFamily="34" charset="0"/>
              </a:rPr>
              <a:t>3% / 37% </a:t>
            </a:r>
            <a:r>
              <a:rPr lang="fr-FR" sz="800" dirty="0">
                <a:solidFill>
                  <a:srgbClr val="1A1C30"/>
                </a:solidFill>
                <a:cs typeface="Calibri" panose="020F0502020204030204" pitchFamily="34" charset="0"/>
              </a:rPr>
              <a:t>(3% / 19%)</a:t>
            </a:r>
          </a:p>
          <a:p>
            <a:pPr>
              <a:spcAft>
                <a:spcPts val="600"/>
              </a:spcAft>
            </a:pPr>
            <a:endParaRPr lang="fr-FR" sz="600" dirty="0">
              <a:solidFill>
                <a:srgbClr val="1A1C30"/>
              </a:solidFill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fr-FR" sz="800" dirty="0">
                <a:solidFill>
                  <a:srgbClr val="1A1C30"/>
                </a:solidFill>
                <a:cs typeface="Calibri" panose="020F0502020204030204" pitchFamily="34" charset="0"/>
              </a:rPr>
              <a:t>CA éditeur : </a:t>
            </a:r>
            <a:r>
              <a:rPr lang="fr-FR" sz="800" b="1" dirty="0">
                <a:solidFill>
                  <a:srgbClr val="1A1C30"/>
                </a:solidFill>
                <a:cs typeface="Calibri" panose="020F0502020204030204" pitchFamily="34" charset="0"/>
              </a:rPr>
              <a:t>500 M€</a:t>
            </a:r>
            <a:endParaRPr lang="fr-FR" sz="800" dirty="0">
              <a:solidFill>
                <a:srgbClr val="1A1C30"/>
              </a:solidFill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fr-FR" sz="800" dirty="0">
                <a:solidFill>
                  <a:srgbClr val="1A1C30"/>
                </a:solidFill>
                <a:cs typeface="Calibri" panose="020F0502020204030204" pitchFamily="34" charset="0"/>
              </a:rPr>
              <a:t>Nb intégrateurs France (total / certifiés) : 100 / 27</a:t>
            </a:r>
          </a:p>
          <a:p>
            <a:pPr>
              <a:spcAft>
                <a:spcPts val="600"/>
              </a:spcAft>
            </a:pPr>
            <a:endParaRPr lang="fr-FR" sz="800" dirty="0">
              <a:solidFill>
                <a:srgbClr val="1A1C30"/>
              </a:solidFill>
              <a:cs typeface="Calibri" panose="020F050202020403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089836-901C-9A4F-38BB-5EB3B907B8F0}"/>
              </a:ext>
            </a:extLst>
          </p:cNvPr>
          <p:cNvSpPr/>
          <p:nvPr/>
        </p:nvSpPr>
        <p:spPr>
          <a:xfrm>
            <a:off x="6261479" y="1132318"/>
            <a:ext cx="2579742" cy="270000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>
              <a:spcAft>
                <a:spcPts val="600"/>
              </a:spcAft>
            </a:pPr>
            <a:r>
              <a:rPr lang="fr-FR" sz="900" b="1">
                <a:solidFill>
                  <a:srgbClr val="1A1C30"/>
                </a:solidFill>
                <a:cs typeface="Calibri" panose="020F0502020204030204" pitchFamily="34" charset="0"/>
              </a:rPr>
              <a:t>SEI</a:t>
            </a:r>
          </a:p>
          <a:p>
            <a:pPr>
              <a:spcAft>
                <a:spcPts val="600"/>
              </a:spcAft>
            </a:pPr>
            <a:endParaRPr lang="fr-FR" sz="100">
              <a:solidFill>
                <a:srgbClr val="1A1C30"/>
              </a:solidFill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Budget estimé à 10 ans : </a:t>
            </a:r>
            <a:r>
              <a:rPr lang="fr-FR" sz="800" b="1">
                <a:solidFill>
                  <a:srgbClr val="1A1C30"/>
                </a:solidFill>
                <a:cs typeface="Calibri" panose="020F0502020204030204" pitchFamily="34" charset="0"/>
              </a:rPr>
              <a:t>12,41 M€</a:t>
            </a:r>
          </a:p>
          <a:p>
            <a:pPr>
              <a:spcAft>
                <a:spcPts val="600"/>
              </a:spcAft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Budget annuel : </a:t>
            </a:r>
            <a:r>
              <a:rPr lang="fr-FR" sz="800" b="1">
                <a:solidFill>
                  <a:srgbClr val="1A1C30"/>
                </a:solidFill>
                <a:cs typeface="Calibri" panose="020F0502020204030204" pitchFamily="34" charset="0"/>
              </a:rPr>
              <a:t>1,14 M€</a:t>
            </a:r>
          </a:p>
          <a:p>
            <a:pPr>
              <a:spcAft>
                <a:spcPts val="600"/>
              </a:spcAft>
            </a:pPr>
            <a:endParaRPr lang="fr-FR" sz="600" b="1">
              <a:solidFill>
                <a:srgbClr val="1A1C30"/>
              </a:solidFill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Délai MEP pilote : </a:t>
            </a:r>
            <a:r>
              <a:rPr lang="fr-FR" sz="800" b="1">
                <a:solidFill>
                  <a:srgbClr val="1A1C30"/>
                </a:solidFill>
                <a:cs typeface="Calibri" panose="020F0502020204030204" pitchFamily="34" charset="0"/>
              </a:rPr>
              <a:t>12 mois</a:t>
            </a:r>
          </a:p>
          <a:p>
            <a:pPr>
              <a:spcAft>
                <a:spcPts val="600"/>
              </a:spcAft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Délai MEP totale :</a:t>
            </a:r>
            <a:r>
              <a:rPr lang="fr-FR" sz="800" b="1">
                <a:solidFill>
                  <a:srgbClr val="1A1C30"/>
                </a:solidFill>
                <a:cs typeface="Calibri" panose="020F0502020204030204" pitchFamily="34" charset="0"/>
              </a:rPr>
              <a:t> 18 mois (+6)</a:t>
            </a:r>
          </a:p>
          <a:p>
            <a:pPr>
              <a:spcAft>
                <a:spcPts val="600"/>
              </a:spcAft>
            </a:pPr>
            <a:endParaRPr lang="fr-FR" sz="600" b="1">
              <a:solidFill>
                <a:srgbClr val="1A1C30"/>
              </a:solidFill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Note globale (pondérée) : </a:t>
            </a:r>
            <a:r>
              <a:rPr lang="fr-FR" sz="800" b="1">
                <a:solidFill>
                  <a:srgbClr val="92D050"/>
                </a:solidFill>
                <a:cs typeface="Calibri" panose="020F0502020204030204" pitchFamily="34" charset="0"/>
              </a:rPr>
              <a:t>84%</a:t>
            </a:r>
          </a:p>
          <a:p>
            <a:pPr>
              <a:spcAft>
                <a:spcPts val="600"/>
              </a:spcAft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Couverture fonctionnelle standard : </a:t>
            </a:r>
            <a:r>
              <a:rPr lang="fr-FR" sz="800" b="1">
                <a:solidFill>
                  <a:srgbClr val="FF7575"/>
                </a:solidFill>
                <a:cs typeface="Calibri" panose="020F0502020204030204" pitchFamily="34" charset="0"/>
              </a:rPr>
              <a:t>68%</a:t>
            </a:r>
          </a:p>
          <a:p>
            <a:pPr>
              <a:spcAft>
                <a:spcPts val="600"/>
              </a:spcAft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% custom / </a:t>
            </a:r>
            <a:r>
              <a:rPr lang="fr-FR" sz="800" err="1">
                <a:solidFill>
                  <a:srgbClr val="1A1C30"/>
                </a:solidFill>
                <a:cs typeface="Calibri" panose="020F0502020204030204" pitchFamily="34" charset="0"/>
              </a:rPr>
              <a:t>dév</a:t>
            </a: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 (pondéré) : </a:t>
            </a:r>
            <a:r>
              <a:rPr lang="fr-FR" sz="800" b="1">
                <a:solidFill>
                  <a:srgbClr val="1A1C30"/>
                </a:solidFill>
                <a:cs typeface="Calibri" panose="020F0502020204030204" pitchFamily="34" charset="0"/>
              </a:rPr>
              <a:t>11% / 15% </a:t>
            </a: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(8% / 7%)</a:t>
            </a:r>
          </a:p>
          <a:p>
            <a:pPr>
              <a:spcAft>
                <a:spcPts val="600"/>
              </a:spcAft>
            </a:pPr>
            <a:endParaRPr lang="fr-FR" sz="600">
              <a:solidFill>
                <a:srgbClr val="1A1C30"/>
              </a:solidFill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CA éditeur : </a:t>
            </a:r>
            <a:r>
              <a:rPr lang="fr-FR" sz="800" b="1">
                <a:solidFill>
                  <a:srgbClr val="1A1C30"/>
                </a:solidFill>
                <a:cs typeface="Calibri" panose="020F0502020204030204" pitchFamily="34" charset="0"/>
              </a:rPr>
              <a:t>74 M€</a:t>
            </a:r>
          </a:p>
          <a:p>
            <a:pPr>
              <a:spcAft>
                <a:spcPts val="600"/>
              </a:spcAft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Nb intégrateurs France (total / certifiés) : </a:t>
            </a:r>
            <a:r>
              <a:rPr lang="fr-FR" sz="800" b="1">
                <a:solidFill>
                  <a:srgbClr val="C00000"/>
                </a:solidFill>
                <a:cs typeface="Calibri" panose="020F0502020204030204" pitchFamily="34" charset="0"/>
              </a:rPr>
              <a:t>1 / 1</a:t>
            </a:r>
          </a:p>
          <a:p>
            <a:pPr>
              <a:spcAft>
                <a:spcPts val="600"/>
              </a:spcAft>
            </a:pPr>
            <a:endParaRPr lang="fr-FR" sz="800">
              <a:solidFill>
                <a:srgbClr val="1A1C30"/>
              </a:solidFill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endParaRPr lang="fr-FR" sz="800">
              <a:solidFill>
                <a:srgbClr val="1A1C30"/>
              </a:solidFill>
              <a:cs typeface="Calibri" panose="020F05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9E4C53D-0C62-7EB8-DAB9-984EFECDC2C5}"/>
              </a:ext>
            </a:extLst>
          </p:cNvPr>
          <p:cNvSpPr/>
          <p:nvPr/>
        </p:nvSpPr>
        <p:spPr>
          <a:xfrm>
            <a:off x="6261479" y="3859535"/>
            <a:ext cx="2579742" cy="270000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>
              <a:spcAft>
                <a:spcPts val="600"/>
              </a:spcAft>
            </a:pPr>
            <a:r>
              <a:rPr lang="fr-FR" sz="900" b="1" dirty="0">
                <a:solidFill>
                  <a:srgbClr val="1A1C30"/>
                </a:solidFill>
                <a:cs typeface="Calibri" panose="020F0502020204030204" pitchFamily="34" charset="0"/>
              </a:rPr>
              <a:t>ORISHA</a:t>
            </a:r>
          </a:p>
          <a:p>
            <a:pPr>
              <a:spcAft>
                <a:spcPts val="600"/>
              </a:spcAft>
            </a:pPr>
            <a:endParaRPr lang="fr-FR" sz="100" dirty="0">
              <a:solidFill>
                <a:srgbClr val="1A1C30"/>
              </a:solidFill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fr-FR" sz="800" dirty="0">
                <a:solidFill>
                  <a:srgbClr val="1A1C30"/>
                </a:solidFill>
                <a:cs typeface="Calibri" panose="020F0502020204030204" pitchFamily="34" charset="0"/>
              </a:rPr>
              <a:t>Budget estimé à 10 ans : </a:t>
            </a:r>
            <a:r>
              <a:rPr lang="fr-FR" sz="800" b="1" dirty="0">
                <a:solidFill>
                  <a:srgbClr val="1A1C30"/>
                </a:solidFill>
                <a:cs typeface="Calibri" panose="020F0502020204030204" pitchFamily="34" charset="0"/>
              </a:rPr>
              <a:t>12,39 M€</a:t>
            </a:r>
          </a:p>
          <a:p>
            <a:pPr>
              <a:spcAft>
                <a:spcPts val="600"/>
              </a:spcAft>
            </a:pPr>
            <a:r>
              <a:rPr lang="fr-FR" sz="800" dirty="0">
                <a:solidFill>
                  <a:srgbClr val="1A1C30"/>
                </a:solidFill>
                <a:cs typeface="Calibri" panose="020F0502020204030204" pitchFamily="34" charset="0"/>
              </a:rPr>
              <a:t>Budget annuel : </a:t>
            </a:r>
            <a:r>
              <a:rPr lang="fr-FR" sz="800" b="1" dirty="0">
                <a:solidFill>
                  <a:srgbClr val="1A1C30"/>
                </a:solidFill>
                <a:cs typeface="Calibri" panose="020F0502020204030204" pitchFamily="34" charset="0"/>
              </a:rPr>
              <a:t>0,96 M€</a:t>
            </a:r>
          </a:p>
          <a:p>
            <a:pPr>
              <a:spcAft>
                <a:spcPts val="600"/>
              </a:spcAft>
            </a:pPr>
            <a:endParaRPr lang="fr-FR" sz="600" b="1" dirty="0">
              <a:solidFill>
                <a:srgbClr val="1A1C30"/>
              </a:solidFill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fr-FR" sz="800" dirty="0">
                <a:solidFill>
                  <a:srgbClr val="1A1C30"/>
                </a:solidFill>
                <a:cs typeface="Calibri" panose="020F0502020204030204" pitchFamily="34" charset="0"/>
              </a:rPr>
              <a:t>Délai MEP pilote :</a:t>
            </a:r>
            <a:r>
              <a:rPr lang="fr-FR" sz="800" b="1" dirty="0">
                <a:solidFill>
                  <a:srgbClr val="1A1C30"/>
                </a:solidFill>
                <a:cs typeface="Calibri" panose="020F0502020204030204" pitchFamily="34" charset="0"/>
              </a:rPr>
              <a:t> 15 mois</a:t>
            </a:r>
          </a:p>
          <a:p>
            <a:pPr>
              <a:spcAft>
                <a:spcPts val="600"/>
              </a:spcAft>
            </a:pPr>
            <a:r>
              <a:rPr lang="fr-FR" sz="800" dirty="0">
                <a:solidFill>
                  <a:srgbClr val="1A1C30"/>
                </a:solidFill>
                <a:cs typeface="Calibri" panose="020F0502020204030204" pitchFamily="34" charset="0"/>
              </a:rPr>
              <a:t>Délai MEP totale :</a:t>
            </a:r>
            <a:r>
              <a:rPr lang="fr-FR" sz="800" b="1" dirty="0">
                <a:solidFill>
                  <a:srgbClr val="1A1C30"/>
                </a:solidFill>
                <a:cs typeface="Calibri" panose="020F0502020204030204" pitchFamily="34" charset="0"/>
              </a:rPr>
              <a:t> 31 mois (+16)</a:t>
            </a:r>
          </a:p>
          <a:p>
            <a:pPr>
              <a:spcAft>
                <a:spcPts val="600"/>
              </a:spcAft>
            </a:pPr>
            <a:endParaRPr lang="fr-FR" sz="600" b="1" dirty="0">
              <a:solidFill>
                <a:srgbClr val="1A1C30"/>
              </a:solidFill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fr-FR" sz="800" dirty="0">
                <a:solidFill>
                  <a:srgbClr val="1A1C30"/>
                </a:solidFill>
                <a:cs typeface="Calibri" panose="020F0502020204030204" pitchFamily="34" charset="0"/>
              </a:rPr>
              <a:t>Note globale (pondérée) : </a:t>
            </a:r>
            <a:r>
              <a:rPr lang="fr-FR" sz="800" b="1" dirty="0">
                <a:solidFill>
                  <a:srgbClr val="92D050"/>
                </a:solidFill>
                <a:cs typeface="Calibri" panose="020F0502020204030204" pitchFamily="34" charset="0"/>
              </a:rPr>
              <a:t>79%</a:t>
            </a:r>
          </a:p>
          <a:p>
            <a:pPr>
              <a:spcAft>
                <a:spcPts val="600"/>
              </a:spcAft>
            </a:pPr>
            <a:r>
              <a:rPr lang="fr-FR" sz="800" dirty="0">
                <a:solidFill>
                  <a:srgbClr val="1A1C30"/>
                </a:solidFill>
                <a:cs typeface="Calibri" panose="020F0502020204030204" pitchFamily="34" charset="0"/>
              </a:rPr>
              <a:t>Couverture fonctionnelle standard : </a:t>
            </a:r>
            <a:r>
              <a:rPr lang="fr-FR" sz="800" b="1" dirty="0">
                <a:solidFill>
                  <a:srgbClr val="C00000"/>
                </a:solidFill>
                <a:cs typeface="Calibri" panose="020F0502020204030204" pitchFamily="34" charset="0"/>
              </a:rPr>
              <a:t>43%</a:t>
            </a:r>
          </a:p>
          <a:p>
            <a:pPr>
              <a:spcAft>
                <a:spcPts val="600"/>
              </a:spcAft>
            </a:pPr>
            <a:r>
              <a:rPr lang="fr-FR" sz="800" dirty="0">
                <a:solidFill>
                  <a:srgbClr val="1A1C30"/>
                </a:solidFill>
                <a:cs typeface="Calibri" panose="020F0502020204030204" pitchFamily="34" charset="0"/>
              </a:rPr>
              <a:t>% custom / </a:t>
            </a:r>
            <a:r>
              <a:rPr lang="fr-FR" sz="800" dirty="0" err="1">
                <a:solidFill>
                  <a:srgbClr val="1A1C30"/>
                </a:solidFill>
                <a:cs typeface="Calibri" panose="020F0502020204030204" pitchFamily="34" charset="0"/>
              </a:rPr>
              <a:t>dév</a:t>
            </a:r>
            <a:r>
              <a:rPr lang="fr-FR" sz="800" dirty="0">
                <a:solidFill>
                  <a:srgbClr val="1A1C30"/>
                </a:solidFill>
                <a:cs typeface="Calibri" panose="020F0502020204030204" pitchFamily="34" charset="0"/>
              </a:rPr>
              <a:t> (pondéré) : 34% / 17% (25% / 8%)</a:t>
            </a:r>
          </a:p>
          <a:p>
            <a:pPr>
              <a:spcAft>
                <a:spcPts val="600"/>
              </a:spcAft>
            </a:pPr>
            <a:endParaRPr lang="fr-FR" sz="600" dirty="0">
              <a:solidFill>
                <a:srgbClr val="1A1C30"/>
              </a:solidFill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fr-FR" sz="800" dirty="0">
                <a:solidFill>
                  <a:srgbClr val="1A1C30"/>
                </a:solidFill>
                <a:cs typeface="Calibri" panose="020F0502020204030204" pitchFamily="34" charset="0"/>
              </a:rPr>
              <a:t>CA éditeur : </a:t>
            </a:r>
            <a:r>
              <a:rPr lang="fr-FR" sz="800" b="1" dirty="0">
                <a:solidFill>
                  <a:srgbClr val="1A1C30"/>
                </a:solidFill>
                <a:cs typeface="Calibri" panose="020F0502020204030204" pitchFamily="34" charset="0"/>
              </a:rPr>
              <a:t>300 M€</a:t>
            </a:r>
          </a:p>
          <a:p>
            <a:pPr>
              <a:spcAft>
                <a:spcPts val="600"/>
              </a:spcAft>
            </a:pPr>
            <a:r>
              <a:rPr lang="fr-FR" sz="800" dirty="0">
                <a:solidFill>
                  <a:srgbClr val="1A1C30"/>
                </a:solidFill>
                <a:cs typeface="Calibri" panose="020F0502020204030204" pitchFamily="34" charset="0"/>
              </a:rPr>
              <a:t>Nb intégrateurs France (total / certifiés) : </a:t>
            </a:r>
            <a:r>
              <a:rPr lang="fr-FR" sz="800" b="1" dirty="0">
                <a:solidFill>
                  <a:srgbClr val="C00000"/>
                </a:solidFill>
                <a:cs typeface="Calibri" panose="020F0502020204030204" pitchFamily="34" charset="0"/>
              </a:rPr>
              <a:t>2 /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BB8C0A4-0991-57A0-0276-97CF19EBB62B}"/>
              </a:ext>
            </a:extLst>
          </p:cNvPr>
          <p:cNvSpPr/>
          <p:nvPr/>
        </p:nvSpPr>
        <p:spPr>
          <a:xfrm>
            <a:off x="2751149" y="2500318"/>
            <a:ext cx="3179373" cy="133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marL="90488" indent="-90488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… mais pas ou peu comparables à Beaumanoir (citées).</a:t>
            </a:r>
          </a:p>
          <a:p>
            <a:pPr marL="90488" indent="-90488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Un positionnement prix tiré par une remise « importante » (qui limite les marges de négociation par la suite ?).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74C2E0E-755C-AA89-91F6-7664C7142E56}"/>
              </a:ext>
            </a:extLst>
          </p:cNvPr>
          <p:cNvSpPr/>
          <p:nvPr/>
        </p:nvSpPr>
        <p:spPr>
          <a:xfrm>
            <a:off x="2751148" y="3859535"/>
            <a:ext cx="3179373" cy="771732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marL="90488" indent="-90488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Gestion native des variantes et versions d’articles.</a:t>
            </a:r>
          </a:p>
          <a:p>
            <a:pPr marL="90488" indent="-90488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Bonne couverture (standard) de la gestion des stocks.</a:t>
            </a:r>
          </a:p>
          <a:p>
            <a:pPr marL="90488" indent="-90488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De loin l’abonnement le moins onéreux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A7BCE6D-6F34-9076-4ECE-8E5A34BA7565}"/>
              </a:ext>
            </a:extLst>
          </p:cNvPr>
          <p:cNvSpPr/>
          <p:nvPr/>
        </p:nvSpPr>
        <p:spPr>
          <a:xfrm>
            <a:off x="2751149" y="4669366"/>
            <a:ext cx="3179373" cy="1890169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marL="90488" indent="-90488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Couverture standard globalement limitée : +25% d’adaptation est nécessaire pour tous les macro-besoins.</a:t>
            </a:r>
          </a:p>
          <a:p>
            <a:pPr marL="90488" indent="-90488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Peu de customisation possible (à partir d’un existant) : la plupart des adaptations nécessitera des développements. </a:t>
            </a:r>
          </a:p>
          <a:p>
            <a:pPr marL="90488" indent="-90488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Pas de gestion des Saisons (dont mécaniques spécifiques saisonniers / permanents / carry-over) en standard : nécessite des développements et l’adaptation du modèle de données.</a:t>
            </a:r>
          </a:p>
          <a:p>
            <a:pPr marL="90488" indent="-90488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fr-FR" sz="800">
              <a:solidFill>
                <a:srgbClr val="1A1C30"/>
              </a:solidFill>
              <a:cs typeface="Calibri" panose="020F0502020204030204" pitchFamily="34" charset="0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lang="fr-FR" sz="800">
              <a:solidFill>
                <a:srgbClr val="1A1C30"/>
              </a:solidFill>
              <a:cs typeface="Calibri" panose="020F05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187CEAD-0249-646F-0B03-D2A747AB1BDB}"/>
              </a:ext>
            </a:extLst>
          </p:cNvPr>
          <p:cNvSpPr/>
          <p:nvPr/>
        </p:nvSpPr>
        <p:spPr>
          <a:xfrm>
            <a:off x="8874807" y="1127926"/>
            <a:ext cx="3179373" cy="1307428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marL="90488" indent="-90488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Meilleure couverture fonctionnelle parmi les challengers.</a:t>
            </a:r>
          </a:p>
          <a:p>
            <a:pPr marL="90488" indent="-90488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Très bonne couverture (standard) de la gestion des stocks.</a:t>
            </a:r>
          </a:p>
          <a:p>
            <a:pPr marL="90488" indent="-90488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Plateforme technique capable de prendre en charge les volumes actuels et projetés, sans limitation ou presque (50K lignes import).</a:t>
            </a:r>
          </a:p>
          <a:p>
            <a:pPr marL="90488" indent="-90488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Editeur spécialiste du </a:t>
            </a:r>
            <a:r>
              <a:rPr lang="fr-FR" sz="800" err="1">
                <a:solidFill>
                  <a:srgbClr val="1A1C30"/>
                </a:solidFill>
                <a:cs typeface="Calibri" panose="020F0502020204030204" pitchFamily="34" charset="0"/>
              </a:rPr>
              <a:t>retail</a:t>
            </a: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, développements et roadmap orientés vers les besoins / clients du secteur.</a:t>
            </a:r>
          </a:p>
          <a:p>
            <a:pPr marL="90488" indent="-90488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ERAM et LA REDOUTE sont citées comme références avec un large scope fonctionnel (scope organisationnel à préciser).</a:t>
            </a:r>
          </a:p>
          <a:p>
            <a:pPr marL="90488" indent="-90488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fr-FR" sz="600">
              <a:solidFill>
                <a:srgbClr val="1A1C30"/>
              </a:solidFill>
              <a:cs typeface="Calibri" panose="020F050202020403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DAD457C-49BE-31A2-9169-37B99ABFC1AE}"/>
              </a:ext>
            </a:extLst>
          </p:cNvPr>
          <p:cNvSpPr/>
          <p:nvPr/>
        </p:nvSpPr>
        <p:spPr>
          <a:xfrm>
            <a:off x="8874807" y="2471354"/>
            <a:ext cx="3179373" cy="1356573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marL="90488" indent="-90488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Couverture standard inégale et « fragile » sur certains besoins : matières (59%), allocations (44%), commandes de vente (48%), livraison et retours (11%).</a:t>
            </a:r>
          </a:p>
          <a:p>
            <a:pPr marL="90488" indent="-90488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± 60 besoins « flag » non couverts en standard, dont ± 25 nécessitent du développement.</a:t>
            </a:r>
          </a:p>
          <a:p>
            <a:pPr marL="90488" indent="-90488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Gestion standard des saisons, variantes et allocations à adapter pour répondre aux attentes.</a:t>
            </a:r>
          </a:p>
          <a:p>
            <a:pPr marL="90488" indent="-90488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Partenaire de petite taille et intégrateur exclusif : 70 personnes en France, dont une partie prend en charge tous les projets de mise en œuvre des clients.</a:t>
            </a:r>
            <a:endParaRPr lang="fr-FR" sz="500">
              <a:solidFill>
                <a:srgbClr val="1A1C30"/>
              </a:solidFill>
              <a:cs typeface="Calibri" panose="020F050202020403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76C8FE5-23E8-9B08-82B8-0B66E7EE7884}"/>
              </a:ext>
            </a:extLst>
          </p:cNvPr>
          <p:cNvSpPr/>
          <p:nvPr/>
        </p:nvSpPr>
        <p:spPr>
          <a:xfrm>
            <a:off x="8874807" y="5227535"/>
            <a:ext cx="3179373" cy="133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marL="90488" indent="-90488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… mais pas ou peu de références comparables à Beaumanoir (citées), a fortiori déployées full scope. </a:t>
            </a:r>
          </a:p>
          <a:p>
            <a:pPr marL="90488" indent="-90488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Une part importante de customisation et de développement, sur l’ensemble des processus, pour adapter la solution aux attentes.</a:t>
            </a:r>
          </a:p>
          <a:p>
            <a:pPr marL="90488" indent="-90488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Un positionnement prix qui ne compense pas l’écart fonctionnel…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1A4BA52B-F284-8F0E-6653-A8811391172F}"/>
              </a:ext>
            </a:extLst>
          </p:cNvPr>
          <p:cNvSpPr txBox="1"/>
          <p:nvPr/>
        </p:nvSpPr>
        <p:spPr>
          <a:xfrm>
            <a:off x="1599160" y="1166355"/>
            <a:ext cx="1072730" cy="184666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fr-FR" sz="600" b="1">
                <a:solidFill>
                  <a:srgbClr val="00B050"/>
                </a:solidFill>
              </a:rPr>
              <a:t>Recommandé pour RFP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706E228F-55C3-168A-E0F6-A9E9AA9B6D39}"/>
              </a:ext>
            </a:extLst>
          </p:cNvPr>
          <p:cNvSpPr txBox="1"/>
          <p:nvPr/>
        </p:nvSpPr>
        <p:spPr>
          <a:xfrm>
            <a:off x="7724793" y="1166355"/>
            <a:ext cx="1072730" cy="184666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fr-FR" sz="600" b="1">
                <a:solidFill>
                  <a:srgbClr val="FFC000"/>
                </a:solidFill>
              </a:rPr>
              <a:t>En option pour RFP</a:t>
            </a:r>
            <a:endParaRPr lang="fr-FR" sz="500">
              <a:solidFill>
                <a:srgbClr val="FFC000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32F24EF-6C33-AB24-C61F-C51FADD6BD0A}"/>
              </a:ext>
            </a:extLst>
          </p:cNvPr>
          <p:cNvSpPr/>
          <p:nvPr/>
        </p:nvSpPr>
        <p:spPr>
          <a:xfrm>
            <a:off x="8874807" y="3859535"/>
            <a:ext cx="3179373" cy="133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marL="90488" indent="-90488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Gestion native des variantes, à customiser pour gérer X variantes à la saison.</a:t>
            </a:r>
          </a:p>
          <a:p>
            <a:pPr marL="90488" indent="-90488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Projet Beaumanoir pris en charge directement par l’éditeur.</a:t>
            </a:r>
          </a:p>
          <a:p>
            <a:pPr marL="90488" indent="-90488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Editeur spécialiste du </a:t>
            </a:r>
            <a:r>
              <a:rPr lang="fr-FR" sz="800" err="1">
                <a:solidFill>
                  <a:srgbClr val="1A1C30"/>
                </a:solidFill>
                <a:cs typeface="Calibri" panose="020F0502020204030204" pitchFamily="34" charset="0"/>
              </a:rPr>
              <a:t>retail</a:t>
            </a:r>
            <a:r>
              <a:rPr lang="fr-FR" sz="800">
                <a:solidFill>
                  <a:srgbClr val="1A1C30"/>
                </a:solidFill>
                <a:cs typeface="Calibri" panose="020F0502020204030204" pitchFamily="34" charset="0"/>
              </a:rPr>
              <a:t>…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32882B7-2F6A-C775-BD0A-B2F778B4795C}"/>
              </a:ext>
            </a:extLst>
          </p:cNvPr>
          <p:cNvSpPr/>
          <p:nvPr/>
        </p:nvSpPr>
        <p:spPr>
          <a:xfrm>
            <a:off x="5786521" y="2500318"/>
            <a:ext cx="144000" cy="144000"/>
          </a:xfrm>
          <a:prstGeom prst="rect">
            <a:avLst/>
          </a:prstGeom>
          <a:solidFill>
            <a:schemeClr val="bg1"/>
          </a:solidFill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lang="fr-FR" sz="1400">
                <a:solidFill>
                  <a:srgbClr val="C00000"/>
                </a:solidFill>
                <a:cs typeface="Calibri" panose="020F0502020204030204" pitchFamily="34" charset="0"/>
              </a:rPr>
              <a:t>-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2FAF184-ED7D-47FF-0282-5B44912D7F6D}"/>
              </a:ext>
            </a:extLst>
          </p:cNvPr>
          <p:cNvSpPr/>
          <p:nvPr/>
        </p:nvSpPr>
        <p:spPr>
          <a:xfrm>
            <a:off x="5786521" y="1132318"/>
            <a:ext cx="144000" cy="144000"/>
          </a:xfrm>
          <a:prstGeom prst="rect">
            <a:avLst/>
          </a:prstGeom>
          <a:solidFill>
            <a:schemeClr val="bg1"/>
          </a:solidFill>
          <a:ln w="19050">
            <a:solidFill>
              <a:srgbClr val="4EA72D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lang="fr-FR" sz="1400">
                <a:solidFill>
                  <a:srgbClr val="4EA72D"/>
                </a:solidFill>
                <a:cs typeface="Calibri" panose="020F0502020204030204" pitchFamily="34" charset="0"/>
              </a:rPr>
              <a:t>+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1F591D6-BCDA-055A-DBF2-B0FB8E903252}"/>
              </a:ext>
            </a:extLst>
          </p:cNvPr>
          <p:cNvSpPr/>
          <p:nvPr/>
        </p:nvSpPr>
        <p:spPr>
          <a:xfrm>
            <a:off x="5786521" y="4669366"/>
            <a:ext cx="144000" cy="144000"/>
          </a:xfrm>
          <a:prstGeom prst="rect">
            <a:avLst/>
          </a:prstGeom>
          <a:solidFill>
            <a:schemeClr val="bg1"/>
          </a:solidFill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lang="fr-FR" sz="1400">
                <a:solidFill>
                  <a:srgbClr val="C00000"/>
                </a:solidFill>
                <a:cs typeface="Calibri" panose="020F0502020204030204" pitchFamily="34" charset="0"/>
              </a:rPr>
              <a:t>-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B2C0460-4AAD-630F-2571-4FA3FFABD801}"/>
              </a:ext>
            </a:extLst>
          </p:cNvPr>
          <p:cNvSpPr/>
          <p:nvPr/>
        </p:nvSpPr>
        <p:spPr>
          <a:xfrm>
            <a:off x="5786521" y="3859535"/>
            <a:ext cx="144000" cy="144000"/>
          </a:xfrm>
          <a:prstGeom prst="rect">
            <a:avLst/>
          </a:prstGeom>
          <a:solidFill>
            <a:schemeClr val="bg1"/>
          </a:solidFill>
          <a:ln w="19050">
            <a:solidFill>
              <a:srgbClr val="4EA72D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lang="fr-FR" sz="1400">
                <a:solidFill>
                  <a:srgbClr val="4EA72D"/>
                </a:solidFill>
                <a:cs typeface="Calibri" panose="020F0502020204030204" pitchFamily="34" charset="0"/>
              </a:rPr>
              <a:t>+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A575B8F-6932-CE3E-893B-C3C5AA0B5815}"/>
              </a:ext>
            </a:extLst>
          </p:cNvPr>
          <p:cNvSpPr/>
          <p:nvPr/>
        </p:nvSpPr>
        <p:spPr>
          <a:xfrm>
            <a:off x="11910179" y="5227535"/>
            <a:ext cx="144000" cy="144000"/>
          </a:xfrm>
          <a:prstGeom prst="rect">
            <a:avLst/>
          </a:prstGeom>
          <a:solidFill>
            <a:schemeClr val="bg1"/>
          </a:solidFill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lang="fr-FR" sz="1400">
                <a:solidFill>
                  <a:srgbClr val="C00000"/>
                </a:solidFill>
                <a:cs typeface="Calibri" panose="020F0502020204030204" pitchFamily="34" charset="0"/>
              </a:rPr>
              <a:t>-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AF84D91-1A55-98AE-29FC-4D12F8A1A6F3}"/>
              </a:ext>
            </a:extLst>
          </p:cNvPr>
          <p:cNvSpPr/>
          <p:nvPr/>
        </p:nvSpPr>
        <p:spPr>
          <a:xfrm>
            <a:off x="11910179" y="3859535"/>
            <a:ext cx="144000" cy="144000"/>
          </a:xfrm>
          <a:prstGeom prst="rect">
            <a:avLst/>
          </a:prstGeom>
          <a:solidFill>
            <a:schemeClr val="bg1"/>
          </a:solidFill>
          <a:ln w="19050">
            <a:solidFill>
              <a:srgbClr val="4EA72D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lang="fr-FR" sz="1400">
                <a:solidFill>
                  <a:srgbClr val="4EA72D"/>
                </a:solidFill>
                <a:cs typeface="Calibri" panose="020F0502020204030204" pitchFamily="34" charset="0"/>
              </a:rPr>
              <a:t>+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ECF2F07-A06A-74C7-D43A-6BB2802B00B0}"/>
              </a:ext>
            </a:extLst>
          </p:cNvPr>
          <p:cNvSpPr/>
          <p:nvPr/>
        </p:nvSpPr>
        <p:spPr>
          <a:xfrm>
            <a:off x="11910179" y="2471354"/>
            <a:ext cx="144000" cy="144000"/>
          </a:xfrm>
          <a:prstGeom prst="rect">
            <a:avLst/>
          </a:prstGeom>
          <a:solidFill>
            <a:schemeClr val="bg1"/>
          </a:solidFill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lang="fr-FR" sz="1400">
                <a:solidFill>
                  <a:srgbClr val="C00000"/>
                </a:solidFill>
                <a:cs typeface="Calibri" panose="020F0502020204030204" pitchFamily="34" charset="0"/>
              </a:rPr>
              <a:t>-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5865727-275F-C89D-E50C-EE465D479769}"/>
              </a:ext>
            </a:extLst>
          </p:cNvPr>
          <p:cNvSpPr/>
          <p:nvPr/>
        </p:nvSpPr>
        <p:spPr>
          <a:xfrm>
            <a:off x="11910179" y="1127926"/>
            <a:ext cx="144000" cy="144000"/>
          </a:xfrm>
          <a:prstGeom prst="rect">
            <a:avLst/>
          </a:prstGeom>
          <a:solidFill>
            <a:schemeClr val="bg1"/>
          </a:solidFill>
          <a:ln w="19050">
            <a:solidFill>
              <a:srgbClr val="4EA72D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lang="fr-FR" sz="1400">
                <a:solidFill>
                  <a:srgbClr val="4EA72D"/>
                </a:solidFill>
                <a:cs typeface="Calibri" panose="020F0502020204030204" pitchFamily="34" charset="0"/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3087715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6B919-6D65-67B9-34E2-F915F84FE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03E68761-F8E0-07B4-F18E-ACA78F659D9B}"/>
              </a:ext>
            </a:extLst>
          </p:cNvPr>
          <p:cNvSpPr/>
          <p:nvPr/>
        </p:nvSpPr>
        <p:spPr>
          <a:xfrm>
            <a:off x="6171548" y="3773884"/>
            <a:ext cx="5864298" cy="496120"/>
          </a:xfrm>
          <a:prstGeom prst="roundRect">
            <a:avLst/>
          </a:prstGeom>
          <a:solidFill>
            <a:schemeClr val="accent1">
              <a:lumMod val="40000"/>
              <a:lumOff val="60000"/>
              <a:alpha val="89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 b="1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D52C82B7-9A1E-A6E9-0098-7CB5205824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3799" y="3764480"/>
            <a:ext cx="5146063" cy="863642"/>
          </a:xfrm>
        </p:spPr>
        <p:txBody>
          <a:bodyPr/>
          <a:lstStyle/>
          <a:p>
            <a:r>
              <a:rPr lang="fr-FR"/>
              <a:t>SOMMAIRE</a:t>
            </a:r>
          </a:p>
        </p:txBody>
      </p:sp>
      <p:sp>
        <p:nvSpPr>
          <p:cNvPr id="12" name="Espace réservé du texte 10">
            <a:extLst>
              <a:ext uri="{FF2B5EF4-FFF2-40B4-BE49-F238E27FC236}">
                <a16:creationId xmlns:a16="http://schemas.microsoft.com/office/drawing/2014/main" id="{27709B7A-230C-6710-4924-AD783529234A}"/>
              </a:ext>
            </a:extLst>
          </p:cNvPr>
          <p:cNvSpPr>
            <a:spLocks noGrp="1"/>
          </p:cNvSpPr>
          <p:nvPr/>
        </p:nvSpPr>
        <p:spPr>
          <a:xfrm>
            <a:off x="6058941" y="2685042"/>
            <a:ext cx="615950" cy="4842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i="0" kern="1200">
                <a:solidFill>
                  <a:schemeClr val="accent4"/>
                </a:solidFill>
                <a:latin typeface="Plus Jakarta Sans" pitchFamily="2" charset="77"/>
                <a:ea typeface="Noto Sans" panose="020B0502040504020204" pitchFamily="34" charset="0"/>
                <a:cs typeface="Plus Jakarta Sa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100" b="1" i="0" kern="1200">
                <a:solidFill>
                  <a:schemeClr val="tx1"/>
                </a:solidFill>
                <a:latin typeface="Galano Grotesque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50" b="1" i="0" kern="1200">
                <a:solidFill>
                  <a:schemeClr val="tx1"/>
                </a:solidFill>
                <a:latin typeface="Galano Grotesque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b="1" i="0" kern="1200">
                <a:solidFill>
                  <a:schemeClr val="tx1"/>
                </a:solidFill>
                <a:latin typeface="Galano Grotesque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b="1" i="0" kern="1200">
                <a:solidFill>
                  <a:schemeClr val="tx1"/>
                </a:solidFill>
                <a:latin typeface="Galano Grotesque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>
                <a:solidFill>
                  <a:srgbClr val="0027B7"/>
                </a:solidFill>
              </a:rPr>
              <a:t>01</a:t>
            </a:r>
          </a:p>
        </p:txBody>
      </p:sp>
      <p:sp>
        <p:nvSpPr>
          <p:cNvPr id="13" name="Espace réservé du texte 8">
            <a:extLst>
              <a:ext uri="{FF2B5EF4-FFF2-40B4-BE49-F238E27FC236}">
                <a16:creationId xmlns:a16="http://schemas.microsoft.com/office/drawing/2014/main" id="{7C86176B-CE3C-D7DF-B0C0-C180A9405BF7}"/>
              </a:ext>
            </a:extLst>
          </p:cNvPr>
          <p:cNvSpPr>
            <a:spLocks noGrp="1"/>
          </p:cNvSpPr>
          <p:nvPr/>
        </p:nvSpPr>
        <p:spPr>
          <a:xfrm>
            <a:off x="6058941" y="3224761"/>
            <a:ext cx="615950" cy="4842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i="0" kern="1200">
                <a:solidFill>
                  <a:schemeClr val="accent4"/>
                </a:solidFill>
                <a:latin typeface="Plus Jakarta Sans" pitchFamily="2" charset="77"/>
                <a:ea typeface="Noto Sans" panose="020B0502040504020204" pitchFamily="34" charset="0"/>
                <a:cs typeface="Plus Jakarta Sa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100" b="1" i="0" kern="1200">
                <a:solidFill>
                  <a:schemeClr val="tx1"/>
                </a:solidFill>
                <a:latin typeface="Galano Grotesque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50" b="1" i="0" kern="1200">
                <a:solidFill>
                  <a:schemeClr val="tx1"/>
                </a:solidFill>
                <a:latin typeface="Galano Grotesque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b="1" i="0" kern="1200">
                <a:solidFill>
                  <a:schemeClr val="tx1"/>
                </a:solidFill>
                <a:latin typeface="Galano Grotesque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b="1" i="0" kern="1200">
                <a:solidFill>
                  <a:schemeClr val="tx1"/>
                </a:solidFill>
                <a:latin typeface="Galano Grotesque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>
                <a:solidFill>
                  <a:srgbClr val="0027B7"/>
                </a:solidFill>
              </a:rPr>
              <a:t>02</a:t>
            </a:r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B9E2D9A0-1527-47B9-2FC3-B6CAF106354F}"/>
              </a:ext>
            </a:extLst>
          </p:cNvPr>
          <p:cNvSpPr>
            <a:spLocks noGrp="1"/>
          </p:cNvSpPr>
          <p:nvPr/>
        </p:nvSpPr>
        <p:spPr>
          <a:xfrm>
            <a:off x="6058941" y="3764480"/>
            <a:ext cx="615950" cy="4842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i="0" kern="1200">
                <a:solidFill>
                  <a:schemeClr val="accent4"/>
                </a:solidFill>
                <a:latin typeface="Plus Jakarta Sans" pitchFamily="2" charset="77"/>
                <a:ea typeface="Noto Sans" panose="020B0502040504020204" pitchFamily="34" charset="0"/>
                <a:cs typeface="Plus Jakarta Sa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100" b="1" i="0" kern="1200">
                <a:solidFill>
                  <a:schemeClr val="tx1"/>
                </a:solidFill>
                <a:latin typeface="Galano Grotesque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50" b="1" i="0" kern="1200">
                <a:solidFill>
                  <a:schemeClr val="tx1"/>
                </a:solidFill>
                <a:latin typeface="Galano Grotesque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b="1" i="0" kern="1200">
                <a:solidFill>
                  <a:schemeClr val="tx1"/>
                </a:solidFill>
                <a:latin typeface="Galano Grotesque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b="1" i="0" kern="1200">
                <a:solidFill>
                  <a:schemeClr val="tx1"/>
                </a:solidFill>
                <a:latin typeface="Galano Grotesque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>
                <a:solidFill>
                  <a:srgbClr val="0027B7"/>
                </a:solidFill>
              </a:rPr>
              <a:t>03</a:t>
            </a:r>
          </a:p>
        </p:txBody>
      </p:sp>
      <p:sp>
        <p:nvSpPr>
          <p:cNvPr id="18" name="Espace réservé du texte 7">
            <a:extLst>
              <a:ext uri="{FF2B5EF4-FFF2-40B4-BE49-F238E27FC236}">
                <a16:creationId xmlns:a16="http://schemas.microsoft.com/office/drawing/2014/main" id="{CFE6DA74-ED26-3844-7CBF-FACCF7359A66}"/>
              </a:ext>
            </a:extLst>
          </p:cNvPr>
          <p:cNvSpPr>
            <a:spLocks noGrp="1"/>
          </p:cNvSpPr>
          <p:nvPr/>
        </p:nvSpPr>
        <p:spPr>
          <a:xfrm>
            <a:off x="6752133" y="2685043"/>
            <a:ext cx="4918620" cy="4842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FontTx/>
              <a:buNone/>
              <a:defRPr sz="1600" b="0" i="0" kern="1200">
                <a:solidFill>
                  <a:schemeClr val="accent4"/>
                </a:solidFill>
                <a:latin typeface="Plus Jakarta Sans" pitchFamily="2" charset="77"/>
                <a:ea typeface="Noto Sans" panose="020B0502040504020204" pitchFamily="34" charset="0"/>
                <a:cs typeface="Plus Jakarta Sa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1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5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solidFill>
                  <a:srgbClr val="0027B7"/>
                </a:solidFill>
              </a:rPr>
              <a:t>Avancement de l’étude</a:t>
            </a:r>
          </a:p>
        </p:txBody>
      </p:sp>
      <p:sp>
        <p:nvSpPr>
          <p:cNvPr id="19" name="Espace réservé du texte 14">
            <a:extLst>
              <a:ext uri="{FF2B5EF4-FFF2-40B4-BE49-F238E27FC236}">
                <a16:creationId xmlns:a16="http://schemas.microsoft.com/office/drawing/2014/main" id="{2174B3CD-F986-3C0D-A892-21FE733A72C3}"/>
              </a:ext>
            </a:extLst>
          </p:cNvPr>
          <p:cNvSpPr>
            <a:spLocks noGrp="1"/>
          </p:cNvSpPr>
          <p:nvPr/>
        </p:nvSpPr>
        <p:spPr>
          <a:xfrm>
            <a:off x="6752133" y="3229223"/>
            <a:ext cx="4918620" cy="4842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FontTx/>
              <a:buNone/>
              <a:defRPr sz="1600" b="0" i="0" kern="1200">
                <a:solidFill>
                  <a:schemeClr val="accent4"/>
                </a:solidFill>
                <a:latin typeface="Plus Jakarta Sans" pitchFamily="2" charset="77"/>
                <a:ea typeface="Noto Sans" panose="020B0502040504020204" pitchFamily="34" charset="0"/>
                <a:cs typeface="Plus Jakarta Sa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1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5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>
                <a:solidFill>
                  <a:srgbClr val="0027B7"/>
                </a:solidFill>
              </a:rPr>
              <a:t>Key </a:t>
            </a:r>
            <a:r>
              <a:rPr lang="fr-FR" b="1" err="1">
                <a:solidFill>
                  <a:srgbClr val="0027B7"/>
                </a:solidFill>
              </a:rPr>
              <a:t>takeaways</a:t>
            </a:r>
            <a:endParaRPr lang="fr-FR" b="1">
              <a:solidFill>
                <a:srgbClr val="0027B7"/>
              </a:solidFill>
            </a:endParaRPr>
          </a:p>
        </p:txBody>
      </p:sp>
      <p:sp>
        <p:nvSpPr>
          <p:cNvPr id="20" name="Espace réservé du texte 15">
            <a:extLst>
              <a:ext uri="{FF2B5EF4-FFF2-40B4-BE49-F238E27FC236}">
                <a16:creationId xmlns:a16="http://schemas.microsoft.com/office/drawing/2014/main" id="{6B8046C3-C650-028C-AFC9-CC1A6E54089C}"/>
              </a:ext>
            </a:extLst>
          </p:cNvPr>
          <p:cNvSpPr>
            <a:spLocks noGrp="1"/>
          </p:cNvSpPr>
          <p:nvPr/>
        </p:nvSpPr>
        <p:spPr>
          <a:xfrm>
            <a:off x="6752132" y="3773403"/>
            <a:ext cx="5432363" cy="4842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FontTx/>
              <a:buNone/>
              <a:defRPr sz="1600" b="0" i="0" kern="1200">
                <a:solidFill>
                  <a:schemeClr val="accent4"/>
                </a:solidFill>
                <a:latin typeface="Plus Jakarta Sans" pitchFamily="2" charset="77"/>
                <a:ea typeface="Noto Sans" panose="020B0502040504020204" pitchFamily="34" charset="0"/>
                <a:cs typeface="Plus Jakarta Sa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1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5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>
                <a:solidFill>
                  <a:srgbClr val="0027B7"/>
                </a:solidFill>
              </a:rPr>
              <a:t>Annexes 1 : estimations budgétaires</a:t>
            </a:r>
          </a:p>
        </p:txBody>
      </p:sp>
      <p:sp>
        <p:nvSpPr>
          <p:cNvPr id="3" name="Espace réservé du texte 9">
            <a:extLst>
              <a:ext uri="{FF2B5EF4-FFF2-40B4-BE49-F238E27FC236}">
                <a16:creationId xmlns:a16="http://schemas.microsoft.com/office/drawing/2014/main" id="{8496B16E-05F8-CBEE-637F-6ABBF3CB6688}"/>
              </a:ext>
            </a:extLst>
          </p:cNvPr>
          <p:cNvSpPr>
            <a:spLocks noGrp="1"/>
          </p:cNvSpPr>
          <p:nvPr/>
        </p:nvSpPr>
        <p:spPr>
          <a:xfrm>
            <a:off x="6058941" y="4304428"/>
            <a:ext cx="615950" cy="4842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i="0" kern="1200">
                <a:solidFill>
                  <a:schemeClr val="accent4"/>
                </a:solidFill>
                <a:latin typeface="Plus Jakarta Sans" pitchFamily="2" charset="77"/>
                <a:ea typeface="Noto Sans" panose="020B0502040504020204" pitchFamily="34" charset="0"/>
                <a:cs typeface="Plus Jakarta Sa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100" b="1" i="0" kern="1200">
                <a:solidFill>
                  <a:schemeClr val="tx1"/>
                </a:solidFill>
                <a:latin typeface="Galano Grotesque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50" b="1" i="0" kern="1200">
                <a:solidFill>
                  <a:schemeClr val="tx1"/>
                </a:solidFill>
                <a:latin typeface="Galano Grotesque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b="1" i="0" kern="1200">
                <a:solidFill>
                  <a:schemeClr val="tx1"/>
                </a:solidFill>
                <a:latin typeface="Galano Grotesque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b="1" i="0" kern="1200">
                <a:solidFill>
                  <a:schemeClr val="tx1"/>
                </a:solidFill>
                <a:latin typeface="Galano Grotesque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>
                <a:solidFill>
                  <a:srgbClr val="0027B7"/>
                </a:solidFill>
              </a:rPr>
              <a:t>04</a:t>
            </a:r>
          </a:p>
        </p:txBody>
      </p:sp>
      <p:sp>
        <p:nvSpPr>
          <p:cNvPr id="4" name="Espace réservé du texte 15">
            <a:extLst>
              <a:ext uri="{FF2B5EF4-FFF2-40B4-BE49-F238E27FC236}">
                <a16:creationId xmlns:a16="http://schemas.microsoft.com/office/drawing/2014/main" id="{E496D1AF-7B44-AFFE-C5DD-538716CC963C}"/>
              </a:ext>
            </a:extLst>
          </p:cNvPr>
          <p:cNvSpPr>
            <a:spLocks noGrp="1"/>
          </p:cNvSpPr>
          <p:nvPr/>
        </p:nvSpPr>
        <p:spPr>
          <a:xfrm>
            <a:off x="6752132" y="4313351"/>
            <a:ext cx="5432363" cy="4842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FontTx/>
              <a:buNone/>
              <a:defRPr sz="1600" b="0" i="0" kern="1200">
                <a:solidFill>
                  <a:schemeClr val="accent4"/>
                </a:solidFill>
                <a:latin typeface="Plus Jakarta Sans" pitchFamily="2" charset="77"/>
                <a:ea typeface="Noto Sans" panose="020B0502040504020204" pitchFamily="34" charset="0"/>
                <a:cs typeface="Plus Jakarta Sa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1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5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>
                <a:solidFill>
                  <a:srgbClr val="0027B7"/>
                </a:solidFill>
              </a:rPr>
              <a:t>Annexes 2 : </a:t>
            </a:r>
            <a:r>
              <a:rPr lang="fr-FR" b="1" err="1">
                <a:solidFill>
                  <a:srgbClr val="0027B7"/>
                </a:solidFill>
              </a:rPr>
              <a:t>scoring</a:t>
            </a:r>
            <a:r>
              <a:rPr lang="fr-FR" b="1">
                <a:solidFill>
                  <a:srgbClr val="0027B7"/>
                </a:solidFill>
              </a:rPr>
              <a:t> fonctionnel</a:t>
            </a:r>
          </a:p>
        </p:txBody>
      </p:sp>
    </p:spTree>
    <p:extLst>
      <p:ext uri="{BB962C8B-B14F-4D97-AF65-F5344CB8AC3E}">
        <p14:creationId xmlns:p14="http://schemas.microsoft.com/office/powerpoint/2010/main" val="749200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D6A8B-4E1D-BC9E-8D34-EE315F2AF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C4A2E823-B9DB-47ED-3553-D0972905E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estimations Budgétaires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C4250822-6319-3D72-3255-41D5240D8E07}"/>
              </a:ext>
            </a:extLst>
          </p:cNvPr>
          <p:cNvSpPr txBox="1"/>
          <p:nvPr/>
        </p:nvSpPr>
        <p:spPr>
          <a:xfrm>
            <a:off x="456068" y="1670658"/>
            <a:ext cx="11367255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fr-FR" sz="1100" b="1">
                <a:solidFill>
                  <a:srgbClr val="0027B7"/>
                </a:solidFill>
                <a:cs typeface="Calibri" panose="020F0502020204030204" pitchFamily="34" charset="0"/>
              </a:rPr>
              <a:t>QUELQUES PRÉCISIONS SUR LES ESTIMATIONS CI-APRÈS </a:t>
            </a:r>
            <a:endParaRPr lang="fr-FR" sz="1100" b="1" i="1">
              <a:solidFill>
                <a:srgbClr val="0027B7"/>
              </a:solidFill>
              <a:cs typeface="Calibri" panose="020F0502020204030204" pitchFamily="34" charset="0"/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1000">
                <a:cs typeface="Calibri" panose="020F0502020204030204" pitchFamily="34" charset="0"/>
              </a:rPr>
              <a:t>Les éléments communiqués par les éditeurs comme les hypothèses de calcul impliquent une part importante d’approximation, et certains écarts de « comparabilité ».</a:t>
            </a:r>
          </a:p>
          <a:p>
            <a:pPr marL="628650" lvl="1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900">
                <a:cs typeface="Calibri" panose="020F0502020204030204" pitchFamily="34" charset="0"/>
              </a:rPr>
              <a:t>Absence de modalités projet précises (calendrier, périmètre et lotissement, couverture du </a:t>
            </a:r>
            <a:r>
              <a:rPr lang="fr-FR" sz="900" err="1">
                <a:cs typeface="Calibri" panose="020F0502020204030204" pitchFamily="34" charset="0"/>
              </a:rPr>
              <a:t>core</a:t>
            </a:r>
            <a:r>
              <a:rPr lang="fr-FR" sz="900">
                <a:cs typeface="Calibri" panose="020F0502020204030204" pitchFamily="34" charset="0"/>
              </a:rPr>
              <a:t> model).</a:t>
            </a:r>
          </a:p>
          <a:p>
            <a:pPr marL="628650" lvl="1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900">
                <a:cs typeface="Calibri" panose="020F0502020204030204" pitchFamily="34" charset="0"/>
              </a:rPr>
              <a:t>Estimations disparates concernant le déploiement d’autres entités (du fait de l’absence de modalités précises).</a:t>
            </a:r>
          </a:p>
          <a:p>
            <a:pPr marL="628650" lvl="1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900">
                <a:cs typeface="Calibri" panose="020F0502020204030204" pitchFamily="34" charset="0"/>
              </a:rPr>
              <a:t>Disparités dans l’estimation des coûts annuels hors abonnements (montée de version, maintenance et autres coûts).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>
              <a:cs typeface="Calibri" panose="020F0502020204030204" pitchFamily="34" charset="0"/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1000">
                <a:cs typeface="Calibri" panose="020F0502020204030204" pitchFamily="34" charset="0"/>
              </a:rPr>
              <a:t>Nous avons pris le parti de conserver et appliquer les hypothèses communiquées par les éditeurs, avec le minimum de retraitement.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>
              <a:cs typeface="Calibri" panose="020F0502020204030204" pitchFamily="34" charset="0"/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1000">
                <a:cs typeface="Calibri" panose="020F0502020204030204" pitchFamily="34" charset="0"/>
              </a:rPr>
              <a:t>Les éléments qu’il nous semblerait nécessaire de considérer ont été intégrés « hors calcul » (</a:t>
            </a:r>
            <a:r>
              <a:rPr lang="fr-FR" sz="1000" i="1">
                <a:cs typeface="Calibri" panose="020F0502020204030204" pitchFamily="34" charset="0"/>
              </a:rPr>
              <a:t>ex : coûts des montées de version majeures</a:t>
            </a:r>
            <a:r>
              <a:rPr lang="fr-FR" sz="1000">
                <a:cs typeface="Calibri" panose="020F0502020204030204" pitchFamily="34" charset="0"/>
              </a:rPr>
              <a:t>).</a:t>
            </a:r>
          </a:p>
          <a:p>
            <a:pPr>
              <a:spcAft>
                <a:spcPts val="600"/>
              </a:spcAft>
            </a:pPr>
            <a:endParaRPr lang="fr-FR" sz="1100" b="1">
              <a:solidFill>
                <a:srgbClr val="0027B7"/>
              </a:solidFill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endParaRPr lang="fr-FR" sz="1100" b="1">
              <a:solidFill>
                <a:srgbClr val="0027B7"/>
              </a:solidFill>
              <a:cs typeface="Calibri" panose="020F0502020204030204" pitchFamily="34" charset="0"/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100">
              <a:cs typeface="Calibri" panose="020F0502020204030204" pitchFamily="34" charset="0"/>
            </a:endParaRPr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E8F0E2A0-3A30-ECB9-8A3B-590D358454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FR"/>
              <a:t>Préambule</a:t>
            </a:r>
          </a:p>
        </p:txBody>
      </p:sp>
    </p:spTree>
    <p:extLst>
      <p:ext uri="{BB962C8B-B14F-4D97-AF65-F5344CB8AC3E}">
        <p14:creationId xmlns:p14="http://schemas.microsoft.com/office/powerpoint/2010/main" val="426698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6D7F7-181D-F607-7941-6EA7D1B24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5E20D14D-3678-EA42-8B89-B9AC5CF4F2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FR"/>
              <a:t>Projet | Pilote et full scope</a:t>
            </a: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78C706CB-48AF-82BC-FBA6-3D16FA932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estimations Budgétaires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7CC942D-E9A4-99AC-20FF-B824DE498E68}"/>
              </a:ext>
            </a:extLst>
          </p:cNvPr>
          <p:cNvSpPr txBox="1"/>
          <p:nvPr/>
        </p:nvSpPr>
        <p:spPr>
          <a:xfrm>
            <a:off x="6685750" y="1107113"/>
            <a:ext cx="5353050" cy="5432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fr-FR" sz="1000" b="1" dirty="0">
                <a:solidFill>
                  <a:schemeClr val="accent1"/>
                </a:solidFill>
                <a:cs typeface="Calibri" panose="020F0502020204030204" pitchFamily="34" charset="0"/>
              </a:rPr>
              <a:t>Hypothèses de calcul.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800" dirty="0">
                <a:solidFill>
                  <a:schemeClr val="accent1"/>
                </a:solidFill>
                <a:cs typeface="Calibri" panose="020F0502020204030204" pitchFamily="34" charset="0"/>
              </a:rPr>
              <a:t>Lotissement : 1 pilote + 4 lots supplémentaires (</a:t>
            </a:r>
            <a:r>
              <a:rPr lang="fr-FR" sz="800" i="1" dirty="0">
                <a:solidFill>
                  <a:schemeClr val="accent1"/>
                </a:solidFill>
                <a:cs typeface="Calibri" panose="020F0502020204030204" pitchFamily="34" charset="0"/>
              </a:rPr>
              <a:t>ex : </a:t>
            </a:r>
            <a:r>
              <a:rPr lang="fr-FR" sz="800" i="1" dirty="0" err="1">
                <a:solidFill>
                  <a:schemeClr val="accent1"/>
                </a:solidFill>
                <a:cs typeface="Calibri" panose="020F0502020204030204" pitchFamily="34" charset="0"/>
              </a:rPr>
              <a:t>Boardriders</a:t>
            </a:r>
            <a:r>
              <a:rPr lang="fr-FR" sz="800" i="1" dirty="0">
                <a:solidFill>
                  <a:schemeClr val="accent1"/>
                </a:solidFill>
                <a:cs typeface="Calibri" panose="020F0502020204030204" pitchFamily="34" charset="0"/>
              </a:rPr>
              <a:t>, </a:t>
            </a:r>
            <a:r>
              <a:rPr lang="fr-FR" sz="800" i="1" dirty="0" err="1">
                <a:solidFill>
                  <a:schemeClr val="accent1"/>
                </a:solidFill>
                <a:cs typeface="Calibri" panose="020F0502020204030204" pitchFamily="34" charset="0"/>
              </a:rPr>
              <a:t>Vibs</a:t>
            </a:r>
            <a:r>
              <a:rPr lang="fr-FR" sz="800" i="1" dirty="0">
                <a:solidFill>
                  <a:schemeClr val="accent1"/>
                </a:solidFill>
                <a:cs typeface="Calibri" panose="020F0502020204030204" pitchFamily="34" charset="0"/>
              </a:rPr>
              <a:t>, Premium, La Halle, Sarenza).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800" dirty="0">
                <a:solidFill>
                  <a:schemeClr val="accent1"/>
                </a:solidFill>
                <a:cs typeface="Calibri" panose="020F0502020204030204" pitchFamily="34" charset="0"/>
              </a:rPr>
              <a:t>Coûts d’abonnement (pilote + autres lots) : au prorata du prix annuel.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800" dirty="0">
                <a:solidFill>
                  <a:schemeClr val="accent1"/>
                </a:solidFill>
                <a:cs typeface="Calibri" panose="020F0502020204030204" pitchFamily="34" charset="0"/>
              </a:rPr>
              <a:t>Microsoft – durée de déploiement « autres lots » : la durée de déploiement d’un périmètre complémentaire est de 4 à 6 mois, nous avons considéré la médiane.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 dirty="0">
              <a:cs typeface="Calibri" panose="020F0502020204030204" pitchFamily="34" charset="0"/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1000" dirty="0">
                <a:cs typeface="Calibri" panose="020F0502020204030204" pitchFamily="34" charset="0"/>
              </a:rPr>
              <a:t>Les premières estimations situent le coût d’implémentation total :</a:t>
            </a:r>
          </a:p>
          <a:p>
            <a:pPr marL="628650" lvl="1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900" dirty="0">
                <a:cs typeface="Calibri" panose="020F0502020204030204" pitchFamily="34" charset="0"/>
              </a:rPr>
              <a:t>Microsoft : entre </a:t>
            </a:r>
            <a:r>
              <a:rPr lang="fr-FR" sz="900" b="1" dirty="0">
                <a:cs typeface="Calibri" panose="020F0502020204030204" pitchFamily="34" charset="0"/>
              </a:rPr>
              <a:t>6,5 M€ </a:t>
            </a:r>
            <a:r>
              <a:rPr lang="fr-FR" sz="900" dirty="0">
                <a:cs typeface="Calibri" panose="020F0502020204030204" pitchFamily="34" charset="0"/>
              </a:rPr>
              <a:t>et </a:t>
            </a:r>
            <a:r>
              <a:rPr lang="fr-FR" sz="900" b="1" dirty="0">
                <a:cs typeface="Calibri" panose="020F0502020204030204" pitchFamily="34" charset="0"/>
              </a:rPr>
              <a:t>8M€,</a:t>
            </a:r>
            <a:endParaRPr lang="fr-FR" sz="900" dirty="0">
              <a:cs typeface="Calibri" panose="020F0502020204030204" pitchFamily="34" charset="0"/>
            </a:endParaRPr>
          </a:p>
          <a:p>
            <a:pPr marL="628650" lvl="1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900" dirty="0">
                <a:cs typeface="Calibri" panose="020F0502020204030204" pitchFamily="34" charset="0"/>
              </a:rPr>
              <a:t>Challengers : entre </a:t>
            </a:r>
            <a:r>
              <a:rPr lang="fr-FR" sz="900" b="1" dirty="0">
                <a:cs typeface="Calibri" panose="020F0502020204030204" pitchFamily="34" charset="0"/>
              </a:rPr>
              <a:t>3 M€ </a:t>
            </a:r>
            <a:r>
              <a:rPr lang="fr-FR" sz="900" dirty="0">
                <a:cs typeface="Calibri" panose="020F0502020204030204" pitchFamily="34" charset="0"/>
              </a:rPr>
              <a:t>et </a:t>
            </a:r>
            <a:r>
              <a:rPr lang="fr-FR" sz="900" b="1" dirty="0">
                <a:cs typeface="Calibri" panose="020F0502020204030204" pitchFamily="34" charset="0"/>
              </a:rPr>
              <a:t>5 M€,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1000" dirty="0">
                <a:cs typeface="Calibri" panose="020F0502020204030204" pitchFamily="34" charset="0"/>
              </a:rPr>
              <a:t>soit un rapport de </a:t>
            </a:r>
            <a:r>
              <a:rPr lang="fr-FR" sz="1000" b="1" dirty="0">
                <a:cs typeface="Calibri" panose="020F0502020204030204" pitchFamily="34" charset="0"/>
              </a:rPr>
              <a:t>±2:1 à ±4:1 entre le leader et ses challengers </a:t>
            </a:r>
            <a:r>
              <a:rPr lang="fr-FR" sz="1000" dirty="0">
                <a:cs typeface="Calibri" panose="020F0502020204030204" pitchFamily="34" charset="0"/>
              </a:rPr>
              <a:t>les moins disant.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 i="1" dirty="0">
              <a:cs typeface="Calibri" panose="020F0502020204030204" pitchFamily="34" charset="0"/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1000" dirty="0">
                <a:cs typeface="Calibri" panose="020F0502020204030204" pitchFamily="34" charset="0"/>
              </a:rPr>
              <a:t>La durée d’implémentation totale est estimée entre 3 et 4 ans.</a:t>
            </a:r>
          </a:p>
          <a:p>
            <a:pPr marL="628650" lvl="2" indent="-1714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fr-FR" sz="800" dirty="0">
                <a:cs typeface="Calibri" panose="020F0502020204030204" pitchFamily="34" charset="0"/>
              </a:rPr>
              <a:t>Estimation à affiner en fonction du lotissement, de la complexité des </a:t>
            </a:r>
            <a:r>
              <a:rPr lang="fr-FR" sz="800" dirty="0" err="1">
                <a:cs typeface="Calibri" panose="020F0502020204030204" pitchFamily="34" charset="0"/>
              </a:rPr>
              <a:t>lotset</a:t>
            </a:r>
            <a:r>
              <a:rPr lang="fr-FR" sz="800" dirty="0">
                <a:cs typeface="Calibri" panose="020F0502020204030204" pitchFamily="34" charset="0"/>
              </a:rPr>
              <a:t> des écarts par rapport au </a:t>
            </a:r>
            <a:r>
              <a:rPr lang="fr-FR" sz="800" dirty="0" err="1">
                <a:cs typeface="Calibri" panose="020F0502020204030204" pitchFamily="34" charset="0"/>
              </a:rPr>
              <a:t>core</a:t>
            </a:r>
            <a:r>
              <a:rPr lang="fr-FR" sz="800" dirty="0">
                <a:cs typeface="Calibri" panose="020F0502020204030204" pitchFamily="34" charset="0"/>
              </a:rPr>
              <a:t> model)</a:t>
            </a:r>
          </a:p>
          <a:p>
            <a:pPr marL="628650" lvl="2" indent="-1714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fr-FR" sz="800" b="1" dirty="0">
                <a:solidFill>
                  <a:srgbClr val="C00000"/>
                </a:solidFill>
                <a:cs typeface="Calibri" panose="020F0502020204030204" pitchFamily="34" charset="0"/>
              </a:rPr>
              <a:t>Point d’attention – durée et charge SEI sous-estimés .: </a:t>
            </a:r>
          </a:p>
          <a:p>
            <a:pPr marL="628650" lvl="2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800" dirty="0">
                <a:cs typeface="Calibri" panose="020F0502020204030204" pitchFamily="34" charset="0"/>
              </a:rPr>
              <a:t>L</a:t>
            </a:r>
            <a:r>
              <a:rPr lang="fr-FR" sz="800" b="1" dirty="0">
                <a:cs typeface="Calibri" panose="020F0502020204030204" pitchFamily="34" charset="0"/>
              </a:rPr>
              <a:t>a durée de 18 mois (12+6) parait sous-estimée, </a:t>
            </a:r>
            <a:r>
              <a:rPr lang="fr-FR" sz="800" dirty="0">
                <a:cs typeface="Calibri" panose="020F0502020204030204" pitchFamily="34" charset="0"/>
              </a:rPr>
              <a:t>compte tenu de la complexité du projet et des travaux de conception induits.</a:t>
            </a:r>
          </a:p>
          <a:p>
            <a:pPr marL="628650" lvl="2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800" dirty="0">
                <a:cs typeface="Calibri" panose="020F0502020204030204" pitchFamily="34" charset="0"/>
              </a:rPr>
              <a:t>Une augmentation de la durée et de la charge </a:t>
            </a:r>
            <a:r>
              <a:rPr lang="fr-FR" sz="800" b="1" dirty="0">
                <a:cs typeface="Calibri" panose="020F0502020204030204" pitchFamily="34" charset="0"/>
              </a:rPr>
              <a:t>impacterait le coût projet à la hausse</a:t>
            </a:r>
            <a:r>
              <a:rPr lang="fr-FR" sz="800" dirty="0">
                <a:cs typeface="Calibri" panose="020F0502020204030204" pitchFamily="34" charset="0"/>
              </a:rPr>
              <a:t>. </a:t>
            </a:r>
          </a:p>
          <a:p>
            <a:pPr marL="0" lvl="1">
              <a:spcAft>
                <a:spcPts val="600"/>
              </a:spcAft>
            </a:pPr>
            <a:endParaRPr lang="fr-FR" sz="1000" b="1" dirty="0">
              <a:solidFill>
                <a:schemeClr val="accent1"/>
              </a:solidFill>
              <a:cs typeface="Calibri" panose="020F0502020204030204" pitchFamily="34" charset="0"/>
            </a:endParaRPr>
          </a:p>
          <a:p>
            <a:pPr marL="0" lvl="1">
              <a:spcAft>
                <a:spcPts val="600"/>
              </a:spcAft>
            </a:pPr>
            <a:r>
              <a:rPr lang="fr-FR" sz="1000" b="1" dirty="0">
                <a:solidFill>
                  <a:schemeClr val="accent1"/>
                </a:solidFill>
                <a:cs typeface="Calibri" panose="020F0502020204030204" pitchFamily="34" charset="0"/>
              </a:rPr>
              <a:t>Les totaux prennent en compte les coûts d’abonnement estimés et calculés sur la base des prix liste / publics (sans réduction / négociation).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1000" dirty="0">
                <a:cs typeface="Calibri" panose="020F0502020204030204" pitchFamily="34" charset="0"/>
              </a:rPr>
              <a:t>Les challengers ont basé leurs estimations sur ces prix publics : une marge de négociation existe.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1000" dirty="0">
                <a:cs typeface="Calibri" panose="020F0502020204030204" pitchFamily="34" charset="0"/>
              </a:rPr>
              <a:t>L’enveloppe budgétaire remise par Microsoft </a:t>
            </a:r>
            <a:r>
              <a:rPr lang="fr-FR" sz="1000" b="1" dirty="0">
                <a:cs typeface="Calibri" panose="020F0502020204030204" pitchFamily="34" charset="0"/>
              </a:rPr>
              <a:t>inclut une remise d’environ 30% </a:t>
            </a:r>
            <a:r>
              <a:rPr lang="fr-FR" sz="1000" dirty="0">
                <a:cs typeface="Calibri" panose="020F0502020204030204" pitchFamily="34" charset="0"/>
              </a:rPr>
              <a:t>: la marge de négociation est donc réduite.</a:t>
            </a:r>
          </a:p>
          <a:p>
            <a:pPr marL="628650" lvl="2" indent="-1714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fr-FR" sz="800" dirty="0">
                <a:cs typeface="Calibri" panose="020F0502020204030204" pitchFamily="34" charset="0"/>
              </a:rPr>
              <a:t>Le budget total estimé intégrant cette réduction s’établit autour de </a:t>
            </a:r>
            <a:r>
              <a:rPr lang="fr-FR" sz="800" b="1" dirty="0">
                <a:cs typeface="Calibri" panose="020F0502020204030204" pitchFamily="34" charset="0"/>
              </a:rPr>
              <a:t>6,5</a:t>
            </a:r>
            <a:r>
              <a:rPr lang="fr-FR" sz="800" dirty="0">
                <a:cs typeface="Calibri" panose="020F0502020204030204" pitchFamily="34" charset="0"/>
              </a:rPr>
              <a:t> M€ (soit un rapport de ±3:1 et ±2:1 avec les prix avant remise de Odoo et SEI).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4DE9917A-662B-B8F1-F8C5-AE66453584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1238088"/>
              </p:ext>
            </p:extLst>
          </p:nvPr>
        </p:nvGraphicFramePr>
        <p:xfrm>
          <a:off x="213360" y="1133856"/>
          <a:ext cx="6156000" cy="166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2010796802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3409644780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903567547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3078319562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3529642502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18669550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Noto Sans" panose="020B0502040504020204" pitchFamily="34" charset="0"/>
                        </a:rPr>
                        <a:t> </a:t>
                      </a: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000" marR="36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900" b="1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Noto Sans" panose="020B0502040504020204" pitchFamily="34" charset="0"/>
                        </a:rPr>
                        <a:t>SEI</a:t>
                      </a:r>
                    </a:p>
                  </a:txBody>
                  <a:tcPr marL="36000" marR="36000" marT="36000" marB="3600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900" b="1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Noto Sans" panose="020B0502040504020204" pitchFamily="34" charset="0"/>
                        </a:rPr>
                        <a:t>ODOO</a:t>
                      </a:r>
                    </a:p>
                  </a:txBody>
                  <a:tcPr marL="36000" marR="36000" marT="36000" marB="3600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900" b="1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Noto Sans" panose="020B0502040504020204" pitchFamily="34" charset="0"/>
                        </a:rPr>
                        <a:t>ORISHA</a:t>
                      </a:r>
                    </a:p>
                  </a:txBody>
                  <a:tcPr marL="36000" marR="36000" marT="36000" marB="3600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900" b="1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Noto Sans" panose="020B0502040504020204" pitchFamily="34" charset="0"/>
                        </a:rPr>
                        <a:t>MICROSOFT</a:t>
                      </a:r>
                    </a:p>
                  </a:txBody>
                  <a:tcPr marL="36000" marR="36000" marT="36000" marB="3600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031626"/>
                  </a:ext>
                </a:extLst>
              </a:tr>
              <a:tr h="324000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fr-FR" sz="600" b="1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Noto Sans" panose="020B0502040504020204" pitchFamily="34" charset="0"/>
                        </a:rPr>
                        <a:t>DUREE</a:t>
                      </a: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b="0" i="0" u="none" strike="noStrike">
                          <a:solidFill>
                            <a:srgbClr val="252525"/>
                          </a:solidFill>
                          <a:effectLst/>
                          <a:latin typeface="Noto Sans" panose="020B0502040504020204" pitchFamily="34" charset="0"/>
                        </a:rPr>
                        <a:t>PILOTE : durée projet</a:t>
                      </a:r>
                      <a:br>
                        <a:rPr lang="fr-FR" sz="800" b="0" i="0" u="none" strike="noStrike">
                          <a:solidFill>
                            <a:srgbClr val="252525"/>
                          </a:solidFill>
                          <a:effectLst/>
                          <a:latin typeface="Noto Sans" panose="020B0502040504020204" pitchFamily="34" charset="0"/>
                        </a:rPr>
                      </a:br>
                      <a:r>
                        <a:rPr lang="fr-FR" sz="600" b="0" i="1" u="none" strike="noStrike">
                          <a:solidFill>
                            <a:srgbClr val="252525"/>
                          </a:solidFill>
                          <a:effectLst/>
                          <a:latin typeface="Noto Sans" panose="020B0502040504020204" pitchFamily="34" charset="0"/>
                        </a:rPr>
                        <a:t>en mois</a:t>
                      </a:r>
                      <a:endParaRPr lang="fr-FR" sz="800" b="0" i="0" u="none" strike="noStrike">
                        <a:solidFill>
                          <a:srgbClr val="252525"/>
                        </a:solidFill>
                        <a:effectLst/>
                        <a:latin typeface="Noto Sans" panose="020B0502040504020204" pitchFamily="34" charset="0"/>
                      </a:endParaRPr>
                    </a:p>
                  </a:txBody>
                  <a:tcPr marL="36000" marR="36000" marT="36000" marB="3600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12</a:t>
                      </a: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18</a:t>
                      </a: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15</a:t>
                      </a: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16</a:t>
                      </a: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2758911"/>
                  </a:ext>
                </a:extLst>
              </a:tr>
              <a:tr h="32400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b="0" i="0" u="none" strike="noStrike">
                          <a:solidFill>
                            <a:srgbClr val="252525"/>
                          </a:solidFill>
                          <a:effectLst/>
                          <a:latin typeface="Noto Sans" panose="020B0502040504020204" pitchFamily="34" charset="0"/>
                        </a:rPr>
                        <a:t>AUTRES LOTS : durée projet par lotsupp.</a:t>
                      </a:r>
                      <a:br>
                        <a:rPr lang="fr-FR" sz="800" b="0" i="0" u="none" strike="noStrike">
                          <a:solidFill>
                            <a:srgbClr val="252525"/>
                          </a:solidFill>
                          <a:effectLst/>
                          <a:latin typeface="Noto Sans" panose="020B0502040504020204" pitchFamily="34" charset="0"/>
                        </a:rPr>
                      </a:br>
                      <a:r>
                        <a:rPr lang="fr-FR" sz="600" b="0" i="1" u="none" strike="noStrike">
                          <a:solidFill>
                            <a:srgbClr val="252525"/>
                          </a:solidFill>
                          <a:effectLst/>
                          <a:latin typeface="Noto Sans" panose="020B0502040504020204" pitchFamily="34" charset="0"/>
                        </a:rPr>
                        <a:t>en mois</a:t>
                      </a:r>
                      <a:endParaRPr lang="fr-FR" sz="800" b="0" i="0" u="none" strike="noStrike">
                        <a:solidFill>
                          <a:srgbClr val="252525"/>
                        </a:solidFill>
                        <a:effectLst/>
                        <a:latin typeface="Noto Sans" panose="020B0502040504020204" pitchFamily="34" charset="0"/>
                      </a:endParaRP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na</a:t>
                      </a: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7</a:t>
                      </a: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4</a:t>
                      </a: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5</a:t>
                      </a: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7083861"/>
                  </a:ext>
                </a:extLst>
              </a:tr>
              <a:tr h="32400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b="0" i="0" u="none" strike="noStrike">
                          <a:solidFill>
                            <a:srgbClr val="252525"/>
                          </a:solidFill>
                          <a:effectLst/>
                          <a:latin typeface="Noto Sans" panose="020B0502040504020204" pitchFamily="34" charset="0"/>
                        </a:rPr>
                        <a:t>AUTRES LOTS : durée projet pour 4 lots supp.</a:t>
                      </a:r>
                      <a:br>
                        <a:rPr lang="fr-FR" sz="800" b="0" i="0" u="none" strike="noStrike">
                          <a:solidFill>
                            <a:srgbClr val="252525"/>
                          </a:solidFill>
                          <a:effectLst/>
                          <a:latin typeface="Noto Sans" panose="020B0502040504020204" pitchFamily="34" charset="0"/>
                        </a:rPr>
                      </a:br>
                      <a:r>
                        <a:rPr lang="fr-FR" sz="600" b="0" i="1" u="none" strike="noStrike">
                          <a:solidFill>
                            <a:srgbClr val="252525"/>
                          </a:solidFill>
                          <a:effectLst/>
                          <a:latin typeface="Noto Sans" panose="020B0502040504020204" pitchFamily="34" charset="0"/>
                        </a:rPr>
                        <a:t>en mois</a:t>
                      </a:r>
                      <a:endParaRPr lang="fr-FR" sz="800" b="0" i="0" u="none" strike="noStrike">
                        <a:solidFill>
                          <a:srgbClr val="252525"/>
                        </a:solidFill>
                        <a:effectLst/>
                        <a:latin typeface="Noto Sans" panose="020B0502040504020204" pitchFamily="34" charset="0"/>
                      </a:endParaRP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6</a:t>
                      </a: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28</a:t>
                      </a: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16</a:t>
                      </a: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20</a:t>
                      </a: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7689330"/>
                  </a:ext>
                </a:extLst>
              </a:tr>
              <a:tr h="32400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b="1" i="0" u="none" strike="noStrike">
                          <a:solidFill>
                            <a:srgbClr val="252525"/>
                          </a:solidFill>
                          <a:effectLst/>
                          <a:latin typeface="Noto Sans" panose="020B0502040504020204" pitchFamily="34" charset="0"/>
                        </a:rPr>
                        <a:t>FULL SCOPE : durée</a:t>
                      </a:r>
                      <a:br>
                        <a:rPr lang="fr-FR" sz="800" b="1" i="0" u="none" strike="noStrike">
                          <a:solidFill>
                            <a:srgbClr val="252525"/>
                          </a:solidFill>
                          <a:effectLst/>
                          <a:latin typeface="Noto Sans" panose="020B0502040504020204" pitchFamily="34" charset="0"/>
                        </a:rPr>
                      </a:br>
                      <a:r>
                        <a:rPr lang="fr-FR" sz="600" b="1" i="1" u="none" strike="noStrike">
                          <a:solidFill>
                            <a:srgbClr val="252525"/>
                          </a:solidFill>
                          <a:effectLst/>
                          <a:latin typeface="Noto Sans" panose="020B0502040504020204" pitchFamily="34" charset="0"/>
                        </a:rPr>
                        <a:t>en mois</a:t>
                      </a:r>
                      <a:endParaRPr lang="fr-FR" sz="800" b="1" i="0" u="none" strike="noStrike">
                        <a:solidFill>
                          <a:srgbClr val="252525"/>
                        </a:solidFill>
                        <a:effectLst/>
                        <a:latin typeface="Noto Sans" panose="020B0502040504020204" pitchFamily="34" charset="0"/>
                      </a:endParaRP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18</a:t>
                      </a: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46</a:t>
                      </a: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31</a:t>
                      </a: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36</a:t>
                      </a: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5216774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ctr" fontAlgn="ctr"/>
                      <a:endParaRPr lang="fr-FR" sz="600" b="1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Noto Sans" panose="020B0502040504020204" pitchFamily="34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600" b="0" i="1" u="none" strike="noStrike" kern="120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Équiv. en années</a:t>
                      </a: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600" b="0" i="1" u="none" strike="noStrike" kern="120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1,5</a:t>
                      </a: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600" b="0" i="1" u="none" strike="noStrike" kern="120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3,8</a:t>
                      </a: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600" b="0" i="1" u="none" strike="noStrike" kern="120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2,6</a:t>
                      </a: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600" b="0" i="1" u="none" strike="noStrike" kern="120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702226"/>
                  </a:ext>
                </a:extLst>
              </a:tr>
            </a:tbl>
          </a:graphicData>
        </a:graphic>
      </p:graphicFrame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CB966FFA-AE9C-78DF-D3BB-D8BB2BC9EB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6264218"/>
              </p:ext>
            </p:extLst>
          </p:nvPr>
        </p:nvGraphicFramePr>
        <p:xfrm>
          <a:off x="213360" y="2998216"/>
          <a:ext cx="6156000" cy="341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2010796802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3409644780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903567547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3078319562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3529642502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1866955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 </a:t>
                      </a: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 </a:t>
                      </a: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00" b="1" i="0" u="none" strike="noStrike">
                        <a:solidFill>
                          <a:srgbClr val="FFFFFF"/>
                        </a:solidFill>
                        <a:effectLst/>
                        <a:latin typeface="Noto Sans" panose="020B0502040504020204" pitchFamily="34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00" b="1" i="0" u="none" strike="noStrike">
                        <a:solidFill>
                          <a:srgbClr val="FFFFFF"/>
                        </a:solidFill>
                        <a:effectLst/>
                        <a:latin typeface="Noto Sans" panose="020B0502040504020204" pitchFamily="34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00" b="1" i="0" u="none" strike="noStrike">
                        <a:solidFill>
                          <a:srgbClr val="FFFFFF"/>
                        </a:solidFill>
                        <a:effectLst/>
                        <a:latin typeface="Noto Sans" panose="020B0502040504020204" pitchFamily="34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fr-FR" sz="100" b="1" i="0" u="none" strike="noStrike">
                        <a:solidFill>
                          <a:srgbClr val="FFFFFF"/>
                        </a:solidFill>
                        <a:effectLst/>
                        <a:latin typeface="Noto Sans" panose="020B0502040504020204" pitchFamily="34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031626"/>
                  </a:ext>
                </a:extLst>
              </a:tr>
              <a:tr h="324000">
                <a:tc rowSpan="10">
                  <a:txBody>
                    <a:bodyPr/>
                    <a:lstStyle/>
                    <a:p>
                      <a:pPr algn="ctr" fontAlgn="ctr"/>
                      <a:r>
                        <a:rPr lang="fr-FR" sz="600" b="1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Noto Sans" panose="020B0502040504020204" pitchFamily="34" charset="0"/>
                        </a:rPr>
                        <a:t>BUDGET</a:t>
                      </a: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b="0" i="0" u="none" strike="noStrike">
                          <a:solidFill>
                            <a:srgbClr val="252525"/>
                          </a:solidFill>
                          <a:effectLst/>
                          <a:latin typeface="Noto Sans" panose="020B0502040504020204" pitchFamily="34" charset="0"/>
                        </a:rPr>
                        <a:t>PILOTE : coût projet (hors abon.)</a:t>
                      </a:r>
                      <a:br>
                        <a:rPr lang="fr-FR" sz="800" b="0" i="0" u="none" strike="noStrike">
                          <a:solidFill>
                            <a:srgbClr val="252525"/>
                          </a:solidFill>
                          <a:effectLst/>
                          <a:latin typeface="Noto Sans" panose="020B0502040504020204" pitchFamily="34" charset="0"/>
                        </a:rPr>
                      </a:br>
                      <a:r>
                        <a:rPr lang="fr-FR" sz="600" b="0" i="1" u="none" strike="noStrike">
                          <a:solidFill>
                            <a:srgbClr val="252525"/>
                          </a:solidFill>
                          <a:effectLst/>
                          <a:latin typeface="Noto Sans" panose="020B0502040504020204" pitchFamily="34" charset="0"/>
                        </a:rPr>
                        <a:t>en K€</a:t>
                      </a:r>
                      <a:endParaRPr lang="fr-FR" sz="800" b="0" i="0" u="none" strike="noStrike">
                        <a:solidFill>
                          <a:srgbClr val="252525"/>
                        </a:solidFill>
                        <a:effectLst/>
                        <a:latin typeface="Noto Sans" panose="020B0502040504020204" pitchFamily="34" charset="0"/>
                      </a:endParaRPr>
                    </a:p>
                  </a:txBody>
                  <a:tcPr marL="36000" marR="36000" marT="36000" marB="3600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555</a:t>
                      </a:r>
                    </a:p>
                  </a:txBody>
                  <a:tcPr marL="36000" marR="36000" marT="36000" marB="3600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780</a:t>
                      </a:r>
                    </a:p>
                  </a:txBody>
                  <a:tcPr marL="36000" marR="36000" marT="36000" marB="3600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1 352</a:t>
                      </a:r>
                    </a:p>
                  </a:txBody>
                  <a:tcPr marL="36000" marR="36000" marT="36000" marB="3600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1 900</a:t>
                      </a:r>
                    </a:p>
                  </a:txBody>
                  <a:tcPr marL="36000" marR="36000" marT="36000" marB="3600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2758911"/>
                  </a:ext>
                </a:extLst>
              </a:tr>
              <a:tr h="32400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b="0" i="0" u="none" strike="noStrike">
                          <a:solidFill>
                            <a:srgbClr val="252525"/>
                          </a:solidFill>
                          <a:effectLst/>
                          <a:latin typeface="Noto Sans" panose="020B0502040504020204" pitchFamily="34" charset="0"/>
                        </a:rPr>
                        <a:t>PILOTE : coût d’abonnement estimé</a:t>
                      </a:r>
                      <a:br>
                        <a:rPr lang="fr-FR" sz="800" b="0" i="0" u="none" strike="noStrike">
                          <a:solidFill>
                            <a:srgbClr val="252525"/>
                          </a:solidFill>
                          <a:effectLst/>
                          <a:latin typeface="Noto Sans" panose="020B0502040504020204" pitchFamily="34" charset="0"/>
                        </a:rPr>
                      </a:br>
                      <a:r>
                        <a:rPr lang="fr-FR" sz="600" b="0" i="1" u="none" strike="noStrike">
                          <a:solidFill>
                            <a:srgbClr val="252525"/>
                          </a:solidFill>
                          <a:effectLst/>
                          <a:latin typeface="Noto Sans" panose="020B0502040504020204" pitchFamily="34" charset="0"/>
                        </a:rPr>
                        <a:t>en K€</a:t>
                      </a:r>
                      <a:endParaRPr lang="fr-FR" sz="800" b="0" i="0" u="none" strike="noStrike">
                        <a:solidFill>
                          <a:srgbClr val="252525"/>
                        </a:solidFill>
                        <a:effectLst/>
                        <a:latin typeface="Noto Sans" panose="020B0502040504020204" pitchFamily="34" charset="0"/>
                      </a:endParaRP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960</a:t>
                      </a: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673</a:t>
                      </a: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1 200</a:t>
                      </a: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2 021</a:t>
                      </a: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7083861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Version Microsoft -30%</a:t>
                      </a: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 </a:t>
                      </a: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 </a:t>
                      </a: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 </a:t>
                      </a: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1 415</a:t>
                      </a: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7689330"/>
                  </a:ext>
                </a:extLst>
              </a:tr>
              <a:tr h="32400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b="1" i="0" u="none" strike="noStrike">
                          <a:solidFill>
                            <a:srgbClr val="252525"/>
                          </a:solidFill>
                          <a:effectLst/>
                          <a:latin typeface="Noto Sans" panose="020B0502040504020204" pitchFamily="34" charset="0"/>
                        </a:rPr>
                        <a:t>PILOTE : coût total</a:t>
                      </a:r>
                      <a:br>
                        <a:rPr lang="fr-FR" sz="800" b="1" i="0" u="none" strike="noStrike">
                          <a:solidFill>
                            <a:srgbClr val="252525"/>
                          </a:solidFill>
                          <a:effectLst/>
                          <a:latin typeface="Noto Sans" panose="020B0502040504020204" pitchFamily="34" charset="0"/>
                        </a:rPr>
                      </a:br>
                      <a:r>
                        <a:rPr lang="fr-FR" sz="600" b="1" i="1" u="none" strike="noStrike">
                          <a:solidFill>
                            <a:srgbClr val="252525"/>
                          </a:solidFill>
                          <a:effectLst/>
                          <a:latin typeface="Noto Sans" panose="020B0502040504020204" pitchFamily="34" charset="0"/>
                        </a:rPr>
                        <a:t>en K€</a:t>
                      </a:r>
                      <a:endParaRPr lang="fr-FR" sz="800" b="1" i="0" u="none" strike="noStrike">
                        <a:solidFill>
                          <a:srgbClr val="252525"/>
                        </a:solidFill>
                        <a:effectLst/>
                        <a:latin typeface="Noto Sans" panose="020B0502040504020204" pitchFamily="34" charset="0"/>
                      </a:endParaRP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1 515</a:t>
                      </a: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1 453</a:t>
                      </a: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2 552</a:t>
                      </a: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3 921</a:t>
                      </a: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5066803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Version Microsoft -30%</a:t>
                      </a: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 </a:t>
                      </a: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 </a:t>
                      </a: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 </a:t>
                      </a: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3 315</a:t>
                      </a: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785310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fr-FR" sz="100" b="0" i="0" u="none" strike="noStrike">
                        <a:solidFill>
                          <a:srgbClr val="000000"/>
                        </a:solidFill>
                        <a:effectLst/>
                        <a:latin typeface="Noto Sans" panose="020B0502040504020204" pitchFamily="34" charset="0"/>
                      </a:endParaRP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00" b="0" i="0" u="none" strike="noStrike">
                        <a:solidFill>
                          <a:srgbClr val="000000"/>
                        </a:solidFill>
                        <a:effectLst/>
                        <a:latin typeface="Noto Sans" panose="020B0502040504020204" pitchFamily="34" charset="0"/>
                      </a:endParaRP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00" b="0" i="0" u="none" strike="noStrike">
                        <a:solidFill>
                          <a:srgbClr val="000000"/>
                        </a:solidFill>
                        <a:effectLst/>
                        <a:latin typeface="Noto Sans" panose="020B0502040504020204" pitchFamily="34" charset="0"/>
                      </a:endParaRP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00" b="0" i="0" u="none" strike="noStrike">
                        <a:solidFill>
                          <a:srgbClr val="000000"/>
                        </a:solidFill>
                        <a:effectLst/>
                        <a:latin typeface="Noto Sans" panose="020B0502040504020204" pitchFamily="34" charset="0"/>
                      </a:endParaRP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00" b="0" i="0" u="none" strike="noStrike">
                        <a:solidFill>
                          <a:srgbClr val="000000"/>
                        </a:solidFill>
                        <a:effectLst/>
                        <a:latin typeface="Noto Sans" panose="020B0502040504020204" pitchFamily="34" charset="0"/>
                      </a:endParaRP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0143752"/>
                  </a:ext>
                </a:extLst>
              </a:tr>
              <a:tr h="32400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AUTRES LOTS : coût projet estimé (hors abon.)</a:t>
                      </a:r>
                      <a:b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</a:b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en K€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Noto Sans" panose="020B0502040504020204" pitchFamily="34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300</a:t>
                      </a: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1 200</a:t>
                      </a: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1 440</a:t>
                      </a: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1 440</a:t>
                      </a: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5216774"/>
                  </a:ext>
                </a:extLst>
              </a:tr>
              <a:tr h="32400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AUTRES LOTS : coût d'abonnement estimé</a:t>
                      </a:r>
                      <a:b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</a:br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en K€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Noto Sans" panose="020B0502040504020204" pitchFamily="34" charset="0"/>
                      </a:endParaRP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480</a:t>
                      </a: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1 047</a:t>
                      </a: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1 280</a:t>
                      </a: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2 526</a:t>
                      </a: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265572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fontAlgn="ctr"/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Noto Sans" panose="020B0502040504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Version Microsoft -30%</a:t>
                      </a: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 </a:t>
                      </a: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 </a:t>
                      </a: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 </a:t>
                      </a: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1 769</a:t>
                      </a: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026215"/>
                  </a:ext>
                </a:extLst>
              </a:tr>
              <a:tr h="324000">
                <a:tc vMerge="1">
                  <a:txBody>
                    <a:bodyPr/>
                    <a:lstStyle/>
                    <a:p>
                      <a:pPr algn="ctr" fontAlgn="ctr"/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Noto Sans" panose="020B0502040504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b="1" i="0" u="none" strike="noStrike">
                          <a:solidFill>
                            <a:srgbClr val="252525"/>
                          </a:solidFill>
                          <a:effectLst/>
                          <a:latin typeface="Noto Sans" panose="020B0502040504020204" pitchFamily="34" charset="0"/>
                        </a:rPr>
                        <a:t>FULL SCOPE : budget total</a:t>
                      </a:r>
                      <a:br>
                        <a:rPr lang="fr-FR" sz="800" b="1" i="0" u="none" strike="noStrike">
                          <a:solidFill>
                            <a:srgbClr val="252525"/>
                          </a:solidFill>
                          <a:effectLst/>
                          <a:latin typeface="Noto Sans" panose="020B0502040504020204" pitchFamily="34" charset="0"/>
                        </a:rPr>
                      </a:br>
                      <a:r>
                        <a:rPr lang="fr-FR" sz="600" b="1" i="1" u="none" strike="noStrike">
                          <a:solidFill>
                            <a:srgbClr val="252525"/>
                          </a:solidFill>
                          <a:effectLst/>
                          <a:latin typeface="Noto Sans" panose="020B0502040504020204" pitchFamily="34" charset="0"/>
                        </a:rPr>
                        <a:t>en K€</a:t>
                      </a:r>
                      <a:endParaRPr lang="fr-FR" sz="800" b="1" i="0" u="none" strike="noStrike">
                        <a:solidFill>
                          <a:srgbClr val="252525"/>
                        </a:solidFill>
                        <a:effectLst/>
                        <a:latin typeface="Noto Sans" panose="020B0502040504020204" pitchFamily="34" charset="0"/>
                      </a:endParaRP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2 295</a:t>
                      </a: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3 700</a:t>
                      </a: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5 272</a:t>
                      </a: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7 888</a:t>
                      </a: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8356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endParaRPr lang="fr-FR" sz="600" b="1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Noto Sans" panose="020B0502040504020204" pitchFamily="34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Version Microsoft -30%</a:t>
                      </a: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 </a:t>
                      </a: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 </a:t>
                      </a: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 </a:t>
                      </a: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b="1" i="1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6 523</a:t>
                      </a: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5263147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fontAlgn="ctr"/>
                      <a:endParaRPr lang="fr-FR" sz="600" b="1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Noto Sans" panose="020B0502040504020204" pitchFamily="34" charset="0"/>
                      </a:endParaRPr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Hypothèses déploiements autres lots</a:t>
                      </a:r>
                    </a:p>
                  </a:txBody>
                  <a:tcPr marL="36000" marR="36000" marT="36000" marB="36000" anchor="ctr"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600" b="1" i="1" u="sng" strike="noStrike" kern="120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Au total </a:t>
                      </a:r>
                      <a:r>
                        <a:rPr lang="fr-FR" sz="600" b="0" i="1" u="none" strike="noStrike" kern="120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(tous lots hors pilote) :</a:t>
                      </a:r>
                    </a:p>
                    <a:p>
                      <a:pPr marL="0" algn="l" defTabSz="914400" rtl="0" eaLnBrk="1" fontAlgn="ctr" latinLnBrk="0" hangingPunct="1"/>
                      <a:r>
                        <a:rPr lang="fr-FR" sz="600" b="1" i="1" u="none" strike="noStrike" kern="120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200/300 K€</a:t>
                      </a:r>
                    </a:p>
                  </a:txBody>
                  <a:tcPr marL="36000" marR="36000" marT="36000" marB="36000" anchor="ctr"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600" b="0" i="1" u="none" strike="noStrike" kern="120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Par entité : </a:t>
                      </a:r>
                    </a:p>
                    <a:p>
                      <a:pPr marL="0" algn="l" defTabSz="914400" rtl="0" eaLnBrk="1" fontAlgn="ctr" latinLnBrk="0" hangingPunct="1"/>
                      <a:r>
                        <a:rPr lang="fr-FR" sz="600" b="1" i="1" u="none" strike="noStrike" kern="120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200 à 300 K€</a:t>
                      </a:r>
                    </a:p>
                  </a:txBody>
                  <a:tcPr marL="36000" marR="36000" marT="36000" marB="36000" anchor="ctr"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600" b="1" i="1" u="sng" strike="noStrike" kern="120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Pas d'abaque éditeur :</a:t>
                      </a:r>
                      <a:br>
                        <a:rPr lang="fr-FR" sz="600" b="0" i="1" u="none" strike="noStrike" kern="120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</a:br>
                      <a:r>
                        <a:rPr lang="fr-FR" sz="600" b="0" i="1" u="none" strike="noStrike" kern="120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coût estimé au prorata du pilote, par entité : </a:t>
                      </a:r>
                    </a:p>
                    <a:p>
                      <a:pPr marL="0" algn="l" defTabSz="914400" rtl="0" eaLnBrk="1" fontAlgn="ctr" latinLnBrk="0" hangingPunct="1"/>
                      <a:r>
                        <a:rPr lang="fr-FR" sz="600" b="1" i="1" u="none" strike="noStrike" kern="120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360 K€</a:t>
                      </a:r>
                    </a:p>
                  </a:txBody>
                  <a:tcPr marL="36000" marR="36000" marT="36000" marB="36000" anchor="ctr"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600" b="0" i="1" u="none" strike="noStrike" kern="120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Par entité (selon complexité) :</a:t>
                      </a:r>
                    </a:p>
                    <a:p>
                      <a:pPr marL="0" algn="l" defTabSz="914400" rtl="0" eaLnBrk="1" fontAlgn="ctr" latinLnBrk="0" hangingPunct="1"/>
                      <a:r>
                        <a:rPr lang="fr-FR" sz="600" b="1" i="1" u="none" strike="noStrike" kern="120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180</a:t>
                      </a:r>
                      <a:r>
                        <a:rPr lang="fr-FR" sz="600" b="0" i="1" u="none" strike="noStrike" kern="120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 K€ (200JH)</a:t>
                      </a:r>
                      <a:br>
                        <a:rPr lang="fr-FR" sz="600" b="0" i="1" u="none" strike="noStrike" kern="120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</a:br>
                      <a:r>
                        <a:rPr lang="fr-FR" sz="600" b="0" i="1" u="none" strike="noStrike" kern="120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à </a:t>
                      </a:r>
                      <a:r>
                        <a:rPr lang="fr-FR" sz="600" b="1" i="1" u="none" strike="noStrike" kern="120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360</a:t>
                      </a:r>
                      <a:r>
                        <a:rPr lang="fr-FR" sz="600" b="0" i="1" u="none" strike="noStrike" kern="120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 K€ (400 JH) </a:t>
                      </a:r>
                    </a:p>
                  </a:txBody>
                  <a:tcPr marL="36000" marR="36000" marT="36000" marB="36000" anchor="ctr"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7044951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F65DCB6C-8F49-D4D9-B152-0A84A8FAB555}"/>
              </a:ext>
            </a:extLst>
          </p:cNvPr>
          <p:cNvSpPr/>
          <p:nvPr/>
        </p:nvSpPr>
        <p:spPr>
          <a:xfrm>
            <a:off x="5565094" y="3725760"/>
            <a:ext cx="792000" cy="177585"/>
          </a:xfrm>
          <a:prstGeom prst="rect">
            <a:avLst/>
          </a:prstGeom>
          <a:noFill/>
          <a:ln w="19050">
            <a:solidFill>
              <a:srgbClr val="4EA72D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spcAft>
                <a:spcPts val="600"/>
              </a:spcAft>
            </a:pPr>
            <a:endParaRPr lang="fr-FR" sz="1000" b="1">
              <a:solidFill>
                <a:srgbClr val="1A1C3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7C1B4FB-755A-2224-963B-E3AA5331C1AB}"/>
              </a:ext>
            </a:extLst>
          </p:cNvPr>
          <p:cNvSpPr/>
          <p:nvPr/>
        </p:nvSpPr>
        <p:spPr>
          <a:xfrm>
            <a:off x="5565094" y="4212077"/>
            <a:ext cx="792000" cy="177585"/>
          </a:xfrm>
          <a:prstGeom prst="rect">
            <a:avLst/>
          </a:prstGeom>
          <a:noFill/>
          <a:ln w="19050">
            <a:solidFill>
              <a:srgbClr val="4EA72D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spcAft>
                <a:spcPts val="600"/>
              </a:spcAft>
            </a:pPr>
            <a:endParaRPr lang="fr-FR" sz="1000" b="1">
              <a:solidFill>
                <a:srgbClr val="1A1C3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AB8AE1-A8B6-710E-991E-6B87C8835844}"/>
              </a:ext>
            </a:extLst>
          </p:cNvPr>
          <p:cNvSpPr/>
          <p:nvPr/>
        </p:nvSpPr>
        <p:spPr>
          <a:xfrm>
            <a:off x="5565094" y="5122456"/>
            <a:ext cx="792000" cy="177585"/>
          </a:xfrm>
          <a:prstGeom prst="rect">
            <a:avLst/>
          </a:prstGeom>
          <a:noFill/>
          <a:ln w="19050">
            <a:solidFill>
              <a:srgbClr val="4EA72D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spcAft>
                <a:spcPts val="600"/>
              </a:spcAft>
            </a:pPr>
            <a:endParaRPr lang="fr-FR" sz="1000" b="1">
              <a:solidFill>
                <a:srgbClr val="1A1C3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51160F-E0BB-D39D-219B-852C96FC639F}"/>
              </a:ext>
            </a:extLst>
          </p:cNvPr>
          <p:cNvSpPr/>
          <p:nvPr/>
        </p:nvSpPr>
        <p:spPr>
          <a:xfrm>
            <a:off x="5570174" y="5613692"/>
            <a:ext cx="792000" cy="177585"/>
          </a:xfrm>
          <a:prstGeom prst="rect">
            <a:avLst/>
          </a:prstGeom>
          <a:noFill/>
          <a:ln w="19050">
            <a:solidFill>
              <a:srgbClr val="4EA72D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spcAft>
                <a:spcPts val="600"/>
              </a:spcAft>
            </a:pPr>
            <a:endParaRPr lang="fr-FR" sz="1000" b="1">
              <a:solidFill>
                <a:srgbClr val="1A1C3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831E6A3C-3240-DC6F-BB10-1A5BAA10A5A4}"/>
              </a:ext>
            </a:extLst>
          </p:cNvPr>
          <p:cNvSpPr txBox="1"/>
          <p:nvPr/>
        </p:nvSpPr>
        <p:spPr>
          <a:xfrm>
            <a:off x="620275" y="1149361"/>
            <a:ext cx="219803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700" b="1" u="sng">
                <a:solidFill>
                  <a:schemeClr val="accent1"/>
                </a:solidFill>
              </a:rPr>
              <a:t>Estimation des durées de projet, par solution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A48157A7-027A-2B4D-7566-96F3EBACC179}"/>
              </a:ext>
            </a:extLst>
          </p:cNvPr>
          <p:cNvSpPr txBox="1"/>
          <p:nvPr/>
        </p:nvSpPr>
        <p:spPr>
          <a:xfrm>
            <a:off x="620275" y="2898188"/>
            <a:ext cx="225574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700" b="1" u="sng">
                <a:solidFill>
                  <a:schemeClr val="accent1"/>
                </a:solidFill>
              </a:rPr>
              <a:t>Estimation des budgets de projet, par solution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48E7FD-C3AC-571D-13E6-D3CCA71F9963}"/>
              </a:ext>
            </a:extLst>
          </p:cNvPr>
          <p:cNvSpPr/>
          <p:nvPr/>
        </p:nvSpPr>
        <p:spPr>
          <a:xfrm>
            <a:off x="3202894" y="1990725"/>
            <a:ext cx="792000" cy="653084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spcAft>
                <a:spcPts val="600"/>
              </a:spcAft>
            </a:pPr>
            <a:endParaRPr lang="fr-FR" sz="1000" b="1">
              <a:solidFill>
                <a:srgbClr val="1A1C3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36088C-919D-125A-29DB-1AC54549E18A}"/>
              </a:ext>
            </a:extLst>
          </p:cNvPr>
          <p:cNvSpPr/>
          <p:nvPr/>
        </p:nvSpPr>
        <p:spPr>
          <a:xfrm>
            <a:off x="3202894" y="5130912"/>
            <a:ext cx="792000" cy="675653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spcAft>
                <a:spcPts val="600"/>
              </a:spcAft>
            </a:pPr>
            <a:endParaRPr lang="fr-FR" sz="1000" b="1">
              <a:solidFill>
                <a:srgbClr val="1A1C3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45291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F68A7-9643-B63E-9382-2A08A82F8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B79675AF-6A46-EC1D-7443-BF3B831455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FR"/>
              <a:t>Annuelle| Abonnement + autres coûts</a:t>
            </a: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905E5462-87A0-2B8D-F252-E0D8BF534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estimations Budgétaires</a:t>
            </a:r>
          </a:p>
        </p:txBody>
      </p:sp>
      <p:graphicFrame>
        <p:nvGraphicFramePr>
          <p:cNvPr id="18" name="Tableau 17">
            <a:extLst>
              <a:ext uri="{FF2B5EF4-FFF2-40B4-BE49-F238E27FC236}">
                <a16:creationId xmlns:a16="http://schemas.microsoft.com/office/drawing/2014/main" id="{D4971AFC-B5A9-806B-63CF-72ACC95A6A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1459384"/>
              </p:ext>
            </p:extLst>
          </p:nvPr>
        </p:nvGraphicFramePr>
        <p:xfrm>
          <a:off x="213360" y="1133856"/>
          <a:ext cx="6156000" cy="2986760"/>
        </p:xfrm>
        <a:graphic>
          <a:graphicData uri="http://schemas.openxmlformats.org/drawingml/2006/table">
            <a:tbl>
              <a:tblPr/>
              <a:tblGrid>
                <a:gridCol w="468000">
                  <a:extLst>
                    <a:ext uri="{9D8B030D-6E8A-4147-A177-3AD203B41FA5}">
                      <a16:colId xmlns:a16="http://schemas.microsoft.com/office/drawing/2014/main" val="2584609912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4235494866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025208283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647314436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462818970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1382580195"/>
                    </a:ext>
                  </a:extLst>
                </a:gridCol>
              </a:tblGrid>
              <a:tr h="185663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 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 </a:t>
                      </a:r>
                      <a:endParaRPr lang="fr-FR" sz="800" b="1" i="0" u="none" strike="noStrike" kern="1200">
                        <a:solidFill>
                          <a:schemeClr val="bg1"/>
                        </a:solidFill>
                        <a:effectLst/>
                        <a:latin typeface="Noto Sans" panose="020B05020405040202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900" b="1" i="0" u="none" strike="noStrike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SEI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900" b="1" i="0" u="none" strike="noStrike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ODOO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900" b="1" i="0" u="none" strike="noStrike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ORISHA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900" b="1" i="0" u="none" strike="noStrike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MICROSOFT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5200391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 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 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 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 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 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 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2573709"/>
                  </a:ext>
                </a:extLst>
              </a:tr>
              <a:tr h="18566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fr-FR" sz="600" b="1" i="0" u="none" strike="noStrike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b="0" i="0" u="none" strike="noStrike">
                          <a:solidFill>
                            <a:srgbClr val="252525"/>
                          </a:solidFill>
                          <a:effectLst/>
                          <a:latin typeface="Noto Sans" panose="020B0502040504020204" pitchFamily="34" charset="0"/>
                        </a:rPr>
                        <a:t>Budget annuel récurrent</a:t>
                      </a:r>
                    </a:p>
                    <a:p>
                      <a:pPr algn="l" rtl="0" fontAlgn="ctr"/>
                      <a:r>
                        <a:rPr lang="fr-FR" sz="600" b="0" i="1" u="none" strike="noStrike" kern="1200">
                          <a:solidFill>
                            <a:srgbClr val="252525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en K€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 1 140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686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 960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1 606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9664073"/>
                  </a:ext>
                </a:extLst>
              </a:tr>
              <a:tr h="158607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600" b="0" i="1" u="none" strike="noStrike">
                          <a:solidFill>
                            <a:srgbClr val="252525"/>
                          </a:solidFill>
                          <a:effectLst/>
                          <a:latin typeface="Noto Sans" panose="020B0502040504020204" pitchFamily="34" charset="0"/>
                        </a:rPr>
                        <a:t>Dont abonnements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960 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449 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960 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1 516 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14752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endParaRPr lang="fr-FR" sz="100" b="0" i="0" u="none" strike="noStrike">
                        <a:solidFill>
                          <a:srgbClr val="000000"/>
                        </a:solidFill>
                        <a:effectLst/>
                        <a:latin typeface="Noto Sans" panose="020B0502040504020204" pitchFamily="34" charset="0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100" b="0" i="0" u="none" strike="noStrike">
                        <a:solidFill>
                          <a:srgbClr val="000000"/>
                        </a:solidFill>
                        <a:effectLst/>
                        <a:latin typeface="Noto Sans" panose="020B0502040504020204" pitchFamily="34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00" b="0" i="0" u="none" strike="noStrike">
                        <a:solidFill>
                          <a:srgbClr val="000000"/>
                        </a:solidFill>
                        <a:effectLst/>
                        <a:latin typeface="Noto Sans" panose="020B0502040504020204" pitchFamily="34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00" b="0" i="0" u="none" strike="noStrike">
                        <a:solidFill>
                          <a:srgbClr val="000000"/>
                        </a:solidFill>
                        <a:effectLst/>
                        <a:latin typeface="Noto Sans" panose="020B0502040504020204" pitchFamily="34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00" b="0" i="0" u="none" strike="noStrike">
                        <a:solidFill>
                          <a:srgbClr val="000000"/>
                        </a:solidFill>
                        <a:effectLst/>
                        <a:latin typeface="Noto Sans" panose="020B0502040504020204" pitchFamily="34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00" b="0" i="0" u="none" strike="noStrike">
                        <a:solidFill>
                          <a:srgbClr val="000000"/>
                        </a:solidFill>
                        <a:effectLst/>
                        <a:latin typeface="Noto Sans" panose="020B0502040504020204" pitchFamily="34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3201856"/>
                  </a:ext>
                </a:extLst>
              </a:tr>
              <a:tr h="185663">
                <a:tc rowSpan="2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600" b="1" i="0" u="none" strike="noStrike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10%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b="0" i="0" u="none" strike="noStrike">
                          <a:solidFill>
                            <a:srgbClr val="252525"/>
                          </a:solidFill>
                          <a:effectLst/>
                          <a:latin typeface="Noto Sans" panose="020B0502040504020204" pitchFamily="34" charset="0"/>
                        </a:rPr>
                        <a:t>Budget annuel récurrent</a:t>
                      </a:r>
                    </a:p>
                    <a:p>
                      <a:pPr marL="0" algn="l" defTabSz="914400" rtl="0" eaLnBrk="1" fontAlgn="ctr" latinLnBrk="0" hangingPunct="1"/>
                      <a:r>
                        <a:rPr lang="fr-FR" sz="600" b="0" i="1" u="none" strike="noStrike" kern="1200">
                          <a:solidFill>
                            <a:srgbClr val="252525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en K€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800" b="1" i="0" u="none" strike="noStrike" kern="120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894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800" b="1" i="0" u="none" strike="noStrike" kern="120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641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800" b="1" i="0" u="none" strike="noStrike" kern="120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864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800" b="1" i="0" u="none" strike="noStrike" kern="120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 1 454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6073645"/>
                  </a:ext>
                </a:extLst>
              </a:tr>
              <a:tr h="158607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600" b="0" i="1" u="none" strike="noStrike">
                          <a:solidFill>
                            <a:srgbClr val="252525"/>
                          </a:solidFill>
                          <a:effectLst/>
                          <a:latin typeface="Noto Sans" panose="020B0502040504020204" pitchFamily="34" charset="0"/>
                        </a:rPr>
                        <a:t>Dont abonnements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864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404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864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1 364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06835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endParaRPr lang="fr-FR" sz="100" b="0" i="0" u="none" strike="noStrike">
                        <a:solidFill>
                          <a:srgbClr val="000000"/>
                        </a:solidFill>
                        <a:effectLst/>
                        <a:latin typeface="Noto Sans" panose="020B0502040504020204" pitchFamily="34" charset="0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 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 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 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 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 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2074138"/>
                  </a:ext>
                </a:extLst>
              </a:tr>
              <a:tr h="185663">
                <a:tc rowSpan="2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600" b="1" i="0" u="none" strike="noStrike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20%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b="0" i="0" u="none" strike="noStrike">
                          <a:solidFill>
                            <a:srgbClr val="252525"/>
                          </a:solidFill>
                          <a:effectLst/>
                          <a:latin typeface="Noto Sans" panose="020B0502040504020204" pitchFamily="34" charset="0"/>
                        </a:rPr>
                        <a:t>Budget annuel récurrent</a:t>
                      </a:r>
                    </a:p>
                    <a:p>
                      <a:pPr marL="0" algn="l" defTabSz="914400" rtl="0" eaLnBrk="1" fontAlgn="ctr" latinLnBrk="0" hangingPunct="1"/>
                      <a:r>
                        <a:rPr lang="fr-FR" sz="600" b="0" i="1" u="none" strike="noStrike" kern="1200">
                          <a:solidFill>
                            <a:srgbClr val="252525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en K€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800" b="1" i="0" u="none" strike="noStrike" kern="120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985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800" b="1" i="0" u="none" strike="noStrike" kern="120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596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800" b="1" i="0" u="none" strike="noStrike" kern="120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768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800" b="1" i="0" u="none" strike="noStrike" kern="120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 1 303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247936"/>
                  </a:ext>
                </a:extLst>
              </a:tr>
              <a:tr h="158607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600" b="0" i="1" u="none" strike="noStrike">
                          <a:solidFill>
                            <a:srgbClr val="252525"/>
                          </a:solidFill>
                          <a:effectLst/>
                          <a:latin typeface="Noto Sans" panose="020B0502040504020204" pitchFamily="34" charset="0"/>
                        </a:rPr>
                        <a:t>Dont abonnements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768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359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768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1 213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6211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endParaRPr lang="fr-FR" sz="100" b="0" i="0" u="none" strike="noStrike">
                        <a:solidFill>
                          <a:srgbClr val="000000"/>
                        </a:solidFill>
                        <a:effectLst/>
                        <a:latin typeface="Noto Sans" panose="020B0502040504020204" pitchFamily="34" charset="0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 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 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 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 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 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0011860"/>
                  </a:ext>
                </a:extLst>
              </a:tr>
              <a:tr h="185663">
                <a:tc rowSpan="2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600" b="1" i="0" u="none" strike="noStrike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30%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b="0" i="0" u="none" strike="noStrike">
                          <a:solidFill>
                            <a:srgbClr val="252525"/>
                          </a:solidFill>
                          <a:effectLst/>
                          <a:latin typeface="Noto Sans" panose="020B0502040504020204" pitchFamily="34" charset="0"/>
                        </a:rPr>
                        <a:t>Budget annuel récurrent</a:t>
                      </a:r>
                    </a:p>
                    <a:p>
                      <a:pPr marL="0" algn="l" defTabSz="914400" rtl="0" eaLnBrk="1" fontAlgn="ctr" latinLnBrk="0" hangingPunct="1"/>
                      <a:r>
                        <a:rPr lang="fr-FR" sz="600" b="0" i="1" u="none" strike="noStrike" kern="1200">
                          <a:solidFill>
                            <a:srgbClr val="252525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en K€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800" b="1" i="0" u="none" strike="noStrike" kern="120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889 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800" b="1" i="0" u="none" strike="noStrike" kern="120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551 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800" b="1" i="0" u="none" strike="noStrike" kern="120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672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800" b="1" i="0" u="none" strike="noStrike" kern="120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 1 151 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1252323"/>
                  </a:ext>
                </a:extLst>
              </a:tr>
              <a:tr h="158607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600" b="0" i="1" u="none" strike="noStrike">
                          <a:solidFill>
                            <a:srgbClr val="252525"/>
                          </a:solidFill>
                          <a:effectLst/>
                          <a:latin typeface="Noto Sans" panose="020B0502040504020204" pitchFamily="34" charset="0"/>
                        </a:rPr>
                        <a:t>Dont abonnements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672 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314 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672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1 061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5202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 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 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 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 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 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 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869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Noto Sans" panose="020B0502040504020204" pitchFamily="34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b="0" i="1" u="none" strike="noStrike" kern="1200">
                          <a:solidFill>
                            <a:srgbClr val="252525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MONTEE DE VERSION MAJEURE en K€</a:t>
                      </a:r>
                      <a:br>
                        <a:rPr lang="fr-FR" sz="600" b="0" i="1" u="none" strike="noStrike" kern="1200">
                          <a:solidFill>
                            <a:srgbClr val="252525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</a:br>
                      <a:r>
                        <a:rPr lang="fr-FR" sz="600" b="0" i="1" u="none" strike="noStrike" kern="1200">
                          <a:solidFill>
                            <a:srgbClr val="252525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20% projet initial tous les 3 ans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600" b="0" i="1" u="none" strike="noStrike" kern="120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111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600" b="0" i="1" u="none" strike="noStrike" kern="120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Inclus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600" b="0" i="1" u="none" strike="noStrike" kern="120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270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600" b="0" i="1" u="none" strike="noStrike" kern="120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380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475006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Noto Sans" panose="020B0502040504020204" pitchFamily="34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600" b="0" i="1" u="none" strike="noStrike" kern="1200">
                          <a:solidFill>
                            <a:srgbClr val="252525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Équiv. lissée annuellement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600" b="0" i="1" u="none" strike="noStrike" kern="120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37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600" b="0" i="1" u="none" strike="noStrike" kern="120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Inclus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600" b="0" i="1" u="none" strike="noStrike" kern="120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90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600" b="0" i="1" u="none" strike="noStrike" kern="120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127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9044763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CC280D0F-A296-8C4D-BF44-782AA041AA0C}"/>
              </a:ext>
            </a:extLst>
          </p:cNvPr>
          <p:cNvSpPr/>
          <p:nvPr/>
        </p:nvSpPr>
        <p:spPr>
          <a:xfrm>
            <a:off x="4803455" y="1488440"/>
            <a:ext cx="792000" cy="437949"/>
          </a:xfrm>
          <a:prstGeom prst="rect">
            <a:avLst/>
          </a:prstGeom>
          <a:noFill/>
          <a:ln w="28575">
            <a:solidFill>
              <a:schemeClr val="accent4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 b="1">
              <a:solidFill>
                <a:srgbClr val="1A1C3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23AD9C-AAD9-6A24-8775-DDEDE67A9E8D}"/>
              </a:ext>
            </a:extLst>
          </p:cNvPr>
          <p:cNvSpPr/>
          <p:nvPr/>
        </p:nvSpPr>
        <p:spPr>
          <a:xfrm>
            <a:off x="3204215" y="1487456"/>
            <a:ext cx="792000" cy="437949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 b="1">
              <a:solidFill>
                <a:srgbClr val="1A1C3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8F994C-4289-2480-E9DD-19FE4194F22F}"/>
              </a:ext>
            </a:extLst>
          </p:cNvPr>
          <p:cNvSpPr/>
          <p:nvPr/>
        </p:nvSpPr>
        <p:spPr>
          <a:xfrm>
            <a:off x="4001295" y="1485408"/>
            <a:ext cx="792000" cy="437949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 b="1">
              <a:solidFill>
                <a:srgbClr val="1A1C3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16E795-C28E-BDE8-54CC-4A2278BB1ED3}"/>
              </a:ext>
            </a:extLst>
          </p:cNvPr>
          <p:cNvSpPr/>
          <p:nvPr/>
        </p:nvSpPr>
        <p:spPr>
          <a:xfrm>
            <a:off x="5580070" y="3131255"/>
            <a:ext cx="792000" cy="437948"/>
          </a:xfrm>
          <a:prstGeom prst="rect">
            <a:avLst/>
          </a:prstGeom>
          <a:noFill/>
          <a:ln w="28575">
            <a:solidFill>
              <a:srgbClr val="4EA72D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spcAft>
                <a:spcPts val="600"/>
              </a:spcAft>
            </a:pPr>
            <a:endParaRPr lang="fr-FR" sz="1000" b="1">
              <a:solidFill>
                <a:srgbClr val="1A1C3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37A6C18-8FCE-1219-1744-608C2F0D1D3F}"/>
              </a:ext>
            </a:extLst>
          </p:cNvPr>
          <p:cNvSpPr txBox="1"/>
          <p:nvPr/>
        </p:nvSpPr>
        <p:spPr>
          <a:xfrm>
            <a:off x="6685750" y="1107113"/>
            <a:ext cx="5353050" cy="4939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fr-FR" sz="1000" b="1">
                <a:solidFill>
                  <a:schemeClr val="accent1"/>
                </a:solidFill>
                <a:cs typeface="Calibri" panose="020F0502020204030204" pitchFamily="34" charset="0"/>
              </a:rPr>
              <a:t>Hypothèses de calcul.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800">
                <a:solidFill>
                  <a:schemeClr val="accent1"/>
                </a:solidFill>
                <a:cs typeface="Calibri" panose="020F0502020204030204" pitchFamily="34" charset="0"/>
              </a:rPr>
              <a:t>Données telles que communiquées par les éditeurs.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800">
                <a:solidFill>
                  <a:schemeClr val="accent1"/>
                </a:solidFill>
                <a:cs typeface="Calibri" panose="020F0502020204030204" pitchFamily="34" charset="0"/>
              </a:rPr>
              <a:t>Base de calcul des abonnements : 1 000 utilisateurs de plein droit (consultation, modification…).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800">
                <a:solidFill>
                  <a:schemeClr val="accent1"/>
                </a:solidFill>
                <a:cs typeface="Calibri" panose="020F0502020204030204" pitchFamily="34" charset="0"/>
              </a:rPr>
              <a:t>Coûts d’abonnement (pilote + autres lots) : au prorata du prix annuel.</a:t>
            </a:r>
          </a:p>
          <a:p>
            <a:pPr>
              <a:spcAft>
                <a:spcPts val="600"/>
              </a:spcAft>
            </a:pPr>
            <a:endParaRPr lang="fr-FR" sz="1000">
              <a:cs typeface="Calibri" panose="020F0502020204030204" pitchFamily="34" charset="0"/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1000">
                <a:cs typeface="Calibri" panose="020F0502020204030204" pitchFamily="34" charset="0"/>
              </a:rPr>
              <a:t>Les premières estimations situent le coût annuel total, selon le niveau de remise :</a:t>
            </a:r>
          </a:p>
          <a:p>
            <a:pPr marL="628650" lvl="1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900">
                <a:cs typeface="Calibri" panose="020F0502020204030204" pitchFamily="34" charset="0"/>
              </a:rPr>
              <a:t>Microsoft : entre </a:t>
            </a:r>
            <a:r>
              <a:rPr lang="fr-FR" sz="900" b="1">
                <a:cs typeface="Calibri" panose="020F0502020204030204" pitchFamily="34" charset="0"/>
              </a:rPr>
              <a:t>1,2 M€ </a:t>
            </a:r>
            <a:r>
              <a:rPr lang="fr-FR" sz="900">
                <a:cs typeface="Calibri" panose="020F0502020204030204" pitchFamily="34" charset="0"/>
              </a:rPr>
              <a:t>et </a:t>
            </a:r>
            <a:r>
              <a:rPr lang="fr-FR" sz="900" b="1">
                <a:cs typeface="Calibri" panose="020F0502020204030204" pitchFamily="34" charset="0"/>
              </a:rPr>
              <a:t>1,6 M€,</a:t>
            </a:r>
            <a:endParaRPr lang="fr-FR" sz="900">
              <a:cs typeface="Calibri" panose="020F0502020204030204" pitchFamily="34" charset="0"/>
            </a:endParaRPr>
          </a:p>
          <a:p>
            <a:pPr marL="628650" lvl="1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900">
                <a:cs typeface="Calibri" panose="020F0502020204030204" pitchFamily="34" charset="0"/>
              </a:rPr>
              <a:t>Challengers : entre </a:t>
            </a:r>
            <a:r>
              <a:rPr lang="fr-FR" sz="900" b="1">
                <a:cs typeface="Calibri" panose="020F0502020204030204" pitchFamily="34" charset="0"/>
              </a:rPr>
              <a:t>0,5 et 1,2 M€,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1000">
                <a:cs typeface="Calibri" panose="020F0502020204030204" pitchFamily="34" charset="0"/>
              </a:rPr>
              <a:t>soit un rapport de </a:t>
            </a:r>
            <a:r>
              <a:rPr lang="fr-FR" sz="1000" b="1">
                <a:cs typeface="Calibri" panose="020F0502020204030204" pitchFamily="34" charset="0"/>
              </a:rPr>
              <a:t>±2:1 entre le leader et ses challengers </a:t>
            </a:r>
            <a:r>
              <a:rPr lang="fr-FR" sz="1000">
                <a:cs typeface="Calibri" panose="020F0502020204030204" pitchFamily="34" charset="0"/>
              </a:rPr>
              <a:t>les moins disant (Odoo et Orisha).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1000">
                <a:cs typeface="Calibri" panose="020F0502020204030204" pitchFamily="34" charset="0"/>
              </a:rPr>
              <a:t>Cet écart est réduit à</a:t>
            </a:r>
            <a:r>
              <a:rPr lang="fr-FR" sz="1000" b="1">
                <a:cs typeface="Calibri" panose="020F0502020204030204" pitchFamily="34" charset="0"/>
              </a:rPr>
              <a:t> ±30% avec SEI.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 i="1">
              <a:cs typeface="Calibri" panose="020F0502020204030204" pitchFamily="34" charset="0"/>
            </a:endParaRPr>
          </a:p>
          <a:p>
            <a:pPr marL="0" lvl="1">
              <a:spcAft>
                <a:spcPts val="600"/>
              </a:spcAft>
            </a:pPr>
            <a:r>
              <a:rPr lang="fr-FR" sz="1000" b="1">
                <a:solidFill>
                  <a:schemeClr val="accent1"/>
                </a:solidFill>
                <a:cs typeface="Calibri" panose="020F0502020204030204" pitchFamily="34" charset="0"/>
              </a:rPr>
              <a:t>Les totaux prennent en compte les coûts d’abonnement et les autres coûts récurrents, tels que communiqués par les éditeurs. </a:t>
            </a:r>
          </a:p>
          <a:p>
            <a:pPr marL="171450" lvl="1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1000">
                <a:cs typeface="Calibri" panose="020F0502020204030204" pitchFamily="34" charset="0"/>
              </a:rPr>
              <a:t>Les challengers ont basé leurs estimations pour les abonnements sur les prix publics : une marge de négociation existe.</a:t>
            </a:r>
          </a:p>
          <a:p>
            <a:pPr marL="628650" lvl="1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900">
                <a:cs typeface="Calibri" panose="020F0502020204030204" pitchFamily="34" charset="0"/>
              </a:rPr>
              <a:t>L’enveloppe budgétaire remise par Microsoft </a:t>
            </a:r>
            <a:r>
              <a:rPr lang="fr-FR" sz="900" b="1">
                <a:cs typeface="Calibri" panose="020F0502020204030204" pitchFamily="34" charset="0"/>
              </a:rPr>
              <a:t>inclut une remise d’environ 30%.</a:t>
            </a:r>
            <a:endParaRPr lang="fr-FR" sz="900">
              <a:cs typeface="Calibri" panose="020F0502020204030204" pitchFamily="34" charset="0"/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1000">
                <a:cs typeface="Calibri" panose="020F0502020204030204" pitchFamily="34" charset="0"/>
              </a:rPr>
              <a:t>Odoo intègre dans ses coûts récurrents </a:t>
            </a:r>
            <a:r>
              <a:rPr lang="fr-FR" sz="1000" b="1">
                <a:cs typeface="Calibri" panose="020F0502020204030204" pitchFamily="34" charset="0"/>
              </a:rPr>
              <a:t>20% du projet d’implémentation initiale (pilote) tous les 3 ans</a:t>
            </a:r>
            <a:r>
              <a:rPr lang="fr-FR" sz="1000">
                <a:cs typeface="Calibri" panose="020F0502020204030204" pitchFamily="34" charset="0"/>
              </a:rPr>
              <a:t>, pour les adaptations aux montées de version majeures.</a:t>
            </a:r>
          </a:p>
          <a:p>
            <a:pPr marL="171450" lvl="1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1000">
                <a:cs typeface="Calibri" panose="020F0502020204030204" pitchFamily="34" charset="0"/>
              </a:rPr>
              <a:t>Cet abaque nous semble pertinent pour l’ensemble des éditeurs, en dépit de la mise à disposition gratuite des nouvelles versions (des coûts projet sont à prévoir).</a:t>
            </a:r>
          </a:p>
          <a:p>
            <a:pPr marL="171450" lvl="1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>
              <a:cs typeface="Calibri" panose="020F0502020204030204" pitchFamily="34" charset="0"/>
            </a:endParaRPr>
          </a:p>
          <a:p>
            <a:pPr marL="0" lvl="1">
              <a:spcAft>
                <a:spcPts val="600"/>
              </a:spcAft>
            </a:pPr>
            <a:endParaRPr lang="fr-FR" sz="800">
              <a:cs typeface="Calibri" panose="020F0502020204030204" pitchFamily="34" charset="0"/>
            </a:endParaRP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DE35F100-87F0-0D54-A4CA-EA707BE6EFEB}"/>
              </a:ext>
            </a:extLst>
          </p:cNvPr>
          <p:cNvSpPr txBox="1"/>
          <p:nvPr/>
        </p:nvSpPr>
        <p:spPr>
          <a:xfrm>
            <a:off x="620275" y="1150091"/>
            <a:ext cx="220284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700" b="1" u="sng">
                <a:solidFill>
                  <a:schemeClr val="accent1"/>
                </a:solidFill>
              </a:rPr>
              <a:t>Estimation des budgets annuels, par solution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A8757D2-E903-73F6-9E70-43356E82AB02}"/>
              </a:ext>
            </a:extLst>
          </p:cNvPr>
          <p:cNvSpPr txBox="1"/>
          <p:nvPr/>
        </p:nvSpPr>
        <p:spPr>
          <a:xfrm>
            <a:off x="507245" y="4369081"/>
            <a:ext cx="6095266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800">
                <a:cs typeface="Calibri" panose="020F0502020204030204" pitchFamily="34" charset="0"/>
              </a:rPr>
              <a:t>Postes de coûts communiqués par les éditeurs :</a:t>
            </a:r>
          </a:p>
          <a:p>
            <a:pPr marL="628650" lvl="2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700" b="1">
                <a:cs typeface="Calibri" panose="020F0502020204030204" pitchFamily="34" charset="0"/>
              </a:rPr>
              <a:t>Microsoft</a:t>
            </a:r>
            <a:r>
              <a:rPr lang="fr-FR" sz="700">
                <a:cs typeface="Calibri" panose="020F0502020204030204" pitchFamily="34" charset="0"/>
              </a:rPr>
              <a:t> : abonnements, support étendu.</a:t>
            </a:r>
          </a:p>
          <a:p>
            <a:pPr marL="628650" lvl="2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700" b="1">
                <a:cs typeface="Calibri" panose="020F0502020204030204" pitchFamily="34" charset="0"/>
              </a:rPr>
              <a:t>SEI</a:t>
            </a:r>
            <a:r>
              <a:rPr lang="fr-FR" sz="700">
                <a:cs typeface="Calibri" panose="020F0502020204030204" pitchFamily="34" charset="0"/>
              </a:rPr>
              <a:t> : abonnements, maintenance applicative complémentaire, maintenance des spécifiques.</a:t>
            </a:r>
          </a:p>
          <a:p>
            <a:pPr marL="628650" lvl="2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700" b="1">
                <a:cs typeface="Calibri" panose="020F0502020204030204" pitchFamily="34" charset="0"/>
              </a:rPr>
              <a:t>Odoo</a:t>
            </a:r>
            <a:r>
              <a:rPr lang="fr-FR" sz="700">
                <a:cs typeface="Calibri" panose="020F0502020204030204" pitchFamily="34" charset="0"/>
              </a:rPr>
              <a:t> : abonnements, maintenance applicative complémentaire, hébergement.</a:t>
            </a:r>
          </a:p>
          <a:p>
            <a:pPr marL="628650" lvl="2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700" b="1">
                <a:cs typeface="Calibri" panose="020F0502020204030204" pitchFamily="34" charset="0"/>
              </a:rPr>
              <a:t>Orisha</a:t>
            </a:r>
            <a:r>
              <a:rPr lang="fr-FR" sz="700">
                <a:cs typeface="Calibri" panose="020F0502020204030204" pitchFamily="34" charset="0"/>
              </a:rPr>
              <a:t> : abonnements.</a:t>
            </a:r>
          </a:p>
          <a:p>
            <a:pPr marL="628650" lvl="1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>
              <a:solidFill>
                <a:schemeClr val="accent1"/>
              </a:solidFill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6824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2042B-5799-57C9-C0B5-F2561D5D4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55084019-E954-0497-4E24-27AB9A3CD8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FR"/>
              <a:t>Projection budget total | Pluriannuel </a:t>
            </a: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5812536E-CE54-51A3-C150-369BE602A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estimations Budgétaires</a:t>
            </a:r>
          </a:p>
        </p:txBody>
      </p:sp>
      <p:graphicFrame>
        <p:nvGraphicFramePr>
          <p:cNvPr id="42" name="Tableau 41">
            <a:extLst>
              <a:ext uri="{FF2B5EF4-FFF2-40B4-BE49-F238E27FC236}">
                <a16:creationId xmlns:a16="http://schemas.microsoft.com/office/drawing/2014/main" id="{5086F859-CF14-8898-74C3-262B79EFAF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7180966"/>
              </p:ext>
            </p:extLst>
          </p:nvPr>
        </p:nvGraphicFramePr>
        <p:xfrm>
          <a:off x="213360" y="1133856"/>
          <a:ext cx="6156000" cy="33614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2740491032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2000972987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3703101479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103037123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1268990237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564976"/>
                    </a:ext>
                  </a:extLst>
                </a:gridCol>
              </a:tblGrid>
              <a:tr h="202536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Noto Sans" panose="020B0502040504020204" pitchFamily="34" charset="0"/>
                        </a:rPr>
                        <a:t> </a:t>
                      </a: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000" marR="36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900" b="1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Noto Sans" panose="020B0502040504020204" pitchFamily="34" charset="0"/>
                        </a:rPr>
                        <a:t>SEI</a:t>
                      </a: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900" b="1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Noto Sans" panose="020B0502040504020204" pitchFamily="34" charset="0"/>
                        </a:rPr>
                        <a:t>ODOO</a:t>
                      </a:r>
                    </a:p>
                  </a:txBody>
                  <a:tcPr marL="36000" marR="36000" marT="36000" marB="3600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900" b="1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Noto Sans" panose="020B0502040504020204" pitchFamily="34" charset="0"/>
                        </a:rPr>
                        <a:t>ORISHA</a:t>
                      </a:r>
                    </a:p>
                  </a:txBody>
                  <a:tcPr marL="36000" marR="36000" marT="36000" marB="3600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900" b="1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Noto Sans" panose="020B0502040504020204" pitchFamily="34" charset="0"/>
                        </a:rPr>
                        <a:t>MICROSOFT</a:t>
                      </a:r>
                    </a:p>
                  </a:txBody>
                  <a:tcPr marL="36000" marR="36000" marT="36000" marB="3600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5470156"/>
                  </a:ext>
                </a:extLst>
              </a:tr>
              <a:tr h="313739">
                <a:tc rowSpan="2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fr-FR" sz="600" b="1" i="0" u="none" strike="noStrike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Noto Sans" panose="020B0502040504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b="0" i="0" u="none" strike="noStrike">
                          <a:solidFill>
                            <a:srgbClr val="252525"/>
                          </a:solidFill>
                          <a:effectLst/>
                          <a:latin typeface="Noto Sans" panose="020B0502040504020204" pitchFamily="34" charset="0"/>
                        </a:rPr>
                        <a:t>FULL SCOPE : durée</a:t>
                      </a:r>
                      <a:br>
                        <a:rPr lang="fr-FR" sz="800" b="0" i="0" u="none" strike="noStrike">
                          <a:solidFill>
                            <a:srgbClr val="252525"/>
                          </a:solidFill>
                          <a:effectLst/>
                          <a:latin typeface="Noto Sans" panose="020B0502040504020204" pitchFamily="34" charset="0"/>
                        </a:rPr>
                      </a:br>
                      <a:r>
                        <a:rPr lang="fr-FR" sz="600" b="0" i="1" u="none" strike="noStrike">
                          <a:solidFill>
                            <a:srgbClr val="252525"/>
                          </a:solidFill>
                          <a:effectLst/>
                          <a:latin typeface="Noto Sans" panose="020B0502040504020204" pitchFamily="34" charset="0"/>
                        </a:rPr>
                        <a:t>en mois</a:t>
                      </a:r>
                      <a:endParaRPr lang="fr-FR" sz="800" b="0" i="0" u="none" strike="noStrike">
                        <a:solidFill>
                          <a:srgbClr val="252525"/>
                        </a:solidFill>
                        <a:effectLst/>
                        <a:latin typeface="Noto Sans" panose="020B0502040504020204" pitchFamily="34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18</a:t>
                      </a: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46</a:t>
                      </a: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31</a:t>
                      </a: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36</a:t>
                      </a:r>
                    </a:p>
                  </a:txBody>
                  <a:tcPr marL="36000" marR="36000" marT="36000" marB="360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3826301"/>
                  </a:ext>
                </a:extLst>
              </a:tr>
              <a:tr h="158264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600" b="0" i="1" u="none" strike="noStrike" kern="120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Équiv. en années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600" b="0" i="1" u="none" strike="noStrike" kern="120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1,5</a:t>
                      </a: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600" b="0" i="1" u="none" strike="noStrike" kern="120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3,8</a:t>
                      </a: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600" b="0" i="1" u="none" strike="noStrike" kern="120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2,6</a:t>
                      </a: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600" b="0" i="1" u="none" strike="noStrike" kern="120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1703259"/>
                  </a:ext>
                </a:extLst>
              </a:tr>
              <a:tr h="158264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fr-FR" sz="600" b="1" i="0" u="none" strike="noStrike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Noto Sans" panose="020B05020405040202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Noto Sans" panose="020B0502040504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Noto Sans" panose="020B0502040504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Noto Sans" panose="020B0502040504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Noto Sans" panose="020B0502040504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Noto Sans" panose="020B0502040504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205279"/>
                  </a:ext>
                </a:extLst>
              </a:tr>
              <a:tr h="276323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600" b="1" i="0" u="none" strike="noStrike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Noto Sans" panose="020B05020405040202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R w="12700" cmpd="sng">
                      <a:noFill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b="0" i="0" u="none" strike="noStrike">
                          <a:solidFill>
                            <a:srgbClr val="252525"/>
                          </a:solidFill>
                          <a:effectLst/>
                          <a:latin typeface="Noto Sans" panose="020B0502040504020204" pitchFamily="34" charset="0"/>
                        </a:rPr>
                        <a:t>FULL SCOPE : budget total projet (MEP + </a:t>
                      </a:r>
                      <a:r>
                        <a:rPr lang="fr-FR" sz="800" b="0" i="0" u="none" strike="noStrike" err="1">
                          <a:solidFill>
                            <a:srgbClr val="252525"/>
                          </a:solidFill>
                          <a:effectLst/>
                          <a:latin typeface="Noto Sans" panose="020B0502040504020204" pitchFamily="34" charset="0"/>
                        </a:rPr>
                        <a:t>abon</a:t>
                      </a:r>
                      <a:r>
                        <a:rPr lang="fr-FR" sz="800" b="0" i="0" u="none" strike="noStrike">
                          <a:solidFill>
                            <a:srgbClr val="252525"/>
                          </a:solidFill>
                          <a:effectLst/>
                          <a:latin typeface="Noto Sans" panose="020B0502040504020204" pitchFamily="34" charset="0"/>
                        </a:rPr>
                        <a:t>.)</a:t>
                      </a:r>
                      <a:br>
                        <a:rPr lang="fr-FR" sz="800" b="0" i="0" u="none" strike="noStrike">
                          <a:solidFill>
                            <a:srgbClr val="252525"/>
                          </a:solidFill>
                          <a:effectLst/>
                          <a:latin typeface="Noto Sans" panose="020B0502040504020204" pitchFamily="34" charset="0"/>
                        </a:rPr>
                      </a:br>
                      <a:r>
                        <a:rPr lang="fr-FR" sz="600" b="0" i="1" u="none" strike="noStrike">
                          <a:solidFill>
                            <a:srgbClr val="252525"/>
                          </a:solidFill>
                          <a:effectLst/>
                          <a:latin typeface="Noto Sans" panose="020B0502040504020204" pitchFamily="34" charset="0"/>
                        </a:rPr>
                        <a:t>en K€</a:t>
                      </a:r>
                      <a:endParaRPr lang="fr-FR" sz="800" b="0" i="0" u="none" strike="noStrike">
                        <a:solidFill>
                          <a:srgbClr val="252525"/>
                        </a:solidFill>
                        <a:effectLst/>
                        <a:latin typeface="Noto Sans" panose="020B0502040504020204" pitchFamily="34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2 295</a:t>
                      </a: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3 700</a:t>
                      </a: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5 272</a:t>
                      </a: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7 888</a:t>
                      </a: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806139"/>
                  </a:ext>
                </a:extLst>
              </a:tr>
              <a:tr h="158264">
                <a:tc v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fr-FR" sz="600" b="1" i="0" u="none" strike="noStrike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Noto Sans" panose="020B05020405040202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R w="12700" cmpd="sng">
                      <a:noFill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600" b="0" i="1" u="none" strike="noStrike" kern="120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Version Microsoft -30%</a:t>
                      </a: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600" b="0" i="1" u="none" strike="noStrike" kern="120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600" b="0" i="1" u="none" strike="noStrike" kern="120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600" b="0" i="1" u="none" strike="noStrike" kern="120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600" b="0" i="1" u="none" strike="noStrike" kern="120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6 523</a:t>
                      </a: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1279194"/>
                  </a:ext>
                </a:extLst>
              </a:tr>
              <a:tr h="15826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600" b="1" i="0" u="none" strike="noStrike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Noto Sans" panose="020B05020405040202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R w="12700" cmpd="sng">
                      <a:noFill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fr-FR" sz="600" b="0" i="1" u="none" strike="noStrike" kern="1200">
                        <a:solidFill>
                          <a:srgbClr val="000000"/>
                        </a:solidFill>
                        <a:effectLst/>
                        <a:latin typeface="Noto Sans" panose="020B05020405040202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fr-FR" sz="600" b="0" i="1" u="none" strike="noStrike" kern="1200">
                        <a:solidFill>
                          <a:srgbClr val="000000"/>
                        </a:solidFill>
                        <a:effectLst/>
                        <a:latin typeface="Noto Sans" panose="020B05020405040202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fr-FR" sz="600" b="0" i="1" u="none" strike="noStrike" kern="1200">
                        <a:solidFill>
                          <a:srgbClr val="000000"/>
                        </a:solidFill>
                        <a:effectLst/>
                        <a:latin typeface="Noto Sans" panose="020B05020405040202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fr-FR" sz="600" b="0" i="1" u="none" strike="noStrike" kern="1200">
                        <a:solidFill>
                          <a:srgbClr val="000000"/>
                        </a:solidFill>
                        <a:effectLst/>
                        <a:latin typeface="Noto Sans" panose="020B05020405040202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fr-FR" sz="600" b="0" i="1" u="none" strike="noStrike" kern="1200">
                        <a:solidFill>
                          <a:srgbClr val="000000"/>
                        </a:solidFill>
                        <a:effectLst/>
                        <a:latin typeface="Noto Sans" panose="020B05020405040202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9961131"/>
                  </a:ext>
                </a:extLst>
              </a:tr>
              <a:tr h="27632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600" b="1" i="0" u="none" strike="noStrike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Noto Sans" panose="020B05020405040202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R w="12700" cmpd="sng">
                      <a:noFill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b="0" i="0" u="none" strike="noStrike">
                          <a:solidFill>
                            <a:srgbClr val="252525"/>
                          </a:solidFill>
                          <a:effectLst/>
                          <a:latin typeface="Noto Sans" panose="020B0502040504020204" pitchFamily="34" charset="0"/>
                        </a:rPr>
                        <a:t>Budget annuel récurrent</a:t>
                      </a:r>
                    </a:p>
                    <a:p>
                      <a:pPr algn="l" rtl="0" fontAlgn="ctr"/>
                      <a:r>
                        <a:rPr lang="fr-FR" sz="600" b="0" i="1" u="none" strike="noStrike" kern="1200">
                          <a:solidFill>
                            <a:srgbClr val="252525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en K€</a:t>
                      </a: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 1 140</a:t>
                      </a: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686</a:t>
                      </a: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 960</a:t>
                      </a: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1 606</a:t>
                      </a: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771914"/>
                  </a:ext>
                </a:extLst>
              </a:tr>
              <a:tr h="15826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600" b="1" i="0" u="none" strike="noStrike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Noto Sans" panose="020B05020405040202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R w="12700" cmpd="sng">
                      <a:noFill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600" b="0" i="1" u="none" strike="noStrike">
                          <a:solidFill>
                            <a:srgbClr val="252525"/>
                          </a:solidFill>
                          <a:effectLst/>
                          <a:latin typeface="Noto Sans" panose="020B0502040504020204" pitchFamily="34" charset="0"/>
                        </a:rPr>
                        <a:t>Dont abonnements</a:t>
                      </a: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960 </a:t>
                      </a: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449 </a:t>
                      </a: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960 </a:t>
                      </a: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1 516 </a:t>
                      </a: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9062327"/>
                  </a:ext>
                </a:extLst>
              </a:tr>
              <a:tr h="15826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600" b="1" i="0" u="none" strike="noStrike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Noto Sans" panose="020B05020405040202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R w="12700" cmpd="sng">
                      <a:noFill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b="0" i="1" u="none" strike="noStrike" kern="120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Version Microsoft -30% (annuel total / abonnements)</a:t>
                      </a: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600" b="0" i="1" u="none" strike="noStrike">
                        <a:solidFill>
                          <a:srgbClr val="000000"/>
                        </a:solidFill>
                        <a:effectLst/>
                        <a:latin typeface="Noto Sans" panose="020B0502040504020204" pitchFamily="34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600" b="0" i="1" u="none" strike="noStrike">
                        <a:solidFill>
                          <a:srgbClr val="000000"/>
                        </a:solidFill>
                        <a:effectLst/>
                        <a:latin typeface="Noto Sans" panose="020B0502040504020204" pitchFamily="34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600" b="0" i="1" u="none" strike="noStrike">
                        <a:solidFill>
                          <a:srgbClr val="000000"/>
                        </a:solidFill>
                        <a:effectLst/>
                        <a:latin typeface="Noto Sans" panose="020B0502040504020204" pitchFamily="34" charset="0"/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b="0" i="1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1 151 / 1061</a:t>
                      </a: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2550230"/>
                  </a:ext>
                </a:extLst>
              </a:tr>
              <a:tr h="158264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fr-FR" sz="600" b="1" i="0" u="none" strike="noStrike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Noto Sans" panose="020B05020405040202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R w="12700" cmpd="sng">
                      <a:noFill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fr-FR" sz="800" b="1" i="0" u="none" strike="noStrike">
                        <a:solidFill>
                          <a:srgbClr val="252525"/>
                        </a:solidFill>
                        <a:effectLst/>
                        <a:latin typeface="Noto Sans" panose="020B0502040504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800" b="1" i="0" u="none" strike="noStrike">
                        <a:solidFill>
                          <a:srgbClr val="000000"/>
                        </a:solidFill>
                        <a:effectLst/>
                        <a:latin typeface="Noto Sans" panose="020B0502040504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800" b="1" i="0" u="none" strike="noStrike">
                        <a:solidFill>
                          <a:srgbClr val="000000"/>
                        </a:solidFill>
                        <a:effectLst/>
                        <a:latin typeface="Noto Sans" panose="020B0502040504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800" b="1" i="0" u="none" strike="noStrike">
                        <a:solidFill>
                          <a:srgbClr val="000000"/>
                        </a:solidFill>
                        <a:effectLst/>
                        <a:latin typeface="Noto Sans" panose="020B0502040504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800" b="1" i="0" u="none" strike="noStrike" dirty="0">
                        <a:solidFill>
                          <a:srgbClr val="000000"/>
                        </a:solidFill>
                        <a:effectLst/>
                        <a:latin typeface="Noto Sans" panose="020B0502040504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388013"/>
                  </a:ext>
                </a:extLst>
              </a:tr>
              <a:tr h="158264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fr-FR" sz="600" b="1" i="0" u="none" strike="noStrike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Noto Sans" panose="020B05020405040202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R w="12700" cmpd="sng">
                      <a:noFill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b="1" i="0" u="none" strike="noStrike">
                          <a:solidFill>
                            <a:srgbClr val="252525"/>
                          </a:solidFill>
                          <a:effectLst/>
                          <a:latin typeface="Noto Sans" panose="020B0502040504020204" pitchFamily="34" charset="0"/>
                        </a:rPr>
                        <a:t>TCO 4 ans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 5 346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4 368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6 632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9 644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286428"/>
                  </a:ext>
                </a:extLst>
              </a:tr>
              <a:tr h="158264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fr-FR" sz="600" b="1" i="0" u="none" strike="noStrike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Noto Sans" panose="020B05020405040202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R w="12700" cmpd="sng">
                      <a:noFill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600" b="0" i="1" u="none" strike="noStrike" kern="120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Version Microsoft -30%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600" b="0" i="1" u="none" strike="noStrike" kern="120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600" b="0" i="1" u="none" strike="noStrike" kern="120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600" b="0" i="1" u="none" strike="noStrike" kern="120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600" b="0" i="1" u="none" strike="noStrike" kern="120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7 734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0904269"/>
                  </a:ext>
                </a:extLst>
              </a:tr>
              <a:tr h="11399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fr-FR" sz="300" b="1" i="0" u="none" strike="noStrike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Noto Sans" panose="020B05020405040202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R w="12700" cmpd="sng">
                      <a:noFill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fr-FR" sz="100" b="1" i="0" u="none" strike="noStrike">
                        <a:solidFill>
                          <a:srgbClr val="252525"/>
                        </a:solidFill>
                        <a:effectLst/>
                        <a:latin typeface="Noto Sans" panose="020B0502040504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00" b="1" i="0" u="none" strike="noStrike">
                        <a:solidFill>
                          <a:srgbClr val="000000"/>
                        </a:solidFill>
                        <a:effectLst/>
                        <a:latin typeface="Noto Sans" panose="020B0502040504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00" b="1" i="0" u="none" strike="noStrike">
                        <a:solidFill>
                          <a:srgbClr val="000000"/>
                        </a:solidFill>
                        <a:effectLst/>
                        <a:latin typeface="Noto Sans" panose="020B0502040504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00" b="1" i="0" u="none" strike="noStrike">
                        <a:solidFill>
                          <a:srgbClr val="000000"/>
                        </a:solidFill>
                        <a:effectLst/>
                        <a:latin typeface="Noto Sans" panose="020B0502040504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00" b="1" i="0" u="none" strike="noStrike">
                        <a:solidFill>
                          <a:srgbClr val="000000"/>
                        </a:solidFill>
                        <a:effectLst/>
                        <a:latin typeface="Noto Sans" panose="020B0502040504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540842"/>
                  </a:ext>
                </a:extLst>
              </a:tr>
              <a:tr h="158264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fr-FR" sz="600" b="1" i="0" u="none" strike="noStrike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Noto Sans" panose="020B05020405040202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R w="12700" cmpd="sng">
                      <a:noFill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800" b="1" i="0" u="none" strike="noStrike">
                          <a:solidFill>
                            <a:srgbClr val="252525"/>
                          </a:solidFill>
                          <a:effectLst/>
                          <a:latin typeface="Noto Sans" panose="020B0502040504020204" pitchFamily="34" charset="0"/>
                        </a:rPr>
                        <a:t>TCO 10 ans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12 407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8 483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12 392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19 279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812283"/>
                  </a:ext>
                </a:extLst>
              </a:tr>
              <a:tr h="158264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fr-FR" sz="600" b="1" i="0" u="none" strike="noStrike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Noto Sans" panose="020B05020405040202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R w="12700" cmpd="sng">
                      <a:noFill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600" b="0" i="1" u="none" strike="noStrike" kern="120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Version Microsoft -30%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fr-FR" sz="600" b="0" i="1" u="none" strike="noStrike" kern="1200">
                        <a:solidFill>
                          <a:srgbClr val="000000"/>
                        </a:solidFill>
                        <a:effectLst/>
                        <a:latin typeface="Noto Sans" panose="020B0502040504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fr-FR" sz="600" b="0" i="1" u="none" strike="noStrike" kern="1200">
                        <a:solidFill>
                          <a:srgbClr val="000000"/>
                        </a:solidFill>
                        <a:effectLst/>
                        <a:latin typeface="Noto Sans" panose="020B0502040504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fr-FR" sz="600" b="0" i="1" u="none" strike="noStrike" kern="1200">
                        <a:solidFill>
                          <a:srgbClr val="000000"/>
                        </a:solidFill>
                        <a:effectLst/>
                        <a:latin typeface="Noto Sans" panose="020B0502040504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600" b="0" i="1" u="none" strike="noStrike" kern="120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16 550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607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fr-FR" sz="100" b="1" i="0" u="none" strike="noStrike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Noto Sans" panose="020B05020405040202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R w="12700" cmpd="sng">
                      <a:noFill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fr-FR" sz="100" b="1" i="0" u="none" strike="noStrike" kern="1200">
                        <a:solidFill>
                          <a:srgbClr val="252525"/>
                        </a:solidFill>
                        <a:effectLst/>
                        <a:latin typeface="Noto Sans" panose="020B0502040504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fr-FR" sz="100" b="1" i="0" u="none" strike="noStrike" kern="1200">
                        <a:solidFill>
                          <a:srgbClr val="252525"/>
                        </a:solidFill>
                        <a:effectLst/>
                        <a:latin typeface="Noto Sans" panose="020B0502040504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fr-FR" sz="100" b="1" i="0" u="none" strike="noStrike" kern="1200">
                        <a:solidFill>
                          <a:srgbClr val="252525"/>
                        </a:solidFill>
                        <a:effectLst/>
                        <a:latin typeface="Noto Sans" panose="020B0502040504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fr-FR" sz="100" b="1" i="0" u="none" strike="noStrike" kern="1200">
                        <a:solidFill>
                          <a:srgbClr val="252525"/>
                        </a:solidFill>
                        <a:effectLst/>
                        <a:latin typeface="Noto Sans" panose="020B0502040504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fr-FR" sz="100" b="1" i="0" u="none" strike="noStrike" kern="1200">
                        <a:solidFill>
                          <a:srgbClr val="252525"/>
                        </a:solidFill>
                        <a:effectLst/>
                        <a:latin typeface="Noto Sans" panose="020B0502040504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2418481"/>
                  </a:ext>
                </a:extLst>
              </a:tr>
              <a:tr h="246808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fr-FR" sz="600" b="1" i="0" u="none" strike="noStrike" kern="12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Noto Sans" panose="020B05020405040202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R w="12700" cmpd="sng">
                      <a:noFill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b="0" i="1" u="none" strike="noStrike" kern="1200">
                          <a:solidFill>
                            <a:srgbClr val="252525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MONTEE DE VERSION MAJEURE (4 ans / 10 ans) en K€</a:t>
                      </a:r>
                      <a:br>
                        <a:rPr lang="fr-FR" sz="600" b="0" i="1" u="none" strike="noStrike" kern="1200">
                          <a:solidFill>
                            <a:srgbClr val="252525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</a:br>
                      <a:r>
                        <a:rPr lang="fr-FR" sz="600" b="0" i="1" u="none" strike="noStrike" kern="1200">
                          <a:solidFill>
                            <a:srgbClr val="252525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20% projet initial tous les 3 ans, lissés annuellement</a:t>
                      </a: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b="0" i="1" u="none" strike="noStrike" kern="1200">
                          <a:solidFill>
                            <a:srgbClr val="252525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444 / 1 110 </a:t>
                      </a: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b="0" i="1" u="none" strike="noStrike" kern="1200">
                          <a:solidFill>
                            <a:srgbClr val="252525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Inclus</a:t>
                      </a: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b="0" i="1" u="none" strike="noStrike" kern="1200">
                          <a:solidFill>
                            <a:srgbClr val="252525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1 080 / 2 700</a:t>
                      </a: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b="0" i="1" u="none" strike="noStrike" kern="1200" dirty="0">
                          <a:solidFill>
                            <a:srgbClr val="252525"/>
                          </a:solidFill>
                          <a:effectLst/>
                          <a:latin typeface="Noto Sans" panose="020B0502040504020204" pitchFamily="34" charset="0"/>
                          <a:ea typeface="+mn-ea"/>
                          <a:cs typeface="+mn-cs"/>
                        </a:rPr>
                        <a:t>1 520 / 3 800</a:t>
                      </a: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8600259"/>
                  </a:ext>
                </a:extLst>
              </a:tr>
            </a:tbl>
          </a:graphicData>
        </a:graphic>
      </p:graphicFrame>
      <p:sp>
        <p:nvSpPr>
          <p:cNvPr id="44" name="ZoneTexte 43">
            <a:extLst>
              <a:ext uri="{FF2B5EF4-FFF2-40B4-BE49-F238E27FC236}">
                <a16:creationId xmlns:a16="http://schemas.microsoft.com/office/drawing/2014/main" id="{73EE7A72-74B4-EC54-17D8-0B8651754CE3}"/>
              </a:ext>
            </a:extLst>
          </p:cNvPr>
          <p:cNvSpPr txBox="1"/>
          <p:nvPr/>
        </p:nvSpPr>
        <p:spPr>
          <a:xfrm>
            <a:off x="6685750" y="1107113"/>
            <a:ext cx="5353050" cy="4355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fr-FR" sz="1000" b="1">
                <a:solidFill>
                  <a:schemeClr val="accent1"/>
                </a:solidFill>
                <a:cs typeface="Calibri" panose="020F0502020204030204" pitchFamily="34" charset="0"/>
              </a:rPr>
              <a:t>Hypothèses de calcul :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800">
                <a:solidFill>
                  <a:schemeClr val="accent1"/>
                </a:solidFill>
                <a:cs typeface="Calibri" panose="020F0502020204030204" pitchFamily="34" charset="0"/>
              </a:rPr>
              <a:t>Coûts d’abonnement (pilote + autres lots) : au prorata du prix annuel.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800">
                <a:solidFill>
                  <a:schemeClr val="accent1"/>
                </a:solidFill>
                <a:cs typeface="Calibri" panose="020F0502020204030204" pitchFamily="34" charset="0"/>
              </a:rPr>
              <a:t>TCO : coûts projet « full scope » (dont abonnements) + coût annuel au prorata fin de projet + coût annuel années pleines.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800">
                <a:solidFill>
                  <a:schemeClr val="accent1"/>
                </a:solidFill>
                <a:cs typeface="Calibri" panose="020F0502020204030204" pitchFamily="34" charset="0"/>
              </a:rPr>
              <a:t>Les coûts de montée de version ne sont pas inclus pour SEI, Orisha et Microsoft (car non communiqués par les éditeurs)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>
              <a:cs typeface="Calibri" panose="020F0502020204030204" pitchFamily="34" charset="0"/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1000">
                <a:cs typeface="Calibri" panose="020F0502020204030204" pitchFamily="34" charset="0"/>
              </a:rPr>
              <a:t>Sur une durée de 10 ans, l’écart de prix entre Microsoft et SEI s’établit</a:t>
            </a:r>
            <a:br>
              <a:rPr lang="fr-FR" sz="1000">
                <a:cs typeface="Calibri" panose="020F0502020204030204" pitchFamily="34" charset="0"/>
              </a:rPr>
            </a:br>
            <a:r>
              <a:rPr lang="fr-FR" sz="1000">
                <a:cs typeface="Calibri" panose="020F0502020204030204" pitchFamily="34" charset="0"/>
              </a:rPr>
              <a:t>à </a:t>
            </a:r>
            <a:r>
              <a:rPr lang="fr-FR" sz="1000" b="1">
                <a:cs typeface="Calibri" panose="020F0502020204030204" pitchFamily="34" charset="0"/>
              </a:rPr>
              <a:t>±35 %.</a:t>
            </a:r>
          </a:p>
          <a:p>
            <a:pPr marL="628650" lvl="1" indent="-1714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fr-FR" sz="800">
                <a:cs typeface="Calibri" panose="020F0502020204030204" pitchFamily="34" charset="0"/>
              </a:rPr>
              <a:t>Cet écart avoisine celui des prix d’abonnement (l’impact du projet diminuant avec la durée).</a:t>
            </a:r>
          </a:p>
          <a:p>
            <a:pPr marL="628650" lvl="1" indent="-1714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fr-FR" sz="800">
                <a:cs typeface="Calibri" panose="020F0502020204030204" pitchFamily="34" charset="0"/>
              </a:rPr>
              <a:t>Le TCO à 10 ans d’Odoo bénéficie de prix d’abonnement 2x à 3x moins élevés.</a:t>
            </a:r>
            <a:endParaRPr lang="fr-FR" sz="1000" i="1">
              <a:cs typeface="Calibri" panose="020F0502020204030204" pitchFamily="34" charset="0"/>
            </a:endParaRPr>
          </a:p>
          <a:p>
            <a:pPr marL="171450" lvl="1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800">
              <a:cs typeface="Calibri" panose="020F0502020204030204" pitchFamily="34" charset="0"/>
            </a:endParaRPr>
          </a:p>
          <a:p>
            <a:pPr marL="171450" lvl="1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1000">
                <a:cs typeface="Calibri" panose="020F0502020204030204" pitchFamily="34" charset="0"/>
              </a:rPr>
              <a:t>Cet écart se réduit </a:t>
            </a:r>
            <a:r>
              <a:rPr lang="fr-FR" sz="1000" b="1">
                <a:cs typeface="Calibri" panose="020F0502020204030204" pitchFamily="34" charset="0"/>
              </a:rPr>
              <a:t>à 25% en considérant la remise (30%) </a:t>
            </a:r>
            <a:r>
              <a:rPr lang="fr-FR" sz="1000">
                <a:cs typeface="Calibri" panose="020F0502020204030204" pitchFamily="34" charset="0"/>
              </a:rPr>
              <a:t>consentie par Microsoft en première estimation.</a:t>
            </a:r>
          </a:p>
          <a:p>
            <a:pPr marL="171450" lvl="1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>
              <a:cs typeface="Calibri" panose="020F0502020204030204" pitchFamily="34" charset="0"/>
            </a:endParaRPr>
          </a:p>
          <a:p>
            <a:pPr marL="171450" lvl="1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1000">
                <a:cs typeface="Calibri" panose="020F0502020204030204" pitchFamily="34" charset="0"/>
              </a:rPr>
              <a:t>A noter également : la proportion de customisation et de développement peut avoir une incidence sur :</a:t>
            </a:r>
          </a:p>
          <a:p>
            <a:pPr marL="628650" lvl="2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1000">
                <a:cs typeface="Calibri" panose="020F0502020204030204" pitchFamily="34" charset="0"/>
              </a:rPr>
              <a:t>la maitrise du budget en phase projet,</a:t>
            </a:r>
          </a:p>
          <a:p>
            <a:pPr marL="628650" lvl="2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1000">
                <a:cs typeface="Calibri" panose="020F0502020204030204" pitchFamily="34" charset="0"/>
              </a:rPr>
              <a:t>la maintenabilité (et le coût de maintenance) de la solution.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1000">
                <a:cs typeface="Calibri" panose="020F0502020204030204" pitchFamily="34" charset="0"/>
              </a:rPr>
              <a:t>Plus le taux de « spécifique » est important, plus le facteur d’incertitude / le risque de dérive augmente. </a:t>
            </a:r>
          </a:p>
          <a:p>
            <a:pPr marL="171450" lvl="1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800">
              <a:cs typeface="Calibri" panose="020F0502020204030204" pitchFamily="34" charset="0"/>
            </a:endParaRP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0FB9F4DE-9F3B-8CD3-1972-9D1515B5310E}"/>
              </a:ext>
            </a:extLst>
          </p:cNvPr>
          <p:cNvSpPr txBox="1"/>
          <p:nvPr/>
        </p:nvSpPr>
        <p:spPr>
          <a:xfrm>
            <a:off x="648140" y="4540585"/>
            <a:ext cx="5668321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700" i="1">
                <a:cs typeface="Calibri" panose="020F0502020204030204" pitchFamily="34" charset="0"/>
              </a:rPr>
              <a:t>Le coût total sur 4 ans permet de comparer les éditeurs sur la base de la durée projet la plus longue (Odoo : 3,8 ans).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700" i="1">
                <a:cs typeface="Calibri" panose="020F0502020204030204" pitchFamily="34" charset="0"/>
              </a:rPr>
              <a:t>Le coût total sur 10ans  permet de lisser le coût sur une durée plus longue et gommer l’effet du projet d’implémentation.</a:t>
            </a:r>
          </a:p>
        </p:txBody>
      </p:sp>
      <p:graphicFrame>
        <p:nvGraphicFramePr>
          <p:cNvPr id="54" name="Graphique 53">
            <a:extLst>
              <a:ext uri="{FF2B5EF4-FFF2-40B4-BE49-F238E27FC236}">
                <a16:creationId xmlns:a16="http://schemas.microsoft.com/office/drawing/2014/main" id="{37E2642B-A877-4AD6-A736-AC991AD65CB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49283744"/>
              </p:ext>
            </p:extLst>
          </p:nvPr>
        </p:nvGraphicFramePr>
        <p:xfrm>
          <a:off x="601261" y="4806697"/>
          <a:ext cx="3792940" cy="21907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67" name="Groupe 66">
            <a:extLst>
              <a:ext uri="{FF2B5EF4-FFF2-40B4-BE49-F238E27FC236}">
                <a16:creationId xmlns:a16="http://schemas.microsoft.com/office/drawing/2014/main" id="{6C17004D-8B94-2CC8-D680-F9D84BCD6827}"/>
              </a:ext>
            </a:extLst>
          </p:cNvPr>
          <p:cNvGrpSpPr/>
          <p:nvPr/>
        </p:nvGrpSpPr>
        <p:grpSpPr>
          <a:xfrm>
            <a:off x="4321403" y="5185216"/>
            <a:ext cx="1109452" cy="1256231"/>
            <a:chOff x="8093684" y="5028665"/>
            <a:chExt cx="1207442" cy="1361982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6471DBE3-D221-9F93-3C60-DB3EA62162D2}"/>
                </a:ext>
              </a:extLst>
            </p:cNvPr>
            <p:cNvSpPr/>
            <p:nvPr/>
          </p:nvSpPr>
          <p:spPr>
            <a:xfrm>
              <a:off x="8291832" y="6210647"/>
              <a:ext cx="910662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r>
                <a:rPr lang="fr-FR" sz="1000" b="1">
                  <a:solidFill>
                    <a:srgbClr val="1A1C3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MICROSOFT</a:t>
              </a:r>
            </a:p>
          </p:txBody>
        </p:sp>
        <p:pic>
          <p:nvPicPr>
            <p:cNvPr id="58" name="Image 57">
              <a:extLst>
                <a:ext uri="{FF2B5EF4-FFF2-40B4-BE49-F238E27FC236}">
                  <a16:creationId xmlns:a16="http://schemas.microsoft.com/office/drawing/2014/main" id="{0074EAC4-E45E-A9C8-BCD0-24E2E78888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564" r="22125" b="20426"/>
            <a:stretch>
              <a:fillRect/>
            </a:stretch>
          </p:blipFill>
          <p:spPr>
            <a:xfrm>
              <a:off x="8093684" y="5028665"/>
              <a:ext cx="1207442" cy="1212197"/>
            </a:xfrm>
            <a:prstGeom prst="rect">
              <a:avLst/>
            </a:prstGeom>
          </p:spPr>
        </p:pic>
      </p:grpSp>
      <p:grpSp>
        <p:nvGrpSpPr>
          <p:cNvPr id="66" name="Groupe 65">
            <a:extLst>
              <a:ext uri="{FF2B5EF4-FFF2-40B4-BE49-F238E27FC236}">
                <a16:creationId xmlns:a16="http://schemas.microsoft.com/office/drawing/2014/main" id="{AFEF18B3-4A05-51EE-771D-5925EB3EF990}"/>
              </a:ext>
            </a:extLst>
          </p:cNvPr>
          <p:cNvGrpSpPr/>
          <p:nvPr/>
        </p:nvGrpSpPr>
        <p:grpSpPr>
          <a:xfrm>
            <a:off x="3013006" y="5252229"/>
            <a:ext cx="1251343" cy="1181318"/>
            <a:chOff x="5850448" y="4980863"/>
            <a:chExt cx="1471122" cy="1415478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77087CC1-8FC5-79E6-CF12-0AD50EF8DE7A}"/>
                </a:ext>
              </a:extLst>
            </p:cNvPr>
            <p:cNvSpPr/>
            <p:nvPr/>
          </p:nvSpPr>
          <p:spPr>
            <a:xfrm>
              <a:off x="6216427" y="6216341"/>
              <a:ext cx="931102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r>
                <a:rPr lang="fr-FR" sz="1000" b="1">
                  <a:solidFill>
                    <a:srgbClr val="1A1C3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ODOO</a:t>
              </a:r>
            </a:p>
          </p:txBody>
        </p:sp>
        <p:pic>
          <p:nvPicPr>
            <p:cNvPr id="59" name="Image 58">
              <a:extLst>
                <a:ext uri="{FF2B5EF4-FFF2-40B4-BE49-F238E27FC236}">
                  <a16:creationId xmlns:a16="http://schemas.microsoft.com/office/drawing/2014/main" id="{4C4E4B74-3631-40CF-A20A-DF8426F3CA0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28467" t="5231" r="21919" b="20026"/>
            <a:stretch>
              <a:fillRect/>
            </a:stretch>
          </p:blipFill>
          <p:spPr>
            <a:xfrm>
              <a:off x="5850448" y="4980863"/>
              <a:ext cx="1471122" cy="1289270"/>
            </a:xfrm>
            <a:prstGeom prst="rect">
              <a:avLst/>
            </a:prstGeom>
          </p:spPr>
        </p:pic>
      </p:grpSp>
      <p:grpSp>
        <p:nvGrpSpPr>
          <p:cNvPr id="65" name="Groupe 64">
            <a:extLst>
              <a:ext uri="{FF2B5EF4-FFF2-40B4-BE49-F238E27FC236}">
                <a16:creationId xmlns:a16="http://schemas.microsoft.com/office/drawing/2014/main" id="{64C2EF18-8966-820D-5B4D-4A239A808D79}"/>
              </a:ext>
            </a:extLst>
          </p:cNvPr>
          <p:cNvGrpSpPr/>
          <p:nvPr/>
        </p:nvGrpSpPr>
        <p:grpSpPr>
          <a:xfrm>
            <a:off x="1904939" y="5223175"/>
            <a:ext cx="1084314" cy="1211916"/>
            <a:chOff x="3846735" y="4956197"/>
            <a:chExt cx="1274756" cy="1452141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38752EBE-FC4D-09B6-0F73-9245F55196D2}"/>
                </a:ext>
              </a:extLst>
            </p:cNvPr>
            <p:cNvSpPr/>
            <p:nvPr/>
          </p:nvSpPr>
          <p:spPr>
            <a:xfrm>
              <a:off x="4004092" y="6228338"/>
              <a:ext cx="931102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r>
                <a:rPr lang="fr-FR" sz="1000" b="1">
                  <a:solidFill>
                    <a:srgbClr val="1A1C3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SEI</a:t>
              </a:r>
            </a:p>
          </p:txBody>
        </p:sp>
        <p:pic>
          <p:nvPicPr>
            <p:cNvPr id="60" name="Image 59">
              <a:extLst>
                <a:ext uri="{FF2B5EF4-FFF2-40B4-BE49-F238E27FC236}">
                  <a16:creationId xmlns:a16="http://schemas.microsoft.com/office/drawing/2014/main" id="{8BD1FC46-04AC-719E-1F71-7B4AC65CD86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3502" r="21570" b="21273"/>
            <a:stretch>
              <a:fillRect/>
            </a:stretch>
          </p:blipFill>
          <p:spPr>
            <a:xfrm>
              <a:off x="3846735" y="4956197"/>
              <a:ext cx="1274756" cy="1289269"/>
            </a:xfrm>
            <a:prstGeom prst="rect">
              <a:avLst/>
            </a:prstGeom>
          </p:spPr>
        </p:pic>
      </p:grpSp>
      <p:grpSp>
        <p:nvGrpSpPr>
          <p:cNvPr id="64" name="Groupe 63">
            <a:extLst>
              <a:ext uri="{FF2B5EF4-FFF2-40B4-BE49-F238E27FC236}">
                <a16:creationId xmlns:a16="http://schemas.microsoft.com/office/drawing/2014/main" id="{0B023BB3-DCDB-CCF5-9AE4-AE61E2BA2818}"/>
              </a:ext>
            </a:extLst>
          </p:cNvPr>
          <p:cNvGrpSpPr/>
          <p:nvPr/>
        </p:nvGrpSpPr>
        <p:grpSpPr>
          <a:xfrm>
            <a:off x="558531" y="5223175"/>
            <a:ext cx="1279062" cy="1218273"/>
            <a:chOff x="1663772" y="4975404"/>
            <a:chExt cx="1503709" cy="1459758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233E209D-BDE3-8334-96C8-6BF22AB4ABDA}"/>
                </a:ext>
              </a:extLst>
            </p:cNvPr>
            <p:cNvSpPr/>
            <p:nvPr/>
          </p:nvSpPr>
          <p:spPr>
            <a:xfrm>
              <a:off x="1982883" y="6255162"/>
              <a:ext cx="931102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r>
                <a:rPr lang="fr-FR" sz="1000" b="1">
                  <a:solidFill>
                    <a:srgbClr val="1A1C3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ORISHA</a:t>
              </a:r>
            </a:p>
          </p:txBody>
        </p:sp>
        <p:pic>
          <p:nvPicPr>
            <p:cNvPr id="61" name="Image 60">
              <a:extLst>
                <a:ext uri="{FF2B5EF4-FFF2-40B4-BE49-F238E27FC236}">
                  <a16:creationId xmlns:a16="http://schemas.microsoft.com/office/drawing/2014/main" id="{12466A4D-3A67-FD41-6CD5-5306D97003E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27660" r="19253" b="19534"/>
            <a:stretch>
              <a:fillRect/>
            </a:stretch>
          </p:blipFill>
          <p:spPr>
            <a:xfrm>
              <a:off x="1663772" y="4975404"/>
              <a:ext cx="1503709" cy="1329534"/>
            </a:xfrm>
            <a:prstGeom prst="rect">
              <a:avLst/>
            </a:prstGeom>
          </p:spPr>
        </p:pic>
      </p:grpSp>
      <p:sp>
        <p:nvSpPr>
          <p:cNvPr id="82" name="ZoneTexte 81">
            <a:extLst>
              <a:ext uri="{FF2B5EF4-FFF2-40B4-BE49-F238E27FC236}">
                <a16:creationId xmlns:a16="http://schemas.microsoft.com/office/drawing/2014/main" id="{C7F15B16-AC66-F319-7053-2E2F3F1C16C1}"/>
              </a:ext>
            </a:extLst>
          </p:cNvPr>
          <p:cNvSpPr txBox="1"/>
          <p:nvPr/>
        </p:nvSpPr>
        <p:spPr>
          <a:xfrm>
            <a:off x="620275" y="1150091"/>
            <a:ext cx="243848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700" b="1" u="sng">
                <a:solidFill>
                  <a:schemeClr val="accent1"/>
                </a:solidFill>
              </a:rPr>
              <a:t>Estimation du coût total à 4 et 10 ans, par solution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1453B2EC-C74E-5B6D-00A8-FF9D3141A6B4}"/>
              </a:ext>
            </a:extLst>
          </p:cNvPr>
          <p:cNvSpPr txBox="1"/>
          <p:nvPr/>
        </p:nvSpPr>
        <p:spPr>
          <a:xfrm>
            <a:off x="621851" y="5053887"/>
            <a:ext cx="289694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600" b="1" u="sng" dirty="0"/>
              <a:t>DÉCOMPOSITION DE LA COUVERTURE FONCTIONNELLE, PAR SOLUTION</a:t>
            </a:r>
          </a:p>
        </p:txBody>
      </p:sp>
      <p:grpSp>
        <p:nvGrpSpPr>
          <p:cNvPr id="96" name="Groupe 95">
            <a:extLst>
              <a:ext uri="{FF2B5EF4-FFF2-40B4-BE49-F238E27FC236}">
                <a16:creationId xmlns:a16="http://schemas.microsoft.com/office/drawing/2014/main" id="{C9170C7C-CF07-8C7D-61D5-2F941B488AA7}"/>
              </a:ext>
            </a:extLst>
          </p:cNvPr>
          <p:cNvGrpSpPr/>
          <p:nvPr/>
        </p:nvGrpSpPr>
        <p:grpSpPr>
          <a:xfrm>
            <a:off x="5513666" y="5757728"/>
            <a:ext cx="855694" cy="683719"/>
            <a:chOff x="5496160" y="5221384"/>
            <a:chExt cx="855694" cy="683719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274C0E0E-506C-63AD-4E37-33B10323D871}"/>
                </a:ext>
              </a:extLst>
            </p:cNvPr>
            <p:cNvSpPr/>
            <p:nvPr/>
          </p:nvSpPr>
          <p:spPr>
            <a:xfrm>
              <a:off x="5584677" y="5409488"/>
              <a:ext cx="141674" cy="55548"/>
            </a:xfrm>
            <a:prstGeom prst="rect">
              <a:avLst/>
            </a:prstGeom>
            <a:solidFill>
              <a:srgbClr val="196B24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171450" indent="-171450" algn="l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endPara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8171F669-27C5-5B02-656F-99048DA8262F}"/>
                </a:ext>
              </a:extLst>
            </p:cNvPr>
            <p:cNvSpPr/>
            <p:nvPr/>
          </p:nvSpPr>
          <p:spPr>
            <a:xfrm>
              <a:off x="5584677" y="5534113"/>
              <a:ext cx="141674" cy="55548"/>
            </a:xfrm>
            <a:prstGeom prst="rect">
              <a:avLst/>
            </a:prstGeom>
            <a:solidFill>
              <a:srgbClr val="B4E5A2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171450" indent="-171450" algn="l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endPara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B85BB0D2-1DA4-984A-16D5-8D223AE13647}"/>
                </a:ext>
              </a:extLst>
            </p:cNvPr>
            <p:cNvSpPr/>
            <p:nvPr/>
          </p:nvSpPr>
          <p:spPr>
            <a:xfrm>
              <a:off x="5584677" y="5667284"/>
              <a:ext cx="141674" cy="55548"/>
            </a:xfrm>
            <a:prstGeom prst="rect">
              <a:avLst/>
            </a:prstGeom>
            <a:solidFill>
              <a:srgbClr val="F6C6AD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171450" indent="-171450" algn="l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endPara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BE2F1509-FCF4-0E00-A6A3-7EE04EC66012}"/>
                </a:ext>
              </a:extLst>
            </p:cNvPr>
            <p:cNvSpPr/>
            <p:nvPr/>
          </p:nvSpPr>
          <p:spPr>
            <a:xfrm>
              <a:off x="5584677" y="5791909"/>
              <a:ext cx="141674" cy="55548"/>
            </a:xfrm>
            <a:prstGeom prst="rect">
              <a:avLst/>
            </a:prstGeom>
            <a:solidFill>
              <a:srgbClr val="98D5ED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171450" indent="-171450" algn="l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endParaRPr lang="fr-FR" sz="1000" b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0" name="ZoneTexte 89">
              <a:extLst>
                <a:ext uri="{FF2B5EF4-FFF2-40B4-BE49-F238E27FC236}">
                  <a16:creationId xmlns:a16="http://schemas.microsoft.com/office/drawing/2014/main" id="{6FE95A83-8D4D-3C96-2638-C4425E3C0DF9}"/>
                </a:ext>
              </a:extLst>
            </p:cNvPr>
            <p:cNvSpPr txBox="1"/>
            <p:nvPr/>
          </p:nvSpPr>
          <p:spPr>
            <a:xfrm>
              <a:off x="5684684" y="5346214"/>
              <a:ext cx="460382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500"/>
                <a:t>Standard</a:t>
              </a:r>
            </a:p>
          </p:txBody>
        </p:sp>
        <p:sp>
          <p:nvSpPr>
            <p:cNvPr id="91" name="ZoneTexte 90">
              <a:extLst>
                <a:ext uri="{FF2B5EF4-FFF2-40B4-BE49-F238E27FC236}">
                  <a16:creationId xmlns:a16="http://schemas.microsoft.com/office/drawing/2014/main" id="{9AE71C50-6F9D-D125-8C66-736A25D8AC1F}"/>
                </a:ext>
              </a:extLst>
            </p:cNvPr>
            <p:cNvSpPr txBox="1"/>
            <p:nvPr/>
          </p:nvSpPr>
          <p:spPr>
            <a:xfrm>
              <a:off x="5684684" y="5478605"/>
              <a:ext cx="614271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500"/>
                <a:t>Customisation</a:t>
              </a:r>
            </a:p>
          </p:txBody>
        </p:sp>
        <p:sp>
          <p:nvSpPr>
            <p:cNvPr id="92" name="ZoneTexte 91">
              <a:extLst>
                <a:ext uri="{FF2B5EF4-FFF2-40B4-BE49-F238E27FC236}">
                  <a16:creationId xmlns:a16="http://schemas.microsoft.com/office/drawing/2014/main" id="{B3E60105-AE66-40BF-2B10-D5141AE7B7FB}"/>
                </a:ext>
              </a:extLst>
            </p:cNvPr>
            <p:cNvSpPr txBox="1"/>
            <p:nvPr/>
          </p:nvSpPr>
          <p:spPr>
            <a:xfrm>
              <a:off x="5684684" y="5605926"/>
              <a:ext cx="667170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500"/>
                <a:t>Développement</a:t>
              </a:r>
            </a:p>
          </p:txBody>
        </p:sp>
        <p:sp>
          <p:nvSpPr>
            <p:cNvPr id="93" name="ZoneTexte 92">
              <a:extLst>
                <a:ext uri="{FF2B5EF4-FFF2-40B4-BE49-F238E27FC236}">
                  <a16:creationId xmlns:a16="http://schemas.microsoft.com/office/drawing/2014/main" id="{F0133CAE-C6FE-DDF6-46A7-41435AE69186}"/>
                </a:ext>
              </a:extLst>
            </p:cNvPr>
            <p:cNvSpPr txBox="1"/>
            <p:nvPr/>
          </p:nvSpPr>
          <p:spPr>
            <a:xfrm>
              <a:off x="5684684" y="5735826"/>
              <a:ext cx="617477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500"/>
                <a:t>Solution tierce</a:t>
              </a:r>
            </a:p>
          </p:txBody>
        </p:sp>
        <p:sp>
          <p:nvSpPr>
            <p:cNvPr id="95" name="ZoneTexte 94">
              <a:extLst>
                <a:ext uri="{FF2B5EF4-FFF2-40B4-BE49-F238E27FC236}">
                  <a16:creationId xmlns:a16="http://schemas.microsoft.com/office/drawing/2014/main" id="{ED371485-7AF1-B909-A1F3-C77A1E0D3079}"/>
                </a:ext>
              </a:extLst>
            </p:cNvPr>
            <p:cNvSpPr txBox="1"/>
            <p:nvPr/>
          </p:nvSpPr>
          <p:spPr>
            <a:xfrm>
              <a:off x="5496160" y="5221384"/>
              <a:ext cx="474810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500" b="1" u="sng"/>
                <a:t>LÉGENDE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01D4AF43-6E1D-EF56-6A95-05F9F397875A}"/>
              </a:ext>
            </a:extLst>
          </p:cNvPr>
          <p:cNvSpPr/>
          <p:nvPr/>
        </p:nvSpPr>
        <p:spPr>
          <a:xfrm>
            <a:off x="5565094" y="3973536"/>
            <a:ext cx="792000" cy="177585"/>
          </a:xfrm>
          <a:prstGeom prst="rect">
            <a:avLst/>
          </a:prstGeom>
          <a:noFill/>
          <a:ln w="19050">
            <a:solidFill>
              <a:srgbClr val="4EA72D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spcAft>
                <a:spcPts val="600"/>
              </a:spcAft>
            </a:pPr>
            <a:endParaRPr lang="fr-FR" sz="1000" b="1">
              <a:solidFill>
                <a:srgbClr val="1A1C3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F4AE23-E18E-AD2D-A2F7-613E1BCA2FF5}"/>
              </a:ext>
            </a:extLst>
          </p:cNvPr>
          <p:cNvSpPr/>
          <p:nvPr/>
        </p:nvSpPr>
        <p:spPr>
          <a:xfrm>
            <a:off x="5565094" y="3538581"/>
            <a:ext cx="792000" cy="177585"/>
          </a:xfrm>
          <a:prstGeom prst="rect">
            <a:avLst/>
          </a:prstGeom>
          <a:noFill/>
          <a:ln w="19050">
            <a:solidFill>
              <a:srgbClr val="4EA72D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spcAft>
                <a:spcPts val="600"/>
              </a:spcAft>
            </a:pPr>
            <a:endParaRPr lang="fr-FR" sz="1000" b="1">
              <a:solidFill>
                <a:srgbClr val="1A1C3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39751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B8AB6-C1DB-12D0-E4CB-95AAFA3EE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F0FF05F8-0C4D-B722-F429-B53E69356B7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3799" y="3764480"/>
            <a:ext cx="5146063" cy="863642"/>
          </a:xfrm>
        </p:spPr>
        <p:txBody>
          <a:bodyPr/>
          <a:lstStyle/>
          <a:p>
            <a:r>
              <a:rPr lang="fr-FR"/>
              <a:t>SOMMAIRE</a:t>
            </a:r>
          </a:p>
        </p:txBody>
      </p:sp>
      <p:sp>
        <p:nvSpPr>
          <p:cNvPr id="12" name="Espace réservé du texte 10">
            <a:extLst>
              <a:ext uri="{FF2B5EF4-FFF2-40B4-BE49-F238E27FC236}">
                <a16:creationId xmlns:a16="http://schemas.microsoft.com/office/drawing/2014/main" id="{00FD455B-D8C0-8DB1-DD34-279234BD92F2}"/>
              </a:ext>
            </a:extLst>
          </p:cNvPr>
          <p:cNvSpPr>
            <a:spLocks noGrp="1"/>
          </p:cNvSpPr>
          <p:nvPr/>
        </p:nvSpPr>
        <p:spPr>
          <a:xfrm>
            <a:off x="6058941" y="2685042"/>
            <a:ext cx="615950" cy="4842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i="0" kern="1200">
                <a:solidFill>
                  <a:schemeClr val="accent4"/>
                </a:solidFill>
                <a:latin typeface="Plus Jakarta Sans" pitchFamily="2" charset="77"/>
                <a:ea typeface="Noto Sans" panose="020B0502040504020204" pitchFamily="34" charset="0"/>
                <a:cs typeface="Plus Jakarta Sa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100" b="1" i="0" kern="1200">
                <a:solidFill>
                  <a:schemeClr val="tx1"/>
                </a:solidFill>
                <a:latin typeface="Galano Grotesque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50" b="1" i="0" kern="1200">
                <a:solidFill>
                  <a:schemeClr val="tx1"/>
                </a:solidFill>
                <a:latin typeface="Galano Grotesque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b="1" i="0" kern="1200">
                <a:solidFill>
                  <a:schemeClr val="tx1"/>
                </a:solidFill>
                <a:latin typeface="Galano Grotesque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b="1" i="0" kern="1200">
                <a:solidFill>
                  <a:schemeClr val="tx1"/>
                </a:solidFill>
                <a:latin typeface="Galano Grotesque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>
                <a:solidFill>
                  <a:srgbClr val="0027B7"/>
                </a:solidFill>
              </a:rPr>
              <a:t>01</a:t>
            </a:r>
          </a:p>
        </p:txBody>
      </p:sp>
      <p:sp>
        <p:nvSpPr>
          <p:cNvPr id="13" name="Espace réservé du texte 8">
            <a:extLst>
              <a:ext uri="{FF2B5EF4-FFF2-40B4-BE49-F238E27FC236}">
                <a16:creationId xmlns:a16="http://schemas.microsoft.com/office/drawing/2014/main" id="{9854F040-3F43-07FD-CFBD-9B66D2027884}"/>
              </a:ext>
            </a:extLst>
          </p:cNvPr>
          <p:cNvSpPr>
            <a:spLocks noGrp="1"/>
          </p:cNvSpPr>
          <p:nvPr/>
        </p:nvSpPr>
        <p:spPr>
          <a:xfrm>
            <a:off x="6058941" y="3224761"/>
            <a:ext cx="615950" cy="4842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i="0" kern="1200">
                <a:solidFill>
                  <a:schemeClr val="accent4"/>
                </a:solidFill>
                <a:latin typeface="Plus Jakarta Sans" pitchFamily="2" charset="77"/>
                <a:ea typeface="Noto Sans" panose="020B0502040504020204" pitchFamily="34" charset="0"/>
                <a:cs typeface="Plus Jakarta Sa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100" b="1" i="0" kern="1200">
                <a:solidFill>
                  <a:schemeClr val="tx1"/>
                </a:solidFill>
                <a:latin typeface="Galano Grotesque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50" b="1" i="0" kern="1200">
                <a:solidFill>
                  <a:schemeClr val="tx1"/>
                </a:solidFill>
                <a:latin typeface="Galano Grotesque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b="1" i="0" kern="1200">
                <a:solidFill>
                  <a:schemeClr val="tx1"/>
                </a:solidFill>
                <a:latin typeface="Galano Grotesque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b="1" i="0" kern="1200">
                <a:solidFill>
                  <a:schemeClr val="tx1"/>
                </a:solidFill>
                <a:latin typeface="Galano Grotesque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>
                <a:solidFill>
                  <a:srgbClr val="0027B7"/>
                </a:solidFill>
              </a:rPr>
              <a:t>02</a:t>
            </a:r>
          </a:p>
        </p:txBody>
      </p:sp>
      <p:sp>
        <p:nvSpPr>
          <p:cNvPr id="18" name="Espace réservé du texte 7">
            <a:extLst>
              <a:ext uri="{FF2B5EF4-FFF2-40B4-BE49-F238E27FC236}">
                <a16:creationId xmlns:a16="http://schemas.microsoft.com/office/drawing/2014/main" id="{73B65A00-5314-496C-ECE4-CD548A248D6E}"/>
              </a:ext>
            </a:extLst>
          </p:cNvPr>
          <p:cNvSpPr>
            <a:spLocks noGrp="1"/>
          </p:cNvSpPr>
          <p:nvPr/>
        </p:nvSpPr>
        <p:spPr>
          <a:xfrm>
            <a:off x="6752133" y="2685043"/>
            <a:ext cx="4918620" cy="4842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FontTx/>
              <a:buNone/>
              <a:defRPr sz="1600" b="0" i="0" kern="1200">
                <a:solidFill>
                  <a:schemeClr val="accent4"/>
                </a:solidFill>
                <a:latin typeface="Plus Jakarta Sans" pitchFamily="2" charset="77"/>
                <a:ea typeface="Noto Sans" panose="020B0502040504020204" pitchFamily="34" charset="0"/>
                <a:cs typeface="Plus Jakarta Sa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1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5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solidFill>
                  <a:srgbClr val="0027B7"/>
                </a:solidFill>
              </a:rPr>
              <a:t>Avancement de l’étude</a:t>
            </a:r>
          </a:p>
        </p:txBody>
      </p:sp>
      <p:sp>
        <p:nvSpPr>
          <p:cNvPr id="19" name="Espace réservé du texte 14">
            <a:extLst>
              <a:ext uri="{FF2B5EF4-FFF2-40B4-BE49-F238E27FC236}">
                <a16:creationId xmlns:a16="http://schemas.microsoft.com/office/drawing/2014/main" id="{069A0F9A-70B8-52C7-CBF8-57152A6DD55B}"/>
              </a:ext>
            </a:extLst>
          </p:cNvPr>
          <p:cNvSpPr>
            <a:spLocks noGrp="1"/>
          </p:cNvSpPr>
          <p:nvPr/>
        </p:nvSpPr>
        <p:spPr>
          <a:xfrm>
            <a:off x="6752133" y="3229223"/>
            <a:ext cx="4918620" cy="4842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FontTx/>
              <a:buNone/>
              <a:defRPr sz="1600" b="0" i="0" kern="1200">
                <a:solidFill>
                  <a:schemeClr val="accent4"/>
                </a:solidFill>
                <a:latin typeface="Plus Jakarta Sans" pitchFamily="2" charset="77"/>
                <a:ea typeface="Noto Sans" panose="020B0502040504020204" pitchFamily="34" charset="0"/>
                <a:cs typeface="Plus Jakarta Sa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1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5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>
                <a:solidFill>
                  <a:srgbClr val="0027B7"/>
                </a:solidFill>
              </a:rPr>
              <a:t>Key </a:t>
            </a:r>
            <a:r>
              <a:rPr lang="fr-FR" b="1" err="1">
                <a:solidFill>
                  <a:srgbClr val="0027B7"/>
                </a:solidFill>
              </a:rPr>
              <a:t>takeaways</a:t>
            </a:r>
            <a:endParaRPr lang="fr-FR" b="1">
              <a:solidFill>
                <a:srgbClr val="0027B7"/>
              </a:solidFill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667254F0-4E94-1BF8-813C-EE0CF5C6B3FF}"/>
              </a:ext>
            </a:extLst>
          </p:cNvPr>
          <p:cNvSpPr/>
          <p:nvPr/>
        </p:nvSpPr>
        <p:spPr>
          <a:xfrm>
            <a:off x="6171548" y="4322524"/>
            <a:ext cx="5864298" cy="496120"/>
          </a:xfrm>
          <a:prstGeom prst="roundRect">
            <a:avLst/>
          </a:prstGeom>
          <a:solidFill>
            <a:schemeClr val="accent1">
              <a:lumMod val="40000"/>
              <a:lumOff val="60000"/>
              <a:alpha val="89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 b="1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Espace réservé du texte 9">
            <a:extLst>
              <a:ext uri="{FF2B5EF4-FFF2-40B4-BE49-F238E27FC236}">
                <a16:creationId xmlns:a16="http://schemas.microsoft.com/office/drawing/2014/main" id="{145290AB-A1FF-9BE1-947D-4912B4DD1B87}"/>
              </a:ext>
            </a:extLst>
          </p:cNvPr>
          <p:cNvSpPr>
            <a:spLocks noGrp="1"/>
          </p:cNvSpPr>
          <p:nvPr/>
        </p:nvSpPr>
        <p:spPr>
          <a:xfrm>
            <a:off x="6058941" y="3764480"/>
            <a:ext cx="615950" cy="4842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i="0" kern="1200">
                <a:solidFill>
                  <a:schemeClr val="accent4"/>
                </a:solidFill>
                <a:latin typeface="Plus Jakarta Sans" pitchFamily="2" charset="77"/>
                <a:ea typeface="Noto Sans" panose="020B0502040504020204" pitchFamily="34" charset="0"/>
                <a:cs typeface="Plus Jakarta Sa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100" b="1" i="0" kern="1200">
                <a:solidFill>
                  <a:schemeClr val="tx1"/>
                </a:solidFill>
                <a:latin typeface="Galano Grotesque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50" b="1" i="0" kern="1200">
                <a:solidFill>
                  <a:schemeClr val="tx1"/>
                </a:solidFill>
                <a:latin typeface="Galano Grotesque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b="1" i="0" kern="1200">
                <a:solidFill>
                  <a:schemeClr val="tx1"/>
                </a:solidFill>
                <a:latin typeface="Galano Grotesque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b="1" i="0" kern="1200">
                <a:solidFill>
                  <a:schemeClr val="tx1"/>
                </a:solidFill>
                <a:latin typeface="Galano Grotesque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>
                <a:solidFill>
                  <a:srgbClr val="0027B7"/>
                </a:solidFill>
              </a:rPr>
              <a:t>03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91BC4EC5-EDF5-D048-3354-5EEB68FCD626}"/>
              </a:ext>
            </a:extLst>
          </p:cNvPr>
          <p:cNvSpPr>
            <a:spLocks noGrp="1"/>
          </p:cNvSpPr>
          <p:nvPr/>
        </p:nvSpPr>
        <p:spPr>
          <a:xfrm>
            <a:off x="6752132" y="3773403"/>
            <a:ext cx="5432363" cy="4842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FontTx/>
              <a:buNone/>
              <a:defRPr sz="1600" b="0" i="0" kern="1200">
                <a:solidFill>
                  <a:schemeClr val="accent4"/>
                </a:solidFill>
                <a:latin typeface="Plus Jakarta Sans" pitchFamily="2" charset="77"/>
                <a:ea typeface="Noto Sans" panose="020B0502040504020204" pitchFamily="34" charset="0"/>
                <a:cs typeface="Plus Jakarta Sa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1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5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>
                <a:solidFill>
                  <a:srgbClr val="0027B7"/>
                </a:solidFill>
              </a:rPr>
              <a:t>Annexes 1 : estimations budgétaires</a:t>
            </a:r>
          </a:p>
        </p:txBody>
      </p:sp>
      <p:sp>
        <p:nvSpPr>
          <p:cNvPr id="17" name="Espace réservé du texte 9">
            <a:extLst>
              <a:ext uri="{FF2B5EF4-FFF2-40B4-BE49-F238E27FC236}">
                <a16:creationId xmlns:a16="http://schemas.microsoft.com/office/drawing/2014/main" id="{7ECBD400-DFBE-B98E-BFE9-D207B906DC64}"/>
              </a:ext>
            </a:extLst>
          </p:cNvPr>
          <p:cNvSpPr>
            <a:spLocks noGrp="1"/>
          </p:cNvSpPr>
          <p:nvPr/>
        </p:nvSpPr>
        <p:spPr>
          <a:xfrm>
            <a:off x="6058941" y="4304428"/>
            <a:ext cx="615950" cy="4842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i="0" kern="1200">
                <a:solidFill>
                  <a:schemeClr val="accent4"/>
                </a:solidFill>
                <a:latin typeface="Plus Jakarta Sans" pitchFamily="2" charset="77"/>
                <a:ea typeface="Noto Sans" panose="020B0502040504020204" pitchFamily="34" charset="0"/>
                <a:cs typeface="Plus Jakarta Sa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100" b="1" i="0" kern="1200">
                <a:solidFill>
                  <a:schemeClr val="tx1"/>
                </a:solidFill>
                <a:latin typeface="Galano Grotesque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50" b="1" i="0" kern="1200">
                <a:solidFill>
                  <a:schemeClr val="tx1"/>
                </a:solidFill>
                <a:latin typeface="Galano Grotesque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b="1" i="0" kern="1200">
                <a:solidFill>
                  <a:schemeClr val="tx1"/>
                </a:solidFill>
                <a:latin typeface="Galano Grotesque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b="1" i="0" kern="1200">
                <a:solidFill>
                  <a:schemeClr val="tx1"/>
                </a:solidFill>
                <a:latin typeface="Galano Grotesque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>
                <a:solidFill>
                  <a:srgbClr val="0027B7"/>
                </a:solidFill>
              </a:rPr>
              <a:t>04</a:t>
            </a:r>
          </a:p>
        </p:txBody>
      </p:sp>
      <p:sp>
        <p:nvSpPr>
          <p:cNvPr id="21" name="Espace réservé du texte 15">
            <a:extLst>
              <a:ext uri="{FF2B5EF4-FFF2-40B4-BE49-F238E27FC236}">
                <a16:creationId xmlns:a16="http://schemas.microsoft.com/office/drawing/2014/main" id="{9B38AED7-A388-0F2B-8EB8-9330DFA15737}"/>
              </a:ext>
            </a:extLst>
          </p:cNvPr>
          <p:cNvSpPr>
            <a:spLocks noGrp="1"/>
          </p:cNvSpPr>
          <p:nvPr/>
        </p:nvSpPr>
        <p:spPr>
          <a:xfrm>
            <a:off x="6752132" y="4313351"/>
            <a:ext cx="5432363" cy="4842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FontTx/>
              <a:buNone/>
              <a:defRPr sz="1600" b="0" i="0" kern="1200">
                <a:solidFill>
                  <a:schemeClr val="accent4"/>
                </a:solidFill>
                <a:latin typeface="Plus Jakarta Sans" pitchFamily="2" charset="77"/>
                <a:ea typeface="Noto Sans" panose="020B0502040504020204" pitchFamily="34" charset="0"/>
                <a:cs typeface="Plus Jakarta Sa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1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5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>
                <a:solidFill>
                  <a:srgbClr val="0027B7"/>
                </a:solidFill>
              </a:rPr>
              <a:t>Annexes 2 : </a:t>
            </a:r>
            <a:r>
              <a:rPr lang="fr-FR" b="1" err="1">
                <a:solidFill>
                  <a:srgbClr val="0027B7"/>
                </a:solidFill>
              </a:rPr>
              <a:t>scoring</a:t>
            </a:r>
            <a:r>
              <a:rPr lang="fr-FR" b="1">
                <a:solidFill>
                  <a:srgbClr val="0027B7"/>
                </a:solidFill>
              </a:rPr>
              <a:t> fonctionnel</a:t>
            </a:r>
          </a:p>
        </p:txBody>
      </p:sp>
    </p:spTree>
    <p:extLst>
      <p:ext uri="{BB962C8B-B14F-4D97-AF65-F5344CB8AC3E}">
        <p14:creationId xmlns:p14="http://schemas.microsoft.com/office/powerpoint/2010/main" val="11553810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695D0-006F-9F5D-CC13-25C6B2FA8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F58A6690-B3DD-CD73-BD14-F8937A4D4E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FR" dirty="0"/>
              <a:t>Synthèse comparative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03BBDBE5-456C-18D2-A983-EA9113607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SCORING ET COUVERTURE FONCTIONNELLE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08385E6-E175-C80C-C225-83C4C99724A9}"/>
              </a:ext>
            </a:extLst>
          </p:cNvPr>
          <p:cNvSpPr txBox="1"/>
          <p:nvPr/>
        </p:nvSpPr>
        <p:spPr>
          <a:xfrm>
            <a:off x="378069" y="1178159"/>
            <a:ext cx="7207773" cy="5488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sz="800" b="1" dirty="0">
                <a:solidFill>
                  <a:schemeClr val="accent1"/>
                </a:solidFill>
                <a:cs typeface="Calibri" panose="020F0502020204030204" pitchFamily="34" charset="0"/>
              </a:rPr>
              <a:t>MICROSOFT se distingue par sa couverture fonctionnelle générale :</a:t>
            </a:r>
          </a:p>
          <a:p>
            <a:pPr marL="6286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sz="800" dirty="0">
                <a:cs typeface="Calibri" panose="020F0502020204030204" pitchFamily="34" charset="0"/>
              </a:rPr>
              <a:t>conforme aux attentes et reposant sur </a:t>
            </a:r>
            <a:r>
              <a:rPr lang="fr-FR" sz="800" b="1" dirty="0">
                <a:cs typeface="Calibri" panose="020F0502020204030204" pitchFamily="34" charset="0"/>
              </a:rPr>
              <a:t>des niveaux de standard plus importants </a:t>
            </a:r>
            <a:r>
              <a:rPr lang="fr-FR" sz="800" dirty="0">
                <a:cs typeface="Calibri" panose="020F0502020204030204" pitchFamily="34" charset="0"/>
              </a:rPr>
              <a:t>(77%),</a:t>
            </a:r>
          </a:p>
          <a:p>
            <a:pPr marL="6286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sz="800" dirty="0">
                <a:cs typeface="Calibri" panose="020F0502020204030204" pitchFamily="34" charset="0"/>
              </a:rPr>
              <a:t>bien répartie sur l’ensemble des macro-besoins fonctionnels et </a:t>
            </a:r>
            <a:r>
              <a:rPr lang="fr-FR" sz="800" b="1" dirty="0">
                <a:cs typeface="Calibri" panose="020F0502020204030204" pitchFamily="34" charset="0"/>
              </a:rPr>
              <a:t>adressant une grande partie des besoins prioritaires,</a:t>
            </a:r>
            <a:endParaRPr lang="fr-FR" sz="800" dirty="0">
              <a:cs typeface="Calibri" panose="020F0502020204030204" pitchFamily="34" charset="0"/>
            </a:endParaRPr>
          </a:p>
          <a:p>
            <a:pPr marL="6286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sz="800" dirty="0">
                <a:cs typeface="Calibri" panose="020F0502020204030204" pitchFamily="34" charset="0"/>
              </a:rPr>
              <a:t>avec un taux restreint de développements spécifiques, </a:t>
            </a:r>
            <a:r>
              <a:rPr lang="fr-FR" sz="800" b="1" dirty="0">
                <a:cs typeface="Calibri" panose="020F0502020204030204" pitchFamily="34" charset="0"/>
              </a:rPr>
              <a:t>les adaptations étant surtout portées par de la customisation,</a:t>
            </a:r>
          </a:p>
          <a:p>
            <a:pPr marL="6286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sz="800" dirty="0">
                <a:cs typeface="Calibri" panose="020F0502020204030204" pitchFamily="34" charset="0"/>
              </a:rPr>
              <a:t>supérieure aux concurrents sur la gestion des données référentielles (88%), des saisons (85%), des matières et capacités (83%).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fr-FR" sz="800" dirty="0">
              <a:cs typeface="Calibri" panose="020F0502020204030204" pitchFamily="34" charset="0"/>
            </a:endParaRP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sz="800" dirty="0">
                <a:cs typeface="Calibri" panose="020F0502020204030204" pitchFamily="34" charset="0"/>
              </a:rPr>
              <a:t>De la customisation sera nécessaire pour adresser </a:t>
            </a:r>
            <a:r>
              <a:rPr lang="fr-FR" sz="800" b="1" dirty="0">
                <a:cs typeface="Calibri" panose="020F0502020204030204" pitchFamily="34" charset="0"/>
              </a:rPr>
              <a:t>certaines des fonctionnalités identifiées comme « sensibles »,</a:t>
            </a:r>
            <a:r>
              <a:rPr lang="fr-FR" sz="800" dirty="0">
                <a:cs typeface="Calibri" panose="020F0502020204030204" pitchFamily="34" charset="0"/>
              </a:rPr>
              <a:t> notamment :</a:t>
            </a:r>
          </a:p>
          <a:p>
            <a:pPr marL="6286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sz="800" dirty="0">
                <a:cs typeface="Calibri" panose="020F0502020204030204" pitchFamily="34" charset="0"/>
              </a:rPr>
              <a:t>saisonnalité de certains paramètres et données : promotions et prix, règles de gestion des stocks, conditions logistiques…,</a:t>
            </a:r>
          </a:p>
          <a:p>
            <a:pPr marL="6286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sz="800" dirty="0">
                <a:cs typeface="Calibri" panose="020F0502020204030204" pitchFamily="34" charset="0"/>
              </a:rPr>
              <a:t>identification et bascule des stocks non-reconduits (saisonniers -&gt; carry-over),</a:t>
            </a:r>
          </a:p>
          <a:p>
            <a:pPr marL="6286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sz="800" i="1" dirty="0">
                <a:cs typeface="Calibri" panose="020F0502020204030204" pitchFamily="34" charset="0"/>
              </a:rPr>
              <a:t>fine tuning </a:t>
            </a:r>
            <a:r>
              <a:rPr lang="fr-FR" sz="800" dirty="0">
                <a:cs typeface="Calibri" panose="020F0502020204030204" pitchFamily="34" charset="0"/>
              </a:rPr>
              <a:t>et ajout simplifié de critères de réassort,</a:t>
            </a:r>
          </a:p>
          <a:p>
            <a:pPr marL="6286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sz="800" dirty="0">
                <a:cs typeface="Calibri" panose="020F0502020204030204" pitchFamily="34" charset="0"/>
              </a:rPr>
              <a:t>gestion avancée des allocations : prise en compte du conditionnement, équilibrage des stocks selon besoins d’allocation, enregistrement des commandes non-servies…,</a:t>
            </a:r>
          </a:p>
          <a:p>
            <a:pPr marL="6286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sz="800" dirty="0">
                <a:cs typeface="Calibri" panose="020F0502020204030204" pitchFamily="34" charset="0"/>
              </a:rPr>
              <a:t>cockpits de pilotage et simulation : allocations, commandes de vente, commandes d’achat.</a:t>
            </a:r>
          </a:p>
          <a:p>
            <a:pPr marL="6286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fr-FR" sz="800" dirty="0">
              <a:cs typeface="Calibri" panose="020F0502020204030204" pitchFamily="34" charset="0"/>
            </a:endParaRP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sz="800" b="1" dirty="0">
                <a:solidFill>
                  <a:schemeClr val="accent1"/>
                </a:solidFill>
                <a:cs typeface="Calibri" panose="020F0502020204030204" pitchFamily="34" charset="0"/>
              </a:rPr>
              <a:t>SEI affiche un score et un niveau de couverture fonctionnelle inférieurs de ±10% à ceux de Microsoft.</a:t>
            </a:r>
          </a:p>
          <a:p>
            <a:pPr marL="6286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sz="800" dirty="0">
                <a:cs typeface="Calibri" panose="020F0502020204030204" pitchFamily="34" charset="0"/>
              </a:rPr>
              <a:t>Cet écart est ramené </a:t>
            </a:r>
            <a:r>
              <a:rPr lang="fr-FR" sz="800" b="1" dirty="0">
                <a:cs typeface="Calibri" panose="020F0502020204030204" pitchFamily="34" charset="0"/>
              </a:rPr>
              <a:t>à 6% en tenant compte de futures versions </a:t>
            </a:r>
            <a:r>
              <a:rPr lang="fr-FR" sz="800" dirty="0">
                <a:cs typeface="Calibri" panose="020F0502020204030204" pitchFamily="34" charset="0"/>
              </a:rPr>
              <a:t>(2026).</a:t>
            </a:r>
          </a:p>
          <a:p>
            <a:pPr marL="6286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sz="800" dirty="0">
                <a:cs typeface="Calibri" panose="020F0502020204030204" pitchFamily="34" charset="0"/>
              </a:rPr>
              <a:t>Les travaux d’adaptation nécessiteront </a:t>
            </a:r>
            <a:r>
              <a:rPr lang="fr-FR" sz="800" b="1" dirty="0">
                <a:cs typeface="Calibri" panose="020F0502020204030204" pitchFamily="34" charset="0"/>
              </a:rPr>
              <a:t>plus de développement </a:t>
            </a:r>
            <a:r>
              <a:rPr lang="fr-FR" sz="800" dirty="0">
                <a:cs typeface="Calibri" panose="020F0502020204030204" pitchFamily="34" charset="0"/>
              </a:rPr>
              <a:t>(15%) que de customisation (11%).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fr-FR" sz="800" dirty="0">
              <a:cs typeface="Calibri" panose="020F0502020204030204" pitchFamily="34" charset="0"/>
            </a:endParaRP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sz="800" dirty="0">
                <a:cs typeface="Calibri" panose="020F0502020204030204" pitchFamily="34" charset="0"/>
              </a:rPr>
              <a:t>Le standard montre des lacunes (par rapport aux attendus) sur plusieurs des macro-besoins, </a:t>
            </a:r>
            <a:r>
              <a:rPr lang="fr-FR" sz="800" b="1" dirty="0">
                <a:cs typeface="Calibri" panose="020F0502020204030204" pitchFamily="34" charset="0"/>
              </a:rPr>
              <a:t>avec des couvertures standard inférieures à 50% </a:t>
            </a:r>
            <a:r>
              <a:rPr lang="fr-FR" sz="800" dirty="0">
                <a:cs typeface="Calibri" panose="020F0502020204030204" pitchFamily="34" charset="0"/>
              </a:rPr>
              <a:t>: allocations, commandes de vente, livraisons et retours (11%).</a:t>
            </a:r>
          </a:p>
          <a:p>
            <a:pPr marL="6286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sz="800" dirty="0">
                <a:cs typeface="Calibri" panose="020F0502020204030204" pitchFamily="34" charset="0"/>
              </a:rPr>
              <a:t>Le traitement de ces écarts en customisation et développement nécessitera un travail conséquent de conception.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fr-FR" sz="800" dirty="0">
              <a:cs typeface="Calibri" panose="020F0502020204030204" pitchFamily="34" charset="0"/>
            </a:endParaRP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sz="800" dirty="0">
                <a:cs typeface="Calibri" panose="020F0502020204030204" pitchFamily="34" charset="0"/>
              </a:rPr>
              <a:t>Les mêmes </a:t>
            </a:r>
            <a:r>
              <a:rPr lang="fr-FR" sz="800" b="1" dirty="0">
                <a:cs typeface="Calibri" panose="020F0502020204030204" pitchFamily="34" charset="0"/>
              </a:rPr>
              <a:t>fonctionnalités « sensibles » nécessiteront de la customisation</a:t>
            </a:r>
            <a:r>
              <a:rPr lang="fr-FR" sz="800" dirty="0">
                <a:cs typeface="Calibri" panose="020F0502020204030204" pitchFamily="34" charset="0"/>
              </a:rPr>
              <a:t>. S’y s’ajoutent la gestion avancée du </a:t>
            </a:r>
            <a:r>
              <a:rPr lang="fr-FR" sz="800" b="1" dirty="0">
                <a:cs typeface="Calibri" panose="020F0502020204030204" pitchFamily="34" charset="0"/>
              </a:rPr>
              <a:t>colisage et</a:t>
            </a:r>
            <a:r>
              <a:rPr lang="fr-FR" sz="800" dirty="0">
                <a:cs typeface="Calibri" panose="020F0502020204030204" pitchFamily="34" charset="0"/>
              </a:rPr>
              <a:t> </a:t>
            </a:r>
            <a:r>
              <a:rPr lang="fr-FR" sz="800" b="1" dirty="0">
                <a:cs typeface="Calibri" panose="020F0502020204030204" pitchFamily="34" charset="0"/>
              </a:rPr>
              <a:t>des optimums logistiques </a:t>
            </a:r>
            <a:r>
              <a:rPr lang="fr-FR" sz="800" dirty="0">
                <a:cs typeface="Calibri" panose="020F0502020204030204" pitchFamily="34" charset="0"/>
              </a:rPr>
              <a:t>(et des règles associées).</a:t>
            </a:r>
          </a:p>
          <a:p>
            <a:pPr marL="6286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fr-FR" sz="800" dirty="0">
              <a:cs typeface="Calibri" panose="020F0502020204030204" pitchFamily="34" charset="0"/>
            </a:endParaRP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sz="800" b="1" dirty="0">
                <a:solidFill>
                  <a:schemeClr val="accent1"/>
                </a:solidFill>
                <a:cs typeface="Calibri" panose="020F0502020204030204" pitchFamily="34" charset="0"/>
              </a:rPr>
              <a:t>Orisha et Odoo atteignent les 80% de </a:t>
            </a:r>
            <a:r>
              <a:rPr lang="fr-FR" sz="800" b="1" dirty="0" err="1">
                <a:solidFill>
                  <a:schemeClr val="accent1"/>
                </a:solidFill>
                <a:cs typeface="Calibri" panose="020F0502020204030204" pitchFamily="34" charset="0"/>
              </a:rPr>
              <a:t>scoring</a:t>
            </a:r>
            <a:r>
              <a:rPr lang="fr-FR" sz="800" b="1" dirty="0">
                <a:solidFill>
                  <a:schemeClr val="accent1"/>
                </a:solidFill>
                <a:cs typeface="Calibri" panose="020F0502020204030204" pitchFamily="34" charset="0"/>
              </a:rPr>
              <a:t> fonctionnel au prix de travaux de customisation et de développement importants, </a:t>
            </a:r>
            <a:r>
              <a:rPr lang="fr-FR" sz="800" dirty="0">
                <a:cs typeface="Calibri" panose="020F0502020204030204" pitchFamily="34" charset="0"/>
              </a:rPr>
              <a:t>certains sur des fonctionnalités essentielles et / ou majeures pour l’activité du Groupe : gestion des saisons, allocations, commandes d’achat, planning et capacités matières…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sz="800" dirty="0">
                <a:cs typeface="Calibri" panose="020F0502020204030204" pitchFamily="34" charset="0"/>
              </a:rPr>
              <a:t>Cet écart traduit :</a:t>
            </a:r>
          </a:p>
          <a:p>
            <a:pPr marL="6286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sz="800" dirty="0">
                <a:cs typeface="Calibri" panose="020F0502020204030204" pitchFamily="34" charset="0"/>
              </a:rPr>
              <a:t>pour Odoo, l’absence d’un vertical / d’un standard adapté au secteur de la Mode,</a:t>
            </a:r>
          </a:p>
          <a:p>
            <a:pPr marL="6286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sz="800" dirty="0">
                <a:cs typeface="Calibri" panose="020F0502020204030204" pitchFamily="34" charset="0"/>
              </a:rPr>
              <a:t>pour Orisha, une solution orientée </a:t>
            </a:r>
            <a:r>
              <a:rPr lang="fr-FR" sz="800" dirty="0" err="1">
                <a:cs typeface="Calibri" panose="020F0502020204030204" pitchFamily="34" charset="0"/>
              </a:rPr>
              <a:t>sell</a:t>
            </a:r>
            <a:r>
              <a:rPr lang="fr-FR" sz="800" dirty="0">
                <a:cs typeface="Calibri" panose="020F0502020204030204" pitchFamily="34" charset="0"/>
              </a:rPr>
              <a:t> out et magasins, moins robuste sur les besoins de la </a:t>
            </a:r>
            <a:r>
              <a:rPr lang="fr-FR" sz="800" dirty="0" err="1">
                <a:cs typeface="Calibri" panose="020F0502020204030204" pitchFamily="34" charset="0"/>
              </a:rPr>
              <a:t>supply</a:t>
            </a:r>
            <a:r>
              <a:rPr lang="fr-FR" sz="800" dirty="0">
                <a:cs typeface="Calibri" panose="020F0502020204030204" pitchFamily="34" charset="0"/>
              </a:rPr>
              <a:t> </a:t>
            </a:r>
            <a:r>
              <a:rPr lang="fr-FR" sz="800" dirty="0" err="1">
                <a:cs typeface="Calibri" panose="020F0502020204030204" pitchFamily="34" charset="0"/>
              </a:rPr>
              <a:t>chain</a:t>
            </a:r>
            <a:r>
              <a:rPr lang="fr-FR" sz="800" dirty="0">
                <a:cs typeface="Calibri" panose="020F0502020204030204" pitchFamily="34" charset="0"/>
              </a:rPr>
              <a:t> globale / du back-office.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fr-FR" sz="800" dirty="0">
              <a:cs typeface="Calibri" panose="020F0502020204030204" pitchFamily="34" charset="0"/>
            </a:endParaRPr>
          </a:p>
        </p:txBody>
      </p:sp>
      <p:graphicFrame>
        <p:nvGraphicFramePr>
          <p:cNvPr id="28" name="Graphique 27">
            <a:extLst>
              <a:ext uri="{FF2B5EF4-FFF2-40B4-BE49-F238E27FC236}">
                <a16:creationId xmlns:a16="http://schemas.microsoft.com/office/drawing/2014/main" id="{A27F0AEC-1D42-EBED-AF86-9D800F0B79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2039065"/>
              </p:ext>
            </p:extLst>
          </p:nvPr>
        </p:nvGraphicFramePr>
        <p:xfrm>
          <a:off x="7585845" y="3925231"/>
          <a:ext cx="4680000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0" name="Graphique 29">
            <a:extLst>
              <a:ext uri="{FF2B5EF4-FFF2-40B4-BE49-F238E27FC236}">
                <a16:creationId xmlns:a16="http://schemas.microsoft.com/office/drawing/2014/main" id="{9A4AAF18-7181-87CD-3036-3E565C8C3F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6614356"/>
              </p:ext>
            </p:extLst>
          </p:nvPr>
        </p:nvGraphicFramePr>
        <p:xfrm>
          <a:off x="7585845" y="487820"/>
          <a:ext cx="4680000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DDD183CA-7EFB-CD26-F4C4-5ABDF73F0C84}"/>
              </a:ext>
            </a:extLst>
          </p:cNvPr>
          <p:cNvSpPr txBox="1"/>
          <p:nvPr/>
        </p:nvSpPr>
        <p:spPr>
          <a:xfrm>
            <a:off x="7858612" y="496900"/>
            <a:ext cx="4134465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600" b="1" u="sng"/>
              <a:t>SCORE (PONDÉRÉ) DE COUVERTURE FONCTIONNELLE DES SOLUTIONS CANDIDATES, PAR MACRO-BESOIN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A435BC7-3A08-F23B-5D33-4D18A6C5858B}"/>
              </a:ext>
            </a:extLst>
          </p:cNvPr>
          <p:cNvSpPr txBox="1"/>
          <p:nvPr/>
        </p:nvSpPr>
        <p:spPr>
          <a:xfrm>
            <a:off x="8054979" y="3894459"/>
            <a:ext cx="374173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600" b="1" u="sng"/>
              <a:t>COUVERTURE FONCTIONNELLE STANDARD DES SOLUTIONS CANDIDATES, PAR MACRO-BESOIN</a:t>
            </a:r>
          </a:p>
        </p:txBody>
      </p:sp>
      <p:graphicFrame>
        <p:nvGraphicFramePr>
          <p:cNvPr id="13" name="Tableau 12">
            <a:extLst>
              <a:ext uri="{FF2B5EF4-FFF2-40B4-BE49-F238E27FC236}">
                <a16:creationId xmlns:a16="http://schemas.microsoft.com/office/drawing/2014/main" id="{510E172C-BCDD-CAA4-5629-ED79ADBA44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5870562"/>
              </p:ext>
            </p:extLst>
          </p:nvPr>
        </p:nvGraphicFramePr>
        <p:xfrm>
          <a:off x="8233278" y="3214297"/>
          <a:ext cx="3492000" cy="4694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495034195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171736471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37122560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201045802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1749335152"/>
                    </a:ext>
                  </a:extLst>
                </a:gridCol>
              </a:tblGrid>
              <a:tr h="165100">
                <a:tc>
                  <a:txBody>
                    <a:bodyPr/>
                    <a:lstStyle/>
                    <a:p>
                      <a:pPr algn="ctr" fontAlgn="b"/>
                      <a:endParaRPr lang="fr-FR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1" u="none" strike="noStrike">
                          <a:solidFill>
                            <a:srgbClr val="4EA72D"/>
                          </a:solidFill>
                          <a:effectLst/>
                        </a:rPr>
                        <a:t>MICROSOFT</a:t>
                      </a:r>
                      <a:endParaRPr lang="fr-FR" sz="800" b="1" i="0" u="none" strike="noStrike">
                        <a:solidFill>
                          <a:srgbClr val="4EA72D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1" u="none" strike="noStrike">
                          <a:solidFill>
                            <a:srgbClr val="00B0F0"/>
                          </a:solidFill>
                          <a:effectLst/>
                        </a:rPr>
                        <a:t>SEI</a:t>
                      </a:r>
                      <a:endParaRPr lang="fr-FR" sz="800" b="1" i="0" u="none" strike="noStrike">
                        <a:solidFill>
                          <a:srgbClr val="00B0F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1" u="none" strike="noStrike">
                          <a:solidFill>
                            <a:schemeClr val="accent4"/>
                          </a:solidFill>
                          <a:effectLst/>
                        </a:rPr>
                        <a:t>ODOO</a:t>
                      </a:r>
                      <a:endParaRPr lang="fr-FR" sz="800" b="1" i="0" u="none" strike="noStrike">
                        <a:solidFill>
                          <a:schemeClr val="accent4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1" u="none" strike="noStrike">
                          <a:solidFill>
                            <a:srgbClr val="D24899"/>
                          </a:solidFill>
                          <a:effectLst/>
                        </a:rPr>
                        <a:t>ORISHA</a:t>
                      </a:r>
                      <a:endParaRPr lang="fr-FR" sz="800" b="1" i="0" u="none" strike="noStrike">
                        <a:solidFill>
                          <a:srgbClr val="D24899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7470170"/>
                  </a:ext>
                </a:extLst>
              </a:tr>
              <a:tr h="152168">
                <a:tc>
                  <a:txBody>
                    <a:bodyPr/>
                    <a:lstStyle/>
                    <a:p>
                      <a:pPr algn="l" fontAlgn="b"/>
                      <a:r>
                        <a:rPr lang="fr-FR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Note relative</a:t>
                      </a:r>
                    </a:p>
                  </a:txBody>
                  <a:tcPr marL="0" marR="0" marT="0" marB="0" anchor="b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700" b="0" u="none" strike="noStrike">
                          <a:solidFill>
                            <a:srgbClr val="4EA72D"/>
                          </a:solidFill>
                          <a:effectLst/>
                        </a:rPr>
                        <a:t>94%</a:t>
                      </a:r>
                      <a:endParaRPr lang="fr-FR" sz="700" b="0" i="0" u="none" strike="noStrike">
                        <a:solidFill>
                          <a:srgbClr val="4EA72D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700" b="0" u="none" strike="noStrike">
                          <a:solidFill>
                            <a:srgbClr val="00B0F0"/>
                          </a:solidFill>
                          <a:effectLst/>
                        </a:rPr>
                        <a:t>84%</a:t>
                      </a:r>
                      <a:endParaRPr lang="fr-FR" sz="700" b="0" i="0" u="none" strike="noStrike">
                        <a:solidFill>
                          <a:srgbClr val="00B0F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700" b="0" u="none" strike="noStrike">
                          <a:solidFill>
                            <a:schemeClr val="accent4"/>
                          </a:solidFill>
                          <a:effectLst/>
                        </a:rPr>
                        <a:t>80%</a:t>
                      </a:r>
                      <a:endParaRPr lang="fr-FR" sz="700" b="0" i="0" u="none" strike="noStrike">
                        <a:solidFill>
                          <a:schemeClr val="accent4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700" b="0" u="none" strike="noStrike">
                          <a:solidFill>
                            <a:srgbClr val="D24899"/>
                          </a:solidFill>
                          <a:effectLst/>
                        </a:rPr>
                        <a:t>79%</a:t>
                      </a:r>
                      <a:endParaRPr lang="fr-FR" sz="700" b="0" i="0" u="none" strike="noStrike">
                        <a:solidFill>
                          <a:srgbClr val="D24899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3951471"/>
                  </a:ext>
                </a:extLst>
              </a:tr>
              <a:tr h="152168">
                <a:tc>
                  <a:txBody>
                    <a:bodyPr/>
                    <a:lstStyle/>
                    <a:p>
                      <a:pPr algn="l" fontAlgn="b"/>
                      <a:r>
                        <a:rPr lang="fr-FR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Couverture standard</a:t>
                      </a:r>
                    </a:p>
                  </a:txBody>
                  <a:tcPr marL="0" marR="0" marT="0" marB="0" anchor="b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700" b="0" i="0" u="none" strike="noStrike">
                          <a:solidFill>
                            <a:srgbClr val="4EA72D"/>
                          </a:solidFill>
                          <a:effectLst/>
                          <a:latin typeface="Aptos Narrow" panose="020B0004020202020204" pitchFamily="34" charset="0"/>
                        </a:rPr>
                        <a:t>77%</a:t>
                      </a:r>
                    </a:p>
                  </a:txBody>
                  <a:tcPr marL="0" marR="0" marT="0" marB="0" anchor="b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700" b="0" i="0" u="none" strike="noStrike">
                          <a:solidFill>
                            <a:srgbClr val="00B0F0"/>
                          </a:solidFill>
                          <a:effectLst/>
                          <a:latin typeface="Aptos Narrow" panose="020B0004020202020204" pitchFamily="34" charset="0"/>
                        </a:rPr>
                        <a:t>68%</a:t>
                      </a:r>
                    </a:p>
                  </a:txBody>
                  <a:tcPr marL="0" marR="0" marT="0" marB="0" anchor="b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700" b="0" i="0" u="none" strike="noStrike">
                          <a:solidFill>
                            <a:schemeClr val="accent4"/>
                          </a:solidFill>
                          <a:effectLst/>
                          <a:latin typeface="Aptos Narrow" panose="020B0004020202020204" pitchFamily="34" charset="0"/>
                        </a:rPr>
                        <a:t>60%</a:t>
                      </a:r>
                    </a:p>
                  </a:txBody>
                  <a:tcPr marL="0" marR="0" marT="0" marB="0" anchor="b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700" b="0" i="0" u="none" strike="noStrike">
                          <a:solidFill>
                            <a:srgbClr val="D24899"/>
                          </a:solidFill>
                          <a:effectLst/>
                          <a:latin typeface="Aptos Narrow" panose="020B0004020202020204" pitchFamily="34" charset="0"/>
                        </a:rPr>
                        <a:t>43%</a:t>
                      </a:r>
                    </a:p>
                  </a:txBody>
                  <a:tcPr marL="0" marR="0" marT="0" marB="0" anchor="b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0170151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02EF6E9-AD21-5308-6535-511215453C9F}"/>
              </a:ext>
            </a:extLst>
          </p:cNvPr>
          <p:cNvSpPr/>
          <p:nvPr/>
        </p:nvSpPr>
        <p:spPr>
          <a:xfrm>
            <a:off x="9090498" y="3204569"/>
            <a:ext cx="724710" cy="532070"/>
          </a:xfrm>
          <a:prstGeom prst="rect">
            <a:avLst/>
          </a:prstGeom>
          <a:noFill/>
          <a:ln w="28575">
            <a:solidFill>
              <a:srgbClr val="4EA72D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 b="1">
              <a:solidFill>
                <a:srgbClr val="1A1C3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96448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A870E-255E-8E20-2D2C-381A6C36E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CB21CAA-D90D-0E52-2429-EECC7C447A0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fr-FR"/>
              <a:t>Confidentiel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77D10EEC-DAB6-C945-FB0D-9E971845D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SCORING fonctionnel PAR MACRO-BESOIN</a:t>
            </a:r>
          </a:p>
        </p:txBody>
      </p:sp>
      <p:graphicFrame>
        <p:nvGraphicFramePr>
          <p:cNvPr id="11" name="Tableau 10">
            <a:extLst>
              <a:ext uri="{FF2B5EF4-FFF2-40B4-BE49-F238E27FC236}">
                <a16:creationId xmlns:a16="http://schemas.microsoft.com/office/drawing/2014/main" id="{69D4B462-3027-BC23-F6AF-D19123AFC6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81772"/>
              </p:ext>
            </p:extLst>
          </p:nvPr>
        </p:nvGraphicFramePr>
        <p:xfrm>
          <a:off x="336000" y="781513"/>
          <a:ext cx="11520000" cy="563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1119602268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3877121782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261345070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879186407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935731188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108563920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Besoins fonctionnels</a:t>
                      </a:r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MICROSOFT</a:t>
                      </a:r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SEI</a:t>
                      </a:r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ODOO</a:t>
                      </a:r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ORISHA</a:t>
                      </a:r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5911255"/>
                  </a:ext>
                </a:extLst>
              </a:tr>
              <a:tr h="0">
                <a:tc rowSpan="8"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fr-FR" sz="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I. Données référentielles</a:t>
                      </a:r>
                      <a:endParaRPr lang="fr-FR" sz="8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b="1" i="1" dirty="0"/>
                        <a:t>Score 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 i="1" dirty="0">
                          <a:solidFill>
                            <a:schemeClr val="tx1"/>
                          </a:solidFill>
                          <a:latin typeface="+mn-lt"/>
                        </a:rPr>
                        <a:t>97%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 i="1" dirty="0">
                          <a:latin typeface="+mn-lt"/>
                        </a:rPr>
                        <a:t>84%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 i="1" dirty="0">
                          <a:solidFill>
                            <a:schemeClr val="tx1"/>
                          </a:solidFill>
                          <a:latin typeface="+mn-lt"/>
                        </a:rPr>
                        <a:t>87%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 i="1">
                          <a:latin typeface="+mn-lt"/>
                        </a:rPr>
                        <a:t>80%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338487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/>
                        <a:t>Habilitations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800" dirty="0">
                          <a:latin typeface="+mn-lt"/>
                        </a:rPr>
                        <a:t>100% standard.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100% standard.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100% standard.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100% standard.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319554"/>
                  </a:ext>
                </a:extLst>
              </a:tr>
              <a:tr h="220616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/>
                        <a:t>Réseaux et clients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800" dirty="0">
                          <a:latin typeface="+mn-lt"/>
                        </a:rPr>
                        <a:t>Quasi-100% standard.</a:t>
                      </a:r>
                    </a:p>
                    <a:p>
                      <a:pPr algn="l"/>
                      <a:endParaRPr lang="fr-FR" sz="8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800" dirty="0">
                          <a:latin typeface="+mn-lt"/>
                        </a:rPr>
                        <a:t>Majorité des besoins en standard.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100% standard.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Besoins prioritaires en custom / </a:t>
                      </a:r>
                      <a:r>
                        <a:rPr lang="fr-FR" sz="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dév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fr-FR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800" b="1" u="sng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Besoins non standards : 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Hiérarchie client (multi-niveaux et multi-vues).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254404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fr-FR" sz="12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/>
                        <a:t>Articles​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800" dirty="0">
                          <a:latin typeface="+mn-lt"/>
                        </a:rPr>
                        <a:t>Standard majoritaire.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fr-FR" sz="800" dirty="0">
                        <a:latin typeface="+mn-lt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800" dirty="0">
                          <a:latin typeface="+mn-lt"/>
                        </a:rPr>
                        <a:t>Variantes gérées en standard.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fr-FR" sz="800" dirty="0"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800" b="1" u="sng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Besoins non standards :  </a:t>
                      </a:r>
                      <a:endParaRPr lang="fr-FR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Poids (à la variante).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Etiquetage (variantes).</a:t>
                      </a:r>
                      <a:endParaRPr lang="fr-FR" sz="8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800" dirty="0">
                          <a:latin typeface="+mn-lt"/>
                        </a:rPr>
                        <a:t>Standard majoritaire.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fr-FR" sz="800" dirty="0">
                        <a:latin typeface="+mn-lt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800" dirty="0">
                          <a:latin typeface="+mn-lt"/>
                        </a:rPr>
                        <a:t>Variantes gérées en standard =&gt; </a:t>
                      </a:r>
                      <a:r>
                        <a:rPr lang="fr-FR" sz="800" b="1" dirty="0">
                          <a:solidFill>
                            <a:srgbClr val="FF0000"/>
                          </a:solidFill>
                          <a:latin typeface="+mn-lt"/>
                        </a:rPr>
                        <a:t>proposition technique suffisante ?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fr-FR" sz="800" dirty="0"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800" b="1" u="sng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Besoins non standards :  </a:t>
                      </a:r>
                      <a:endParaRPr lang="fr-FR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Etiquetage.</a:t>
                      </a:r>
                      <a:endParaRPr lang="fr-FR" sz="8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89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800" dirty="0">
                          <a:latin typeface="+mn-lt"/>
                        </a:rPr>
                        <a:t>Besoins structurants et spécifiques au secteur nécessitent custom / </a:t>
                      </a:r>
                      <a:r>
                        <a:rPr lang="fr-FR" sz="800" dirty="0" err="1">
                          <a:latin typeface="+mn-lt"/>
                        </a:rPr>
                        <a:t>dév</a:t>
                      </a:r>
                      <a:r>
                        <a:rPr lang="fr-FR" sz="800" dirty="0">
                          <a:latin typeface="+mn-lt"/>
                        </a:rPr>
                        <a:t>.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fr-FR" sz="800" dirty="0">
                        <a:latin typeface="+mn-lt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800" dirty="0">
                          <a:latin typeface="+mn-lt"/>
                        </a:rPr>
                        <a:t>Variantes et versions d’articles gérées en standard. 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fr-FR" sz="800" dirty="0"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800" b="1" u="sng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Besoins non standards :  </a:t>
                      </a:r>
                      <a:endParaRPr lang="fr-FR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1" dirty="0">
                          <a:latin typeface="+mn-lt"/>
                        </a:rPr>
                        <a:t>Hiérarchie articles.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1" dirty="0">
                          <a:latin typeface="+mn-lt"/>
                        </a:rPr>
                        <a:t>Assortiments et catalogues.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1" dirty="0">
                          <a:latin typeface="+mn-lt"/>
                        </a:rPr>
                        <a:t>Traçabilité matières.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Etiquetage.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Tailles (typologies et correspondances marchés).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89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800" dirty="0">
                          <a:latin typeface="+mn-lt"/>
                        </a:rPr>
                        <a:t>Standard majoritaire.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fr-FR" sz="800" dirty="0">
                        <a:latin typeface="+mn-lt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800" dirty="0">
                          <a:latin typeface="+mn-lt"/>
                        </a:rPr>
                        <a:t>Variantes gérées en standard.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800" dirty="0"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b="1" u="sng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Besoins non standards :  </a:t>
                      </a:r>
                      <a:endParaRPr lang="fr-FR" sz="800" dirty="0">
                        <a:latin typeface="+mn-lt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1" dirty="0">
                          <a:latin typeface="+mn-lt"/>
                        </a:rPr>
                        <a:t>Plusieurs variantes d’un même article par saison.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1" dirty="0">
                          <a:latin typeface="+mn-lt"/>
                        </a:rPr>
                        <a:t>Prestations complémentaires / </a:t>
                      </a:r>
                      <a:r>
                        <a:rPr lang="fr-FR" sz="800" b="1" dirty="0" err="1">
                          <a:latin typeface="+mn-lt"/>
                        </a:rPr>
                        <a:t>upcharges</a:t>
                      </a:r>
                      <a:r>
                        <a:rPr lang="fr-FR" sz="800" b="1" dirty="0">
                          <a:latin typeface="+mn-lt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1" dirty="0">
                          <a:latin typeface="+mn-lt"/>
                        </a:rPr>
                        <a:t>Etiquetage.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fr-FR" sz="8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3729547"/>
                  </a:ext>
                </a:extLst>
              </a:tr>
              <a:tr h="412456">
                <a:tc vMerge="1">
                  <a:txBody>
                    <a:bodyPr/>
                    <a:lstStyle/>
                    <a:p>
                      <a:endParaRPr lang="fr-F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/>
                        <a:t> Prix et promotions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800" dirty="0">
                          <a:latin typeface="+mn-lt"/>
                        </a:rPr>
                        <a:t>Quasi-100% standard.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800" b="1" u="sng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800" b="1" u="sng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Besoins non standards :  </a:t>
                      </a:r>
                      <a:endParaRPr lang="fr-FR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Remises et conditions à la saison.</a:t>
                      </a:r>
                      <a:endParaRPr lang="fr-FR" sz="8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800" dirty="0">
                          <a:latin typeface="+mn-lt"/>
                        </a:rPr>
                        <a:t>Quasi-100% standard.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fr-FR" sz="800" dirty="0">
                        <a:latin typeface="+mn-lt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800" dirty="0">
                          <a:latin typeface="+mn-lt"/>
                        </a:rPr>
                        <a:t>Gestion des remises et conditions contractuelles en roadmap (2026).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800" b="1" u="sng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800" b="1" u="sng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Besoins non standards :  </a:t>
                      </a:r>
                      <a:endParaRPr lang="fr-FR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Promo par paliers sur Prix Vente.</a:t>
                      </a:r>
                      <a:endParaRPr lang="fr-FR" sz="8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Besoins prioritaires en custom / </a:t>
                      </a:r>
                      <a:r>
                        <a:rPr lang="fr-FR" sz="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dév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fr-FR" sz="800" b="1" u="sng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fr-FR" sz="800" b="1" u="sng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800" b="1" u="sng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Besoins non standards :  </a:t>
                      </a:r>
                      <a:endParaRPr lang="fr-FR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Gestion horizontale et verticale des prix et conditions.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Prix, conditions, remises, promotions à la saison.</a:t>
                      </a:r>
                      <a:endParaRPr lang="fr-FR" sz="8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89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Besoins prioritaires en custom / </a:t>
                      </a:r>
                      <a:r>
                        <a:rPr lang="fr-FR" sz="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dév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fr-FR" sz="800" b="1" u="sng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fr-FR" sz="800" b="1" u="sng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800" b="1" u="sng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Besoins non standards :  </a:t>
                      </a:r>
                      <a:endParaRPr lang="fr-FR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Gestion horizontale et verticale des prix et conditions.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Prix, conditions, remises, promotions à la saison.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Markups, </a:t>
                      </a:r>
                      <a:r>
                        <a:rPr lang="fr-FR" sz="8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coeff</a:t>
                      </a: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prix entrée / sortie.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Promotions et remises par paliers, en cascade, horizontale / verticale.</a:t>
                      </a:r>
                      <a:endParaRPr lang="fr-FR" sz="8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3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3715932"/>
                  </a:ext>
                </a:extLst>
              </a:tr>
              <a:tr h="143880">
                <a:tc vMerge="1">
                  <a:txBody>
                    <a:bodyPr/>
                    <a:lstStyle/>
                    <a:p>
                      <a:endParaRPr lang="fr-F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/>
                        <a:t>Conditions logistiques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800" dirty="0">
                          <a:latin typeface="+mn-lt"/>
                        </a:rPr>
                        <a:t>Quasi-100% standard.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800" dirty="0">
                          <a:latin typeface="+mn-lt"/>
                        </a:rPr>
                        <a:t>Standard majoritaire.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fr-FR" sz="800" b="1" u="sng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800" b="1" u="sng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Besoins non standards :  </a:t>
                      </a:r>
                      <a:endParaRPr lang="fr-FR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Unités logistiques et colisage.</a:t>
                      </a:r>
                      <a:endParaRPr lang="fr-FR" sz="8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800" dirty="0">
                          <a:latin typeface="+mn-lt"/>
                        </a:rPr>
                        <a:t>Standard majoritaire.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fr-FR" sz="800" b="1" u="sng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800" b="1" u="sng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Besoins non standards :  </a:t>
                      </a:r>
                      <a:endParaRPr lang="fr-FR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Colisage + conditionnement.</a:t>
                      </a:r>
                      <a:endParaRPr lang="fr-FR" sz="8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800" b="1" dirty="0">
                          <a:solidFill>
                            <a:schemeClr val="tx1"/>
                          </a:solidFill>
                          <a:latin typeface="+mn-lt"/>
                        </a:rPr>
                        <a:t>La majorité des besoins nécessite du </a:t>
                      </a:r>
                      <a:r>
                        <a:rPr lang="fr-FR" sz="800" b="1" dirty="0" err="1">
                          <a:solidFill>
                            <a:schemeClr val="tx1"/>
                          </a:solidFill>
                          <a:latin typeface="+mn-lt"/>
                        </a:rPr>
                        <a:t>dév</a:t>
                      </a:r>
                      <a:r>
                        <a:rPr lang="fr-FR" sz="800" b="1" dirty="0">
                          <a:solidFill>
                            <a:schemeClr val="tx1"/>
                          </a:solidFill>
                          <a:latin typeface="+mn-lt"/>
                        </a:rPr>
                        <a:t> / de la </a:t>
                      </a:r>
                      <a:r>
                        <a:rPr lang="fr-FR" sz="800" b="1" dirty="0" err="1">
                          <a:solidFill>
                            <a:schemeClr val="tx1"/>
                          </a:solidFill>
                          <a:latin typeface="+mn-lt"/>
                        </a:rPr>
                        <a:t>custo</a:t>
                      </a:r>
                      <a:r>
                        <a:rPr lang="fr-FR" sz="800" b="1" dirty="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3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9290016"/>
                  </a:ext>
                </a:extLst>
              </a:tr>
              <a:tr h="143880">
                <a:tc vMerge="1"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endParaRPr lang="fr-FR" sz="800" b="1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/>
                        <a:t>ADV et facturation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52525"/>
                          </a:solidFill>
                          <a:effectLst/>
                          <a:uLnTx/>
                          <a:uFillTx/>
                          <a:latin typeface="Noto Sans"/>
                          <a:ea typeface="+mn-ea"/>
                          <a:cs typeface="+mn-cs"/>
                        </a:rPr>
                        <a:t>Standard majoritaire.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52525"/>
                          </a:solidFill>
                          <a:effectLst/>
                          <a:uLnTx/>
                          <a:uFillTx/>
                          <a:latin typeface="Noto Sans"/>
                          <a:ea typeface="+mn-ea"/>
                          <a:cs typeface="+mn-cs"/>
                        </a:rPr>
                        <a:t>Standard majoritaire.</a:t>
                      </a:r>
                      <a:endParaRPr kumimoji="0" lang="fr-F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52525"/>
                        </a:solidFill>
                        <a:effectLst/>
                        <a:uLnTx/>
                        <a:uFillTx/>
                        <a:latin typeface="Noto Sans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 majorité des besoins nécessite du </a:t>
                      </a:r>
                      <a:r>
                        <a:rPr lang="fr-FR" sz="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dév</a:t>
                      </a:r>
                      <a:r>
                        <a:rPr lang="fr-FR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/ de la </a:t>
                      </a:r>
                      <a:r>
                        <a:rPr lang="fr-FR" sz="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custo</a:t>
                      </a:r>
                      <a:r>
                        <a:rPr lang="fr-FR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8A8A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1" dirty="0">
                          <a:solidFill>
                            <a:schemeClr val="tx1"/>
                          </a:solidFill>
                          <a:latin typeface="+mn-lt"/>
                        </a:rPr>
                        <a:t>La majorité des besoins nécessite du </a:t>
                      </a:r>
                      <a:r>
                        <a:rPr lang="fr-FR" sz="800" b="1" dirty="0" err="1">
                          <a:solidFill>
                            <a:schemeClr val="tx1"/>
                          </a:solidFill>
                          <a:latin typeface="+mn-lt"/>
                        </a:rPr>
                        <a:t>dév</a:t>
                      </a:r>
                      <a:r>
                        <a:rPr lang="fr-FR" sz="800" b="1" dirty="0">
                          <a:solidFill>
                            <a:schemeClr val="tx1"/>
                          </a:solidFill>
                          <a:latin typeface="+mn-lt"/>
                        </a:rPr>
                        <a:t> / de la </a:t>
                      </a:r>
                      <a:r>
                        <a:rPr lang="fr-FR" sz="800" b="1" dirty="0" err="1">
                          <a:solidFill>
                            <a:schemeClr val="tx1"/>
                          </a:solidFill>
                          <a:latin typeface="+mn-lt"/>
                        </a:rPr>
                        <a:t>custo</a:t>
                      </a:r>
                      <a:r>
                        <a:rPr lang="fr-FR" sz="800" b="1" dirty="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3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571919"/>
                  </a:ext>
                </a:extLst>
              </a:tr>
              <a:tr h="143880">
                <a:tc vMerge="1"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endParaRPr lang="fr-FR" sz="800" b="1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/>
                        <a:t>Conditions générales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 majorité des besoins nécessite du </a:t>
                      </a:r>
                      <a:r>
                        <a:rPr lang="fr-FR" sz="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dév</a:t>
                      </a:r>
                      <a:r>
                        <a:rPr lang="fr-FR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/ de la </a:t>
                      </a:r>
                      <a:r>
                        <a:rPr lang="fr-FR" sz="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custo</a:t>
                      </a:r>
                      <a:r>
                        <a:rPr lang="fr-FR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8A8A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52525"/>
                          </a:solidFill>
                          <a:effectLst/>
                          <a:uLnTx/>
                          <a:uFillTx/>
                          <a:latin typeface="Noto Sans"/>
                          <a:ea typeface="+mn-ea"/>
                          <a:cs typeface="+mn-cs"/>
                        </a:rPr>
                        <a:t>Standard majoritaire.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Tous besoins nécessitent du </a:t>
                      </a:r>
                      <a:r>
                        <a:rPr lang="fr-FR" sz="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dév</a:t>
                      </a:r>
                      <a:r>
                        <a:rPr lang="fr-FR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/ de la </a:t>
                      </a:r>
                      <a:r>
                        <a:rPr lang="fr-FR" sz="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custo</a:t>
                      </a:r>
                      <a:r>
                        <a:rPr lang="fr-FR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8A8A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dirty="0">
                          <a:latin typeface="+mn-lt"/>
                        </a:rPr>
                        <a:t>Standard majoritaire.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2939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24054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A64A0-84C4-24F1-24C0-F87E9B7E4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C4D7DFD-1DF8-70C6-D48E-9DC91591C1E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fr-FR"/>
              <a:t>Confidentiel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10156CA5-BC24-20FA-D7B3-1281632F9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SCORING fonctionnel PAR MACRO-BESOIN</a:t>
            </a:r>
          </a:p>
        </p:txBody>
      </p:sp>
      <p:graphicFrame>
        <p:nvGraphicFramePr>
          <p:cNvPr id="11" name="Tableau 10">
            <a:extLst>
              <a:ext uri="{FF2B5EF4-FFF2-40B4-BE49-F238E27FC236}">
                <a16:creationId xmlns:a16="http://schemas.microsoft.com/office/drawing/2014/main" id="{8A8293B1-E07F-AB4E-FEF3-B5935C5F81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2821991"/>
              </p:ext>
            </p:extLst>
          </p:nvPr>
        </p:nvGraphicFramePr>
        <p:xfrm>
          <a:off x="336000" y="781514"/>
          <a:ext cx="11520000" cy="579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1119602268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3877121782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261345070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879186407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935731188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108563920"/>
                    </a:ext>
                  </a:extLst>
                </a:gridCol>
              </a:tblGrid>
              <a:tr h="197068">
                <a:tc gridSpan="2"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Besoins fonctionnels</a:t>
                      </a:r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MICROSOFT</a:t>
                      </a:r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200"/>
                        <a:t>SEI</a:t>
                      </a:r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ODOO</a:t>
                      </a:r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ORISHA</a:t>
                      </a:r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5911255"/>
                  </a:ext>
                </a:extLst>
              </a:tr>
              <a:tr h="153275">
                <a:tc rowSpan="4"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fr-FR" sz="800" b="1" dirty="0"/>
                        <a:t>II. Saisons, Permanents et carry-</a:t>
                      </a:r>
                      <a:r>
                        <a:rPr lang="fr-FR" sz="800" b="1" dirty="0" err="1"/>
                        <a:t>overs</a:t>
                      </a:r>
                      <a:endParaRPr lang="fr-FR" sz="800" b="1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b="1" i="1" dirty="0"/>
                        <a:t>Score 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 i="1">
                          <a:latin typeface="+mn-lt"/>
                        </a:rPr>
                        <a:t>96%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 i="1" dirty="0">
                          <a:latin typeface="+mn-lt"/>
                        </a:rPr>
                        <a:t>88%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 i="1">
                          <a:latin typeface="+mn-lt"/>
                        </a:rPr>
                        <a:t>69%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 i="1" dirty="0">
                          <a:latin typeface="+mn-lt"/>
                        </a:rPr>
                        <a:t>85%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108075"/>
                  </a:ext>
                </a:extLst>
              </a:tr>
              <a:tr h="102913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/>
                        <a:t>Articles saisonniers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800" dirty="0">
                          <a:latin typeface="+mn-lt"/>
                        </a:rPr>
                        <a:t>Standard majoritaire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800" b="1" u="sng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b="1" u="sng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Besoins non standards :  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800" b="1" dirty="0">
                          <a:latin typeface="+mn-lt"/>
                        </a:rPr>
                        <a:t>Bascule auto stock non reconduit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800" dirty="0">
                          <a:latin typeface="+mn-lt"/>
                        </a:rPr>
                        <a:t>Réassort spécifique Permanents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800" dirty="0">
                          <a:latin typeface="+mn-lt"/>
                        </a:rPr>
                        <a:t>Standard majoritaire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fr-FR" sz="800" dirty="0">
                        <a:latin typeface="+mn-lt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800" b="1" dirty="0">
                          <a:latin typeface="+mn-lt"/>
                        </a:rPr>
                        <a:t>Une saison (vente) dans </a:t>
                      </a:r>
                      <a:r>
                        <a:rPr lang="fr-FR" sz="800" b="1" dirty="0" err="1">
                          <a:latin typeface="+mn-lt"/>
                        </a:rPr>
                        <a:t>Akolade</a:t>
                      </a:r>
                      <a:r>
                        <a:rPr lang="fr-FR" sz="800" b="1" dirty="0">
                          <a:latin typeface="+mn-lt"/>
                        </a:rPr>
                        <a:t> : </a:t>
                      </a:r>
                      <a:r>
                        <a:rPr lang="fr-FR" sz="800" dirty="0">
                          <a:latin typeface="+mn-lt"/>
                        </a:rPr>
                        <a:t>suffisant pour gérer l’ensemble des cas métiers ?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800" b="1" u="sng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b="1" u="sng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Besoins non standards :  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800" b="0" dirty="0">
                          <a:latin typeface="+mn-lt"/>
                        </a:rPr>
                        <a:t>Etats de stocks détaillés / agrégés / à la saison / transverse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800" dirty="0" err="1">
                          <a:latin typeface="+mn-lt"/>
                        </a:rPr>
                        <a:t>TdB</a:t>
                      </a:r>
                      <a:r>
                        <a:rPr lang="fr-FR" sz="800" dirty="0">
                          <a:latin typeface="+mn-lt"/>
                        </a:rPr>
                        <a:t> performance saisonnière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89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Les besoins structurants – dont la gestion d’une dimension « saison » - besoins nécessitent de la custom / du </a:t>
                      </a:r>
                      <a:r>
                        <a:rPr lang="fr-FR" sz="8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dév</a:t>
                      </a: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fr-FR" sz="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Les besoins déclarés comme couverts en « standard » seront impactés par l’implémentation de cette dimension.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fr-FR" sz="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Un / des attributs sont-ils suffisants pour gérer cette dimension ?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A8A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800" dirty="0">
                          <a:latin typeface="+mn-lt"/>
                        </a:rPr>
                        <a:t>La notion de Saison est standard, mais la gestion des paramètres à la saison nécessite de la custom / </a:t>
                      </a:r>
                      <a:r>
                        <a:rPr lang="fr-FR" sz="800" dirty="0" err="1">
                          <a:latin typeface="+mn-lt"/>
                        </a:rPr>
                        <a:t>dév</a:t>
                      </a:r>
                      <a:r>
                        <a:rPr lang="fr-FR" sz="800" dirty="0">
                          <a:latin typeface="+mn-lt"/>
                        </a:rPr>
                        <a:t>.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fr-FR" sz="800" dirty="0">
                        <a:latin typeface="+mn-lt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800" b="0" dirty="0">
                          <a:latin typeface="+mn-lt"/>
                        </a:rPr>
                        <a:t>Les transactions sont gérées à la Saison.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800" b="1" u="sng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b="1" u="sng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Besoins non standards :  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800" b="0" dirty="0">
                          <a:latin typeface="+mn-lt"/>
                        </a:rPr>
                        <a:t>Etats de stocks détaillés / agrégés / à la saison / transverse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800" dirty="0" err="1">
                          <a:latin typeface="+mn-lt"/>
                        </a:rPr>
                        <a:t>TdB</a:t>
                      </a:r>
                      <a:r>
                        <a:rPr lang="fr-FR" sz="800" dirty="0">
                          <a:latin typeface="+mn-lt"/>
                        </a:rPr>
                        <a:t> performance saisonnière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1865908"/>
                  </a:ext>
                </a:extLst>
              </a:tr>
              <a:tr h="416032">
                <a:tc vMerge="1"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endParaRPr lang="fr-FR" sz="1200" b="1"/>
                    </a:p>
                  </a:txBody>
                  <a:tcPr anchor="ctr"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/>
                        <a:t>Carry-over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800" dirty="0">
                          <a:latin typeface="+mn-lt"/>
                        </a:rPr>
                        <a:t>Standard majoritaire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800" b="1" u="sng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b="1" u="sng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Besoins non standards :  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800" b="1" dirty="0">
                          <a:latin typeface="+mn-lt"/>
                        </a:rPr>
                        <a:t>Bascule auto stock non reconduit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+mn-lt"/>
                        </a:rPr>
                        <a:t>Standard majoritaire</a:t>
                      </a:r>
                      <a:endParaRPr lang="fr-FR" sz="800" b="1" u="sng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800" b="1" u="sng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b="1" u="sng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Besoins non standards :  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800" b="0" dirty="0">
                          <a:latin typeface="+mn-lt"/>
                        </a:rPr>
                        <a:t>Paramètres de gestion spécifiques</a:t>
                      </a:r>
                      <a:endParaRPr lang="fr-FR" sz="8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A8A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Tous les besoins nécessitent de la custom / du </a:t>
                      </a:r>
                      <a:r>
                        <a:rPr lang="fr-FR" sz="8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dév</a:t>
                      </a: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fr-FR" sz="8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322306"/>
                  </a:ext>
                </a:extLst>
              </a:tr>
              <a:tr h="591204">
                <a:tc vMerge="1"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endParaRPr lang="fr-FR" sz="1200" b="1"/>
                    </a:p>
                  </a:txBody>
                  <a:tcPr anchor="ctr"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/>
                        <a:t>Permanents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800" dirty="0">
                          <a:latin typeface="+mn-lt"/>
                        </a:rPr>
                        <a:t>Standard majoritaire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800" b="1" u="sng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b="1" u="sng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Besoins non standards :  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800" b="1" dirty="0">
                          <a:latin typeface="+mn-lt"/>
                        </a:rPr>
                        <a:t>Calcul optimum logistique réassort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800" dirty="0">
                          <a:latin typeface="+mn-lt"/>
                        </a:rPr>
                        <a:t>Standard majoritaire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800" b="1" u="sng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b="1" u="sng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Besoins non standards :  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800" b="1" dirty="0">
                          <a:latin typeface="+mn-lt"/>
                        </a:rPr>
                        <a:t>Calcul optimum logistique réassort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A8A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 majorité des besoins nécessite du </a:t>
                      </a:r>
                      <a:r>
                        <a:rPr lang="fr-FR" sz="8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dév</a:t>
                      </a: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/ de la </a:t>
                      </a:r>
                      <a:r>
                        <a:rPr lang="fr-FR" sz="8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custo</a:t>
                      </a:r>
                      <a:endParaRPr lang="fr-FR" sz="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fr-FR" sz="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Le critère « permanent » (ou multi-saisons) et la gestion transverse des stocks sont gérés en standard.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1824281"/>
                  </a:ext>
                </a:extLst>
              </a:tr>
              <a:tr h="153275">
                <a:tc rowSpan="3"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fr-FR" sz="8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III. Achats et réservations matières et capacités</a:t>
                      </a:r>
                      <a:endParaRPr lang="fr-FR" sz="800" b="1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b="1" i="1"/>
                        <a:t>Score 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 i="1" dirty="0">
                          <a:solidFill>
                            <a:schemeClr val="tx1"/>
                          </a:solidFill>
                          <a:latin typeface="+mn-lt"/>
                        </a:rPr>
                        <a:t>96%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 i="1" dirty="0">
                          <a:latin typeface="+mn-lt"/>
                        </a:rPr>
                        <a:t>81%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 i="1" dirty="0">
                          <a:solidFill>
                            <a:schemeClr val="tx1"/>
                          </a:solidFill>
                          <a:latin typeface="+mn-lt"/>
                        </a:rPr>
                        <a:t>80%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 i="1" dirty="0">
                          <a:latin typeface="+mn-lt"/>
                        </a:rPr>
                        <a:t>68%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3384871"/>
                  </a:ext>
                </a:extLst>
              </a:tr>
              <a:tr h="787065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/>
                        <a:t>Achats et réservation</a:t>
                      </a:r>
                      <a:br>
                        <a:rPr lang="fr-FR" sz="800" dirty="0"/>
                      </a:br>
                      <a:r>
                        <a:rPr lang="fr-FR" sz="800" dirty="0"/>
                        <a:t>de matières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800" dirty="0">
                          <a:solidFill>
                            <a:schemeClr val="tx1"/>
                          </a:solidFill>
                          <a:latin typeface="+mn-lt"/>
                        </a:rPr>
                        <a:t>La quasi-totalité des besoins est couverte en standard.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fr-FR" sz="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800" b="1" u="sng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Besoins non standards : 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0" u="non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Lead times spécifiques matières (hors niveau article / fournisseur).</a:t>
                      </a:r>
                    </a:p>
                    <a:p>
                      <a:pPr algn="l"/>
                      <a:endParaRPr lang="fr-FR" sz="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800" dirty="0">
                          <a:solidFill>
                            <a:schemeClr val="tx1"/>
                          </a:solidFill>
                          <a:latin typeface="+mn-lt"/>
                        </a:rPr>
                        <a:t>La quasi-totalité des besoins est couverte en standard.</a:t>
                      </a:r>
                    </a:p>
                    <a:p>
                      <a:pPr algn="l"/>
                      <a:endParaRPr lang="fr-FR" sz="800" dirty="0"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800" b="1" u="sng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Besoins non standards : 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0" u="non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Proposition d’ajustement auto des emplois (nomenclatures).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1" u="non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Cockpit suivi matières </a:t>
                      </a:r>
                      <a:r>
                        <a:rPr lang="fr-FR" sz="800" b="0" u="non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(consommé, en cours, couverture, seuils…).</a:t>
                      </a:r>
                      <a:endParaRPr lang="fr-FR" sz="800" dirty="0">
                        <a:latin typeface="+mn-lt"/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dirty="0">
                          <a:latin typeface="+mn-lt"/>
                        </a:rPr>
                        <a:t>Standard majoritaire.</a:t>
                      </a:r>
                    </a:p>
                    <a:p>
                      <a:pPr marL="17145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fr-FR" sz="800" dirty="0"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800" b="1" u="sng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Besoins non standards : 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1" u="non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Calcul auto des quantités / besoins matières </a:t>
                      </a:r>
                      <a:r>
                        <a:rPr lang="fr-FR" sz="800" b="0" u="non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(depuis quantités articles) : théoriques + rapports de coupe.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1" u="non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Rétroplanning auto appro matières </a:t>
                      </a:r>
                      <a:r>
                        <a:rPr lang="fr-FR" sz="800" b="0" u="non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(à partir PO articles).</a:t>
                      </a:r>
                      <a:endParaRPr lang="fr-FR" sz="800" dirty="0">
                        <a:latin typeface="+mn-lt"/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800" b="1" dirty="0">
                          <a:solidFill>
                            <a:schemeClr val="tx1"/>
                          </a:solidFill>
                          <a:latin typeface="+mn-lt"/>
                        </a:rPr>
                        <a:t>La quasi-totalité des besoins nécessite du </a:t>
                      </a:r>
                      <a:r>
                        <a:rPr lang="fr-FR" sz="800" b="1" dirty="0" err="1">
                          <a:solidFill>
                            <a:schemeClr val="tx1"/>
                          </a:solidFill>
                          <a:latin typeface="+mn-lt"/>
                        </a:rPr>
                        <a:t>dév</a:t>
                      </a:r>
                      <a:r>
                        <a:rPr lang="fr-FR" sz="800" b="1" dirty="0">
                          <a:solidFill>
                            <a:schemeClr val="tx1"/>
                          </a:solidFill>
                          <a:latin typeface="+mn-lt"/>
                        </a:rPr>
                        <a:t> / de la </a:t>
                      </a:r>
                      <a:r>
                        <a:rPr lang="fr-FR" sz="800" b="1" dirty="0" err="1">
                          <a:solidFill>
                            <a:schemeClr val="tx1"/>
                          </a:solidFill>
                          <a:latin typeface="+mn-lt"/>
                        </a:rPr>
                        <a:t>custo</a:t>
                      </a:r>
                      <a:r>
                        <a:rPr lang="fr-FR" sz="800" b="1" dirty="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8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319554"/>
                  </a:ext>
                </a:extLst>
              </a:tr>
              <a:tr h="85396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/>
                        <a:t>Réservation de capacités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800" dirty="0">
                          <a:solidFill>
                            <a:schemeClr val="tx1"/>
                          </a:solidFill>
                          <a:latin typeface="+mn-lt"/>
                        </a:rPr>
                        <a:t>Les principaux besoins sont couverts en standard.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fr-FR" sz="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800" b="1" u="sng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Besoins non standards : 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1" u="non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Calcul auto du besoin capacitaire.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0" u="non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Répartition / allocation capacité.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0" u="non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Contrôle auto adéquation plan de charge / capacité dispo + alertes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0" u="non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PIC hebdomadaire 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Tous les besoins nécessitent de la custom / du </a:t>
                      </a:r>
                      <a:r>
                        <a:rPr lang="fr-FR" sz="8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dév</a:t>
                      </a: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fr-FR" sz="800" dirty="0">
                        <a:latin typeface="+mn-lt"/>
                      </a:endParaRPr>
                    </a:p>
                    <a:p>
                      <a:pPr algn="l"/>
                      <a:endParaRPr lang="fr-FR" sz="800" dirty="0">
                        <a:latin typeface="+mn-lt"/>
                      </a:endParaRPr>
                    </a:p>
                    <a:p>
                      <a:pPr algn="l"/>
                      <a:endParaRPr lang="fr-FR" sz="800" dirty="0">
                        <a:latin typeface="+mn-lt"/>
                      </a:endParaRPr>
                    </a:p>
                  </a:txBody>
                  <a:tcPr>
                    <a:solidFill>
                      <a:srgbClr val="FF8A8A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Tous les besoins nécessitent de la custom / du </a:t>
                      </a:r>
                      <a:r>
                        <a:rPr lang="fr-FR" sz="8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dév</a:t>
                      </a: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fr-FR" sz="800" dirty="0">
                        <a:latin typeface="+mn-lt"/>
                      </a:endParaRPr>
                    </a:p>
                  </a:txBody>
                  <a:tcPr>
                    <a:solidFill>
                      <a:srgbClr val="FF9393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800" b="1" dirty="0">
                          <a:solidFill>
                            <a:schemeClr val="tx1"/>
                          </a:solidFill>
                          <a:latin typeface="+mn-lt"/>
                        </a:rPr>
                        <a:t>La quasi-totalité des besoins nécessite du </a:t>
                      </a:r>
                      <a:r>
                        <a:rPr lang="fr-FR" sz="800" b="1" dirty="0" err="1">
                          <a:solidFill>
                            <a:schemeClr val="tx1"/>
                          </a:solidFill>
                          <a:latin typeface="+mn-lt"/>
                        </a:rPr>
                        <a:t>dév</a:t>
                      </a:r>
                      <a:r>
                        <a:rPr lang="fr-FR" sz="800" b="1" dirty="0">
                          <a:solidFill>
                            <a:schemeClr val="tx1"/>
                          </a:solidFill>
                          <a:latin typeface="+mn-lt"/>
                        </a:rPr>
                        <a:t> / de la </a:t>
                      </a:r>
                      <a:r>
                        <a:rPr lang="fr-FR" sz="800" b="1" dirty="0" err="1">
                          <a:solidFill>
                            <a:schemeClr val="tx1"/>
                          </a:solidFill>
                          <a:latin typeface="+mn-lt"/>
                        </a:rPr>
                        <a:t>custo</a:t>
                      </a:r>
                      <a:r>
                        <a:rPr lang="fr-FR" sz="800" b="1" dirty="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</a:p>
                  </a:txBody>
                  <a:tcPr>
                    <a:solidFill>
                      <a:srgbClr val="FF8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0246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90894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8594C-B0DD-5596-1299-D43747FB9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6EBF1DB-2F4B-0799-7E45-900F6367335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fr-FR"/>
              <a:t>Confidentiel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D081187C-8A7F-EE76-D01E-3E191A1CF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SCORING fonctionnel PAR MACRO-BESOIN</a:t>
            </a:r>
          </a:p>
        </p:txBody>
      </p:sp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22171C57-5174-7514-196C-E99556F8EE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9015006"/>
              </p:ext>
            </p:extLst>
          </p:nvPr>
        </p:nvGraphicFramePr>
        <p:xfrm>
          <a:off x="335999" y="781511"/>
          <a:ext cx="11520000" cy="56555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1119602268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1066081172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1588088877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879186407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935731188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108563920"/>
                    </a:ext>
                  </a:extLst>
                </a:gridCol>
              </a:tblGrid>
              <a:tr h="268486">
                <a:tc gridSpan="2"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Besoins fonctionnels</a:t>
                      </a:r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fr-F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/>
                        <a:t>MICROSOFT</a:t>
                      </a:r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SEI</a:t>
                      </a:r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/>
                        <a:t>ODOO</a:t>
                      </a:r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ORISHA</a:t>
                      </a:r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5911255"/>
                  </a:ext>
                </a:extLst>
              </a:tr>
              <a:tr h="213246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IV. Gestion des commandes d'achats</a:t>
                      </a:r>
                      <a:endParaRPr lang="fr-FR" sz="800" b="1" dirty="0"/>
                    </a:p>
                  </a:txBody>
                  <a:tcPr anchor="ctr"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fr-FR" sz="800" b="1" i="1"/>
                        <a:t>Score :</a:t>
                      </a:r>
                    </a:p>
                  </a:txBody>
                  <a:tcPr anchor="ctr"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fr-FR" sz="800" b="1" i="1">
                          <a:solidFill>
                            <a:schemeClr val="tx1"/>
                          </a:solidFill>
                          <a:latin typeface="+mn-lt"/>
                        </a:rPr>
                        <a:t>91%</a:t>
                      </a:r>
                    </a:p>
                  </a:txBody>
                  <a:tcPr anchor="ctr"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fr-FR" sz="800" b="1" i="1">
                          <a:latin typeface="+mn-lt"/>
                        </a:rPr>
                        <a:t>88%</a:t>
                      </a:r>
                    </a:p>
                  </a:txBody>
                  <a:tcPr anchor="ctr"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fr-FR" sz="800" b="1" i="1">
                          <a:solidFill>
                            <a:schemeClr val="tx1"/>
                          </a:solidFill>
                          <a:latin typeface="+mn-lt"/>
                        </a:rPr>
                        <a:t>84%</a:t>
                      </a:r>
                    </a:p>
                  </a:txBody>
                  <a:tcPr anchor="ctr"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fr-FR" sz="800" b="1" i="1" dirty="0">
                          <a:latin typeface="+mn-lt"/>
                        </a:rPr>
                        <a:t>57%</a:t>
                      </a:r>
                    </a:p>
                  </a:txBody>
                  <a:tcPr anchor="ctr"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8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3384871"/>
                  </a:ext>
                </a:extLst>
              </a:tr>
              <a:tr h="247724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800" b="1" dirty="0"/>
                    </a:p>
                  </a:txBody>
                  <a:tcPr anchor="ctr"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dirty="0">
                          <a:latin typeface="+mn-lt"/>
                        </a:rPr>
                        <a:t>Standard majoritaire.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fr-FR" sz="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171450" indent="-1714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800" dirty="0">
                          <a:solidFill>
                            <a:schemeClr val="tx1"/>
                          </a:solidFill>
                          <a:latin typeface="+mn-lt"/>
                        </a:rPr>
                        <a:t>Portail fournisseur en standard.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fr-FR" sz="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fr-FR" sz="800" b="1" u="sng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Besoins non standards :  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Condition d’achats (complexes).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Simulation planning PO.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SMU : éclatement PO initiale et création PO SMU dédiée.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Commandes TPO.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Cockpit gestion PO =&gt; </a:t>
                      </a:r>
                      <a:r>
                        <a:rPr lang="fr-FR" sz="800" b="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visualisation des écarts / incohérences SO/PO couvert par rapports.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Tracking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en transit.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fr-FR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dirty="0">
                          <a:latin typeface="+mn-lt"/>
                        </a:rPr>
                        <a:t>Standard majoritaire.</a:t>
                      </a:r>
                    </a:p>
                    <a:p>
                      <a:pPr marL="17145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fr-FR" sz="800" dirty="0">
                        <a:latin typeface="+mn-lt"/>
                      </a:endParaRPr>
                    </a:p>
                    <a:p>
                      <a:pPr marL="17145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dirty="0">
                          <a:latin typeface="+mn-lt"/>
                        </a:rPr>
                        <a:t>Portail fournisseur en roadmap.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fr-FR" sz="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fr-FR" sz="800" b="1" u="sng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Besoins non standards :  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Calcul auto optimum logistique.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Simulation planning PO.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SMU : éclatement PO initiale et création PO SMU dédiée.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Cockpit gestion PO =&gt; </a:t>
                      </a:r>
                      <a:r>
                        <a:rPr lang="fr-FR" sz="800" b="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visualisation des écarts / incohérences SO/PO couvert via contrôles.</a:t>
                      </a:r>
                      <a:endParaRPr lang="fr-FR" sz="800" dirty="0">
                        <a:latin typeface="+mn-lt"/>
                      </a:endParaRPr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800" b="1" dirty="0">
                          <a:solidFill>
                            <a:schemeClr val="tx1"/>
                          </a:solidFill>
                          <a:latin typeface="+mn-lt"/>
                        </a:rPr>
                        <a:t>Portail fournisseur : </a:t>
                      </a:r>
                      <a:r>
                        <a:rPr lang="fr-FR" sz="800" b="1" dirty="0" err="1">
                          <a:solidFill>
                            <a:schemeClr val="tx1"/>
                          </a:solidFill>
                          <a:latin typeface="+mn-lt"/>
                        </a:rPr>
                        <a:t>dév</a:t>
                      </a:r>
                      <a:r>
                        <a:rPr lang="fr-FR" sz="800" b="1" dirty="0">
                          <a:solidFill>
                            <a:schemeClr val="tx1"/>
                          </a:solidFill>
                          <a:latin typeface="+mn-lt"/>
                        </a:rPr>
                        <a:t> requis pour gestion des workflows PO.</a:t>
                      </a:r>
                    </a:p>
                    <a:p>
                      <a:pPr marL="171450" indent="-1714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endParaRPr lang="fr-FR" sz="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171450" indent="-1714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800" b="1" dirty="0">
                          <a:solidFill>
                            <a:schemeClr val="tx1"/>
                          </a:solidFill>
                          <a:latin typeface="+mn-lt"/>
                        </a:rPr>
                        <a:t>SMU et TPO en standard.</a:t>
                      </a:r>
                    </a:p>
                    <a:p>
                      <a:pPr marL="171450" indent="-1714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endParaRPr lang="fr-FR" sz="8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171450" indent="-1714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800" b="1" dirty="0">
                          <a:solidFill>
                            <a:schemeClr val="tx1"/>
                          </a:solidFill>
                          <a:latin typeface="+mn-lt"/>
                        </a:rPr>
                        <a:t>Cockpit gestion PO + simulation planning et  impacts en standard.</a:t>
                      </a:r>
                    </a:p>
                    <a:p>
                      <a:pPr marL="171450" indent="-1714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endParaRPr lang="fr-FR" sz="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fr-FR" sz="800" b="1" u="sng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Besoins non standards :  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Conditions de colisage.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Calcul auto optimum logistique.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Modes de conditionnement.</a:t>
                      </a:r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dirty="0">
                          <a:latin typeface="+mn-lt"/>
                        </a:rPr>
                        <a:t>Portail fournisseur : application tierce à customiser.</a:t>
                      </a:r>
                    </a:p>
                    <a:p>
                      <a:pPr marL="171450" indent="-1714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endParaRPr lang="fr-FR" sz="800" dirty="0">
                        <a:latin typeface="+mn-lt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fr-FR" sz="800" b="1" u="sng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Besoins non standards :  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Calcul du planning de PO dont dates livraison / ETA </a:t>
                      </a:r>
                      <a:b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=&gt; </a:t>
                      </a:r>
                      <a:r>
                        <a:rPr lang="fr-FR" sz="800" b="1" u="sng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application tierce requise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Gestion auto des </a:t>
                      </a:r>
                      <a:r>
                        <a:rPr lang="fr-FR" sz="8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upcharges</a:t>
                      </a: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Conditions de colisage.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Calcul auto optimum logistique.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Modes de conditionnement.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Allocation à des canaux de vente.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SMU : éclatement PO initiale et création PO SMU dédiée.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Commandes TPO.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Cockpit de gestion des commandes d’achat.</a:t>
                      </a:r>
                      <a:endParaRPr lang="fr-FR" sz="800" dirty="0">
                        <a:latin typeface="+mn-lt"/>
                      </a:endParaRPr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3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319554"/>
                  </a:ext>
                </a:extLst>
              </a:tr>
              <a:tr h="213246">
                <a:tc rowSpan="2">
                  <a:txBody>
                    <a:bodyPr/>
                    <a:lstStyle/>
                    <a:p>
                      <a:pPr marL="0" indent="0" algn="l">
                        <a:buFont typeface="+mj-lt"/>
                        <a:buNone/>
                      </a:pPr>
                      <a:r>
                        <a:rPr lang="fr-FR" sz="800" b="1"/>
                        <a:t>V. Gestions des commandes de vente</a:t>
                      </a:r>
                    </a:p>
                  </a:txBody>
                  <a:tcPr anchor="ctr"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b="1" i="1"/>
                        <a:t>Score :</a:t>
                      </a:r>
                    </a:p>
                  </a:txBody>
                  <a:tcPr anchor="ctr"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fr-FR" sz="800" b="1" i="1">
                          <a:solidFill>
                            <a:schemeClr val="tx1"/>
                          </a:solidFill>
                          <a:latin typeface="+mn-lt"/>
                        </a:rPr>
                        <a:t>93%</a:t>
                      </a:r>
                    </a:p>
                  </a:txBody>
                  <a:tcPr anchor="ctr"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fr-FR" sz="800" b="1" i="1">
                          <a:latin typeface="+mn-lt"/>
                        </a:rPr>
                        <a:t>75%</a:t>
                      </a:r>
                    </a:p>
                  </a:txBody>
                  <a:tcPr anchor="ctr"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8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fr-FR" sz="800" b="1" i="1">
                          <a:solidFill>
                            <a:schemeClr val="tx1"/>
                          </a:solidFill>
                          <a:latin typeface="+mn-lt"/>
                        </a:rPr>
                        <a:t>78%</a:t>
                      </a:r>
                    </a:p>
                  </a:txBody>
                  <a:tcPr anchor="ctr"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8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fr-FR" sz="800" b="1" i="1">
                          <a:latin typeface="+mn-lt"/>
                        </a:rPr>
                        <a:t>73%</a:t>
                      </a:r>
                    </a:p>
                  </a:txBody>
                  <a:tcPr anchor="ctr"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8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476901"/>
                  </a:ext>
                </a:extLst>
              </a:tr>
              <a:tr h="247724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+mj-lt"/>
                        <a:buNone/>
                      </a:pPr>
                      <a:endParaRPr lang="fr-FR" sz="800" b="1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>
                          <a:latin typeface="+mn-lt"/>
                        </a:rPr>
                        <a:t>Standard majoritaire.</a:t>
                      </a:r>
                    </a:p>
                    <a:p>
                      <a:pPr marL="171450" indent="-1714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endParaRPr lang="fr-FR" sz="80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fr-FR" sz="800" b="1" u="sng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Besoins non standards :  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Facturation auto des commandes ouvertes non consommées à 100%.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Calcul auto planning commande de vente post-allocation.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Actualisation automatique selon jalons fournisseur et </a:t>
                      </a:r>
                      <a:r>
                        <a:rPr lang="fr-FR" sz="800" b="1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tracking</a:t>
                      </a:r>
                      <a:r>
                        <a:rPr lang="fr-FR" sz="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fr-FR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Ajout de paramètres / customisation « libre » des règles / cascades de conditions du réassort magasins.</a:t>
                      </a:r>
                      <a:endParaRPr lang="fr-FR" sz="800" b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>
                          <a:latin typeface="+mn-lt"/>
                        </a:rPr>
                        <a:t>Plusieurs besoins structurants non gérés en standard.</a:t>
                      </a:r>
                    </a:p>
                    <a:p>
                      <a:pPr marL="171450" indent="-1714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endParaRPr lang="fr-FR" sz="800">
                        <a:latin typeface="+mn-lt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fr-FR" sz="800" b="1" u="sng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Besoins non standards :  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Blocage auto commande client.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Alertes si modification commande de vente, dont planning.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Visualisation des écarts planning.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Précommandes : création de commandes à partir d’un contrat.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Optimum logistique : gestion des règles et calcul sur commande.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Ajout de paramètres / customisation « libre » des règles / cascades de conditions du réassort magasins.</a:t>
                      </a:r>
                      <a:endParaRPr lang="fr-FR" sz="800" b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Simulation de picking (et calcul d’optimum logistique).</a:t>
                      </a:r>
                    </a:p>
                  </a:txBody>
                  <a:tcPr>
                    <a:solidFill>
                      <a:srgbClr val="FF9393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dirty="0">
                          <a:latin typeface="+mn-lt"/>
                        </a:rPr>
                        <a:t>Plusieurs besoins structurants non gérés en standard.</a:t>
                      </a:r>
                    </a:p>
                    <a:p>
                      <a:pPr marL="171450" indent="-1714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endParaRPr lang="fr-FR" sz="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fr-FR" sz="800" b="1" u="sng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Besoins non standards : 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Gestion précommandes / contrats. 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Blocage auto commande client.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Alertes si modification commande de vente, dont planning.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Calcul auto optimum logistique.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Ajout de paramètres / customisation « libre » des règles / cascades de conditions du réassort magasins.</a:t>
                      </a:r>
                      <a:endParaRPr lang="fr-FR" sz="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Simulation de picking (et calcul d’optimum logistique).</a:t>
                      </a:r>
                    </a:p>
                    <a:p>
                      <a:pPr marL="171450" indent="-1714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endParaRPr lang="fr-FR" sz="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solidFill>
                      <a:srgbClr val="FF9393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 majorité des besoins structurants requiert de la custom / du </a:t>
                      </a:r>
                      <a:r>
                        <a:rPr lang="fr-FR" sz="8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dév</a:t>
                      </a: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fr-FR" sz="800" dirty="0">
                        <a:latin typeface="+mn-lt"/>
                      </a:endParaRPr>
                    </a:p>
                    <a:p>
                      <a:pPr marL="171450" indent="-1714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endParaRPr lang="fr-FR" sz="800" dirty="0">
                        <a:latin typeface="+mn-lt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fr-FR" sz="800" b="1" u="sng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Besoins non standards : 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Modification commande de vente sans impact allocation.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Ajout de prestations et </a:t>
                      </a:r>
                      <a:r>
                        <a:rPr lang="fr-FR" sz="8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upcharges</a:t>
                      </a: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Gestion simplifiée des clients B2B (OTC ou équivalent)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Calcul auto planning commande. 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Blocage auto commande client.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Cockpit de suivi des commandes, dont alertes et visualisation écarts.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Calcul auto optimum logistique.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Ajout de paramètres / customisation « libre » des règles / cascades de conditions du réassort magasins.</a:t>
                      </a:r>
                      <a:endParaRPr lang="fr-FR" sz="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93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91066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15834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1EFE8-922A-2780-2797-80ADB859F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3E3B508-2942-7FB5-D1A0-CAA57DB038E4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fr-FR"/>
              <a:t>Confidentiel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CD351AAD-7FE8-7D58-B8EB-035D91EF5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SCORING fonctionnel PAR MACRO-BESOIN</a:t>
            </a:r>
          </a:p>
        </p:txBody>
      </p:sp>
      <p:graphicFrame>
        <p:nvGraphicFramePr>
          <p:cNvPr id="11" name="Tableau 10">
            <a:extLst>
              <a:ext uri="{FF2B5EF4-FFF2-40B4-BE49-F238E27FC236}">
                <a16:creationId xmlns:a16="http://schemas.microsoft.com/office/drawing/2014/main" id="{BDA2B0C0-9AF3-D9FD-9EA9-2D2706071A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3292813"/>
              </p:ext>
            </p:extLst>
          </p:nvPr>
        </p:nvGraphicFramePr>
        <p:xfrm>
          <a:off x="339603" y="781513"/>
          <a:ext cx="11520000" cy="571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1119602268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714072745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922337904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879186407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935731188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108563920"/>
                    </a:ext>
                  </a:extLst>
                </a:gridCol>
              </a:tblGrid>
              <a:tr h="273600">
                <a:tc gridSpan="2"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Besoins fonctionnels</a:t>
                      </a:r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fr-F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MICROSOFT</a:t>
                      </a:r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/>
                        <a:t>SEI</a:t>
                      </a:r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ODOO</a:t>
                      </a:r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ORISHA</a:t>
                      </a:r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5911255"/>
                  </a:ext>
                </a:extLst>
              </a:tr>
              <a:tr h="21600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VI. Allocations</a:t>
                      </a:r>
                      <a:endParaRPr lang="fr-FR" sz="800" dirty="0"/>
                    </a:p>
                  </a:txBody>
                  <a:tcPr anchor="ctr"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b="1" i="1"/>
                        <a:t>Score :</a:t>
                      </a:r>
                    </a:p>
                  </a:txBody>
                  <a:tcPr anchor="ctr"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800" b="1" i="1">
                          <a:solidFill>
                            <a:schemeClr val="tx1"/>
                          </a:solidFill>
                          <a:latin typeface="+mn-lt"/>
                        </a:rPr>
                        <a:t>93%</a:t>
                      </a:r>
                    </a:p>
                  </a:txBody>
                  <a:tcPr anchor="ctr"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800" b="1" i="1">
                          <a:latin typeface="+mn-lt"/>
                        </a:rPr>
                        <a:t>73%</a:t>
                      </a:r>
                    </a:p>
                  </a:txBody>
                  <a:tcPr anchor="ctr"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8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800" b="1" i="1">
                          <a:solidFill>
                            <a:schemeClr val="tx1"/>
                          </a:solidFill>
                          <a:latin typeface="+mn-lt"/>
                        </a:rPr>
                        <a:t>70%</a:t>
                      </a:r>
                    </a:p>
                  </a:txBody>
                  <a:tcPr anchor="ctr"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8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800" b="1" i="1">
                          <a:latin typeface="+mn-lt"/>
                        </a:rPr>
                        <a:t>82%</a:t>
                      </a:r>
                    </a:p>
                  </a:txBody>
                  <a:tcPr anchor="ctr"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E3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3384871"/>
                  </a:ext>
                </a:extLst>
              </a:tr>
              <a:tr h="309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800"/>
                    </a:p>
                  </a:txBody>
                  <a:tcPr anchor="ctr"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dirty="0">
                          <a:latin typeface="+mn-lt"/>
                        </a:rPr>
                        <a:t>Standard majoritaire.</a:t>
                      </a:r>
                    </a:p>
                    <a:p>
                      <a:pPr marL="17145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fr-FR" sz="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fr-FR" sz="800" b="1" u="sng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Besoins non standards :  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Gestion conditionnement et colisage.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Pré-allocation commande ouverte.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Suspension automatique.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Affectation auto produits substitution.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Mouvements de stocks auto sur besoins d’allocation.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Cockpit de suivi et gestion.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Moteur de simulation.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Gestion commandes non servies.</a:t>
                      </a:r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 majorité des besoins structurants requiert de la custom / du </a:t>
                      </a:r>
                      <a:r>
                        <a:rPr lang="fr-FR" sz="8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dév</a:t>
                      </a: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17145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fr-FR" sz="800" dirty="0">
                        <a:latin typeface="+mn-lt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fr-FR" sz="800" b="1" u="sng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Besoins non standards :  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Moteur d’allocation multicritère, configurable.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Blocages et exclusions.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Réallocation auto à réception.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Réallocation auto si changement de planning.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Gestion produits substitution.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Equilibrages de stocks.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Mouvements de stocks auto sur besoins d’allocation.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Rééquilibrage de stocks.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Cockpit de suivi et gestion.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Moteur de simulation.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Gestion commandes non servies.</a:t>
                      </a:r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A8A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 majorité des besoins structurants requiert de la custom / du </a:t>
                      </a:r>
                      <a:r>
                        <a:rPr lang="fr-FR" sz="800" b="1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dév</a:t>
                      </a:r>
                      <a:r>
                        <a:rPr lang="fr-FR" sz="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fr-FR" sz="80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800" b="1" u="sng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Besoins non standards :  </a:t>
                      </a:r>
                      <a:endParaRPr lang="fr-FR" sz="80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Moteur d’allocation multicritère, configurable.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Calcul quotidien des allocations.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Règles d’allocation à la saison.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Règles d’allocation par canal.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Blocages et exclusions.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Actualisation des allocations sur PO en cas de replanification. 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Réallocation auto à réception.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Réallocation auto si changement de planning.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Gestion des reliquats.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Gestion produits substitution.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Equilibrages de stocks.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Mouvements de stocks auto sur besoins d’allocation.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Rééquilibrage de stocks.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Cockpit de suivi et gestion.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Moteur de simulation.</a:t>
                      </a:r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393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 majorité des besoins structurants requiert de la custom / du </a:t>
                      </a:r>
                      <a:r>
                        <a:rPr lang="fr-FR" sz="8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dév</a:t>
                      </a: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fr-FR" sz="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Un cockpit de pilotage des allocations, </a:t>
                      </a:r>
                      <a:r>
                        <a:rPr lang="fr-FR" sz="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avec simulation de modification, existe en standard. </a:t>
                      </a:r>
                    </a:p>
                    <a:p>
                      <a:pPr marL="17145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fr-FR" sz="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800" b="1" u="sng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Besoins non standards :  </a:t>
                      </a:r>
                      <a:endParaRPr lang="fr-FR" sz="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Moteur d’allocation multicritère, configurable.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Calcul quotidien des allocations.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Allocation auto aux stocks.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Blocages et exclusions.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Prise en compte évènements PO.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Gestion des reliquats.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Gestion produits substitution.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Equilibrages de stocks.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Mouvements de stocks auto sur besoins d’allocation.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Rééquilibrage de stocks.</a:t>
                      </a:r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319554"/>
                  </a:ext>
                </a:extLst>
              </a:tr>
              <a:tr h="21600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VII. Gestion des stocks</a:t>
                      </a:r>
                    </a:p>
                  </a:txBody>
                  <a:tcPr anchor="ctr"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b="1" i="1"/>
                        <a:t>Score :</a:t>
                      </a:r>
                    </a:p>
                  </a:txBody>
                  <a:tcPr anchor="ctr"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fr-FR" sz="800" b="1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90%</a:t>
                      </a:r>
                    </a:p>
                  </a:txBody>
                  <a:tcPr anchor="ctr"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fr-FR" sz="800" b="1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96%</a:t>
                      </a:r>
                    </a:p>
                  </a:txBody>
                  <a:tcPr anchor="ctr"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fr-FR" sz="800" b="1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87%</a:t>
                      </a:r>
                    </a:p>
                  </a:txBody>
                  <a:tcPr anchor="ctr"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E3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fr-FR" sz="800" b="1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85%</a:t>
                      </a:r>
                    </a:p>
                  </a:txBody>
                  <a:tcPr anchor="ctr"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E3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9372616"/>
                  </a:ext>
                </a:extLst>
              </a:tr>
              <a:tr h="190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800" b="1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>
                          <a:latin typeface="+mn-lt"/>
                        </a:rPr>
                        <a:t>Standard majoritaire.</a:t>
                      </a:r>
                    </a:p>
                    <a:p>
                      <a:pPr marL="17145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fr-FR" sz="800"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800" b="1" u="sng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Besoins non standards :  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Règles spécifiques aux articles colis.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Règles de valorisation à la saison.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Stocks consignés : </a:t>
                      </a:r>
                      <a:r>
                        <a:rPr lang="fr-FR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valorisation auto des écarts à facturer.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>
                          <a:latin typeface="+mn-lt"/>
                        </a:rPr>
                        <a:t>Standard majoritaire.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fr-FR" sz="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800" b="1" u="sng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Besoins non standards : 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Stocks consignés.</a:t>
                      </a:r>
                      <a:endParaRPr lang="fr-FR" sz="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52438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fr-FR" sz="800">
                          <a:latin typeface="+mn-lt"/>
                        </a:rPr>
                        <a:t>Intégration rapports de vente.</a:t>
                      </a:r>
                    </a:p>
                    <a:p>
                      <a:pPr marL="452438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fr-FR" sz="800" b="0">
                          <a:latin typeface="+mn-lt"/>
                        </a:rPr>
                        <a:t>Valorisation auto des écarts à facturer.</a:t>
                      </a:r>
                      <a:endParaRPr lang="fr-FR" sz="800">
                        <a:latin typeface="+mn-lt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>
                          <a:latin typeface="+mn-lt"/>
                        </a:rPr>
                        <a:t>Bonne couverture des besoins en standard, avec quelques limites.</a:t>
                      </a:r>
                    </a:p>
                    <a:p>
                      <a:pPr marL="17145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fr-FR" sz="800">
                        <a:latin typeface="+mn-lt"/>
                      </a:endParaRPr>
                    </a:p>
                    <a:p>
                      <a:pPr marL="17145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>
                          <a:latin typeface="+mn-lt"/>
                        </a:rPr>
                        <a:t>Règles de valorisation à la catégorie article : FIFO, coût standard, coût moyen. </a:t>
                      </a:r>
                    </a:p>
                    <a:p>
                      <a:pPr marL="17145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fr-FR" sz="800">
                        <a:latin typeface="+mn-lt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fr-FR" sz="800" b="1" u="sng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Besoins non standards : </a:t>
                      </a:r>
                    </a:p>
                    <a:p>
                      <a:pPr marL="17145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>
                          <a:latin typeface="+mn-lt"/>
                        </a:rPr>
                        <a:t>Catégories de valorisation </a:t>
                      </a:r>
                      <a:r>
                        <a:rPr lang="fr-FR" sz="800">
                          <a:latin typeface="+mn-lt"/>
                        </a:rPr>
                        <a:t>(1</a:t>
                      </a:r>
                      <a:r>
                        <a:rPr lang="fr-FR" sz="800" baseline="30000">
                          <a:latin typeface="+mn-lt"/>
                        </a:rPr>
                        <a:t>e</a:t>
                      </a:r>
                      <a:r>
                        <a:rPr lang="fr-FR" sz="800">
                          <a:latin typeface="+mn-lt"/>
                        </a:rPr>
                        <a:t> qualité, 2</a:t>
                      </a:r>
                      <a:r>
                        <a:rPr lang="fr-FR" sz="800" baseline="30000">
                          <a:latin typeface="+mn-lt"/>
                        </a:rPr>
                        <a:t>e</a:t>
                      </a:r>
                      <a:r>
                        <a:rPr lang="fr-FR" sz="800">
                          <a:latin typeface="+mn-lt"/>
                        </a:rPr>
                        <a:t> qualité, défectueux…).</a:t>
                      </a:r>
                      <a:endParaRPr lang="fr-FR" sz="80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Règles de valorisation à la saison.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Règles spécifiques aux articles colis.</a:t>
                      </a:r>
                    </a:p>
                  </a:txBody>
                  <a:tcPr>
                    <a:solidFill>
                      <a:srgbClr val="FFE389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dirty="0">
                          <a:latin typeface="+mn-lt"/>
                        </a:rPr>
                        <a:t>Bonne couverture des besoins en standard, avec quelques limites.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fr-FR" sz="800" dirty="0">
                        <a:latin typeface="+mn-lt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fr-FR" sz="800" b="1" u="sng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Besoins non standards : 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dirty="0">
                          <a:latin typeface="+mn-lt"/>
                        </a:rPr>
                        <a:t>Gestion </a:t>
                      </a:r>
                      <a:r>
                        <a:rPr lang="fr-FR" sz="800" b="1" u="none" dirty="0">
                          <a:latin typeface="+mn-lt"/>
                        </a:rPr>
                        <a:t>de multiples stocks </a:t>
                      </a:r>
                      <a:r>
                        <a:rPr lang="fr-FR" sz="800" b="1" dirty="0">
                          <a:latin typeface="+mn-lt"/>
                        </a:rPr>
                        <a:t>physiques.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Mouvements de stocks auto.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Stocks consignés :</a:t>
                      </a:r>
                    </a:p>
                    <a:p>
                      <a:pPr marL="452438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intégration rapports de vente, </a:t>
                      </a:r>
                    </a:p>
                    <a:p>
                      <a:pPr marL="452438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gestion du % d’écart toléré</a:t>
                      </a:r>
                    </a:p>
                    <a:p>
                      <a:pPr marL="452438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valorisation auto des écarts à facturer.</a:t>
                      </a:r>
                    </a:p>
                  </a:txBody>
                  <a:tcPr>
                    <a:solidFill>
                      <a:srgbClr val="FFE3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8409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21465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9A80E-8015-26D3-B4FC-24D7F43A0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3BB941A-CE74-FC07-9587-5946271F03C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fr-FR"/>
              <a:t>Confidentiel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FB18799B-F9D4-0EDA-0244-83BBE6FA6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SCORING fonctionnel PAR MACRO-BESOIN</a:t>
            </a: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4D19ABFE-00AB-C3A3-CEF1-DE55A265D7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1707369"/>
              </p:ext>
            </p:extLst>
          </p:nvPr>
        </p:nvGraphicFramePr>
        <p:xfrm>
          <a:off x="339603" y="781513"/>
          <a:ext cx="11520000" cy="502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1119602268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582636563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3905795203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879186407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935731188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108563920"/>
                    </a:ext>
                  </a:extLst>
                </a:gridCol>
              </a:tblGrid>
              <a:tr h="229987">
                <a:tc gridSpan="2"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Besoins fonctionnels</a:t>
                      </a:r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fr-F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MICROSOFT</a:t>
                      </a:r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SEI</a:t>
                      </a:r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/>
                        <a:t>ODOO</a:t>
                      </a:r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ORISHA</a:t>
                      </a:r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5911255"/>
                  </a:ext>
                </a:extLst>
              </a:tr>
              <a:tr h="21600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VIII. Expédition et suivi</a:t>
                      </a:r>
                    </a:p>
                  </a:txBody>
                  <a:tcPr anchor="ctr"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b="1" i="1"/>
                        <a:t>Score :</a:t>
                      </a:r>
                    </a:p>
                  </a:txBody>
                  <a:tcPr anchor="ctr"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 i="1">
                          <a:solidFill>
                            <a:schemeClr val="tx1"/>
                          </a:solidFill>
                          <a:latin typeface="+mn-lt"/>
                        </a:rPr>
                        <a:t>87%</a:t>
                      </a:r>
                    </a:p>
                  </a:txBody>
                  <a:tcPr anchor="ctr"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E38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 i="1">
                          <a:latin typeface="+mn-lt"/>
                        </a:rPr>
                        <a:t>86%</a:t>
                      </a:r>
                    </a:p>
                  </a:txBody>
                  <a:tcPr anchor="ctr"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E38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 i="1">
                          <a:solidFill>
                            <a:schemeClr val="tx1"/>
                          </a:solidFill>
                          <a:latin typeface="+mn-lt"/>
                        </a:rPr>
                        <a:t>82%</a:t>
                      </a:r>
                    </a:p>
                  </a:txBody>
                  <a:tcPr anchor="ctr"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8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 i="1" dirty="0">
                          <a:latin typeface="+mn-lt"/>
                        </a:rPr>
                        <a:t>80%</a:t>
                      </a:r>
                    </a:p>
                  </a:txBody>
                  <a:tcPr anchor="ctr"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8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3384871"/>
                  </a:ext>
                </a:extLst>
              </a:tr>
              <a:tr h="2160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800" b="1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Part moyenne de custom / </a:t>
                      </a:r>
                      <a:r>
                        <a:rPr lang="fr-FR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dév</a:t>
                      </a:r>
                      <a:r>
                        <a:rPr lang="fr-FR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requise pour couverture à 100%.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fr-FR" sz="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fr-FR" sz="800" b="1" u="sng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Besoins non standards :  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Annonce d’expédition.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Sélection mode de transport et prestataire, selon paramètres commande et articles (dont hors gabarit).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Workflow prise de RDV.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Tracking</a:t>
                      </a:r>
                      <a:r>
                        <a:rPr lang="fr-FR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et suivi de livraison.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89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Part moyenne de custom / </a:t>
                      </a:r>
                      <a:r>
                        <a:rPr lang="fr-FR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dév</a:t>
                      </a:r>
                      <a:r>
                        <a:rPr lang="fr-FR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requise pour couverture à 100%.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fr-FR" sz="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fr-FR" sz="800" b="1" u="sng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Besoins non standards :  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Annonce d’expédition.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Sélection mode de transport et prestataire, selon paramètres commande et articles (dont hors gabarit).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Workflow prise de RDV.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Tracking</a:t>
                      </a:r>
                      <a:r>
                        <a:rPr lang="fr-FR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et suivi de livraison.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89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Part importante de custom / </a:t>
                      </a:r>
                      <a:r>
                        <a:rPr lang="fr-FR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dév</a:t>
                      </a:r>
                      <a:r>
                        <a:rPr lang="fr-FR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requise pour couverture à 100%.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fr-FR" sz="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fr-FR" sz="800" b="1" u="sng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Besoins non standards :  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Préparation des commandes.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Sélection mode de transport et prestataire, selon paramètres commande et articles (dont hors gabarit).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Optimums logistiques / colis.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Tracking</a:t>
                      </a:r>
                      <a:r>
                        <a:rPr lang="fr-FR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et suivi de livraison.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A8A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Part importante de custom / </a:t>
                      </a:r>
                      <a:r>
                        <a:rPr lang="fr-FR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dév</a:t>
                      </a:r>
                      <a:r>
                        <a:rPr lang="fr-FR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requise pour couverture à 100%.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fr-FR" sz="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fr-FR" sz="800" b="1" u="sng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Besoins non standards :  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Préparation des commandes.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Annonce d’expédition.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Sélection mode de transport et prestataire, selon paramètres commande et articles (dont hors gabarit).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Workflow prise de RDV.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Optimums logistiques / colis.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Tracking</a:t>
                      </a:r>
                      <a:r>
                        <a:rPr lang="fr-FR" sz="8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et suivi de livraison.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319554"/>
                  </a:ext>
                </a:extLst>
              </a:tr>
              <a:tr h="21600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IX. Livraison et retours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b="1" i="1"/>
                        <a:t>Score :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fr-FR" sz="800" b="1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86%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E38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800" b="1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67%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8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800" b="1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72%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8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fr-FR" sz="800" b="1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81%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8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9372616"/>
                  </a:ext>
                </a:extLst>
              </a:tr>
              <a:tr h="2160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800" b="1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Part moyenne de custom / </a:t>
                      </a:r>
                      <a:r>
                        <a:rPr lang="fr-FR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dév</a:t>
                      </a:r>
                      <a:r>
                        <a:rPr lang="fr-FR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requise pour couverture à 100%.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fr-FR" sz="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fr-FR" sz="800" b="1" u="sng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Besoins non standards :  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u="none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Intégration des données de réception client à la commande.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u="none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Reliquats de livraison auto.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0" u="none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Flux retour magasin, avec suivi.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89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 quasi-totalité des besoins requiert de la custom / du </a:t>
                      </a:r>
                      <a:r>
                        <a:rPr lang="fr-FR" sz="800" b="1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dév</a:t>
                      </a:r>
                      <a:r>
                        <a:rPr lang="fr-FR" sz="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A8A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Part importante de custom / </a:t>
                      </a:r>
                      <a:r>
                        <a:rPr lang="fr-FR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dév</a:t>
                      </a:r>
                      <a:r>
                        <a:rPr lang="fr-FR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requise pour couverture à 100%.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fr-FR" sz="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fr-FR" sz="800" b="1" u="sng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Besoins non standards :  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u="none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Intégration des données de réception client à la commande.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u="none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Reliquats de livraison auto.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0" u="none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Flux retour magasin, avec suivi.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0" u="none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Décote sur produits retournés.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A8A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Part importante de custom / </a:t>
                      </a:r>
                      <a:r>
                        <a:rPr lang="fr-FR" sz="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dév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requise pour couverture à 100%.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fr-FR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fr-FR" sz="800" b="1" u="sng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Besoins non standards :  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u="non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Intégration des données de réception client à la commande.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u="non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Reliquats de livraison auto.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0" u="non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Flux retour magasin, avec suivi.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0" u="non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Transfert d’un retour vers une autre commande client (A to B).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1" u="non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Traitement ADV des retours </a:t>
                      </a:r>
                      <a:r>
                        <a:rPr lang="fr-FR" sz="800" b="0" u="non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(avoir).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b="0" u="non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Décote sur produits retournés.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8409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10429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D17BB-BB8A-B296-56B5-E5FBFFDFE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372C147-6832-871B-4D3A-C5A8B9403EE4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fr-FR"/>
              <a:t>Confidentiel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9B36F479-1DA7-FED2-DC47-0725E7952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SCORING fonctionnel PAR MACRO-BESOIN</a:t>
            </a: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1D9C55F5-C4F2-39AE-BD6A-CA2D1A4F84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2649580"/>
              </p:ext>
            </p:extLst>
          </p:nvPr>
        </p:nvGraphicFramePr>
        <p:xfrm>
          <a:off x="339603" y="781513"/>
          <a:ext cx="11520000" cy="301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1119602268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3408708774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3905795203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879186407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935731188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108563920"/>
                    </a:ext>
                  </a:extLst>
                </a:gridCol>
              </a:tblGrid>
              <a:tr h="229987">
                <a:tc gridSpan="2"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Besoins fonctionnels</a:t>
                      </a:r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fr-F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/>
                        <a:t>MICROSOFT</a:t>
                      </a:r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SEI</a:t>
                      </a:r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/>
                        <a:t>ODOO</a:t>
                      </a:r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ORISHA</a:t>
                      </a:r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5911255"/>
                  </a:ext>
                </a:extLst>
              </a:tr>
              <a:tr h="21600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X. ADV, finance et comptabilité</a:t>
                      </a:r>
                    </a:p>
                  </a:txBody>
                  <a:tcPr anchor="ctr"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b="1" i="1"/>
                        <a:t>Score :</a:t>
                      </a:r>
                    </a:p>
                  </a:txBody>
                  <a:tcPr anchor="ctr"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fr-FR" sz="800" b="1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90%</a:t>
                      </a:r>
                    </a:p>
                  </a:txBody>
                  <a:tcP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fr-FR" sz="800" b="1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86%</a:t>
                      </a:r>
                    </a:p>
                  </a:txBody>
                  <a:tcP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E3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fr-FR" sz="800" b="1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77%</a:t>
                      </a:r>
                    </a:p>
                  </a:txBody>
                  <a:tcP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8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fr-FR" sz="800" b="1" i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72%</a:t>
                      </a:r>
                    </a:p>
                  </a:txBody>
                  <a:tcP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8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0115639"/>
                  </a:ext>
                </a:extLst>
              </a:tr>
              <a:tr h="2520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800" b="1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>
                          <a:latin typeface="+mn-lt"/>
                        </a:rPr>
                        <a:t>Standard majoritaire.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fr-FR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252525"/>
                        </a:solidFill>
                        <a:effectLst/>
                        <a:uLnTx/>
                        <a:uFillTx/>
                        <a:latin typeface="Noto Sans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800" b="1" u="sng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Besoins non standards : 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52525"/>
                          </a:solidFill>
                          <a:effectLst/>
                          <a:uLnTx/>
                          <a:uFillTx/>
                          <a:latin typeface="Noto Sans"/>
                          <a:ea typeface="+mn-ea"/>
                          <a:cs typeface="+mn-cs"/>
                        </a:rPr>
                        <a:t>Génération documents annexes.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52525"/>
                          </a:solidFill>
                          <a:effectLst/>
                          <a:uLnTx/>
                          <a:uFillTx/>
                          <a:latin typeface="Noto Sans"/>
                          <a:ea typeface="+mn-ea"/>
                          <a:cs typeface="+mn-cs"/>
                        </a:rPr>
                        <a:t>Passage en douane :</a:t>
                      </a:r>
                    </a:p>
                    <a:p>
                      <a:pPr marL="452438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fr-FR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Envoi données vers partenaire.</a:t>
                      </a:r>
                    </a:p>
                    <a:p>
                      <a:pPr marL="452438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fr-FR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Valorisation spécifique (dont 0).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52525"/>
                          </a:solidFill>
                          <a:effectLst/>
                          <a:uLnTx/>
                          <a:uFillTx/>
                          <a:latin typeface="Noto Sans"/>
                          <a:ea typeface="+mn-ea"/>
                          <a:cs typeface="+mn-cs"/>
                        </a:rPr>
                        <a:t>Pénalités écarts d’inventaires.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52525"/>
                          </a:solidFill>
                          <a:effectLst/>
                          <a:uLnTx/>
                          <a:uFillTx/>
                          <a:latin typeface="Noto Sans"/>
                          <a:ea typeface="+mn-ea"/>
                          <a:cs typeface="+mn-cs"/>
                        </a:rPr>
                        <a:t>Intégration FICO : </a:t>
                      </a:r>
                    </a:p>
                    <a:p>
                      <a:pPr marL="452438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fr-FR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Credit</a:t>
                      </a:r>
                      <a:r>
                        <a:rPr lang="fr-FR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check.</a:t>
                      </a:r>
                    </a:p>
                    <a:p>
                      <a:pPr marL="452438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kumimoji="0" lang="fr-F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52525"/>
                          </a:solidFill>
                          <a:effectLst/>
                          <a:uLnTx/>
                          <a:uFillTx/>
                          <a:latin typeface="Noto Sans"/>
                          <a:ea typeface="+mn-ea"/>
                          <a:cs typeface="+mn-cs"/>
                        </a:rPr>
                        <a:t>Envoi des intercos à facturer.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>
                          <a:latin typeface="+mn-lt"/>
                        </a:rPr>
                        <a:t>Plusieurs besoins structurants non gérés en standard.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fr-FR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252525"/>
                        </a:solidFill>
                        <a:effectLst/>
                        <a:uLnTx/>
                        <a:uFillTx/>
                        <a:latin typeface="Noto Sans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800" b="1" u="sng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Besoins non standards :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5252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Données spécifiques clients (dont QR code) pour facturation.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5252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Génération documents annexes.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5252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Passage en douane : </a:t>
                      </a:r>
                      <a:r>
                        <a:rPr kumimoji="0" lang="fr-F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5252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fr-FR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alorisation</a:t>
                      </a:r>
                      <a:r>
                        <a:rPr lang="fr-FR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spécifique (dont 0).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5252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Pénalités écarts d’inventaires.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1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Credit</a:t>
                      </a:r>
                      <a:r>
                        <a:rPr lang="fr-FR" sz="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check.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Régularisation des précommandes.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Provisions automatiques.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Pénalités fournisseurs.</a:t>
                      </a:r>
                    </a:p>
                  </a:txBody>
                  <a:tcPr>
                    <a:solidFill>
                      <a:srgbClr val="FFE389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Part importante de custom / </a:t>
                      </a:r>
                      <a:r>
                        <a:rPr lang="fr-FR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dév</a:t>
                      </a:r>
                      <a:r>
                        <a:rPr lang="fr-FR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requise pour couverture à 100%.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fr-FR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252525"/>
                        </a:solidFill>
                        <a:effectLst/>
                        <a:uLnTx/>
                        <a:uFillTx/>
                        <a:latin typeface="Noto Sans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800" b="1" u="sng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Besoins non standards :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5252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Gestion de données spécifiques clients (dont QR code).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5252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Facturation auto des magasins et des clients.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5252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Proforma, dont valorisation nulle.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5252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Passage en douane :</a:t>
                      </a:r>
                    </a:p>
                    <a:p>
                      <a:pPr marL="452438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fr-FR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Envoi données vers partenaire.</a:t>
                      </a:r>
                    </a:p>
                    <a:p>
                      <a:pPr marL="452438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fr-FR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Valorisation spécifique (dont 0).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8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25252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Facturation auto stocks consignés.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5252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Pénalités écarts d’inventaires.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Provisions automatiques.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Pénalités fournisseurs.</a:t>
                      </a:r>
                    </a:p>
                  </a:txBody>
                  <a:tcPr>
                    <a:solidFill>
                      <a:srgbClr val="FF8A8A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Part importante de custom / </a:t>
                      </a:r>
                      <a:r>
                        <a:rPr lang="fr-FR" sz="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dév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requise pour couverture à 100%.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fr-F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52525"/>
                        </a:solidFill>
                        <a:effectLst/>
                        <a:uLnTx/>
                        <a:uFillTx/>
                        <a:latin typeface="Noto Sans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800" b="1" u="sng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Besoins non standards : 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5252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Données de commandes à facturer.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5252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Données spécifiques clients (dont QR code) pour facturation.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5252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Facturation auto des magasins et des clients.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5252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Génération documents annexes.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5252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Proforma, dont valorisation nulle.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5252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Passage en douane :</a:t>
                      </a:r>
                    </a:p>
                    <a:p>
                      <a:pPr marL="452438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Envoi données vers partenaire.</a:t>
                      </a:r>
                    </a:p>
                    <a:p>
                      <a:pPr marL="452438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Valorisation spécifique (dont 0).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5252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Valorisation des retours.</a:t>
                      </a:r>
                      <a:endParaRPr kumimoji="0" lang="fr-F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52525"/>
                        </a:solidFill>
                        <a:effectLst/>
                        <a:uLnTx/>
                        <a:uFillTx/>
                        <a:latin typeface="Noto Sans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5252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Pénalités écarts d’inventaires.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Provisions automatiques.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Pénalités fournisseurs.</a:t>
                      </a:r>
                      <a:endParaRPr kumimoji="0" lang="fr-F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52525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8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02156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567245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300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/CPresentation&gt;&lt;/root&gt;"/>
  <p:tag name="THINKCELLUNDODONOTDELETE" val="0"/>
  <p:tag name="POWER_USER_CONTEXTUAL_SHAPES_AGENDA_DESIGNER" val="{&quot;Divider1&quot;:{&quot;Title&quot;:{&quot;AutoShapeType&quot;:1,&quot;Visible&quot;:-1,&quot;LockAspectRatio&quot;:0,&quot;CanUpdateAdjustments&quot;:true,&quot;Adjustment1&quot;:-1.0,&quot;Adjustment2&quot;:-1.0,&quot;CanManagePosition&quot;:true,&quot;Left&quot;:240.0,&quot;Top&quot;:216.0,&quot;Width&quot;:700.0,&quot;Height&quot;:108.0,&quot;Rotation&quot;:-1.0,&quot;TextFrame2AutoSize&quot;:1,&quot;TextFrame2TextRangeFontName&quot;:&quot;&quot;,&quot;TextFrameMarginTop&quot;:0.0,&quot;TextFrameMarginLeft&quot;:0.0,&quot;TextFrameMarginRight&quot;:0.0,&quot;TextFrameMarginBottom&quot;:0.0,&quot;TextFrameWordWrap&quot;:-1,&quot;TextFrameTextRangeFontSize&quot;:30.0,&quot;TextFrameTextRangeFontColorHexa&quot;:&quot;#252525&quot;,&quot;TextFrameTextRangeFontBold&quot;:0,&quot;TextFrameTextRangeFontItalic&quot;:0,&quot;TextFrameTextRangeFontUnderline&quot;:0,&quot;TextFrameVerticalAnchor&quot;:1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true},&quot;Number&quot;:{&quot;AutoShapeType&quot;:1,&quot;Visible&quot;:-1,&quot;LockAspectRatio&quot;:0,&quot;CanUpdateAdjustments&quot;:true,&quot;Adjustment1&quot;:-1.0,&quot;Adjustment2&quot;:-1.0,&quot;CanManagePosition&quot;:true,&quot;Left&quot;:115.2,&quot;Top&quot;:216.0,&quot;Width&quot;:81.0,&quot;Height&quot;:8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30.0,&quot;TextFrameTextRangeFontColorHexa&quot;:&quot;#FFFFFF&quot;,&quot;TextFrameTextRangeFontBold&quot;:0,&quot;TextFrameTextRangeFontItalic&quot;:0,&quot;TextFrameTextRangeFontUnderline&quot;:0,&quot;TextFrameVerticalAnchor&quot;:3,&quot;TextFrameHorizontalAnchor&quot;:2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6E8DFF&quot;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true},&quot;Line&quot;:{&quot;AutoShapeType&quot;:1,&quot;Visible&quot;:-1,&quot;LockAspectRatio&quot;:0,&quot;CanUpdateAdjustments&quot;:true,&quot;Adjustment1&quot;:-1.0,&quot;Adjustment2&quot;:-1.0,&quot;CanManagePosition&quot;:true,&quot;Left&quot;:240.0,&quot;Top&quot;:331.0,&quot;Width&quot;:700.0,&quot;Height&quot;:0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18.0,&quot;TextFrameTextRangeFontColorHexa&quot;:&quot;#252525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0.0,&quot;LineVisible&quot;:-1,&quot;LineForeColorHexa&quot;:&quot;#6E8DFF&quot;,&quot;LineWeight&quot;:0.0,&quot;LineDashStyle&quot;:1,&quot;LineEndArrowheadStyle&quot;:1,&quot;LineBeginArrowheadStyle&quot;:1,&quot;ShouldSendToBack&quot;:false,&quot;NeedsApplyToAll&quot;:false}},&quot;TableOfContent1&quot;:{&quot;MarginLeft&quot;:76.8,&quot;MarginRight&quot;:76.79999,&quot;MarginTop&quot;:86.4,&quot;MarginBottom&quot;:21.5999756,&quot;ShouldVerticalCenter&quot;:true,&quot;Title&quot;:{&quot;AutoShapeType&quot;:1,&quot;Visible&quot;:-1,&quot;LockAspectRatio&quot;:0,&quot;CanUpdateAdjustments&quot;:true,&quot;Adjustment1&quot;:-1.0,&quot;Adjustment2&quot;:-1.0,&quot;CanManagePosition&quot;:true,&quot;Left&quot;:76.8,&quot;Top&quot;:54.0,&quot;Width&quot;:768.0,&quot;Height&quot;:30.0,&quot;Rotation&quot;:0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32.0,&quot;TextFrameTextRangeFontColorHexa&quot;:&quot;#252525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true},&quot;SectionTitle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FFFFFF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252525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252525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},&quot;Back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18.0,&quot;TextFrameTextRangeFontColorHexa&quot;:&quot;#252525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6E8DFF&quot;,&quot;FillTransparency&quot;:0.0,&quot;LineVisible&quot;:0,&quot;LineForeColorHexa&quot;:null,&quot;LineWeight&quot;:0.0,&quot;LineDashStyle&quot;:1,&quot;LineEndArrowheadStyle&quot;:1,&quot;LineBeginArrowheadStyle&quot;:1,&quot;ShouldSendToBack&quot;:true,&quot;NeedsApplyToAll&quot;:false},&quot;Inactive&quot;:{&quot;AutoShapeType&quot;:1,&quot;Visible&quot;:0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18.0,&quot;TextFrameTextRangeFontColorHexa&quot;:null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null,&quot;FillTransparency&quot;:0.0,&quot;LineVisible&quot;:-1,&quot;LineForeColorHexa&quot;:null,&quot;LineWeight&quot;:0.0,&quot;LineDashStyle&quot;:1,&quot;LineEndArrowheadStyle&quot;:1,&quot;LineBeginArrowheadStyle&quot;:1,&quot;ShouldSendToBack&quot;:true,&quot;NeedsApplyToAll&quot;:false},&quot;CoverPage&quot;:{&quot;AutoShapeType&quot;:1,&quot;Visible&quot;:0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18.0,&quot;TextFrameTextRangeFontColorHexa&quot;:null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null,&quot;FillTransparency&quot;:0.0,&quot;LineVisible&quot;:-1,&quot;LineForeColorHexa&quot;:null,&quot;LineWeight&quot;:0.0,&quot;LineDashStyle&quot;:1,&quot;LineEndArrowheadStyle&quot;:1,&quot;LineBeginArrowheadStyle&quot;:1,&quot;ShouldSendToBack&quot;:true,&quot;NeedsApplyToAll&quot;:false}},&quot;Number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6E8DFF&quot;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D9D9D9&quot;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6E8DFF&quot;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},&quot;SlideIndex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252525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252525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}},&quot;TableOfContent3&quot;:{&quot;MarginLeft&quot;:76.8,&quot;MarginRight&quot;:76.8,&quot;MarginTop&quot;:86.4,&quot;MarginBottom&quot;:21.6,&quot;ShouldVerticalCenter&quot;:true,&quot;Title&quot;:{&quot;AutoShapeType&quot;:1,&quot;Visible&quot;:-1,&quot;LockAspectRatio&quot;:0,&quot;CanUpdateAdjustments&quot;:true,&quot;Adjustment1&quot;:-1.0,&quot;Adjustment2&quot;:-1.0,&quot;CanManagePosition&quot;:true,&quot;Left&quot;:76.8,&quot;Top&quot;:54.0,&quot;Width&quot;:768.0,&quot;Height&quot;:30.0,&quot;Rotation&quot;:0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32.0,&quot;TextFrameTextRangeFontColorHexa&quot;:&quot;#252525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true},&quot;SectionTitle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252525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252525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252525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},&quot;Number&quot;:{&quot;Active&quot;:{&quot;AutoShapeType&quot;:9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6E8DFF&quot;,&quot;FillTransparency&quot;:0.0,&quot;LineVisible&quot;:-1,&quot;LineForeColorHexa&quot;:&quot;#6E8DFF&quot;,&quot;LineWeight&quot;:2.0,&quot;LineDashStyle&quot;:1,&quot;LineEndArrowheadStyle&quot;:1,&quot;LineBeginArrowheadStyle&quot;:1,&quot;ShouldSendToBack&quot;:false,&quot;NeedsApplyToAll&quot;:false},&quot;Inactive&quot;:{&quot;AutoShapeType&quot;:9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6E8D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FFFFFF&quot;,&quot;FillTransparency&quot;:0.0,&quot;LineVisible&quot;:-1,&quot;LineForeColorHexa&quot;:&quot;#6E8DFF&quot;,&quot;LineWeight&quot;:2.0,&quot;LineDashStyle&quot;:1,&quot;LineEndArrowheadStyle&quot;:1,&quot;LineBeginArrowheadStyle&quot;:1,&quot;ShouldSendToBack&quot;:false,&quot;NeedsApplyToAll&quot;:false},&quot;CoverPage&quot;:{&quot;AutoShapeType&quot;:9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6E8DFF&quot;,&quot;FillTransparency&quot;:0.0,&quot;LineVisible&quot;:-1,&quot;LineForeColorHexa&quot;:&quot;#6E8DFF&quot;,&quot;LineWeight&quot;:2.0,&quot;LineDashStyle&quot;:1,&quot;LineEndArrowheadStyle&quot;:1,&quot;LineBeginArrowheadStyle&quot;:1,&quot;ShouldSendToBack&quot;:false,&quot;NeedsApplyToAll&quot;:false}},&quot;SlideIndex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252525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252525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252525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},&quot;Lin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18.0,&quot;TextFrameTextRangeFontColorHexa&quot;:&quot;#252525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0.0,&quot;LineVisible&quot;:-1,&quot;LineForeColorHexa&quot;:&quot;#6E8DFF&quot;,&quot;LineWeight&quot;:2.0,&quot;LineDashStyle&quot;:1,&quot;LineEndArrowheadStyle&quot;:1,&quot;LineBeginArrowheadStyle&quot;:1,&quot;ShouldSendToBack&quot;:true,&quot;NeedsApplyToAll&quot;:false}},&quot;TableOfContent4&quot;:{&quot;MarginLeft&quot;:76.8,&quot;MarginRight&quot;:76.8,&quot;MarginTop&quot;:86.4,&quot;MarginBottom&quot;:21.6,&quot;ShouldVerticalCenter&quot;:true,&quot;Title&quot;:{&quot;AutoShapeType&quot;:1,&quot;Visible&quot;:-1,&quot;LockAspectRatio&quot;:0,&quot;CanUpdateAdjustments&quot;:true,&quot;Adjustment1&quot;:-1.0,&quot;Adjustment2&quot;:-1.0,&quot;CanManagePosition&quot;:true,&quot;Left&quot;:76.8,&quot;Top&quot;:54.0,&quot;Width&quot;:768.0,&quot;Height&quot;:30.0,&quot;Rotation&quot;:0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32.0,&quot;TextFrameTextRangeFontColorHexa&quot;:&quot;#252525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true},&quot;SectionTitle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252525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252525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252525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},&quot;Number&quot;:{&quot;Active&quot;:{&quot;AutoShapeType&quot;:9,&quot;Visible&quot;:-1,&quot;LockAspectRatio&quot;:-1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6E8DFF&quot;,&quot;FillTransparency&quot;:0.0,&quot;LineVisible&quot;:-1,&quot;LineForeColorHexa&quot;:&quot;#6E8DFF&quot;,&quot;LineWeight&quot;:2.0,&quot;LineDashStyle&quot;:1,&quot;LineEndArrowheadStyle&quot;:1,&quot;LineBeginArrowheadStyle&quot;:1,&quot;ShouldSendToBack&quot;:false,&quot;NeedsApplyToAll&quot;:false},&quot;Inactive&quot;:{&quot;AutoShapeType&quot;:9,&quot;Visible&quot;:-1,&quot;LockAspectRatio&quot;:-1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6E8D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FFFFFF&quot;,&quot;FillTransparency&quot;:0.0,&quot;LineVisible&quot;:-1,&quot;LineForeColorHexa&quot;:&quot;#6E8DFF&quot;,&quot;LineWeight&quot;:2.0,&quot;LineDashStyle&quot;:1,&quot;LineEndArrowheadStyle&quot;:1,&quot;LineBeginArrowheadStyle&quot;:1,&quot;ShouldSendToBack&quot;:false,&quot;NeedsApplyToAll&quot;:false},&quot;CoverPage&quot;:{&quot;AutoShapeType&quot;:9,&quot;Visible&quot;:-1,&quot;LockAspectRatio&quot;:-1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6E8DFF&quot;,&quot;FillTransparency&quot;:0.0,&quot;LineVisible&quot;:-1,&quot;LineForeColorHexa&quot;:&quot;#6E8DFF&quot;,&quot;LineWeight&quot;:2.0,&quot;LineDashStyle&quot;:1,&quot;LineEndArrowheadStyle&quot;:1,&quot;LineBeginArrowheadStyle&quot;:1,&quot;ShouldSendToBack&quot;:false,&quot;NeedsApplyToAll&quot;:false}},&quot;SlideIndex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252525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252525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252525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},&quot;Arc&quot;:{&quot;AutoShapeType&quot;:25,&quot;Visible&quot;:-1,&quot;LockAspectRatio&quot;:0,&quot;CanUpdateAdjustments&quot;:fals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18.0,&quot;TextFrameTextRangeFontColorHexa&quot;:&quot;#252525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0.0,&quot;LineVisible&quot;:-1,&quot;LineForeColorHexa&quot;:&quot;#6E8DFF&quot;,&quot;LineWeight&quot;:2.0,&quot;LineDashStyle&quot;:1,&quot;LineEndArrowheadStyle&quot;:1,&quot;LineBeginArrowheadStyle&quot;:1,&quot;ShouldSendToBack&quot;:true,&quot;NeedsApplyToAll&quot;:false}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  <p:tag name="NUM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heme/theme1.xml><?xml version="1.0" encoding="utf-8"?>
<a:theme xmlns:a="http://schemas.openxmlformats.org/drawingml/2006/main" name="Synvance">
  <a:themeElements>
    <a:clrScheme name="Synvance 2">
      <a:dk1>
        <a:srgbClr val="252525"/>
      </a:dk1>
      <a:lt1>
        <a:srgbClr val="FFFFFF"/>
      </a:lt1>
      <a:dk2>
        <a:srgbClr val="464554"/>
      </a:dk2>
      <a:lt2>
        <a:srgbClr val="ABA8BA"/>
      </a:lt2>
      <a:accent1>
        <a:srgbClr val="6E8DFF"/>
      </a:accent1>
      <a:accent2>
        <a:srgbClr val="19094C"/>
      </a:accent2>
      <a:accent3>
        <a:srgbClr val="C46D70"/>
      </a:accent3>
      <a:accent4>
        <a:srgbClr val="5B0236"/>
      </a:accent4>
      <a:accent5>
        <a:srgbClr val="07B096"/>
      </a:accent5>
      <a:accent6>
        <a:srgbClr val="0C474E"/>
      </a:accent6>
      <a:hlink>
        <a:srgbClr val="AAB8F9"/>
      </a:hlink>
      <a:folHlink>
        <a:srgbClr val="4168FF"/>
      </a:folHlink>
    </a:clrScheme>
    <a:fontScheme name="Synvance">
      <a:majorFont>
        <a:latin typeface="Plus Jakarta Sans ExtraBold"/>
        <a:ea typeface=""/>
        <a:cs typeface=""/>
      </a:majorFont>
      <a:minorFont>
        <a:latin typeface="Noto Sans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marL="171450" indent="-171450" algn="l">
          <a:spcAft>
            <a:spcPts val="600"/>
          </a:spcAft>
          <a:buFont typeface="Arial" panose="020B0604020202020204" pitchFamily="34" charset="0"/>
          <a:buChar char="•"/>
          <a:defRPr sz="1000" b="1" dirty="0">
            <a:solidFill>
              <a:srgbClr val="1A1C30"/>
            </a:solidFill>
            <a:latin typeface="Calibri" panose="020F0502020204030204" pitchFamily="34" charset="0"/>
            <a:cs typeface="Calibri" panose="020F0502020204030204" pitchFamily="34" charset="0"/>
          </a:defRPr>
        </a:defPPr>
      </a:lstStyle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Synvance" id="{075BF9B7-20BB-5D42-A70B-80D911AB02C8}" vid="{2F837936-2802-C644-B0EB-A5EF0CDCE7DF}"/>
    </a:ext>
  </a:extLst>
</a:theme>
</file>

<file path=ppt/theme/theme2.xml><?xml version="1.0" encoding="utf-8"?>
<a:theme xmlns:a="http://schemas.openxmlformats.org/drawingml/2006/main" name="Custom Design">
  <a:themeElements>
    <a:clrScheme name="SYNVANCE">
      <a:dk1>
        <a:srgbClr val="221F20"/>
      </a:dk1>
      <a:lt1>
        <a:srgbClr val="FFFFFF"/>
      </a:lt1>
      <a:dk2>
        <a:srgbClr val="221F20"/>
      </a:dk2>
      <a:lt2>
        <a:srgbClr val="E9E7E8"/>
      </a:lt2>
      <a:accent1>
        <a:srgbClr val="00AABA"/>
      </a:accent1>
      <a:accent2>
        <a:srgbClr val="1A1C30"/>
      </a:accent2>
      <a:accent3>
        <a:srgbClr val="C3E354"/>
      </a:accent3>
      <a:accent4>
        <a:srgbClr val="28ABEB"/>
      </a:accent4>
      <a:accent5>
        <a:srgbClr val="DEFCBD"/>
      </a:accent5>
      <a:accent6>
        <a:srgbClr val="5EC380"/>
      </a:accent6>
      <a:hlink>
        <a:srgbClr val="96ADE3"/>
      </a:hlink>
      <a:folHlink>
        <a:srgbClr val="000000"/>
      </a:folHlink>
    </a:clrScheme>
    <a:fontScheme name="Segoe UI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6717DD25454FB4695523AD6FA678BBB" ma:contentTypeVersion="3" ma:contentTypeDescription="Crée un document." ma:contentTypeScope="" ma:versionID="5bcb89fef6812fe6719aed61a50240c2">
  <xsd:schema xmlns:xsd="http://www.w3.org/2001/XMLSchema" xmlns:xs="http://www.w3.org/2001/XMLSchema" xmlns:p="http://schemas.microsoft.com/office/2006/metadata/properties" xmlns:ns2="b152b8e2-9a73-4d1a-bc18-96b00c72b20e" targetNamespace="http://schemas.microsoft.com/office/2006/metadata/properties" ma:root="true" ma:fieldsID="4eba6ec78bc86a3a6262e0cef8282375" ns2:_="">
    <xsd:import namespace="b152b8e2-9a73-4d1a-bc18-96b00c72b20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52b8e2-9a73-4d1a-bc18-96b00c72b2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D16875B-8E45-4F83-8E01-06FBDCEC9F96}"/>
</file>

<file path=customXml/itemProps2.xml><?xml version="1.0" encoding="utf-8"?>
<ds:datastoreItem xmlns:ds="http://schemas.openxmlformats.org/officeDocument/2006/customXml" ds:itemID="{85FBE15E-1F0F-45B5-8C23-0E4037C5660F}">
  <ds:schemaRefs>
    <ds:schemaRef ds:uri="http://schemas.microsoft.com/office/2006/documentManagement/types"/>
    <ds:schemaRef ds:uri="http://www.w3.org/XML/1998/namespace"/>
    <ds:schemaRef ds:uri="http://purl.org/dc/dcmitype/"/>
    <ds:schemaRef ds:uri="http://schemas.microsoft.com/office/infopath/2007/PartnerControls"/>
    <ds:schemaRef ds:uri="http://schemas.microsoft.com/office/2006/metadata/properties"/>
    <ds:schemaRef ds:uri="http://purl.org/dc/elements/1.1/"/>
    <ds:schemaRef ds:uri="ef35b7e4-7e0c-40ce-9e68-e13b8d4c4544"/>
    <ds:schemaRef ds:uri="http://schemas.openxmlformats.org/package/2006/metadata/core-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EDB1EF71-3776-4C2E-8F1E-448E98247C8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56a32828-16f1-424d-b091-745640c937f5}" enabled="0" method="" siteId="{56a32828-16f1-424d-b091-745640c937f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520</TotalTime>
  <Words>7147</Words>
  <Application>Microsoft Office PowerPoint</Application>
  <PresentationFormat>Grand écran</PresentationFormat>
  <Paragraphs>1264</Paragraphs>
  <Slides>22</Slides>
  <Notes>14</Notes>
  <HiddenSlides>0</HiddenSlides>
  <MMClips>0</MMClips>
  <ScaleCrop>false</ScaleCrop>
  <HeadingPairs>
    <vt:vector size="8" baseType="variant">
      <vt:variant>
        <vt:lpstr>Polices utilisées</vt:lpstr>
      </vt:variant>
      <vt:variant>
        <vt:i4>16</vt:i4>
      </vt:variant>
      <vt:variant>
        <vt:lpstr>Thème</vt:lpstr>
      </vt:variant>
      <vt:variant>
        <vt:i4>2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41" baseType="lpstr">
      <vt:lpstr>Aptos Narrow</vt:lpstr>
      <vt:lpstr>Arial</vt:lpstr>
      <vt:lpstr>Calibri</vt:lpstr>
      <vt:lpstr>Cera Pro</vt:lpstr>
      <vt:lpstr>Courier New</vt:lpstr>
      <vt:lpstr>Galano Grotesque</vt:lpstr>
      <vt:lpstr>Montserrat</vt:lpstr>
      <vt:lpstr>Montserrat Light</vt:lpstr>
      <vt:lpstr>Noto Sans</vt:lpstr>
      <vt:lpstr>Plus Jakarta Sans</vt:lpstr>
      <vt:lpstr>Plus Jakarta Sans ExtraBold</vt:lpstr>
      <vt:lpstr>Plus Jakarta Sans SemiBold</vt:lpstr>
      <vt:lpstr>Segoe UI</vt:lpstr>
      <vt:lpstr>Segoe UI Semibold</vt:lpstr>
      <vt:lpstr>Verdana</vt:lpstr>
      <vt:lpstr>Wingdings</vt:lpstr>
      <vt:lpstr>Synvance</vt:lpstr>
      <vt:lpstr>Custom Design</vt:lpstr>
      <vt:lpstr>Diapositive think-cell</vt:lpstr>
      <vt:lpstr>CADRAGE ERP Achat / VENTE </vt:lpstr>
      <vt:lpstr>Présentation PowerPoint</vt:lpstr>
      <vt:lpstr>Depuis le dernier comité de pilotage</vt:lpstr>
      <vt:lpstr>Présentation PowerPoint</vt:lpstr>
      <vt:lpstr>Critères d’évaluation</vt:lpstr>
      <vt:lpstr>KEY TAKEAWAYS</vt:lpstr>
      <vt:lpstr>KEY TAKEAWAYS</vt:lpstr>
      <vt:lpstr>KEY TAKEAWAYS</vt:lpstr>
      <vt:lpstr>Key takeaways</vt:lpstr>
      <vt:lpstr>Présentation PowerPoint</vt:lpstr>
      <vt:lpstr>estimations Budgétaires</vt:lpstr>
      <vt:lpstr>estimations Budgétaires</vt:lpstr>
      <vt:lpstr>estimations Budgétaires</vt:lpstr>
      <vt:lpstr>estimations Budgétaires</vt:lpstr>
      <vt:lpstr>Présentation PowerPoint</vt:lpstr>
      <vt:lpstr>SCORING ET COUVERTURE FONCTIONNELLE</vt:lpstr>
      <vt:lpstr>SCORING fonctionnel PAR MACRO-BESOIN</vt:lpstr>
      <vt:lpstr>SCORING fonctionnel PAR MACRO-BESOIN</vt:lpstr>
      <vt:lpstr>SCORING fonctionnel PAR MACRO-BESOIN</vt:lpstr>
      <vt:lpstr>SCORING fonctionnel PAR MACRO-BESOIN</vt:lpstr>
      <vt:lpstr>SCORING fonctionnel PAR MACRO-BESOIN</vt:lpstr>
      <vt:lpstr>SCORING fonctionnel PAR MACRO-BESOIN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Colin Heridel</dc:creator>
  <cp:lastModifiedBy>James DOWSE</cp:lastModifiedBy>
  <cp:revision>3</cp:revision>
  <cp:lastPrinted>2024-03-18T17:38:23Z</cp:lastPrinted>
  <dcterms:created xsi:type="dcterms:W3CDTF">2024-02-07T18:41:02Z</dcterms:created>
  <dcterms:modified xsi:type="dcterms:W3CDTF">2025-07-02T14:52:38Z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der">
    <vt:r8>800</vt:r8>
  </property>
  <property fmtid="{D5CDD505-2E9C-101B-9397-08002B2CF9AE}" pid="3" name="xd_Signature">
    <vt:bool>false</vt:bool>
  </property>
  <property fmtid="{D5CDD505-2E9C-101B-9397-08002B2CF9AE}" pid="4" name="xd_ProgID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ContentTypeId">
    <vt:lpwstr>0x01010036717DD25454FB4695523AD6FA678BBB</vt:lpwstr>
  </property>
  <property fmtid="{D5CDD505-2E9C-101B-9397-08002B2CF9AE}" pid="10" name="_SourceUrl">
    <vt:lpwstr/>
  </property>
  <property fmtid="{D5CDD505-2E9C-101B-9397-08002B2CF9AE}" pid="11" name="_SharedFileIndex">
    <vt:lpwstr/>
  </property>
</Properties>
</file>